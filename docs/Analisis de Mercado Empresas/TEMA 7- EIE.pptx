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16" r:id="rId1"/>
  </p:sldMasterIdLst>
  <p:notesMasterIdLst>
    <p:notesMasterId r:id="rId27"/>
  </p:notesMasterIdLst>
  <p:sldIdLst>
    <p:sldId id="256" r:id="rId2"/>
    <p:sldId id="257" r:id="rId3"/>
    <p:sldId id="286" r:id="rId4"/>
    <p:sldId id="287" r:id="rId5"/>
    <p:sldId id="288" r:id="rId6"/>
    <p:sldId id="259" r:id="rId7"/>
    <p:sldId id="289" r:id="rId8"/>
    <p:sldId id="290" r:id="rId9"/>
    <p:sldId id="263" r:id="rId10"/>
    <p:sldId id="291" r:id="rId11"/>
    <p:sldId id="292" r:id="rId12"/>
    <p:sldId id="303" r:id="rId13"/>
    <p:sldId id="294" r:id="rId14"/>
    <p:sldId id="295" r:id="rId15"/>
    <p:sldId id="297" r:id="rId16"/>
    <p:sldId id="304" r:id="rId17"/>
    <p:sldId id="298" r:id="rId18"/>
    <p:sldId id="299" r:id="rId19"/>
    <p:sldId id="300" r:id="rId20"/>
    <p:sldId id="306" r:id="rId21"/>
    <p:sldId id="301" r:id="rId22"/>
    <p:sldId id="261" r:id="rId23"/>
    <p:sldId id="305" r:id="rId24"/>
    <p:sldId id="302" r:id="rId25"/>
    <p:sldId id="307"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11" autoAdjust="0"/>
    <p:restoredTop sz="96228"/>
  </p:normalViewPr>
  <p:slideViewPr>
    <p:cSldViewPr>
      <p:cViewPr varScale="1">
        <p:scale>
          <a:sx n="122" d="100"/>
          <a:sy n="122" d="100"/>
        </p:scale>
        <p:origin x="1072"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slide" Target="../slides/slide9.xml"/><Relationship Id="rId1" Type="http://schemas.openxmlformats.org/officeDocument/2006/relationships/slide" Target="../slides/slide6.xml"/></Relationships>
</file>

<file path=ppt/diagrams/_rels/data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slide" Target="../slides/slide2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47A6B4-B1D2-45AA-902F-9FC982B8F81B}" type="doc">
      <dgm:prSet loTypeId="urn:microsoft.com/office/officeart/2009/3/layout/StepUpProcess" loCatId="process" qsTypeId="urn:microsoft.com/office/officeart/2005/8/quickstyle/simple1" qsCatId="simple" csTypeId="urn:microsoft.com/office/officeart/2005/8/colors/colorful1" csCatId="colorful" phldr="1"/>
      <dgm:spPr/>
      <dgm:t>
        <a:bodyPr/>
        <a:lstStyle/>
        <a:p>
          <a:endParaRPr lang="es-ES"/>
        </a:p>
      </dgm:t>
    </dgm:pt>
    <dgm:pt modelId="{CA96E8AA-47AD-4A3F-9674-749BA8215D20}">
      <dgm:prSet phldrT="[Texto]"/>
      <dgm:spPr/>
      <dgm:t>
        <a:bodyPr/>
        <a:lstStyle/>
        <a:p>
          <a:r>
            <a:rPr lang="es-ES" b="1" dirty="0"/>
            <a:t>Compras</a:t>
          </a:r>
        </a:p>
      </dgm:t>
      <dgm:extLst>
        <a:ext uri="{E40237B7-FDA0-4F09-8148-C483321AD2D9}">
          <dgm14:cNvPr xmlns:dgm14="http://schemas.microsoft.com/office/drawing/2010/diagram" id="0" name="">
            <a:hlinkClick xmlns:r="http://schemas.openxmlformats.org/officeDocument/2006/relationships" r:id="rId1" action="ppaction://hlinksldjump"/>
          </dgm14:cNvPr>
        </a:ext>
      </dgm:extLst>
    </dgm:pt>
    <dgm:pt modelId="{B021EFF2-6156-4B87-B0ED-F3E78AE2B19B}" type="parTrans" cxnId="{08AE10AC-A36F-4FE4-8DB2-CA58B19E1575}">
      <dgm:prSet/>
      <dgm:spPr/>
      <dgm:t>
        <a:bodyPr/>
        <a:lstStyle/>
        <a:p>
          <a:endParaRPr lang="es-ES" b="1"/>
        </a:p>
      </dgm:t>
    </dgm:pt>
    <dgm:pt modelId="{FFA54A55-119A-4FA1-B0AF-5CD9C5A5C714}" type="sibTrans" cxnId="{08AE10AC-A36F-4FE4-8DB2-CA58B19E1575}">
      <dgm:prSet/>
      <dgm:spPr/>
      <dgm:t>
        <a:bodyPr/>
        <a:lstStyle/>
        <a:p>
          <a:endParaRPr lang="es-ES" b="1"/>
        </a:p>
      </dgm:t>
    </dgm:pt>
    <dgm:pt modelId="{2F6C8C25-15EE-47A3-A7F4-607BF2FC2436}">
      <dgm:prSet phldrT="[Texto]"/>
      <dgm:spPr/>
      <dgm:t>
        <a:bodyPr/>
        <a:lstStyle/>
        <a:p>
          <a:r>
            <a:rPr lang="es-ES" b="1" dirty="0"/>
            <a:t>Almacenamiento</a:t>
          </a:r>
        </a:p>
      </dgm:t>
      <dgm:extLst>
        <a:ext uri="{E40237B7-FDA0-4F09-8148-C483321AD2D9}">
          <dgm14:cNvPr xmlns:dgm14="http://schemas.microsoft.com/office/drawing/2010/diagram" id="0" name="">
            <a:hlinkClick xmlns:r="http://schemas.openxmlformats.org/officeDocument/2006/relationships" r:id="rId2" action="ppaction://hlinksldjump"/>
          </dgm14:cNvPr>
        </a:ext>
      </dgm:extLst>
    </dgm:pt>
    <dgm:pt modelId="{B66A3C91-E4D6-433B-9298-047202F4A4EF}" type="parTrans" cxnId="{9B1B1942-66E8-4691-9BBB-9D6025662658}">
      <dgm:prSet/>
      <dgm:spPr/>
      <dgm:t>
        <a:bodyPr/>
        <a:lstStyle/>
        <a:p>
          <a:endParaRPr lang="es-ES" b="1"/>
        </a:p>
      </dgm:t>
    </dgm:pt>
    <dgm:pt modelId="{8F6A56D4-E360-4AAF-9136-D1B69967FF0F}" type="sibTrans" cxnId="{9B1B1942-66E8-4691-9BBB-9D6025662658}">
      <dgm:prSet/>
      <dgm:spPr/>
      <dgm:t>
        <a:bodyPr/>
        <a:lstStyle/>
        <a:p>
          <a:endParaRPr lang="es-ES" b="1"/>
        </a:p>
      </dgm:t>
    </dgm:pt>
    <dgm:pt modelId="{B9A35F97-0746-440D-9991-A6F58FBD457C}">
      <dgm:prSet phldrT="[Texto]"/>
      <dgm:spPr/>
      <dgm:t>
        <a:bodyPr/>
        <a:lstStyle/>
        <a:p>
          <a:r>
            <a:rPr lang="es-ES" b="1" dirty="0"/>
            <a:t>Gestión de inventarios</a:t>
          </a:r>
        </a:p>
      </dgm:t>
      <dgm:extLst>
        <a:ext uri="{E40237B7-FDA0-4F09-8148-C483321AD2D9}">
          <dgm14:cNvPr xmlns:dgm14="http://schemas.microsoft.com/office/drawing/2010/diagram" id="0" name="">
            <a:hlinkClick xmlns:r="http://schemas.openxmlformats.org/officeDocument/2006/relationships" r:id="rId3" action="ppaction://hlinksldjump"/>
          </dgm14:cNvPr>
        </a:ext>
      </dgm:extLst>
    </dgm:pt>
    <dgm:pt modelId="{7A9BD781-B5EF-4776-8A2F-5B1A2DFCE62B}" type="parTrans" cxnId="{3FB4E489-7607-4D17-AF3F-9ABBB8A7D674}">
      <dgm:prSet/>
      <dgm:spPr/>
      <dgm:t>
        <a:bodyPr/>
        <a:lstStyle/>
        <a:p>
          <a:endParaRPr lang="es-ES" b="1"/>
        </a:p>
      </dgm:t>
    </dgm:pt>
    <dgm:pt modelId="{4F787362-B15D-42D5-B3C0-2E47C288E2EA}" type="sibTrans" cxnId="{3FB4E489-7607-4D17-AF3F-9ABBB8A7D674}">
      <dgm:prSet/>
      <dgm:spPr/>
      <dgm:t>
        <a:bodyPr/>
        <a:lstStyle/>
        <a:p>
          <a:endParaRPr lang="es-ES" b="1"/>
        </a:p>
      </dgm:t>
    </dgm:pt>
    <dgm:pt modelId="{CF5894CF-B7A4-48F8-A1D5-1F005DA92E03}" type="pres">
      <dgm:prSet presAssocID="{0847A6B4-B1D2-45AA-902F-9FC982B8F81B}" presName="rootnode" presStyleCnt="0">
        <dgm:presLayoutVars>
          <dgm:chMax/>
          <dgm:chPref/>
          <dgm:dir/>
          <dgm:animLvl val="lvl"/>
        </dgm:presLayoutVars>
      </dgm:prSet>
      <dgm:spPr/>
    </dgm:pt>
    <dgm:pt modelId="{C1BD7694-4A2A-4E74-BBA2-95BBB809925E}" type="pres">
      <dgm:prSet presAssocID="{CA96E8AA-47AD-4A3F-9674-749BA8215D20}" presName="composite" presStyleCnt="0"/>
      <dgm:spPr/>
    </dgm:pt>
    <dgm:pt modelId="{E42E11A2-B1D7-4A7A-950E-474DC47F3D60}" type="pres">
      <dgm:prSet presAssocID="{CA96E8AA-47AD-4A3F-9674-749BA8215D20}" presName="LShape" presStyleLbl="alignNode1" presStyleIdx="0" presStyleCnt="5"/>
      <dgm:spPr/>
    </dgm:pt>
    <dgm:pt modelId="{7F59F097-F0DD-4889-AE9E-DBC7746AE38A}" type="pres">
      <dgm:prSet presAssocID="{CA96E8AA-47AD-4A3F-9674-749BA8215D20}" presName="ParentText" presStyleLbl="revTx" presStyleIdx="0" presStyleCnt="3">
        <dgm:presLayoutVars>
          <dgm:chMax val="0"/>
          <dgm:chPref val="0"/>
          <dgm:bulletEnabled val="1"/>
        </dgm:presLayoutVars>
      </dgm:prSet>
      <dgm:spPr/>
    </dgm:pt>
    <dgm:pt modelId="{3A61C16B-87C7-4298-BC0C-A1D8A747AF81}" type="pres">
      <dgm:prSet presAssocID="{CA96E8AA-47AD-4A3F-9674-749BA8215D20}" presName="Triangle" presStyleLbl="alignNode1" presStyleIdx="1" presStyleCnt="5"/>
      <dgm:spPr/>
    </dgm:pt>
    <dgm:pt modelId="{4F2DF479-E1BA-4E82-8B78-17586E5E89F0}" type="pres">
      <dgm:prSet presAssocID="{FFA54A55-119A-4FA1-B0AF-5CD9C5A5C714}" presName="sibTrans" presStyleCnt="0"/>
      <dgm:spPr/>
    </dgm:pt>
    <dgm:pt modelId="{541728FF-67DC-4D3F-8E75-38D45D7BCD7D}" type="pres">
      <dgm:prSet presAssocID="{FFA54A55-119A-4FA1-B0AF-5CD9C5A5C714}" presName="space" presStyleCnt="0"/>
      <dgm:spPr/>
    </dgm:pt>
    <dgm:pt modelId="{3968115D-F2CF-405C-BB1B-F444DC221FB4}" type="pres">
      <dgm:prSet presAssocID="{2F6C8C25-15EE-47A3-A7F4-607BF2FC2436}" presName="composite" presStyleCnt="0"/>
      <dgm:spPr/>
    </dgm:pt>
    <dgm:pt modelId="{E87F7D8D-CE77-4224-ACE6-508F86B070DF}" type="pres">
      <dgm:prSet presAssocID="{2F6C8C25-15EE-47A3-A7F4-607BF2FC2436}" presName="LShape" presStyleLbl="alignNode1" presStyleIdx="2" presStyleCnt="5"/>
      <dgm:spPr/>
    </dgm:pt>
    <dgm:pt modelId="{A1E32CCE-32E8-410C-8AC0-A82F1820D02D}" type="pres">
      <dgm:prSet presAssocID="{2F6C8C25-15EE-47A3-A7F4-607BF2FC2436}" presName="ParentText" presStyleLbl="revTx" presStyleIdx="1" presStyleCnt="3">
        <dgm:presLayoutVars>
          <dgm:chMax val="0"/>
          <dgm:chPref val="0"/>
          <dgm:bulletEnabled val="1"/>
        </dgm:presLayoutVars>
      </dgm:prSet>
      <dgm:spPr/>
    </dgm:pt>
    <dgm:pt modelId="{B7F2CA7D-AFF7-4E70-A0F7-CE160EDA3AE3}" type="pres">
      <dgm:prSet presAssocID="{2F6C8C25-15EE-47A3-A7F4-607BF2FC2436}" presName="Triangle" presStyleLbl="alignNode1" presStyleIdx="3" presStyleCnt="5"/>
      <dgm:spPr/>
    </dgm:pt>
    <dgm:pt modelId="{2A826F64-824B-4F8E-B70B-D97AD9727E66}" type="pres">
      <dgm:prSet presAssocID="{8F6A56D4-E360-4AAF-9136-D1B69967FF0F}" presName="sibTrans" presStyleCnt="0"/>
      <dgm:spPr/>
    </dgm:pt>
    <dgm:pt modelId="{E636D7F9-E24E-4CC8-81A3-D1BA3FD5377C}" type="pres">
      <dgm:prSet presAssocID="{8F6A56D4-E360-4AAF-9136-D1B69967FF0F}" presName="space" presStyleCnt="0"/>
      <dgm:spPr/>
    </dgm:pt>
    <dgm:pt modelId="{47E607A9-5B6A-4EE4-A5A6-5117EA505A00}" type="pres">
      <dgm:prSet presAssocID="{B9A35F97-0746-440D-9991-A6F58FBD457C}" presName="composite" presStyleCnt="0"/>
      <dgm:spPr/>
    </dgm:pt>
    <dgm:pt modelId="{2AE22F18-29CF-4708-999E-7100CD1F79C4}" type="pres">
      <dgm:prSet presAssocID="{B9A35F97-0746-440D-9991-A6F58FBD457C}" presName="LShape" presStyleLbl="alignNode1" presStyleIdx="4" presStyleCnt="5"/>
      <dgm:spPr/>
    </dgm:pt>
    <dgm:pt modelId="{6836122A-D175-4412-9BC0-E0131BD6DDFC}" type="pres">
      <dgm:prSet presAssocID="{B9A35F97-0746-440D-9991-A6F58FBD457C}" presName="ParentText" presStyleLbl="revTx" presStyleIdx="2" presStyleCnt="3">
        <dgm:presLayoutVars>
          <dgm:chMax val="0"/>
          <dgm:chPref val="0"/>
          <dgm:bulletEnabled val="1"/>
        </dgm:presLayoutVars>
      </dgm:prSet>
      <dgm:spPr/>
    </dgm:pt>
  </dgm:ptLst>
  <dgm:cxnLst>
    <dgm:cxn modelId="{5C6A5B18-2331-4F01-9568-93CBC9AD3D93}" type="presOf" srcId="{CA96E8AA-47AD-4A3F-9674-749BA8215D20}" destId="{7F59F097-F0DD-4889-AE9E-DBC7746AE38A}" srcOrd="0" destOrd="0" presId="urn:microsoft.com/office/officeart/2009/3/layout/StepUpProcess"/>
    <dgm:cxn modelId="{9B1B1942-66E8-4691-9BBB-9D6025662658}" srcId="{0847A6B4-B1D2-45AA-902F-9FC982B8F81B}" destId="{2F6C8C25-15EE-47A3-A7F4-607BF2FC2436}" srcOrd="1" destOrd="0" parTransId="{B66A3C91-E4D6-433B-9298-047202F4A4EF}" sibTransId="{8F6A56D4-E360-4AAF-9136-D1B69967FF0F}"/>
    <dgm:cxn modelId="{9043D248-C40A-4021-AFDC-9C87B1D5C624}" type="presOf" srcId="{2F6C8C25-15EE-47A3-A7F4-607BF2FC2436}" destId="{A1E32CCE-32E8-410C-8AC0-A82F1820D02D}" srcOrd="0" destOrd="0" presId="urn:microsoft.com/office/officeart/2009/3/layout/StepUpProcess"/>
    <dgm:cxn modelId="{9E11156F-78BF-4346-9A16-ACC77AF150BB}" type="presOf" srcId="{0847A6B4-B1D2-45AA-902F-9FC982B8F81B}" destId="{CF5894CF-B7A4-48F8-A1D5-1F005DA92E03}" srcOrd="0" destOrd="0" presId="urn:microsoft.com/office/officeart/2009/3/layout/StepUpProcess"/>
    <dgm:cxn modelId="{3FB4E489-7607-4D17-AF3F-9ABBB8A7D674}" srcId="{0847A6B4-B1D2-45AA-902F-9FC982B8F81B}" destId="{B9A35F97-0746-440D-9991-A6F58FBD457C}" srcOrd="2" destOrd="0" parTransId="{7A9BD781-B5EF-4776-8A2F-5B1A2DFCE62B}" sibTransId="{4F787362-B15D-42D5-B3C0-2E47C288E2EA}"/>
    <dgm:cxn modelId="{08AE10AC-A36F-4FE4-8DB2-CA58B19E1575}" srcId="{0847A6B4-B1D2-45AA-902F-9FC982B8F81B}" destId="{CA96E8AA-47AD-4A3F-9674-749BA8215D20}" srcOrd="0" destOrd="0" parTransId="{B021EFF2-6156-4B87-B0ED-F3E78AE2B19B}" sibTransId="{FFA54A55-119A-4FA1-B0AF-5CD9C5A5C714}"/>
    <dgm:cxn modelId="{249511EE-A996-48A1-99B3-D0C1303BD611}" type="presOf" srcId="{B9A35F97-0746-440D-9991-A6F58FBD457C}" destId="{6836122A-D175-4412-9BC0-E0131BD6DDFC}" srcOrd="0" destOrd="0" presId="urn:microsoft.com/office/officeart/2009/3/layout/StepUpProcess"/>
    <dgm:cxn modelId="{2EB70DFF-E12B-48FE-9AAB-8B89C325274F}" type="presParOf" srcId="{CF5894CF-B7A4-48F8-A1D5-1F005DA92E03}" destId="{C1BD7694-4A2A-4E74-BBA2-95BBB809925E}" srcOrd="0" destOrd="0" presId="urn:microsoft.com/office/officeart/2009/3/layout/StepUpProcess"/>
    <dgm:cxn modelId="{989AC625-A3BD-4A4E-8A66-64F81A16263E}" type="presParOf" srcId="{C1BD7694-4A2A-4E74-BBA2-95BBB809925E}" destId="{E42E11A2-B1D7-4A7A-950E-474DC47F3D60}" srcOrd="0" destOrd="0" presId="urn:microsoft.com/office/officeart/2009/3/layout/StepUpProcess"/>
    <dgm:cxn modelId="{48EBC438-218C-4F69-B08D-2D864380A80D}" type="presParOf" srcId="{C1BD7694-4A2A-4E74-BBA2-95BBB809925E}" destId="{7F59F097-F0DD-4889-AE9E-DBC7746AE38A}" srcOrd="1" destOrd="0" presId="urn:microsoft.com/office/officeart/2009/3/layout/StepUpProcess"/>
    <dgm:cxn modelId="{5478CEF1-458F-48F9-8CD9-2FDCF50911B3}" type="presParOf" srcId="{C1BD7694-4A2A-4E74-BBA2-95BBB809925E}" destId="{3A61C16B-87C7-4298-BC0C-A1D8A747AF81}" srcOrd="2" destOrd="0" presId="urn:microsoft.com/office/officeart/2009/3/layout/StepUpProcess"/>
    <dgm:cxn modelId="{98C7AF8B-D1A6-456E-9A30-39337C7166CD}" type="presParOf" srcId="{CF5894CF-B7A4-48F8-A1D5-1F005DA92E03}" destId="{4F2DF479-E1BA-4E82-8B78-17586E5E89F0}" srcOrd="1" destOrd="0" presId="urn:microsoft.com/office/officeart/2009/3/layout/StepUpProcess"/>
    <dgm:cxn modelId="{FD4ADFCF-78D7-466C-8D78-E8FF0D4F9BC1}" type="presParOf" srcId="{4F2DF479-E1BA-4E82-8B78-17586E5E89F0}" destId="{541728FF-67DC-4D3F-8E75-38D45D7BCD7D}" srcOrd="0" destOrd="0" presId="urn:microsoft.com/office/officeart/2009/3/layout/StepUpProcess"/>
    <dgm:cxn modelId="{FC932B08-AC15-45F3-90E9-5B865F853BEC}" type="presParOf" srcId="{CF5894CF-B7A4-48F8-A1D5-1F005DA92E03}" destId="{3968115D-F2CF-405C-BB1B-F444DC221FB4}" srcOrd="2" destOrd="0" presId="urn:microsoft.com/office/officeart/2009/3/layout/StepUpProcess"/>
    <dgm:cxn modelId="{6BDA4BB6-F812-4D3A-AA7B-3E404C16B2B0}" type="presParOf" srcId="{3968115D-F2CF-405C-BB1B-F444DC221FB4}" destId="{E87F7D8D-CE77-4224-ACE6-508F86B070DF}" srcOrd="0" destOrd="0" presId="urn:microsoft.com/office/officeart/2009/3/layout/StepUpProcess"/>
    <dgm:cxn modelId="{B9BFB1AD-63FF-4795-8E3C-5D3C587A0879}" type="presParOf" srcId="{3968115D-F2CF-405C-BB1B-F444DC221FB4}" destId="{A1E32CCE-32E8-410C-8AC0-A82F1820D02D}" srcOrd="1" destOrd="0" presId="urn:microsoft.com/office/officeart/2009/3/layout/StepUpProcess"/>
    <dgm:cxn modelId="{BE0BBCCC-2544-42C4-9CD9-5E5437814C3D}" type="presParOf" srcId="{3968115D-F2CF-405C-BB1B-F444DC221FB4}" destId="{B7F2CA7D-AFF7-4E70-A0F7-CE160EDA3AE3}" srcOrd="2" destOrd="0" presId="urn:microsoft.com/office/officeart/2009/3/layout/StepUpProcess"/>
    <dgm:cxn modelId="{EFACDE87-CE1D-48E1-88F2-D07CECFC863C}" type="presParOf" srcId="{CF5894CF-B7A4-48F8-A1D5-1F005DA92E03}" destId="{2A826F64-824B-4F8E-B70B-D97AD9727E66}" srcOrd="3" destOrd="0" presId="urn:microsoft.com/office/officeart/2009/3/layout/StepUpProcess"/>
    <dgm:cxn modelId="{BE0EEEAA-585B-4DA6-AB8E-E16891CE1284}" type="presParOf" srcId="{2A826F64-824B-4F8E-B70B-D97AD9727E66}" destId="{E636D7F9-E24E-4CC8-81A3-D1BA3FD5377C}" srcOrd="0" destOrd="0" presId="urn:microsoft.com/office/officeart/2009/3/layout/StepUpProcess"/>
    <dgm:cxn modelId="{5542EC8C-4F56-465E-B581-723BF9924053}" type="presParOf" srcId="{CF5894CF-B7A4-48F8-A1D5-1F005DA92E03}" destId="{47E607A9-5B6A-4EE4-A5A6-5117EA505A00}" srcOrd="4" destOrd="0" presId="urn:microsoft.com/office/officeart/2009/3/layout/StepUpProcess"/>
    <dgm:cxn modelId="{DC7AE373-0824-4283-810E-AD916E6304BF}" type="presParOf" srcId="{47E607A9-5B6A-4EE4-A5A6-5117EA505A00}" destId="{2AE22F18-29CF-4708-999E-7100CD1F79C4}" srcOrd="0" destOrd="0" presId="urn:microsoft.com/office/officeart/2009/3/layout/StepUpProcess"/>
    <dgm:cxn modelId="{A61090E5-6D33-4323-A590-488F675A8ECC}" type="presParOf" srcId="{47E607A9-5B6A-4EE4-A5A6-5117EA505A00}" destId="{6836122A-D175-4412-9BC0-E0131BD6DDFC}"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97A05A3-14D9-44A5-B768-02F08550772E}" type="doc">
      <dgm:prSet loTypeId="urn:microsoft.com/office/officeart/2005/8/layout/radial3" loCatId="cycle" qsTypeId="urn:microsoft.com/office/officeart/2005/8/quickstyle/3d3" qsCatId="3D" csTypeId="urn:microsoft.com/office/officeart/2005/8/colors/accent1_2" csCatId="accent1" phldr="1"/>
      <dgm:spPr/>
      <dgm:t>
        <a:bodyPr/>
        <a:lstStyle/>
        <a:p>
          <a:endParaRPr lang="es-ES"/>
        </a:p>
      </dgm:t>
    </dgm:pt>
    <dgm:pt modelId="{ED2B4624-7341-43E5-B4B2-09A70E7847B3}">
      <dgm:prSet phldrT="[Texto]" custT="1"/>
      <dgm:spPr>
        <a:solidFill>
          <a:schemeClr val="accent3"/>
        </a:solidFill>
        <a:ln w="28575">
          <a:solidFill>
            <a:srgbClr val="00B050"/>
          </a:solidFill>
        </a:ln>
      </dgm:spPr>
      <dgm:t>
        <a:bodyPr/>
        <a:lstStyle/>
        <a:p>
          <a:r>
            <a:rPr lang="es-ES_tradnl" sz="1800" b="1" dirty="0"/>
            <a:t>Sistema ABC: clasifica los productos en 3 categorías</a:t>
          </a:r>
          <a:endParaRPr lang="es-ES" sz="1800" b="1" dirty="0"/>
        </a:p>
      </dgm:t>
    </dgm:pt>
    <dgm:pt modelId="{B5847ABE-AF46-483D-BCB2-95A0C15A9DB6}" type="parTrans" cxnId="{7150E0E6-08C4-4382-A9AB-091C87EB90E5}">
      <dgm:prSet/>
      <dgm:spPr/>
      <dgm:t>
        <a:bodyPr/>
        <a:lstStyle/>
        <a:p>
          <a:endParaRPr lang="es-ES"/>
        </a:p>
      </dgm:t>
    </dgm:pt>
    <dgm:pt modelId="{8EEDBB42-9CFE-4006-9F30-B7728819F50E}" type="sibTrans" cxnId="{7150E0E6-08C4-4382-A9AB-091C87EB90E5}">
      <dgm:prSet/>
      <dgm:spPr/>
      <dgm:t>
        <a:bodyPr/>
        <a:lstStyle/>
        <a:p>
          <a:endParaRPr lang="es-ES"/>
        </a:p>
      </dgm:t>
    </dgm:pt>
    <dgm:pt modelId="{6F43B42A-71AC-474D-85DD-AE1BDDBD8C68}">
      <dgm:prSet phldrT="[Texto]" custT="1"/>
      <dgm:spPr>
        <a:solidFill>
          <a:schemeClr val="tx2">
            <a:lumMod val="40000"/>
            <a:lumOff val="60000"/>
          </a:schemeClr>
        </a:solidFill>
      </dgm:spPr>
      <dgm:t>
        <a:bodyPr/>
        <a:lstStyle/>
        <a:p>
          <a:r>
            <a:rPr lang="es-ES_tradnl" sz="2000" b="1" dirty="0">
              <a:solidFill>
                <a:schemeClr val="tx2"/>
              </a:solidFill>
            </a:rPr>
            <a:t>Existencias o productos B</a:t>
          </a:r>
          <a:endParaRPr lang="es-ES" sz="2000" b="1" dirty="0">
            <a:solidFill>
              <a:schemeClr val="tx2"/>
            </a:solidFill>
          </a:endParaRPr>
        </a:p>
      </dgm:t>
    </dgm:pt>
    <dgm:pt modelId="{30EFEDF0-9914-448A-956B-0DAC7DF97A4A}" type="parTrans" cxnId="{23600551-2706-4BB0-8AB3-5F63980DF5FE}">
      <dgm:prSet/>
      <dgm:spPr/>
      <dgm:t>
        <a:bodyPr/>
        <a:lstStyle/>
        <a:p>
          <a:endParaRPr lang="es-ES"/>
        </a:p>
      </dgm:t>
    </dgm:pt>
    <dgm:pt modelId="{BA93C95D-0012-4D1C-959A-C3D690C8C7B3}" type="sibTrans" cxnId="{23600551-2706-4BB0-8AB3-5F63980DF5FE}">
      <dgm:prSet/>
      <dgm:spPr/>
      <dgm:t>
        <a:bodyPr/>
        <a:lstStyle/>
        <a:p>
          <a:endParaRPr lang="es-ES"/>
        </a:p>
      </dgm:t>
    </dgm:pt>
    <dgm:pt modelId="{ADE8C4F8-2D9A-42EA-BB0B-9A2096CF2EF9}">
      <dgm:prSet phldrT="[Texto]" custT="1"/>
      <dgm:spPr>
        <a:solidFill>
          <a:schemeClr val="tx2">
            <a:lumMod val="40000"/>
            <a:lumOff val="60000"/>
          </a:schemeClr>
        </a:solidFill>
      </dgm:spPr>
      <dgm:t>
        <a:bodyPr/>
        <a:lstStyle/>
        <a:p>
          <a:r>
            <a:rPr lang="es-ES_tradnl" sz="2000" b="1" dirty="0">
              <a:solidFill>
                <a:schemeClr val="tx2"/>
              </a:solidFill>
            </a:rPr>
            <a:t>Existencias o productos C</a:t>
          </a:r>
          <a:endParaRPr lang="es-ES" sz="2000" b="1" dirty="0">
            <a:solidFill>
              <a:schemeClr val="tx2"/>
            </a:solidFill>
          </a:endParaRPr>
        </a:p>
      </dgm:t>
    </dgm:pt>
    <dgm:pt modelId="{9C30C0F7-6754-4DE7-8036-22487A43B54B}" type="parTrans" cxnId="{F0290B97-5502-40D2-B1E2-91756A8B4117}">
      <dgm:prSet/>
      <dgm:spPr/>
      <dgm:t>
        <a:bodyPr/>
        <a:lstStyle/>
        <a:p>
          <a:endParaRPr lang="es-ES"/>
        </a:p>
      </dgm:t>
    </dgm:pt>
    <dgm:pt modelId="{A438E000-1430-43B2-9DE7-7C06FE887904}" type="sibTrans" cxnId="{F0290B97-5502-40D2-B1E2-91756A8B4117}">
      <dgm:prSet/>
      <dgm:spPr/>
      <dgm:t>
        <a:bodyPr/>
        <a:lstStyle/>
        <a:p>
          <a:endParaRPr lang="es-ES"/>
        </a:p>
      </dgm:t>
    </dgm:pt>
    <dgm:pt modelId="{3C1649FD-8155-4637-BFB0-A84B2EE2DB4B}">
      <dgm:prSet phldrT="[Texto]" custT="1"/>
      <dgm:spPr>
        <a:solidFill>
          <a:schemeClr val="tx2">
            <a:lumMod val="40000"/>
            <a:lumOff val="60000"/>
          </a:schemeClr>
        </a:solidFill>
      </dgm:spPr>
      <dgm:t>
        <a:bodyPr/>
        <a:lstStyle/>
        <a:p>
          <a:r>
            <a:rPr lang="es-ES_tradnl" sz="2000" b="1" dirty="0">
              <a:solidFill>
                <a:schemeClr val="tx2"/>
              </a:solidFill>
            </a:rPr>
            <a:t>Existencias o Productos A</a:t>
          </a:r>
        </a:p>
      </dgm:t>
    </dgm:pt>
    <dgm:pt modelId="{73C45E00-AB31-433D-92BA-48C6BB0861BC}" type="parTrans" cxnId="{412E8BE9-1A44-4125-A186-35E7AB0BE307}">
      <dgm:prSet/>
      <dgm:spPr/>
      <dgm:t>
        <a:bodyPr/>
        <a:lstStyle/>
        <a:p>
          <a:endParaRPr lang="es-ES"/>
        </a:p>
      </dgm:t>
    </dgm:pt>
    <dgm:pt modelId="{CA183CBC-EF8D-4A30-9517-5CA915BBC826}" type="sibTrans" cxnId="{412E8BE9-1A44-4125-A186-35E7AB0BE307}">
      <dgm:prSet/>
      <dgm:spPr/>
      <dgm:t>
        <a:bodyPr/>
        <a:lstStyle/>
        <a:p>
          <a:endParaRPr lang="es-ES"/>
        </a:p>
      </dgm:t>
    </dgm:pt>
    <dgm:pt modelId="{DFDE38E9-0F26-452A-A137-35FBCC4A1FAC}">
      <dgm:prSet phldrT="[Texto]" custT="1"/>
      <dgm:spPr>
        <a:solidFill>
          <a:schemeClr val="tx2">
            <a:lumMod val="40000"/>
            <a:lumOff val="60000"/>
          </a:schemeClr>
        </a:solidFill>
      </dgm:spPr>
      <dgm:t>
        <a:bodyPr/>
        <a:lstStyle/>
        <a:p>
          <a:endParaRPr lang="es-ES" sz="2000" b="1" dirty="0">
            <a:solidFill>
              <a:schemeClr val="tx2"/>
            </a:solidFill>
          </a:endParaRPr>
        </a:p>
      </dgm:t>
    </dgm:pt>
    <dgm:pt modelId="{1B342EB8-FDFF-4616-A9F4-EADA6189C311}" type="parTrans" cxnId="{F076449A-09CB-4247-A19C-C6EA053F1BA1}">
      <dgm:prSet/>
      <dgm:spPr/>
      <dgm:t>
        <a:bodyPr/>
        <a:lstStyle/>
        <a:p>
          <a:endParaRPr lang="es-ES"/>
        </a:p>
      </dgm:t>
    </dgm:pt>
    <dgm:pt modelId="{54A1FE24-C03C-40FF-A6BF-3EC85A23091E}" type="sibTrans" cxnId="{F076449A-09CB-4247-A19C-C6EA053F1BA1}">
      <dgm:prSet/>
      <dgm:spPr/>
      <dgm:t>
        <a:bodyPr/>
        <a:lstStyle/>
        <a:p>
          <a:endParaRPr lang="es-ES"/>
        </a:p>
      </dgm:t>
    </dgm:pt>
    <dgm:pt modelId="{A39BE283-9FAD-47E6-AC51-206C1A91E69D}" type="pres">
      <dgm:prSet presAssocID="{A97A05A3-14D9-44A5-B768-02F08550772E}" presName="composite" presStyleCnt="0">
        <dgm:presLayoutVars>
          <dgm:chMax val="1"/>
          <dgm:dir/>
          <dgm:resizeHandles val="exact"/>
        </dgm:presLayoutVars>
      </dgm:prSet>
      <dgm:spPr/>
    </dgm:pt>
    <dgm:pt modelId="{EC439966-727C-4807-A236-D4E3CE9950C7}" type="pres">
      <dgm:prSet presAssocID="{A97A05A3-14D9-44A5-B768-02F08550772E}" presName="radial" presStyleCnt="0">
        <dgm:presLayoutVars>
          <dgm:animLvl val="ctr"/>
        </dgm:presLayoutVars>
      </dgm:prSet>
      <dgm:spPr/>
    </dgm:pt>
    <dgm:pt modelId="{25F7C319-B8D2-45BF-BAB3-3C04DE6DD803}" type="pres">
      <dgm:prSet presAssocID="{ED2B4624-7341-43E5-B4B2-09A70E7847B3}" presName="centerShape" presStyleLbl="vennNode1" presStyleIdx="0" presStyleCnt="4" custScaleX="232493" custScaleY="173949" custLinFactNeighborX="7058" custLinFactNeighborY="-31548"/>
      <dgm:spPr/>
    </dgm:pt>
    <dgm:pt modelId="{AF411819-B58E-4FD4-9EE5-2623AA8BBF37}" type="pres">
      <dgm:prSet presAssocID="{6F43B42A-71AC-474D-85DD-AE1BDDBD8C68}" presName="node" presStyleLbl="vennNode1" presStyleIdx="1" presStyleCnt="4" custScaleX="590590" custScaleY="162113" custRadScaleRad="40259" custRadScaleInc="132134">
        <dgm:presLayoutVars>
          <dgm:bulletEnabled val="1"/>
        </dgm:presLayoutVars>
      </dgm:prSet>
      <dgm:spPr/>
    </dgm:pt>
    <dgm:pt modelId="{B2E55129-0EA5-4BE9-8351-54B15E6EFF7E}" type="pres">
      <dgm:prSet presAssocID="{ADE8C4F8-2D9A-42EA-BB0B-9A2096CF2EF9}" presName="node" presStyleLbl="vennNode1" presStyleIdx="2" presStyleCnt="4" custScaleX="524505" custScaleY="181566" custRadScaleRad="226394" custRadScaleInc="-31499">
        <dgm:presLayoutVars>
          <dgm:bulletEnabled val="1"/>
        </dgm:presLayoutVars>
      </dgm:prSet>
      <dgm:spPr/>
    </dgm:pt>
    <dgm:pt modelId="{B40552BD-87B2-4CA4-8DDF-5A2EBC4710FF}" type="pres">
      <dgm:prSet presAssocID="{3C1649FD-8155-4637-BFB0-A84B2EE2DB4B}" presName="node" presStyleLbl="vennNode1" presStyleIdx="3" presStyleCnt="4" custScaleX="567918" custScaleY="176568" custRadScaleRad="221639" custRadScaleInc="31841">
        <dgm:presLayoutVars>
          <dgm:bulletEnabled val="1"/>
        </dgm:presLayoutVars>
      </dgm:prSet>
      <dgm:spPr/>
    </dgm:pt>
  </dgm:ptLst>
  <dgm:cxnLst>
    <dgm:cxn modelId="{6C8F0A2E-0BC0-4BFE-98B1-C21A3CFD4FE3}" type="presOf" srcId="{3C1649FD-8155-4637-BFB0-A84B2EE2DB4B}" destId="{B40552BD-87B2-4CA4-8DDF-5A2EBC4710FF}" srcOrd="0" destOrd="0" presId="urn:microsoft.com/office/officeart/2005/8/layout/radial3"/>
    <dgm:cxn modelId="{43F5D733-53B6-4F4B-92E5-CB8C6DFF230D}" type="presOf" srcId="{ED2B4624-7341-43E5-B4B2-09A70E7847B3}" destId="{25F7C319-B8D2-45BF-BAB3-3C04DE6DD803}" srcOrd="0" destOrd="0" presId="urn:microsoft.com/office/officeart/2005/8/layout/radial3"/>
    <dgm:cxn modelId="{23600551-2706-4BB0-8AB3-5F63980DF5FE}" srcId="{ED2B4624-7341-43E5-B4B2-09A70E7847B3}" destId="{6F43B42A-71AC-474D-85DD-AE1BDDBD8C68}" srcOrd="0" destOrd="0" parTransId="{30EFEDF0-9914-448A-956B-0DAC7DF97A4A}" sibTransId="{BA93C95D-0012-4D1C-959A-C3D690C8C7B3}"/>
    <dgm:cxn modelId="{63FD865E-ABE9-4B40-B7F1-EEC8F2629433}" type="presOf" srcId="{ADE8C4F8-2D9A-42EA-BB0B-9A2096CF2EF9}" destId="{B2E55129-0EA5-4BE9-8351-54B15E6EFF7E}" srcOrd="0" destOrd="0" presId="urn:microsoft.com/office/officeart/2005/8/layout/radial3"/>
    <dgm:cxn modelId="{F0290B97-5502-40D2-B1E2-91756A8B4117}" srcId="{ED2B4624-7341-43E5-B4B2-09A70E7847B3}" destId="{ADE8C4F8-2D9A-42EA-BB0B-9A2096CF2EF9}" srcOrd="1" destOrd="0" parTransId="{9C30C0F7-6754-4DE7-8036-22487A43B54B}" sibTransId="{A438E000-1430-43B2-9DE7-7C06FE887904}"/>
    <dgm:cxn modelId="{F076449A-09CB-4247-A19C-C6EA053F1BA1}" srcId="{A97A05A3-14D9-44A5-B768-02F08550772E}" destId="{DFDE38E9-0F26-452A-A137-35FBCC4A1FAC}" srcOrd="1" destOrd="0" parTransId="{1B342EB8-FDFF-4616-A9F4-EADA6189C311}" sibTransId="{54A1FE24-C03C-40FF-A6BF-3EC85A23091E}"/>
    <dgm:cxn modelId="{EDFA4CC4-DC50-49B0-BBA9-67B3C502DC99}" type="presOf" srcId="{A97A05A3-14D9-44A5-B768-02F08550772E}" destId="{A39BE283-9FAD-47E6-AC51-206C1A91E69D}" srcOrd="0" destOrd="0" presId="urn:microsoft.com/office/officeart/2005/8/layout/radial3"/>
    <dgm:cxn modelId="{7150E0E6-08C4-4382-A9AB-091C87EB90E5}" srcId="{A97A05A3-14D9-44A5-B768-02F08550772E}" destId="{ED2B4624-7341-43E5-B4B2-09A70E7847B3}" srcOrd="0" destOrd="0" parTransId="{B5847ABE-AF46-483D-BCB2-95A0C15A9DB6}" sibTransId="{8EEDBB42-9CFE-4006-9F30-B7728819F50E}"/>
    <dgm:cxn modelId="{412E8BE9-1A44-4125-A186-35E7AB0BE307}" srcId="{ED2B4624-7341-43E5-B4B2-09A70E7847B3}" destId="{3C1649FD-8155-4637-BFB0-A84B2EE2DB4B}" srcOrd="2" destOrd="0" parTransId="{73C45E00-AB31-433D-92BA-48C6BB0861BC}" sibTransId="{CA183CBC-EF8D-4A30-9517-5CA915BBC826}"/>
    <dgm:cxn modelId="{01E4DDEB-EEE8-4000-91DA-77E169EDC67F}" type="presOf" srcId="{6F43B42A-71AC-474D-85DD-AE1BDDBD8C68}" destId="{AF411819-B58E-4FD4-9EE5-2623AA8BBF37}" srcOrd="0" destOrd="0" presId="urn:microsoft.com/office/officeart/2005/8/layout/radial3"/>
    <dgm:cxn modelId="{E60A6B97-2F47-4418-9E76-86EA7959C8B4}" type="presParOf" srcId="{A39BE283-9FAD-47E6-AC51-206C1A91E69D}" destId="{EC439966-727C-4807-A236-D4E3CE9950C7}" srcOrd="0" destOrd="0" presId="urn:microsoft.com/office/officeart/2005/8/layout/radial3"/>
    <dgm:cxn modelId="{BFD519BC-0D79-4F2A-98B0-35408A618883}" type="presParOf" srcId="{EC439966-727C-4807-A236-D4E3CE9950C7}" destId="{25F7C319-B8D2-45BF-BAB3-3C04DE6DD803}" srcOrd="0" destOrd="0" presId="urn:microsoft.com/office/officeart/2005/8/layout/radial3"/>
    <dgm:cxn modelId="{7ECD48E5-4E04-46CC-86D4-725AFBE3DE79}" type="presParOf" srcId="{EC439966-727C-4807-A236-D4E3CE9950C7}" destId="{AF411819-B58E-4FD4-9EE5-2623AA8BBF37}" srcOrd="1" destOrd="0" presId="urn:microsoft.com/office/officeart/2005/8/layout/radial3"/>
    <dgm:cxn modelId="{49F6D03E-4DA1-4107-80BC-761B802B2C1F}" type="presParOf" srcId="{EC439966-727C-4807-A236-D4E3CE9950C7}" destId="{B2E55129-0EA5-4BE9-8351-54B15E6EFF7E}" srcOrd="2" destOrd="0" presId="urn:microsoft.com/office/officeart/2005/8/layout/radial3"/>
    <dgm:cxn modelId="{27478FFA-3DC8-4C7A-971A-8639D0DDA876}" type="presParOf" srcId="{EC439966-727C-4807-A236-D4E3CE9950C7}" destId="{B40552BD-87B2-4CA4-8DDF-5A2EBC4710FF}" srcOrd="3"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4567D0FE-D283-4352-8AEC-5F0F55B95E3D}" type="doc">
      <dgm:prSet loTypeId="urn:diagrams.loki3.com/BracketList+Icon" loCatId="list" qsTypeId="urn:microsoft.com/office/officeart/2005/8/quickstyle/simple3" qsCatId="simple" csTypeId="urn:microsoft.com/office/officeart/2005/8/colors/accent0_1" csCatId="mainScheme" phldr="1"/>
      <dgm:spPr/>
      <dgm:t>
        <a:bodyPr/>
        <a:lstStyle/>
        <a:p>
          <a:endParaRPr lang="es-ES"/>
        </a:p>
      </dgm:t>
    </dgm:pt>
    <dgm:pt modelId="{00C83513-63FF-46AA-9803-92F85D1A3C94}">
      <dgm:prSet phldrT="[Texto]" custT="1"/>
      <dgm:spPr/>
      <dgm:t>
        <a:bodyPr/>
        <a:lstStyle/>
        <a:p>
          <a:r>
            <a:rPr lang="es-ES" sz="1600" b="1" dirty="0">
              <a:effectLst/>
            </a:rPr>
            <a:t>Costes fijos</a:t>
          </a:r>
        </a:p>
      </dgm:t>
      <dgm:extLst>
        <a:ext uri="{E40237B7-FDA0-4F09-8148-C483321AD2D9}">
          <dgm14:cNvPr xmlns:dgm14="http://schemas.microsoft.com/office/drawing/2010/diagram" id="0" name="">
            <a:hlinkClick xmlns:r="http://schemas.openxmlformats.org/officeDocument/2006/relationships" r:id="rId1" action="ppaction://hlinksldjump"/>
          </dgm14:cNvPr>
        </a:ext>
      </dgm:extLst>
    </dgm:pt>
    <dgm:pt modelId="{1DAF447C-822F-4253-A563-048A10AED8DD}" type="parTrans" cxnId="{A7D004FC-5059-43DD-BF74-4F862AE78C27}">
      <dgm:prSet/>
      <dgm:spPr/>
      <dgm:t>
        <a:bodyPr/>
        <a:lstStyle/>
        <a:p>
          <a:endParaRPr lang="es-ES" sz="1600"/>
        </a:p>
      </dgm:t>
    </dgm:pt>
    <dgm:pt modelId="{D2F604FC-9014-48A9-A77E-B0B70D08B4DE}" type="sibTrans" cxnId="{A7D004FC-5059-43DD-BF74-4F862AE78C27}">
      <dgm:prSet/>
      <dgm:spPr/>
      <dgm:t>
        <a:bodyPr/>
        <a:lstStyle/>
        <a:p>
          <a:endParaRPr lang="es-ES" sz="1600"/>
        </a:p>
      </dgm:t>
    </dgm:pt>
    <dgm:pt modelId="{E770FB4B-0900-45BB-B3E4-65B8E1F7A5E8}">
      <dgm:prSet phldrT="[Texto]" custT="1"/>
      <dgm:spPr>
        <a:solidFill>
          <a:schemeClr val="accent2">
            <a:lumMod val="20000"/>
            <a:lumOff val="80000"/>
          </a:schemeClr>
        </a:solidFill>
      </dgm:spPr>
      <dgm:t>
        <a:bodyPr/>
        <a:lstStyle/>
        <a:p>
          <a:pPr algn="just"/>
          <a:r>
            <a:rPr lang="es-ES" sz="1600" dirty="0">
              <a:effectLst/>
            </a:rPr>
            <a:t>Son aquellos que </a:t>
          </a:r>
          <a:r>
            <a:rPr lang="es-ES" sz="1600" b="1" dirty="0">
              <a:effectLst/>
            </a:rPr>
            <a:t>no dependen del nivel de actividad </a:t>
          </a:r>
          <a:r>
            <a:rPr lang="es-ES" sz="1600" dirty="0">
              <a:effectLst/>
            </a:rPr>
            <a:t>de la empresa, sino que son una </a:t>
          </a:r>
          <a:r>
            <a:rPr lang="es-ES" sz="1600" b="1" u="sng" dirty="0">
              <a:effectLst/>
            </a:rPr>
            <a:t>cantidad fija independiente de la producción</a:t>
          </a:r>
          <a:r>
            <a:rPr lang="es-ES" sz="1600" dirty="0">
              <a:effectLst/>
            </a:rPr>
            <a:t>.  (alquiler del local se paga con independencia de los productos que se vendan)</a:t>
          </a:r>
        </a:p>
      </dgm:t>
    </dgm:pt>
    <dgm:pt modelId="{EF4C91E8-2057-4C8F-95CB-670809EA2889}" type="parTrans" cxnId="{1D04C5A8-443B-4AB0-A444-5539B375FE79}">
      <dgm:prSet/>
      <dgm:spPr/>
      <dgm:t>
        <a:bodyPr/>
        <a:lstStyle/>
        <a:p>
          <a:endParaRPr lang="es-ES" sz="1600"/>
        </a:p>
      </dgm:t>
    </dgm:pt>
    <dgm:pt modelId="{2842EB3D-D3E6-42D2-95D8-B0672396306F}" type="sibTrans" cxnId="{1D04C5A8-443B-4AB0-A444-5539B375FE79}">
      <dgm:prSet/>
      <dgm:spPr/>
      <dgm:t>
        <a:bodyPr/>
        <a:lstStyle/>
        <a:p>
          <a:endParaRPr lang="es-ES" sz="1600"/>
        </a:p>
      </dgm:t>
    </dgm:pt>
    <dgm:pt modelId="{A8C67D38-FAE5-4215-89FA-1BE70D4F6B3A}">
      <dgm:prSet phldrT="[Texto]" custT="1"/>
      <dgm:spPr/>
      <dgm:t>
        <a:bodyPr/>
        <a:lstStyle/>
        <a:p>
          <a:r>
            <a:rPr lang="es-ES" sz="1600" b="1" dirty="0">
              <a:effectLst/>
            </a:rPr>
            <a:t>Costes variables</a:t>
          </a:r>
        </a:p>
      </dgm:t>
      <dgm:extLst>
        <a:ext uri="{E40237B7-FDA0-4F09-8148-C483321AD2D9}">
          <dgm14:cNvPr xmlns:dgm14="http://schemas.microsoft.com/office/drawing/2010/diagram" id="0" name="">
            <a:hlinkClick xmlns:r="http://schemas.openxmlformats.org/officeDocument/2006/relationships" r:id="rId2" action="ppaction://hlinksldjump"/>
          </dgm14:cNvPr>
        </a:ext>
      </dgm:extLst>
    </dgm:pt>
    <dgm:pt modelId="{1BDF88B7-77E2-4F42-B845-3830A3277F5C}" type="parTrans" cxnId="{A9A991B9-204E-496D-B120-B6369030BA07}">
      <dgm:prSet/>
      <dgm:spPr/>
      <dgm:t>
        <a:bodyPr/>
        <a:lstStyle/>
        <a:p>
          <a:endParaRPr lang="es-ES" sz="1600"/>
        </a:p>
      </dgm:t>
    </dgm:pt>
    <dgm:pt modelId="{480F7218-32C7-47E9-93FD-E0F4A2F6E41E}" type="sibTrans" cxnId="{A9A991B9-204E-496D-B120-B6369030BA07}">
      <dgm:prSet/>
      <dgm:spPr/>
      <dgm:t>
        <a:bodyPr/>
        <a:lstStyle/>
        <a:p>
          <a:endParaRPr lang="es-ES" sz="1600"/>
        </a:p>
      </dgm:t>
    </dgm:pt>
    <dgm:pt modelId="{A35E9871-3552-4D7A-9AB9-FF9F01283717}">
      <dgm:prSet phldrT="[Texto]" custT="1"/>
      <dgm:spPr>
        <a:solidFill>
          <a:schemeClr val="accent6">
            <a:lumMod val="20000"/>
            <a:lumOff val="80000"/>
          </a:schemeClr>
        </a:solidFill>
      </dgm:spPr>
      <dgm:t>
        <a:bodyPr/>
        <a:lstStyle/>
        <a:p>
          <a:pPr algn="just"/>
          <a:r>
            <a:rPr lang="es-ES" sz="1600" dirty="0">
              <a:effectLst/>
            </a:rPr>
            <a:t>Son aquellos que </a:t>
          </a:r>
          <a:r>
            <a:rPr lang="es-ES" sz="1600" b="1" dirty="0">
              <a:effectLst/>
            </a:rPr>
            <a:t>van en paralelo con el volumen de la actividad</a:t>
          </a:r>
          <a:r>
            <a:rPr lang="es-ES" sz="1600" dirty="0">
              <a:effectLst/>
            </a:rPr>
            <a:t>, </a:t>
          </a:r>
          <a:r>
            <a:rPr lang="es-ES" sz="1600" b="1" u="sng" dirty="0">
              <a:effectLst/>
            </a:rPr>
            <a:t>cuanto más se fabrica o se vende más costes variables existen  </a:t>
          </a:r>
          <a:r>
            <a:rPr lang="es-ES" sz="1600" dirty="0">
              <a:effectLst/>
            </a:rPr>
            <a:t>(compra de materias primas para fabricar productos)</a:t>
          </a:r>
        </a:p>
      </dgm:t>
    </dgm:pt>
    <dgm:pt modelId="{A39FA3AF-75DD-4CA8-841B-466B9197F288}" type="parTrans" cxnId="{6484A5B8-722A-4BEB-A46E-DBA625CF34B8}">
      <dgm:prSet/>
      <dgm:spPr/>
      <dgm:t>
        <a:bodyPr/>
        <a:lstStyle/>
        <a:p>
          <a:endParaRPr lang="es-ES" sz="1600"/>
        </a:p>
      </dgm:t>
    </dgm:pt>
    <dgm:pt modelId="{7CD0B74A-D2C0-4CE7-A9BE-C31E4BC9D84B}" type="sibTrans" cxnId="{6484A5B8-722A-4BEB-A46E-DBA625CF34B8}">
      <dgm:prSet/>
      <dgm:spPr/>
      <dgm:t>
        <a:bodyPr/>
        <a:lstStyle/>
        <a:p>
          <a:endParaRPr lang="es-ES" sz="1600"/>
        </a:p>
      </dgm:t>
    </dgm:pt>
    <dgm:pt modelId="{40BAE3A7-889F-4F9B-AC68-9C14AF4F406C}">
      <dgm:prSet phldrT="[Texto]" custT="1"/>
      <dgm:spPr>
        <a:solidFill>
          <a:schemeClr val="accent2">
            <a:lumMod val="20000"/>
            <a:lumOff val="80000"/>
          </a:schemeClr>
        </a:solidFill>
      </dgm:spPr>
      <dgm:t>
        <a:bodyPr/>
        <a:lstStyle/>
        <a:p>
          <a:pPr algn="l"/>
          <a:r>
            <a:rPr lang="es-ES" sz="1600" b="1" dirty="0">
              <a:effectLst/>
            </a:rPr>
            <a:t>No son permanentemente fijos</a:t>
          </a:r>
          <a:r>
            <a:rPr lang="es-ES" sz="1600" dirty="0">
              <a:effectLst/>
            </a:rPr>
            <a:t>, si aumenta mucho la producción también aumentarán </a:t>
          </a:r>
          <a:r>
            <a:rPr lang="es-ES" sz="1600" dirty="0" err="1">
              <a:effectLst/>
            </a:rPr>
            <a:t>Ej</a:t>
          </a:r>
          <a:r>
            <a:rPr lang="es-ES" sz="1600" dirty="0">
              <a:effectLst/>
            </a:rPr>
            <a:t>: alquiler local o nóminas trabajadores cuando aumenta la demanda.</a:t>
          </a:r>
        </a:p>
      </dgm:t>
    </dgm:pt>
    <dgm:pt modelId="{12341182-1032-4F25-8D2E-90469BE9F338}" type="parTrans" cxnId="{D2F027E6-212B-4D3B-8823-584B8259AB74}">
      <dgm:prSet/>
      <dgm:spPr/>
      <dgm:t>
        <a:bodyPr/>
        <a:lstStyle/>
        <a:p>
          <a:endParaRPr lang="es-ES"/>
        </a:p>
      </dgm:t>
    </dgm:pt>
    <dgm:pt modelId="{3EECE945-900A-42F5-8BD9-1B7E9CEC9BB6}" type="sibTrans" cxnId="{D2F027E6-212B-4D3B-8823-584B8259AB74}">
      <dgm:prSet/>
      <dgm:spPr/>
      <dgm:t>
        <a:bodyPr/>
        <a:lstStyle/>
        <a:p>
          <a:endParaRPr lang="es-ES"/>
        </a:p>
      </dgm:t>
    </dgm:pt>
    <dgm:pt modelId="{03A58291-C501-498B-8C59-092EEE4D8A68}">
      <dgm:prSet phldrT="[Texto]" custT="1"/>
      <dgm:spPr>
        <a:solidFill>
          <a:schemeClr val="accent6">
            <a:lumMod val="20000"/>
            <a:lumOff val="80000"/>
          </a:schemeClr>
        </a:solidFill>
      </dgm:spPr>
      <dgm:t>
        <a:bodyPr/>
        <a:lstStyle/>
        <a:p>
          <a:pPr algn="l"/>
          <a:r>
            <a:rPr lang="es-ES" sz="1600" b="1" dirty="0">
              <a:effectLst/>
            </a:rPr>
            <a:t>Costes fijos para una empresa pueden ser costes variables para otra, </a:t>
          </a:r>
          <a:r>
            <a:rPr lang="es-ES" sz="1600" b="0" dirty="0" err="1">
              <a:effectLst/>
            </a:rPr>
            <a:t>ej</a:t>
          </a:r>
          <a:r>
            <a:rPr lang="es-ES" sz="1600" b="0" dirty="0">
              <a:effectLst/>
            </a:rPr>
            <a:t>: el gasto de luz para una frutería es fijo, pero para una peluquería puede variar según el número de clientes. </a:t>
          </a:r>
          <a:endParaRPr lang="es-ES" sz="1600" b="1" dirty="0">
            <a:effectLst/>
          </a:endParaRPr>
        </a:p>
      </dgm:t>
    </dgm:pt>
    <dgm:pt modelId="{08BCC44D-94F8-4716-8B4F-BBD1D85ED61F}" type="parTrans" cxnId="{BB4F9C20-2C53-4F33-A42E-26AD166EFA41}">
      <dgm:prSet/>
      <dgm:spPr/>
      <dgm:t>
        <a:bodyPr/>
        <a:lstStyle/>
        <a:p>
          <a:endParaRPr lang="es-ES"/>
        </a:p>
      </dgm:t>
    </dgm:pt>
    <dgm:pt modelId="{DB1203C0-CFBD-4351-84B3-9D626326E66F}" type="sibTrans" cxnId="{BB4F9C20-2C53-4F33-A42E-26AD166EFA41}">
      <dgm:prSet/>
      <dgm:spPr/>
      <dgm:t>
        <a:bodyPr/>
        <a:lstStyle/>
        <a:p>
          <a:endParaRPr lang="es-ES"/>
        </a:p>
      </dgm:t>
    </dgm:pt>
    <dgm:pt modelId="{79EF150E-9174-4681-8520-D0D04EE46DC7}" type="pres">
      <dgm:prSet presAssocID="{4567D0FE-D283-4352-8AEC-5F0F55B95E3D}" presName="Name0" presStyleCnt="0">
        <dgm:presLayoutVars>
          <dgm:dir/>
          <dgm:animLvl val="lvl"/>
          <dgm:resizeHandles val="exact"/>
        </dgm:presLayoutVars>
      </dgm:prSet>
      <dgm:spPr/>
    </dgm:pt>
    <dgm:pt modelId="{25476740-DCDC-4F72-9FDE-9C94AB8E3E4A}" type="pres">
      <dgm:prSet presAssocID="{00C83513-63FF-46AA-9803-92F85D1A3C94}" presName="linNode" presStyleCnt="0"/>
      <dgm:spPr/>
    </dgm:pt>
    <dgm:pt modelId="{E707CA97-37B0-49AE-A519-32FDD41094AA}" type="pres">
      <dgm:prSet presAssocID="{00C83513-63FF-46AA-9803-92F85D1A3C94}" presName="parTx" presStyleLbl="revTx" presStyleIdx="0" presStyleCnt="2">
        <dgm:presLayoutVars>
          <dgm:chMax val="1"/>
          <dgm:bulletEnabled val="1"/>
        </dgm:presLayoutVars>
      </dgm:prSet>
      <dgm:spPr/>
    </dgm:pt>
    <dgm:pt modelId="{FCFC1953-F44B-4850-A53D-6378F0BBC1FB}" type="pres">
      <dgm:prSet presAssocID="{00C83513-63FF-46AA-9803-92F85D1A3C94}" presName="bracket" presStyleLbl="parChTrans1D1" presStyleIdx="0" presStyleCnt="2"/>
      <dgm:spPr/>
    </dgm:pt>
    <dgm:pt modelId="{F99DE029-8DAF-4CD1-ADEB-84D4F875ADE0}" type="pres">
      <dgm:prSet presAssocID="{00C83513-63FF-46AA-9803-92F85D1A3C94}" presName="spH" presStyleCnt="0"/>
      <dgm:spPr/>
    </dgm:pt>
    <dgm:pt modelId="{CBF1C9EF-2617-4D6F-9620-F458CF77610E}" type="pres">
      <dgm:prSet presAssocID="{00C83513-63FF-46AA-9803-92F85D1A3C94}" presName="desTx" presStyleLbl="node1" presStyleIdx="0" presStyleCnt="2" custScaleY="110377">
        <dgm:presLayoutVars>
          <dgm:bulletEnabled val="1"/>
        </dgm:presLayoutVars>
      </dgm:prSet>
      <dgm:spPr/>
    </dgm:pt>
    <dgm:pt modelId="{03B19531-75F8-41D3-A4FD-629D71432E1E}" type="pres">
      <dgm:prSet presAssocID="{D2F604FC-9014-48A9-A77E-B0B70D08B4DE}" presName="spV" presStyleCnt="0"/>
      <dgm:spPr/>
    </dgm:pt>
    <dgm:pt modelId="{C81CBC54-B8B6-4FC0-B46E-21C5F813E0A1}" type="pres">
      <dgm:prSet presAssocID="{A8C67D38-FAE5-4215-89FA-1BE70D4F6B3A}" presName="linNode" presStyleCnt="0"/>
      <dgm:spPr/>
    </dgm:pt>
    <dgm:pt modelId="{0FB103CD-A801-4940-BFC4-5512A1B554D2}" type="pres">
      <dgm:prSet presAssocID="{A8C67D38-FAE5-4215-89FA-1BE70D4F6B3A}" presName="parTx" presStyleLbl="revTx" presStyleIdx="1" presStyleCnt="2">
        <dgm:presLayoutVars>
          <dgm:chMax val="1"/>
          <dgm:bulletEnabled val="1"/>
        </dgm:presLayoutVars>
      </dgm:prSet>
      <dgm:spPr/>
    </dgm:pt>
    <dgm:pt modelId="{0A64C100-8A94-4F44-869B-D94E9226285C}" type="pres">
      <dgm:prSet presAssocID="{A8C67D38-FAE5-4215-89FA-1BE70D4F6B3A}" presName="bracket" presStyleLbl="parChTrans1D1" presStyleIdx="1" presStyleCnt="2"/>
      <dgm:spPr/>
    </dgm:pt>
    <dgm:pt modelId="{73F42C2D-7EF4-48C4-9A18-477ED019780B}" type="pres">
      <dgm:prSet presAssocID="{A8C67D38-FAE5-4215-89FA-1BE70D4F6B3A}" presName="spH" presStyleCnt="0"/>
      <dgm:spPr/>
    </dgm:pt>
    <dgm:pt modelId="{96F69679-F63F-4989-8C9F-C0AC378B329B}" type="pres">
      <dgm:prSet presAssocID="{A8C67D38-FAE5-4215-89FA-1BE70D4F6B3A}" presName="desTx" presStyleLbl="node1" presStyleIdx="1" presStyleCnt="2" custScaleY="122847">
        <dgm:presLayoutVars>
          <dgm:bulletEnabled val="1"/>
        </dgm:presLayoutVars>
      </dgm:prSet>
      <dgm:spPr/>
    </dgm:pt>
  </dgm:ptLst>
  <dgm:cxnLst>
    <dgm:cxn modelId="{BB4F9C20-2C53-4F33-A42E-26AD166EFA41}" srcId="{A8C67D38-FAE5-4215-89FA-1BE70D4F6B3A}" destId="{03A58291-C501-498B-8C59-092EEE4D8A68}" srcOrd="1" destOrd="0" parTransId="{08BCC44D-94F8-4716-8B4F-BBD1D85ED61F}" sibTransId="{DB1203C0-CFBD-4351-84B3-9D626326E66F}"/>
    <dgm:cxn modelId="{389B4E50-5534-4121-843A-4D4DB46805EE}" type="presOf" srcId="{4567D0FE-D283-4352-8AEC-5F0F55B95E3D}" destId="{79EF150E-9174-4681-8520-D0D04EE46DC7}" srcOrd="0" destOrd="0" presId="urn:diagrams.loki3.com/BracketList+Icon"/>
    <dgm:cxn modelId="{31686165-99D3-485F-8235-8365A0B5AB9B}" type="presOf" srcId="{E770FB4B-0900-45BB-B3E4-65B8E1F7A5E8}" destId="{CBF1C9EF-2617-4D6F-9620-F458CF77610E}" srcOrd="0" destOrd="0" presId="urn:diagrams.loki3.com/BracketList+Icon"/>
    <dgm:cxn modelId="{4334DF6C-E71F-4DD5-8BB3-F9D96EC63E3D}" type="presOf" srcId="{A8C67D38-FAE5-4215-89FA-1BE70D4F6B3A}" destId="{0FB103CD-A801-4940-BFC4-5512A1B554D2}" srcOrd="0" destOrd="0" presId="urn:diagrams.loki3.com/BracketList+Icon"/>
    <dgm:cxn modelId="{3A94CC96-DFA1-4B85-9265-D742CE423154}" type="presOf" srcId="{03A58291-C501-498B-8C59-092EEE4D8A68}" destId="{96F69679-F63F-4989-8C9F-C0AC378B329B}" srcOrd="0" destOrd="1" presId="urn:diagrams.loki3.com/BracketList+Icon"/>
    <dgm:cxn modelId="{1D04C5A8-443B-4AB0-A444-5539B375FE79}" srcId="{00C83513-63FF-46AA-9803-92F85D1A3C94}" destId="{E770FB4B-0900-45BB-B3E4-65B8E1F7A5E8}" srcOrd="0" destOrd="0" parTransId="{EF4C91E8-2057-4C8F-95CB-670809EA2889}" sibTransId="{2842EB3D-D3E6-42D2-95D8-B0672396306F}"/>
    <dgm:cxn modelId="{B3EBB2AE-92A3-41B5-8AF6-21DB1597CCBC}" type="presOf" srcId="{00C83513-63FF-46AA-9803-92F85D1A3C94}" destId="{E707CA97-37B0-49AE-A519-32FDD41094AA}" srcOrd="0" destOrd="0" presId="urn:diagrams.loki3.com/BracketList+Icon"/>
    <dgm:cxn modelId="{6484A5B8-722A-4BEB-A46E-DBA625CF34B8}" srcId="{A8C67D38-FAE5-4215-89FA-1BE70D4F6B3A}" destId="{A35E9871-3552-4D7A-9AB9-FF9F01283717}" srcOrd="0" destOrd="0" parTransId="{A39FA3AF-75DD-4CA8-841B-466B9197F288}" sibTransId="{7CD0B74A-D2C0-4CE7-A9BE-C31E4BC9D84B}"/>
    <dgm:cxn modelId="{A9A991B9-204E-496D-B120-B6369030BA07}" srcId="{4567D0FE-D283-4352-8AEC-5F0F55B95E3D}" destId="{A8C67D38-FAE5-4215-89FA-1BE70D4F6B3A}" srcOrd="1" destOrd="0" parTransId="{1BDF88B7-77E2-4F42-B845-3830A3277F5C}" sibTransId="{480F7218-32C7-47E9-93FD-E0F4A2F6E41E}"/>
    <dgm:cxn modelId="{7AB142C0-C815-490B-B0B7-0F4172804EC3}" type="presOf" srcId="{A35E9871-3552-4D7A-9AB9-FF9F01283717}" destId="{96F69679-F63F-4989-8C9F-C0AC378B329B}" srcOrd="0" destOrd="0" presId="urn:diagrams.loki3.com/BracketList+Icon"/>
    <dgm:cxn modelId="{D2F027E6-212B-4D3B-8823-584B8259AB74}" srcId="{00C83513-63FF-46AA-9803-92F85D1A3C94}" destId="{40BAE3A7-889F-4F9B-AC68-9C14AF4F406C}" srcOrd="1" destOrd="0" parTransId="{12341182-1032-4F25-8D2E-90469BE9F338}" sibTransId="{3EECE945-900A-42F5-8BD9-1B7E9CEC9BB6}"/>
    <dgm:cxn modelId="{85D05FF4-6EBF-4E65-B358-A5F14E7CA2C2}" type="presOf" srcId="{40BAE3A7-889F-4F9B-AC68-9C14AF4F406C}" destId="{CBF1C9EF-2617-4D6F-9620-F458CF77610E}" srcOrd="0" destOrd="1" presId="urn:diagrams.loki3.com/BracketList+Icon"/>
    <dgm:cxn modelId="{A7D004FC-5059-43DD-BF74-4F862AE78C27}" srcId="{4567D0FE-D283-4352-8AEC-5F0F55B95E3D}" destId="{00C83513-63FF-46AA-9803-92F85D1A3C94}" srcOrd="0" destOrd="0" parTransId="{1DAF447C-822F-4253-A563-048A10AED8DD}" sibTransId="{D2F604FC-9014-48A9-A77E-B0B70D08B4DE}"/>
    <dgm:cxn modelId="{823AFFCA-0891-4A0C-885F-DFF5513DF5D2}" type="presParOf" srcId="{79EF150E-9174-4681-8520-D0D04EE46DC7}" destId="{25476740-DCDC-4F72-9FDE-9C94AB8E3E4A}" srcOrd="0" destOrd="0" presId="urn:diagrams.loki3.com/BracketList+Icon"/>
    <dgm:cxn modelId="{8479C851-0715-4813-B441-F9CACFED5A5E}" type="presParOf" srcId="{25476740-DCDC-4F72-9FDE-9C94AB8E3E4A}" destId="{E707CA97-37B0-49AE-A519-32FDD41094AA}" srcOrd="0" destOrd="0" presId="urn:diagrams.loki3.com/BracketList+Icon"/>
    <dgm:cxn modelId="{B2E813FE-726B-4B79-A070-84E2F0D80928}" type="presParOf" srcId="{25476740-DCDC-4F72-9FDE-9C94AB8E3E4A}" destId="{FCFC1953-F44B-4850-A53D-6378F0BBC1FB}" srcOrd="1" destOrd="0" presId="urn:diagrams.loki3.com/BracketList+Icon"/>
    <dgm:cxn modelId="{F380F1EB-8B44-45C2-AF73-3D88C1EF5962}" type="presParOf" srcId="{25476740-DCDC-4F72-9FDE-9C94AB8E3E4A}" destId="{F99DE029-8DAF-4CD1-ADEB-84D4F875ADE0}" srcOrd="2" destOrd="0" presId="urn:diagrams.loki3.com/BracketList+Icon"/>
    <dgm:cxn modelId="{0A7CA44A-A1A6-4112-AFA5-A179B2907B35}" type="presParOf" srcId="{25476740-DCDC-4F72-9FDE-9C94AB8E3E4A}" destId="{CBF1C9EF-2617-4D6F-9620-F458CF77610E}" srcOrd="3" destOrd="0" presId="urn:diagrams.loki3.com/BracketList+Icon"/>
    <dgm:cxn modelId="{F38B4341-D6AF-427D-8DDA-9573852D88E1}" type="presParOf" srcId="{79EF150E-9174-4681-8520-D0D04EE46DC7}" destId="{03B19531-75F8-41D3-A4FD-629D71432E1E}" srcOrd="1" destOrd="0" presId="urn:diagrams.loki3.com/BracketList+Icon"/>
    <dgm:cxn modelId="{C638BFAB-BA04-4D66-8A28-98DB8FD869E8}" type="presParOf" srcId="{79EF150E-9174-4681-8520-D0D04EE46DC7}" destId="{C81CBC54-B8B6-4FC0-B46E-21C5F813E0A1}" srcOrd="2" destOrd="0" presId="urn:diagrams.loki3.com/BracketList+Icon"/>
    <dgm:cxn modelId="{F9631C55-31D4-4A84-B1F9-FA39E5F69BC1}" type="presParOf" srcId="{C81CBC54-B8B6-4FC0-B46E-21C5F813E0A1}" destId="{0FB103CD-A801-4940-BFC4-5512A1B554D2}" srcOrd="0" destOrd="0" presId="urn:diagrams.loki3.com/BracketList+Icon"/>
    <dgm:cxn modelId="{D8B0E035-9966-4CF1-B05A-80DBA13BE39D}" type="presParOf" srcId="{C81CBC54-B8B6-4FC0-B46E-21C5F813E0A1}" destId="{0A64C100-8A94-4F44-869B-D94E9226285C}" srcOrd="1" destOrd="0" presId="urn:diagrams.loki3.com/BracketList+Icon"/>
    <dgm:cxn modelId="{81305A99-607C-4BFA-A47E-C558B9EBA347}" type="presParOf" srcId="{C81CBC54-B8B6-4FC0-B46E-21C5F813E0A1}" destId="{73F42C2D-7EF4-48C4-9A18-477ED019780B}" srcOrd="2" destOrd="0" presId="urn:diagrams.loki3.com/BracketList+Icon"/>
    <dgm:cxn modelId="{98D79401-51BB-4893-BC59-026A705008C4}" type="presParOf" srcId="{C81CBC54-B8B6-4FC0-B46E-21C5F813E0A1}" destId="{96F69679-F63F-4989-8C9F-C0AC378B329B}" srcOrd="3" destOrd="0" presId="urn:diagrams.loki3.com/BracketLis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8A3FC47-5B30-4743-8AC9-13E55FFA1D14}" type="doc">
      <dgm:prSet loTypeId="urn:microsoft.com/office/officeart/2005/8/layout/process1" loCatId="process" qsTypeId="urn:microsoft.com/office/officeart/2005/8/quickstyle/simple1" qsCatId="simple" csTypeId="urn:microsoft.com/office/officeart/2005/8/colors/accent0_1" csCatId="mainScheme" phldr="1"/>
      <dgm:spPr/>
    </dgm:pt>
    <dgm:pt modelId="{50FD8F13-33AF-4862-B8EC-D144C10E6A3D}">
      <dgm:prSet phldrT="[Texto]" custT="1"/>
      <dgm:spPr>
        <a:solidFill>
          <a:schemeClr val="accent2">
            <a:lumMod val="40000"/>
            <a:lumOff val="60000"/>
          </a:schemeClr>
        </a:solidFill>
      </dgm:spPr>
      <dgm:t>
        <a:bodyPr/>
        <a:lstStyle/>
        <a:p>
          <a:r>
            <a:rPr lang="es-ES" sz="2000" b="1" dirty="0"/>
            <a:t>Costes fijos</a:t>
          </a:r>
        </a:p>
      </dgm:t>
    </dgm:pt>
    <dgm:pt modelId="{BDF96E5E-0D5B-4D85-BD60-9940AE85006D}" type="parTrans" cxnId="{7C440FB0-888A-486B-AB02-24EDF8BC5DAF}">
      <dgm:prSet/>
      <dgm:spPr/>
      <dgm:t>
        <a:bodyPr/>
        <a:lstStyle/>
        <a:p>
          <a:endParaRPr lang="es-ES" sz="1600"/>
        </a:p>
      </dgm:t>
    </dgm:pt>
    <dgm:pt modelId="{1182F581-F00C-420C-A2C3-4361ED872E43}" type="sibTrans" cxnId="{7C440FB0-888A-486B-AB02-24EDF8BC5DAF}">
      <dgm:prSet custT="1"/>
      <dgm:spPr/>
      <dgm:t>
        <a:bodyPr/>
        <a:lstStyle/>
        <a:p>
          <a:endParaRPr lang="es-ES" sz="1600"/>
        </a:p>
      </dgm:t>
    </dgm:pt>
    <dgm:pt modelId="{F4722CB2-9400-4EF9-8762-E52EBC71F0E1}">
      <dgm:prSet phldrT="[Texto]" custT="1"/>
      <dgm:spPr/>
      <dgm:t>
        <a:bodyPr/>
        <a:lstStyle/>
        <a:p>
          <a:pPr algn="l"/>
          <a:r>
            <a:rPr lang="es-ES" sz="1800" b="0" dirty="0"/>
            <a:t>- Alquiler, seguros, y gastos de limpieza del local</a:t>
          </a:r>
        </a:p>
        <a:p>
          <a:pPr algn="l"/>
          <a:r>
            <a:rPr lang="es-ES" sz="1800" b="0" dirty="0"/>
            <a:t>- Gastos de suministros</a:t>
          </a:r>
        </a:p>
        <a:p>
          <a:pPr algn="l"/>
          <a:r>
            <a:rPr lang="es-ES" sz="1800" b="0" dirty="0"/>
            <a:t>- Nóminas de carácter fijo e independientes del nivel de producción</a:t>
          </a:r>
        </a:p>
        <a:p>
          <a:pPr algn="l"/>
          <a:r>
            <a:rPr lang="es-ES" sz="1800" b="0" dirty="0"/>
            <a:t>- Cuota de autónomos</a:t>
          </a:r>
        </a:p>
        <a:p>
          <a:pPr algn="l"/>
          <a:r>
            <a:rPr lang="es-ES" sz="1800" b="0" dirty="0"/>
            <a:t>- Gastos financieros</a:t>
          </a:r>
        </a:p>
        <a:p>
          <a:pPr algn="l"/>
          <a:r>
            <a:rPr lang="es-ES" sz="1800" b="0" dirty="0"/>
            <a:t>- Gastos de contratación de gestoría</a:t>
          </a:r>
        </a:p>
        <a:p>
          <a:pPr algn="l"/>
          <a:r>
            <a:rPr lang="es-ES" sz="1800" b="0" dirty="0"/>
            <a:t>- Servicios de profesionales independientes</a:t>
          </a:r>
        </a:p>
        <a:p>
          <a:pPr algn="l"/>
          <a:r>
            <a:rPr lang="es-ES" sz="1800" b="0" dirty="0"/>
            <a:t>- Material de oficina y gastos en comunicaciones</a:t>
          </a:r>
        </a:p>
        <a:p>
          <a:pPr algn="l"/>
          <a:r>
            <a:rPr lang="es-ES" sz="1800" b="0" dirty="0"/>
            <a:t>- Gasto en publicidad y promoción del producto</a:t>
          </a:r>
          <a:endParaRPr lang="es-ES" sz="1600" b="0" dirty="0"/>
        </a:p>
      </dgm:t>
    </dgm:pt>
    <dgm:pt modelId="{3498A9AB-6B7E-4F38-8382-F3AD9C444B70}" type="parTrans" cxnId="{A73B53E6-F5BA-410A-AEAF-9A9E295DAE12}">
      <dgm:prSet/>
      <dgm:spPr/>
      <dgm:t>
        <a:bodyPr/>
        <a:lstStyle/>
        <a:p>
          <a:endParaRPr lang="es-ES" sz="1600"/>
        </a:p>
      </dgm:t>
    </dgm:pt>
    <dgm:pt modelId="{42C5CCD1-37D7-40EE-A450-D8B67C5C046F}" type="sibTrans" cxnId="{A73B53E6-F5BA-410A-AEAF-9A9E295DAE12}">
      <dgm:prSet/>
      <dgm:spPr/>
      <dgm:t>
        <a:bodyPr/>
        <a:lstStyle/>
        <a:p>
          <a:endParaRPr lang="es-ES" sz="1600"/>
        </a:p>
      </dgm:t>
    </dgm:pt>
    <dgm:pt modelId="{1189FCA1-712A-4834-9999-8B51C29E8EAD}" type="pres">
      <dgm:prSet presAssocID="{68A3FC47-5B30-4743-8AC9-13E55FFA1D14}" presName="Name0" presStyleCnt="0">
        <dgm:presLayoutVars>
          <dgm:dir/>
          <dgm:resizeHandles val="exact"/>
        </dgm:presLayoutVars>
      </dgm:prSet>
      <dgm:spPr/>
    </dgm:pt>
    <dgm:pt modelId="{34F3516A-B0CC-4D94-A9B2-1F5230F6839B}" type="pres">
      <dgm:prSet presAssocID="{50FD8F13-33AF-4862-B8EC-D144C10E6A3D}" presName="node" presStyleLbl="node1" presStyleIdx="0" presStyleCnt="2" custScaleY="30830">
        <dgm:presLayoutVars>
          <dgm:bulletEnabled val="1"/>
        </dgm:presLayoutVars>
      </dgm:prSet>
      <dgm:spPr/>
    </dgm:pt>
    <dgm:pt modelId="{EEACC027-EF9A-4D42-B770-8029A94C5B96}" type="pres">
      <dgm:prSet presAssocID="{1182F581-F00C-420C-A2C3-4361ED872E43}" presName="sibTrans" presStyleLbl="sibTrans2D1" presStyleIdx="0" presStyleCnt="1"/>
      <dgm:spPr/>
    </dgm:pt>
    <dgm:pt modelId="{3A87B9B2-EF3D-4DE6-846E-CE3337E03019}" type="pres">
      <dgm:prSet presAssocID="{1182F581-F00C-420C-A2C3-4361ED872E43}" presName="connectorText" presStyleLbl="sibTrans2D1" presStyleIdx="0" presStyleCnt="1"/>
      <dgm:spPr/>
    </dgm:pt>
    <dgm:pt modelId="{585CAE74-54E5-4225-A0DD-55D095F80492}" type="pres">
      <dgm:prSet presAssocID="{F4722CB2-9400-4EF9-8762-E52EBC71F0E1}" presName="node" presStyleLbl="node1" presStyleIdx="1" presStyleCnt="2" custScaleX="200722" custScaleY="101160" custLinFactNeighborX="3582" custLinFactNeighborY="-19528">
        <dgm:presLayoutVars>
          <dgm:bulletEnabled val="1"/>
        </dgm:presLayoutVars>
      </dgm:prSet>
      <dgm:spPr/>
    </dgm:pt>
  </dgm:ptLst>
  <dgm:cxnLst>
    <dgm:cxn modelId="{D2C8D318-1F79-4E7B-A6C5-FEFD83695FBA}" type="presOf" srcId="{F4722CB2-9400-4EF9-8762-E52EBC71F0E1}" destId="{585CAE74-54E5-4225-A0DD-55D095F80492}" srcOrd="0" destOrd="0" presId="urn:microsoft.com/office/officeart/2005/8/layout/process1"/>
    <dgm:cxn modelId="{C9B1BC2B-AFB1-44FC-BEC6-377B2B393621}" type="presOf" srcId="{68A3FC47-5B30-4743-8AC9-13E55FFA1D14}" destId="{1189FCA1-712A-4834-9999-8B51C29E8EAD}" srcOrd="0" destOrd="0" presId="urn:microsoft.com/office/officeart/2005/8/layout/process1"/>
    <dgm:cxn modelId="{71A11131-4575-455F-8BCA-4B4B4A0B64F6}" type="presOf" srcId="{1182F581-F00C-420C-A2C3-4361ED872E43}" destId="{EEACC027-EF9A-4D42-B770-8029A94C5B96}" srcOrd="0" destOrd="0" presId="urn:microsoft.com/office/officeart/2005/8/layout/process1"/>
    <dgm:cxn modelId="{7C440FB0-888A-486B-AB02-24EDF8BC5DAF}" srcId="{68A3FC47-5B30-4743-8AC9-13E55FFA1D14}" destId="{50FD8F13-33AF-4862-B8EC-D144C10E6A3D}" srcOrd="0" destOrd="0" parTransId="{BDF96E5E-0D5B-4D85-BD60-9940AE85006D}" sibTransId="{1182F581-F00C-420C-A2C3-4361ED872E43}"/>
    <dgm:cxn modelId="{961F3ABB-A028-45AC-9407-F67653063C67}" type="presOf" srcId="{1182F581-F00C-420C-A2C3-4361ED872E43}" destId="{3A87B9B2-EF3D-4DE6-846E-CE3337E03019}" srcOrd="1" destOrd="0" presId="urn:microsoft.com/office/officeart/2005/8/layout/process1"/>
    <dgm:cxn modelId="{A73B53E6-F5BA-410A-AEAF-9A9E295DAE12}" srcId="{68A3FC47-5B30-4743-8AC9-13E55FFA1D14}" destId="{F4722CB2-9400-4EF9-8762-E52EBC71F0E1}" srcOrd="1" destOrd="0" parTransId="{3498A9AB-6B7E-4F38-8382-F3AD9C444B70}" sibTransId="{42C5CCD1-37D7-40EE-A450-D8B67C5C046F}"/>
    <dgm:cxn modelId="{480CAEEE-030B-46E7-9A47-D9C5FAC47F14}" type="presOf" srcId="{50FD8F13-33AF-4862-B8EC-D144C10E6A3D}" destId="{34F3516A-B0CC-4D94-A9B2-1F5230F6839B}" srcOrd="0" destOrd="0" presId="urn:microsoft.com/office/officeart/2005/8/layout/process1"/>
    <dgm:cxn modelId="{F27824B0-7E74-4F10-9BDA-7888474C4E1A}" type="presParOf" srcId="{1189FCA1-712A-4834-9999-8B51C29E8EAD}" destId="{34F3516A-B0CC-4D94-A9B2-1F5230F6839B}" srcOrd="0" destOrd="0" presId="urn:microsoft.com/office/officeart/2005/8/layout/process1"/>
    <dgm:cxn modelId="{500D3820-69C9-402D-87B5-8FC024A45C31}" type="presParOf" srcId="{1189FCA1-712A-4834-9999-8B51C29E8EAD}" destId="{EEACC027-EF9A-4D42-B770-8029A94C5B96}" srcOrd="1" destOrd="0" presId="urn:microsoft.com/office/officeart/2005/8/layout/process1"/>
    <dgm:cxn modelId="{9EA89377-16E2-4F68-ABEE-E94582DEC97A}" type="presParOf" srcId="{EEACC027-EF9A-4D42-B770-8029A94C5B96}" destId="{3A87B9B2-EF3D-4DE6-846E-CE3337E03019}" srcOrd="0" destOrd="0" presId="urn:microsoft.com/office/officeart/2005/8/layout/process1"/>
    <dgm:cxn modelId="{2DBC1EC2-CEEC-4D50-820E-0352B5412134}" type="presParOf" srcId="{1189FCA1-712A-4834-9999-8B51C29E8EAD}" destId="{585CAE74-54E5-4225-A0DD-55D095F80492}"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8A3FC47-5B30-4743-8AC9-13E55FFA1D14}" type="doc">
      <dgm:prSet loTypeId="urn:microsoft.com/office/officeart/2005/8/layout/process1" loCatId="process" qsTypeId="urn:microsoft.com/office/officeart/2005/8/quickstyle/simple1" qsCatId="simple" csTypeId="urn:microsoft.com/office/officeart/2005/8/colors/accent0_1" csCatId="mainScheme" phldr="1"/>
      <dgm:spPr/>
    </dgm:pt>
    <dgm:pt modelId="{50FD8F13-33AF-4862-B8EC-D144C10E6A3D}">
      <dgm:prSet phldrT="[Texto]" custT="1"/>
      <dgm:spPr>
        <a:solidFill>
          <a:schemeClr val="accent6">
            <a:lumMod val="20000"/>
            <a:lumOff val="80000"/>
          </a:schemeClr>
        </a:solidFill>
      </dgm:spPr>
      <dgm:t>
        <a:bodyPr/>
        <a:lstStyle/>
        <a:p>
          <a:r>
            <a:rPr lang="es-ES" sz="2000" b="1" dirty="0">
              <a:effectLst/>
            </a:rPr>
            <a:t>Costes variables</a:t>
          </a:r>
        </a:p>
      </dgm:t>
    </dgm:pt>
    <dgm:pt modelId="{BDF96E5E-0D5B-4D85-BD60-9940AE85006D}" type="parTrans" cxnId="{7C440FB0-888A-486B-AB02-24EDF8BC5DAF}">
      <dgm:prSet/>
      <dgm:spPr/>
      <dgm:t>
        <a:bodyPr/>
        <a:lstStyle/>
        <a:p>
          <a:endParaRPr lang="es-ES" sz="1600"/>
        </a:p>
      </dgm:t>
    </dgm:pt>
    <dgm:pt modelId="{1182F581-F00C-420C-A2C3-4361ED872E43}" type="sibTrans" cxnId="{7C440FB0-888A-486B-AB02-24EDF8BC5DAF}">
      <dgm:prSet custT="1"/>
      <dgm:spPr/>
      <dgm:t>
        <a:bodyPr/>
        <a:lstStyle/>
        <a:p>
          <a:endParaRPr lang="es-ES" sz="1600"/>
        </a:p>
      </dgm:t>
    </dgm:pt>
    <dgm:pt modelId="{F4722CB2-9400-4EF9-8762-E52EBC71F0E1}">
      <dgm:prSet phldrT="[Texto]" custT="1"/>
      <dgm:spPr/>
      <dgm:t>
        <a:bodyPr/>
        <a:lstStyle/>
        <a:p>
          <a:pPr algn="l"/>
          <a:r>
            <a:rPr lang="es-ES" sz="1800" b="0" dirty="0"/>
            <a:t>- Compra de mercaderías que se van a vender o materias primas necesarias para producir</a:t>
          </a:r>
        </a:p>
        <a:p>
          <a:pPr algn="l"/>
          <a:r>
            <a:rPr lang="es-ES" sz="1800" b="0" dirty="0"/>
            <a:t>- Gasto de herramientas y utensilios necesarios para la producción</a:t>
          </a:r>
        </a:p>
        <a:p>
          <a:pPr algn="l"/>
          <a:r>
            <a:rPr lang="es-ES" sz="1800" b="0" dirty="0"/>
            <a:t>- Gastos en reparaciones de maquinaria, instalaciones, herramientas…</a:t>
          </a:r>
        </a:p>
        <a:p>
          <a:pPr algn="l"/>
          <a:r>
            <a:rPr lang="es-ES" sz="1800" b="0" dirty="0"/>
            <a:t>- Transporte de productos hasta punto de venta</a:t>
          </a:r>
        </a:p>
        <a:p>
          <a:pPr algn="l"/>
          <a:r>
            <a:rPr lang="es-ES" sz="1800" b="0" dirty="0"/>
            <a:t>- Comisiones bancarias cobro TPV</a:t>
          </a:r>
        </a:p>
        <a:p>
          <a:pPr algn="l"/>
          <a:r>
            <a:rPr lang="es-ES" sz="1800" b="0" dirty="0"/>
            <a:t>- En general, gastos necesarios para elaborar el producto o prestar servicio</a:t>
          </a:r>
        </a:p>
      </dgm:t>
    </dgm:pt>
    <dgm:pt modelId="{3498A9AB-6B7E-4F38-8382-F3AD9C444B70}" type="parTrans" cxnId="{A73B53E6-F5BA-410A-AEAF-9A9E295DAE12}">
      <dgm:prSet/>
      <dgm:spPr/>
      <dgm:t>
        <a:bodyPr/>
        <a:lstStyle/>
        <a:p>
          <a:endParaRPr lang="es-ES" sz="1600"/>
        </a:p>
      </dgm:t>
    </dgm:pt>
    <dgm:pt modelId="{42C5CCD1-37D7-40EE-A450-D8B67C5C046F}" type="sibTrans" cxnId="{A73B53E6-F5BA-410A-AEAF-9A9E295DAE12}">
      <dgm:prSet/>
      <dgm:spPr/>
      <dgm:t>
        <a:bodyPr/>
        <a:lstStyle/>
        <a:p>
          <a:endParaRPr lang="es-ES" sz="1600"/>
        </a:p>
      </dgm:t>
    </dgm:pt>
    <dgm:pt modelId="{1189FCA1-712A-4834-9999-8B51C29E8EAD}" type="pres">
      <dgm:prSet presAssocID="{68A3FC47-5B30-4743-8AC9-13E55FFA1D14}" presName="Name0" presStyleCnt="0">
        <dgm:presLayoutVars>
          <dgm:dir/>
          <dgm:resizeHandles val="exact"/>
        </dgm:presLayoutVars>
      </dgm:prSet>
      <dgm:spPr/>
    </dgm:pt>
    <dgm:pt modelId="{34F3516A-B0CC-4D94-A9B2-1F5230F6839B}" type="pres">
      <dgm:prSet presAssocID="{50FD8F13-33AF-4862-B8EC-D144C10E6A3D}" presName="node" presStyleLbl="node1" presStyleIdx="0" presStyleCnt="2" custScaleY="37843">
        <dgm:presLayoutVars>
          <dgm:bulletEnabled val="1"/>
        </dgm:presLayoutVars>
      </dgm:prSet>
      <dgm:spPr/>
    </dgm:pt>
    <dgm:pt modelId="{EEACC027-EF9A-4D42-B770-8029A94C5B96}" type="pres">
      <dgm:prSet presAssocID="{1182F581-F00C-420C-A2C3-4361ED872E43}" presName="sibTrans" presStyleLbl="sibTrans2D1" presStyleIdx="0" presStyleCnt="1"/>
      <dgm:spPr/>
    </dgm:pt>
    <dgm:pt modelId="{3A87B9B2-EF3D-4DE6-846E-CE3337E03019}" type="pres">
      <dgm:prSet presAssocID="{1182F581-F00C-420C-A2C3-4361ED872E43}" presName="connectorText" presStyleLbl="sibTrans2D1" presStyleIdx="0" presStyleCnt="1"/>
      <dgm:spPr/>
    </dgm:pt>
    <dgm:pt modelId="{585CAE74-54E5-4225-A0DD-55D095F80492}" type="pres">
      <dgm:prSet presAssocID="{F4722CB2-9400-4EF9-8762-E52EBC71F0E1}" presName="node" presStyleLbl="node1" presStyleIdx="1" presStyleCnt="2" custScaleX="200722" custScaleY="109625">
        <dgm:presLayoutVars>
          <dgm:bulletEnabled val="1"/>
        </dgm:presLayoutVars>
      </dgm:prSet>
      <dgm:spPr/>
    </dgm:pt>
  </dgm:ptLst>
  <dgm:cxnLst>
    <dgm:cxn modelId="{81430A31-D203-4FDF-8531-2B2EFEB6E692}" type="presOf" srcId="{50FD8F13-33AF-4862-B8EC-D144C10E6A3D}" destId="{34F3516A-B0CC-4D94-A9B2-1F5230F6839B}" srcOrd="0" destOrd="0" presId="urn:microsoft.com/office/officeart/2005/8/layout/process1"/>
    <dgm:cxn modelId="{F911FC66-B315-4020-8437-0F8D46B6C408}" type="presOf" srcId="{68A3FC47-5B30-4743-8AC9-13E55FFA1D14}" destId="{1189FCA1-712A-4834-9999-8B51C29E8EAD}" srcOrd="0" destOrd="0" presId="urn:microsoft.com/office/officeart/2005/8/layout/process1"/>
    <dgm:cxn modelId="{8DF5B090-C180-4E43-9287-7F3420E10E8A}" type="presOf" srcId="{1182F581-F00C-420C-A2C3-4361ED872E43}" destId="{EEACC027-EF9A-4D42-B770-8029A94C5B96}" srcOrd="0" destOrd="0" presId="urn:microsoft.com/office/officeart/2005/8/layout/process1"/>
    <dgm:cxn modelId="{79A78EAB-2E00-4940-9500-58A1FE8D62FB}" type="presOf" srcId="{F4722CB2-9400-4EF9-8762-E52EBC71F0E1}" destId="{585CAE74-54E5-4225-A0DD-55D095F80492}" srcOrd="0" destOrd="0" presId="urn:microsoft.com/office/officeart/2005/8/layout/process1"/>
    <dgm:cxn modelId="{7C440FB0-888A-486B-AB02-24EDF8BC5DAF}" srcId="{68A3FC47-5B30-4743-8AC9-13E55FFA1D14}" destId="{50FD8F13-33AF-4862-B8EC-D144C10E6A3D}" srcOrd="0" destOrd="0" parTransId="{BDF96E5E-0D5B-4D85-BD60-9940AE85006D}" sibTransId="{1182F581-F00C-420C-A2C3-4361ED872E43}"/>
    <dgm:cxn modelId="{09015FE4-2C9A-40AD-B99E-90F7D77C6B8E}" type="presOf" srcId="{1182F581-F00C-420C-A2C3-4361ED872E43}" destId="{3A87B9B2-EF3D-4DE6-846E-CE3337E03019}" srcOrd="1" destOrd="0" presId="urn:microsoft.com/office/officeart/2005/8/layout/process1"/>
    <dgm:cxn modelId="{A73B53E6-F5BA-410A-AEAF-9A9E295DAE12}" srcId="{68A3FC47-5B30-4743-8AC9-13E55FFA1D14}" destId="{F4722CB2-9400-4EF9-8762-E52EBC71F0E1}" srcOrd="1" destOrd="0" parTransId="{3498A9AB-6B7E-4F38-8382-F3AD9C444B70}" sibTransId="{42C5CCD1-37D7-40EE-A450-D8B67C5C046F}"/>
    <dgm:cxn modelId="{D465DBD7-0B65-49B2-BD47-FA640A170462}" type="presParOf" srcId="{1189FCA1-712A-4834-9999-8B51C29E8EAD}" destId="{34F3516A-B0CC-4D94-A9B2-1F5230F6839B}" srcOrd="0" destOrd="0" presId="urn:microsoft.com/office/officeart/2005/8/layout/process1"/>
    <dgm:cxn modelId="{F8E47FD4-D8DD-41AC-B350-E3B77FD43550}" type="presParOf" srcId="{1189FCA1-712A-4834-9999-8B51C29E8EAD}" destId="{EEACC027-EF9A-4D42-B770-8029A94C5B96}" srcOrd="1" destOrd="0" presId="urn:microsoft.com/office/officeart/2005/8/layout/process1"/>
    <dgm:cxn modelId="{740B0431-14C2-4AB0-B656-4F2E10A580A7}" type="presParOf" srcId="{EEACC027-EF9A-4D42-B770-8029A94C5B96}" destId="{3A87B9B2-EF3D-4DE6-846E-CE3337E03019}" srcOrd="0" destOrd="0" presId="urn:microsoft.com/office/officeart/2005/8/layout/process1"/>
    <dgm:cxn modelId="{7F77F3EF-FD41-45D3-9553-A9F32088C267}" type="presParOf" srcId="{1189FCA1-712A-4834-9999-8B51C29E8EAD}" destId="{585CAE74-54E5-4225-A0DD-55D095F80492}"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2E11A2-B1D7-4A7A-950E-474DC47F3D60}">
      <dsp:nvSpPr>
        <dsp:cNvPr id="0" name=""/>
        <dsp:cNvSpPr/>
      </dsp:nvSpPr>
      <dsp:spPr>
        <a:xfrm rot="5400000">
          <a:off x="530639" y="1050552"/>
          <a:ext cx="1588333" cy="2642951"/>
        </a:xfrm>
        <a:prstGeom prst="corner">
          <a:avLst>
            <a:gd name="adj1" fmla="val 16120"/>
            <a:gd name="adj2" fmla="val 16110"/>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59F097-F0DD-4889-AE9E-DBC7746AE38A}">
      <dsp:nvSpPr>
        <dsp:cNvPr id="0" name=""/>
        <dsp:cNvSpPr/>
      </dsp:nvSpPr>
      <dsp:spPr>
        <a:xfrm>
          <a:off x="265507" y="1840225"/>
          <a:ext cx="2386071" cy="20915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ES" sz="2400" b="1" kern="1200" dirty="0"/>
            <a:t>Compras</a:t>
          </a:r>
        </a:p>
      </dsp:txBody>
      <dsp:txXfrm>
        <a:off x="265507" y="1840225"/>
        <a:ext cx="2386071" cy="2091531"/>
      </dsp:txXfrm>
    </dsp:sp>
    <dsp:sp modelId="{3A61C16B-87C7-4298-BC0C-A1D8A747AF81}">
      <dsp:nvSpPr>
        <dsp:cNvPr id="0" name=""/>
        <dsp:cNvSpPr/>
      </dsp:nvSpPr>
      <dsp:spPr>
        <a:xfrm>
          <a:off x="2201376" y="855975"/>
          <a:ext cx="450202" cy="450202"/>
        </a:xfrm>
        <a:prstGeom prst="triangle">
          <a:avLst>
            <a:gd name="adj" fmla="val 10000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7F7D8D-CE77-4224-ACE6-508F86B070DF}">
      <dsp:nvSpPr>
        <dsp:cNvPr id="0" name=""/>
        <dsp:cNvSpPr/>
      </dsp:nvSpPr>
      <dsp:spPr>
        <a:xfrm rot="5400000">
          <a:off x="3451656" y="327743"/>
          <a:ext cx="1588333" cy="2642951"/>
        </a:xfrm>
        <a:prstGeom prst="corner">
          <a:avLst>
            <a:gd name="adj1" fmla="val 16120"/>
            <a:gd name="adj2" fmla="val 16110"/>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E32CCE-32E8-410C-8AC0-A82F1820D02D}">
      <dsp:nvSpPr>
        <dsp:cNvPr id="0" name=""/>
        <dsp:cNvSpPr/>
      </dsp:nvSpPr>
      <dsp:spPr>
        <a:xfrm>
          <a:off x="3186524" y="1117416"/>
          <a:ext cx="2386071" cy="20915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ES" sz="2400" b="1" kern="1200" dirty="0"/>
            <a:t>Almacenamiento</a:t>
          </a:r>
        </a:p>
      </dsp:txBody>
      <dsp:txXfrm>
        <a:off x="3186524" y="1117416"/>
        <a:ext cx="2386071" cy="2091531"/>
      </dsp:txXfrm>
    </dsp:sp>
    <dsp:sp modelId="{B7F2CA7D-AFF7-4E70-A0F7-CE160EDA3AE3}">
      <dsp:nvSpPr>
        <dsp:cNvPr id="0" name=""/>
        <dsp:cNvSpPr/>
      </dsp:nvSpPr>
      <dsp:spPr>
        <a:xfrm>
          <a:off x="5122393" y="133166"/>
          <a:ext cx="450202" cy="450202"/>
        </a:xfrm>
        <a:prstGeom prst="triangle">
          <a:avLst>
            <a:gd name="adj" fmla="val 10000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E22F18-29CF-4708-999E-7100CD1F79C4}">
      <dsp:nvSpPr>
        <dsp:cNvPr id="0" name=""/>
        <dsp:cNvSpPr/>
      </dsp:nvSpPr>
      <dsp:spPr>
        <a:xfrm rot="5400000">
          <a:off x="6372673" y="-395065"/>
          <a:ext cx="1588333" cy="2642951"/>
        </a:xfrm>
        <a:prstGeom prst="corner">
          <a:avLst>
            <a:gd name="adj1" fmla="val 16120"/>
            <a:gd name="adj2" fmla="val 16110"/>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36122A-D175-4412-9BC0-E0131BD6DDFC}">
      <dsp:nvSpPr>
        <dsp:cNvPr id="0" name=""/>
        <dsp:cNvSpPr/>
      </dsp:nvSpPr>
      <dsp:spPr>
        <a:xfrm>
          <a:off x="6107541" y="394607"/>
          <a:ext cx="2386071" cy="20915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ES" sz="2400" b="1" kern="1200" dirty="0"/>
            <a:t>Gestión de inventarios</a:t>
          </a:r>
        </a:p>
      </dsp:txBody>
      <dsp:txXfrm>
        <a:off x="6107541" y="394607"/>
        <a:ext cx="2386071" cy="20915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F7C319-B8D2-45BF-BAB3-3C04DE6DD803}">
      <dsp:nvSpPr>
        <dsp:cNvPr id="0" name=""/>
        <dsp:cNvSpPr/>
      </dsp:nvSpPr>
      <dsp:spPr>
        <a:xfrm>
          <a:off x="3584655" y="43504"/>
          <a:ext cx="2298381" cy="1719626"/>
        </a:xfrm>
        <a:prstGeom prst="ellipse">
          <a:avLst/>
        </a:prstGeom>
        <a:solidFill>
          <a:schemeClr val="accent3"/>
        </a:solidFill>
        <a:ln w="28575">
          <a:solidFill>
            <a:srgbClr val="00B050"/>
          </a:solid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s-ES_tradnl" sz="1800" b="1" kern="1200" dirty="0"/>
            <a:t>Sistema ABC: clasifica los productos en 3 categorías</a:t>
          </a:r>
          <a:endParaRPr lang="es-ES" sz="1800" b="1" kern="1200" dirty="0"/>
        </a:p>
      </dsp:txBody>
      <dsp:txXfrm>
        <a:off x="3921245" y="295337"/>
        <a:ext cx="1625201" cy="1215960"/>
      </dsp:txXfrm>
    </dsp:sp>
    <dsp:sp modelId="{AF411819-B58E-4FD4-9EE5-2623AA8BBF37}">
      <dsp:nvSpPr>
        <dsp:cNvPr id="0" name=""/>
        <dsp:cNvSpPr/>
      </dsp:nvSpPr>
      <dsp:spPr>
        <a:xfrm>
          <a:off x="3282620" y="1910791"/>
          <a:ext cx="2919229" cy="801308"/>
        </a:xfrm>
        <a:prstGeom prst="ellipse">
          <a:avLst/>
        </a:prstGeom>
        <a:solidFill>
          <a:schemeClr val="tx2">
            <a:lumMod val="40000"/>
            <a:lumOff val="6000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s-ES_tradnl" sz="2000" b="1" kern="1200" dirty="0">
              <a:solidFill>
                <a:schemeClr val="tx2"/>
              </a:solidFill>
            </a:rPr>
            <a:t>Existencias o productos B</a:t>
          </a:r>
          <a:endParaRPr lang="es-ES" sz="2000" b="1" kern="1200" dirty="0">
            <a:solidFill>
              <a:schemeClr val="tx2"/>
            </a:solidFill>
          </a:endParaRPr>
        </a:p>
      </dsp:txBody>
      <dsp:txXfrm>
        <a:off x="3710131" y="2028140"/>
        <a:ext cx="2064207" cy="566610"/>
      </dsp:txXfrm>
    </dsp:sp>
    <dsp:sp modelId="{B2E55129-0EA5-4BE9-8351-54B15E6EFF7E}">
      <dsp:nvSpPr>
        <dsp:cNvPr id="0" name=""/>
        <dsp:cNvSpPr/>
      </dsp:nvSpPr>
      <dsp:spPr>
        <a:xfrm>
          <a:off x="6372528" y="907893"/>
          <a:ext cx="2592577" cy="897463"/>
        </a:xfrm>
        <a:prstGeom prst="ellipse">
          <a:avLst/>
        </a:prstGeom>
        <a:solidFill>
          <a:schemeClr val="tx2">
            <a:lumMod val="40000"/>
            <a:lumOff val="6000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s-ES_tradnl" sz="2000" b="1" kern="1200" dirty="0">
              <a:solidFill>
                <a:schemeClr val="tx2"/>
              </a:solidFill>
            </a:rPr>
            <a:t>Existencias o productos C</a:t>
          </a:r>
          <a:endParaRPr lang="es-ES" sz="2000" b="1" kern="1200" dirty="0">
            <a:solidFill>
              <a:schemeClr val="tx2"/>
            </a:solidFill>
          </a:endParaRPr>
        </a:p>
      </dsp:txBody>
      <dsp:txXfrm>
        <a:off x="6752202" y="1039323"/>
        <a:ext cx="1833229" cy="634603"/>
      </dsp:txXfrm>
    </dsp:sp>
    <dsp:sp modelId="{B40552BD-87B2-4CA4-8DDF-5A2EBC4710FF}">
      <dsp:nvSpPr>
        <dsp:cNvPr id="0" name=""/>
        <dsp:cNvSpPr/>
      </dsp:nvSpPr>
      <dsp:spPr>
        <a:xfrm>
          <a:off x="61121" y="907268"/>
          <a:ext cx="2807163" cy="872758"/>
        </a:xfrm>
        <a:prstGeom prst="ellipse">
          <a:avLst/>
        </a:prstGeom>
        <a:solidFill>
          <a:schemeClr val="tx2">
            <a:lumMod val="40000"/>
            <a:lumOff val="6000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s-ES_tradnl" sz="2000" b="1" kern="1200" dirty="0">
              <a:solidFill>
                <a:schemeClr val="tx2"/>
              </a:solidFill>
            </a:rPr>
            <a:t>Existencias o Productos A</a:t>
          </a:r>
        </a:p>
      </dsp:txBody>
      <dsp:txXfrm>
        <a:off x="472221" y="1035080"/>
        <a:ext cx="1984963" cy="6171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07CA97-37B0-49AE-A519-32FDD41094AA}">
      <dsp:nvSpPr>
        <dsp:cNvPr id="0" name=""/>
        <dsp:cNvSpPr/>
      </dsp:nvSpPr>
      <dsp:spPr>
        <a:xfrm>
          <a:off x="0" y="792694"/>
          <a:ext cx="2099437" cy="304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None/>
          </a:pPr>
          <a:r>
            <a:rPr lang="es-ES" sz="1600" b="1" kern="1200" dirty="0">
              <a:effectLst/>
            </a:rPr>
            <a:t>Costes fijos</a:t>
          </a:r>
        </a:p>
      </dsp:txBody>
      <dsp:txXfrm>
        <a:off x="0" y="792694"/>
        <a:ext cx="2099437" cy="304238"/>
      </dsp:txXfrm>
    </dsp:sp>
    <dsp:sp modelId="{FCFC1953-F44B-4850-A53D-6378F0BBC1FB}">
      <dsp:nvSpPr>
        <dsp:cNvPr id="0" name=""/>
        <dsp:cNvSpPr/>
      </dsp:nvSpPr>
      <dsp:spPr>
        <a:xfrm>
          <a:off x="2099437" y="89142"/>
          <a:ext cx="419887" cy="1711343"/>
        </a:xfrm>
        <a:prstGeom prst="leftBrace">
          <a:avLst>
            <a:gd name="adj1" fmla="val 35000"/>
            <a:gd name="adj2" fmla="val 50000"/>
          </a:avLst>
        </a:pr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F1C9EF-2617-4D6F-9620-F458CF77610E}">
      <dsp:nvSpPr>
        <dsp:cNvPr id="0" name=""/>
        <dsp:cNvSpPr/>
      </dsp:nvSpPr>
      <dsp:spPr>
        <a:xfrm>
          <a:off x="2687280" y="349"/>
          <a:ext cx="5710470" cy="1888929"/>
        </a:xfrm>
        <a:prstGeom prst="rect">
          <a:avLst/>
        </a:prstGeom>
        <a:solidFill>
          <a:schemeClr val="accent2">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171450" lvl="1" indent="-171450" algn="just" defTabSz="711200">
            <a:lnSpc>
              <a:spcPct val="90000"/>
            </a:lnSpc>
            <a:spcBef>
              <a:spcPct val="0"/>
            </a:spcBef>
            <a:spcAft>
              <a:spcPct val="15000"/>
            </a:spcAft>
            <a:buChar char="•"/>
          </a:pPr>
          <a:r>
            <a:rPr lang="es-ES" sz="1600" kern="1200" dirty="0">
              <a:effectLst/>
            </a:rPr>
            <a:t>Son aquellos que </a:t>
          </a:r>
          <a:r>
            <a:rPr lang="es-ES" sz="1600" b="1" kern="1200" dirty="0">
              <a:effectLst/>
            </a:rPr>
            <a:t>no dependen del nivel de actividad </a:t>
          </a:r>
          <a:r>
            <a:rPr lang="es-ES" sz="1600" kern="1200" dirty="0">
              <a:effectLst/>
            </a:rPr>
            <a:t>de la empresa, sino que son una </a:t>
          </a:r>
          <a:r>
            <a:rPr lang="es-ES" sz="1600" b="1" u="sng" kern="1200" dirty="0">
              <a:effectLst/>
            </a:rPr>
            <a:t>cantidad fija independiente de la producción</a:t>
          </a:r>
          <a:r>
            <a:rPr lang="es-ES" sz="1600" kern="1200" dirty="0">
              <a:effectLst/>
            </a:rPr>
            <a:t>.  (alquiler del local se paga con independencia de los productos que se vendan)</a:t>
          </a:r>
        </a:p>
        <a:p>
          <a:pPr marL="171450" lvl="1" indent="-171450" algn="l" defTabSz="711200">
            <a:lnSpc>
              <a:spcPct val="90000"/>
            </a:lnSpc>
            <a:spcBef>
              <a:spcPct val="0"/>
            </a:spcBef>
            <a:spcAft>
              <a:spcPct val="15000"/>
            </a:spcAft>
            <a:buChar char="•"/>
          </a:pPr>
          <a:r>
            <a:rPr lang="es-ES" sz="1600" b="1" kern="1200" dirty="0">
              <a:effectLst/>
            </a:rPr>
            <a:t>No son permanentemente fijos</a:t>
          </a:r>
          <a:r>
            <a:rPr lang="es-ES" sz="1600" kern="1200" dirty="0">
              <a:effectLst/>
            </a:rPr>
            <a:t>, si aumenta mucho la producción también aumentarán </a:t>
          </a:r>
          <a:r>
            <a:rPr lang="es-ES" sz="1600" kern="1200" dirty="0" err="1">
              <a:effectLst/>
            </a:rPr>
            <a:t>Ej</a:t>
          </a:r>
          <a:r>
            <a:rPr lang="es-ES" sz="1600" kern="1200" dirty="0">
              <a:effectLst/>
            </a:rPr>
            <a:t>: alquiler local o nóminas trabajadores cuando aumenta la demanda.</a:t>
          </a:r>
        </a:p>
      </dsp:txBody>
      <dsp:txXfrm>
        <a:off x="2687280" y="349"/>
        <a:ext cx="5710470" cy="1888929"/>
      </dsp:txXfrm>
    </dsp:sp>
    <dsp:sp modelId="{0FB103CD-A801-4940-BFC4-5512A1B554D2}">
      <dsp:nvSpPr>
        <dsp:cNvPr id="0" name=""/>
        <dsp:cNvSpPr/>
      </dsp:nvSpPr>
      <dsp:spPr>
        <a:xfrm>
          <a:off x="0" y="2665872"/>
          <a:ext cx="2099437" cy="304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None/>
          </a:pPr>
          <a:r>
            <a:rPr lang="es-ES" sz="1600" b="1" kern="1200" dirty="0">
              <a:effectLst/>
            </a:rPr>
            <a:t>Costes variables</a:t>
          </a:r>
        </a:p>
      </dsp:txBody>
      <dsp:txXfrm>
        <a:off x="0" y="2665872"/>
        <a:ext cx="2099437" cy="304238"/>
      </dsp:txXfrm>
    </dsp:sp>
    <dsp:sp modelId="{0A64C100-8A94-4F44-869B-D94E9226285C}">
      <dsp:nvSpPr>
        <dsp:cNvPr id="0" name=""/>
        <dsp:cNvSpPr/>
      </dsp:nvSpPr>
      <dsp:spPr>
        <a:xfrm>
          <a:off x="2099437" y="2076409"/>
          <a:ext cx="419887" cy="1483164"/>
        </a:xfrm>
        <a:prstGeom prst="leftBrace">
          <a:avLst>
            <a:gd name="adj1" fmla="val 35000"/>
            <a:gd name="adj2" fmla="val 50000"/>
          </a:avLst>
        </a:pr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F69679-F63F-4989-8C9F-C0AC378B329B}">
      <dsp:nvSpPr>
        <dsp:cNvPr id="0" name=""/>
        <dsp:cNvSpPr/>
      </dsp:nvSpPr>
      <dsp:spPr>
        <a:xfrm>
          <a:off x="2687280" y="1906980"/>
          <a:ext cx="5710470" cy="1822023"/>
        </a:xfrm>
        <a:prstGeom prst="rect">
          <a:avLst/>
        </a:prstGeom>
        <a:solidFill>
          <a:schemeClr val="accent6">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171450" lvl="1" indent="-171450" algn="just" defTabSz="711200">
            <a:lnSpc>
              <a:spcPct val="90000"/>
            </a:lnSpc>
            <a:spcBef>
              <a:spcPct val="0"/>
            </a:spcBef>
            <a:spcAft>
              <a:spcPct val="15000"/>
            </a:spcAft>
            <a:buChar char="•"/>
          </a:pPr>
          <a:r>
            <a:rPr lang="es-ES" sz="1600" kern="1200" dirty="0">
              <a:effectLst/>
            </a:rPr>
            <a:t>Son aquellos que </a:t>
          </a:r>
          <a:r>
            <a:rPr lang="es-ES" sz="1600" b="1" kern="1200" dirty="0">
              <a:effectLst/>
            </a:rPr>
            <a:t>van en paralelo con el volumen de la actividad</a:t>
          </a:r>
          <a:r>
            <a:rPr lang="es-ES" sz="1600" kern="1200" dirty="0">
              <a:effectLst/>
            </a:rPr>
            <a:t>, </a:t>
          </a:r>
          <a:r>
            <a:rPr lang="es-ES" sz="1600" b="1" u="sng" kern="1200" dirty="0">
              <a:effectLst/>
            </a:rPr>
            <a:t>cuanto más se fabrica o se vende más costes variables existen  </a:t>
          </a:r>
          <a:r>
            <a:rPr lang="es-ES" sz="1600" kern="1200" dirty="0">
              <a:effectLst/>
            </a:rPr>
            <a:t>(compra de materias primas para fabricar productos)</a:t>
          </a:r>
        </a:p>
        <a:p>
          <a:pPr marL="171450" lvl="1" indent="-171450" algn="l" defTabSz="711200">
            <a:lnSpc>
              <a:spcPct val="90000"/>
            </a:lnSpc>
            <a:spcBef>
              <a:spcPct val="0"/>
            </a:spcBef>
            <a:spcAft>
              <a:spcPct val="15000"/>
            </a:spcAft>
            <a:buChar char="•"/>
          </a:pPr>
          <a:r>
            <a:rPr lang="es-ES" sz="1600" b="1" kern="1200" dirty="0">
              <a:effectLst/>
            </a:rPr>
            <a:t>Costes fijos para una empresa pueden ser costes variables para otra, </a:t>
          </a:r>
          <a:r>
            <a:rPr lang="es-ES" sz="1600" b="0" kern="1200" dirty="0" err="1">
              <a:effectLst/>
            </a:rPr>
            <a:t>ej</a:t>
          </a:r>
          <a:r>
            <a:rPr lang="es-ES" sz="1600" b="0" kern="1200" dirty="0">
              <a:effectLst/>
            </a:rPr>
            <a:t>: el gasto de luz para una frutería es fijo, pero para una peluquería puede variar según el número de clientes. </a:t>
          </a:r>
          <a:endParaRPr lang="es-ES" sz="1600" b="1" kern="1200" dirty="0">
            <a:effectLst/>
          </a:endParaRPr>
        </a:p>
      </dsp:txBody>
      <dsp:txXfrm>
        <a:off x="2687280" y="1906980"/>
        <a:ext cx="5710470" cy="182202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F3516A-B0CC-4D94-A9B2-1F5230F6839B}">
      <dsp:nvSpPr>
        <dsp:cNvPr id="0" name=""/>
        <dsp:cNvSpPr/>
      </dsp:nvSpPr>
      <dsp:spPr>
        <a:xfrm>
          <a:off x="4498" y="1425817"/>
          <a:ext cx="2389740" cy="1212365"/>
        </a:xfrm>
        <a:prstGeom prst="roundRect">
          <a:avLst>
            <a:gd name="adj" fmla="val 10000"/>
          </a:avLst>
        </a:prstGeom>
        <a:solidFill>
          <a:schemeClr val="accent2">
            <a:lumMod val="40000"/>
            <a:lumOff val="6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t>Costes fijos</a:t>
          </a:r>
        </a:p>
      </dsp:txBody>
      <dsp:txXfrm>
        <a:off x="40007" y="1461326"/>
        <a:ext cx="2318722" cy="1141347"/>
      </dsp:txXfrm>
    </dsp:sp>
    <dsp:sp modelId="{EEACC027-EF9A-4D42-B770-8029A94C5B96}">
      <dsp:nvSpPr>
        <dsp:cNvPr id="0" name=""/>
        <dsp:cNvSpPr/>
      </dsp:nvSpPr>
      <dsp:spPr>
        <a:xfrm rot="21567553">
          <a:off x="2634326" y="1719725"/>
          <a:ext cx="509032" cy="592655"/>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s-ES" sz="1600" kern="1200"/>
        </a:p>
      </dsp:txBody>
      <dsp:txXfrm>
        <a:off x="2634329" y="1838977"/>
        <a:ext cx="356322" cy="355593"/>
      </dsp:txXfrm>
    </dsp:sp>
    <dsp:sp modelId="{585CAE74-54E5-4225-A0DD-55D095F80492}">
      <dsp:nvSpPr>
        <dsp:cNvPr id="0" name=""/>
        <dsp:cNvSpPr/>
      </dsp:nvSpPr>
      <dsp:spPr>
        <a:xfrm>
          <a:off x="3354634" y="0"/>
          <a:ext cx="4796735" cy="397803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ES" sz="1800" b="0" kern="1200" dirty="0"/>
            <a:t>- Alquiler, seguros, y gastos de limpieza del local</a:t>
          </a:r>
        </a:p>
        <a:p>
          <a:pPr marL="0" lvl="0" indent="0" algn="l" defTabSz="800100">
            <a:lnSpc>
              <a:spcPct val="90000"/>
            </a:lnSpc>
            <a:spcBef>
              <a:spcPct val="0"/>
            </a:spcBef>
            <a:spcAft>
              <a:spcPct val="35000"/>
            </a:spcAft>
            <a:buNone/>
          </a:pPr>
          <a:r>
            <a:rPr lang="es-ES" sz="1800" b="0" kern="1200" dirty="0"/>
            <a:t>- Gastos de suministros</a:t>
          </a:r>
        </a:p>
        <a:p>
          <a:pPr marL="0" lvl="0" indent="0" algn="l" defTabSz="800100">
            <a:lnSpc>
              <a:spcPct val="90000"/>
            </a:lnSpc>
            <a:spcBef>
              <a:spcPct val="0"/>
            </a:spcBef>
            <a:spcAft>
              <a:spcPct val="35000"/>
            </a:spcAft>
            <a:buNone/>
          </a:pPr>
          <a:r>
            <a:rPr lang="es-ES" sz="1800" b="0" kern="1200" dirty="0"/>
            <a:t>- Nóminas de carácter fijo e independientes del nivel de producción</a:t>
          </a:r>
        </a:p>
        <a:p>
          <a:pPr marL="0" lvl="0" indent="0" algn="l" defTabSz="800100">
            <a:lnSpc>
              <a:spcPct val="90000"/>
            </a:lnSpc>
            <a:spcBef>
              <a:spcPct val="0"/>
            </a:spcBef>
            <a:spcAft>
              <a:spcPct val="35000"/>
            </a:spcAft>
            <a:buNone/>
          </a:pPr>
          <a:r>
            <a:rPr lang="es-ES" sz="1800" b="0" kern="1200" dirty="0"/>
            <a:t>- Cuota de autónomos</a:t>
          </a:r>
        </a:p>
        <a:p>
          <a:pPr marL="0" lvl="0" indent="0" algn="l" defTabSz="800100">
            <a:lnSpc>
              <a:spcPct val="90000"/>
            </a:lnSpc>
            <a:spcBef>
              <a:spcPct val="0"/>
            </a:spcBef>
            <a:spcAft>
              <a:spcPct val="35000"/>
            </a:spcAft>
            <a:buNone/>
          </a:pPr>
          <a:r>
            <a:rPr lang="es-ES" sz="1800" b="0" kern="1200" dirty="0"/>
            <a:t>- Gastos financieros</a:t>
          </a:r>
        </a:p>
        <a:p>
          <a:pPr marL="0" lvl="0" indent="0" algn="l" defTabSz="800100">
            <a:lnSpc>
              <a:spcPct val="90000"/>
            </a:lnSpc>
            <a:spcBef>
              <a:spcPct val="0"/>
            </a:spcBef>
            <a:spcAft>
              <a:spcPct val="35000"/>
            </a:spcAft>
            <a:buNone/>
          </a:pPr>
          <a:r>
            <a:rPr lang="es-ES" sz="1800" b="0" kern="1200" dirty="0"/>
            <a:t>- Gastos de contratación de gestoría</a:t>
          </a:r>
        </a:p>
        <a:p>
          <a:pPr marL="0" lvl="0" indent="0" algn="l" defTabSz="800100">
            <a:lnSpc>
              <a:spcPct val="90000"/>
            </a:lnSpc>
            <a:spcBef>
              <a:spcPct val="0"/>
            </a:spcBef>
            <a:spcAft>
              <a:spcPct val="35000"/>
            </a:spcAft>
            <a:buNone/>
          </a:pPr>
          <a:r>
            <a:rPr lang="es-ES" sz="1800" b="0" kern="1200" dirty="0"/>
            <a:t>- Servicios de profesionales independientes</a:t>
          </a:r>
        </a:p>
        <a:p>
          <a:pPr marL="0" lvl="0" indent="0" algn="l" defTabSz="800100">
            <a:lnSpc>
              <a:spcPct val="90000"/>
            </a:lnSpc>
            <a:spcBef>
              <a:spcPct val="0"/>
            </a:spcBef>
            <a:spcAft>
              <a:spcPct val="35000"/>
            </a:spcAft>
            <a:buNone/>
          </a:pPr>
          <a:r>
            <a:rPr lang="es-ES" sz="1800" b="0" kern="1200" dirty="0"/>
            <a:t>- Material de oficina y gastos en comunicaciones</a:t>
          </a:r>
        </a:p>
        <a:p>
          <a:pPr marL="0" lvl="0" indent="0" algn="l" defTabSz="800100">
            <a:lnSpc>
              <a:spcPct val="90000"/>
            </a:lnSpc>
            <a:spcBef>
              <a:spcPct val="0"/>
            </a:spcBef>
            <a:spcAft>
              <a:spcPct val="35000"/>
            </a:spcAft>
            <a:buNone/>
          </a:pPr>
          <a:r>
            <a:rPr lang="es-ES" sz="1800" b="0" kern="1200" dirty="0"/>
            <a:t>- Gasto en publicidad y promoción del producto</a:t>
          </a:r>
          <a:endParaRPr lang="es-ES" sz="1600" b="0" kern="1200" dirty="0"/>
        </a:p>
      </dsp:txBody>
      <dsp:txXfrm>
        <a:off x="3471147" y="116513"/>
        <a:ext cx="4563709" cy="374501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F3516A-B0CC-4D94-A9B2-1F5230F6839B}">
      <dsp:nvSpPr>
        <dsp:cNvPr id="0" name=""/>
        <dsp:cNvSpPr/>
      </dsp:nvSpPr>
      <dsp:spPr>
        <a:xfrm>
          <a:off x="4498" y="1388602"/>
          <a:ext cx="2389740" cy="1286794"/>
        </a:xfrm>
        <a:prstGeom prst="roundRect">
          <a:avLst>
            <a:gd name="adj" fmla="val 10000"/>
          </a:avLst>
        </a:prstGeom>
        <a:solidFill>
          <a:schemeClr val="accent6">
            <a:lumMod val="20000"/>
            <a:lumOff val="8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rPr>
            <a:t>Costes variables</a:t>
          </a:r>
        </a:p>
      </dsp:txBody>
      <dsp:txXfrm>
        <a:off x="42187" y="1426291"/>
        <a:ext cx="2314362" cy="1211416"/>
      </dsp:txXfrm>
    </dsp:sp>
    <dsp:sp modelId="{EEACC027-EF9A-4D42-B770-8029A94C5B96}">
      <dsp:nvSpPr>
        <dsp:cNvPr id="0" name=""/>
        <dsp:cNvSpPr/>
      </dsp:nvSpPr>
      <dsp:spPr>
        <a:xfrm>
          <a:off x="2633213" y="1735672"/>
          <a:ext cx="506625" cy="592655"/>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s-ES" sz="1600" kern="1200"/>
        </a:p>
      </dsp:txBody>
      <dsp:txXfrm>
        <a:off x="2633213" y="1854203"/>
        <a:ext cx="354638" cy="355593"/>
      </dsp:txXfrm>
    </dsp:sp>
    <dsp:sp modelId="{585CAE74-54E5-4225-A0DD-55D095F80492}">
      <dsp:nvSpPr>
        <dsp:cNvPr id="0" name=""/>
        <dsp:cNvSpPr/>
      </dsp:nvSpPr>
      <dsp:spPr>
        <a:xfrm>
          <a:off x="3350135" y="168183"/>
          <a:ext cx="4796735" cy="372763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ES" sz="1800" b="0" kern="1200" dirty="0"/>
            <a:t>- Compra de mercaderías que se van a vender o materias primas necesarias para producir</a:t>
          </a:r>
        </a:p>
        <a:p>
          <a:pPr marL="0" lvl="0" indent="0" algn="l" defTabSz="800100">
            <a:lnSpc>
              <a:spcPct val="90000"/>
            </a:lnSpc>
            <a:spcBef>
              <a:spcPct val="0"/>
            </a:spcBef>
            <a:spcAft>
              <a:spcPct val="35000"/>
            </a:spcAft>
            <a:buNone/>
          </a:pPr>
          <a:r>
            <a:rPr lang="es-ES" sz="1800" b="0" kern="1200" dirty="0"/>
            <a:t>- Gasto de herramientas y utensilios necesarios para la producción</a:t>
          </a:r>
        </a:p>
        <a:p>
          <a:pPr marL="0" lvl="0" indent="0" algn="l" defTabSz="800100">
            <a:lnSpc>
              <a:spcPct val="90000"/>
            </a:lnSpc>
            <a:spcBef>
              <a:spcPct val="0"/>
            </a:spcBef>
            <a:spcAft>
              <a:spcPct val="35000"/>
            </a:spcAft>
            <a:buNone/>
          </a:pPr>
          <a:r>
            <a:rPr lang="es-ES" sz="1800" b="0" kern="1200" dirty="0"/>
            <a:t>- Gastos en reparaciones de maquinaria, instalaciones, herramientas…</a:t>
          </a:r>
        </a:p>
        <a:p>
          <a:pPr marL="0" lvl="0" indent="0" algn="l" defTabSz="800100">
            <a:lnSpc>
              <a:spcPct val="90000"/>
            </a:lnSpc>
            <a:spcBef>
              <a:spcPct val="0"/>
            </a:spcBef>
            <a:spcAft>
              <a:spcPct val="35000"/>
            </a:spcAft>
            <a:buNone/>
          </a:pPr>
          <a:r>
            <a:rPr lang="es-ES" sz="1800" b="0" kern="1200" dirty="0"/>
            <a:t>- Transporte de productos hasta punto de venta</a:t>
          </a:r>
        </a:p>
        <a:p>
          <a:pPr marL="0" lvl="0" indent="0" algn="l" defTabSz="800100">
            <a:lnSpc>
              <a:spcPct val="90000"/>
            </a:lnSpc>
            <a:spcBef>
              <a:spcPct val="0"/>
            </a:spcBef>
            <a:spcAft>
              <a:spcPct val="35000"/>
            </a:spcAft>
            <a:buNone/>
          </a:pPr>
          <a:r>
            <a:rPr lang="es-ES" sz="1800" b="0" kern="1200" dirty="0"/>
            <a:t>- Comisiones bancarias cobro TPV</a:t>
          </a:r>
        </a:p>
        <a:p>
          <a:pPr marL="0" lvl="0" indent="0" algn="l" defTabSz="800100">
            <a:lnSpc>
              <a:spcPct val="90000"/>
            </a:lnSpc>
            <a:spcBef>
              <a:spcPct val="0"/>
            </a:spcBef>
            <a:spcAft>
              <a:spcPct val="35000"/>
            </a:spcAft>
            <a:buNone/>
          </a:pPr>
          <a:r>
            <a:rPr lang="es-ES" sz="1800" b="0" kern="1200" dirty="0"/>
            <a:t>- En general, gastos necesarios para elaborar el producto o prestar servicio</a:t>
          </a:r>
        </a:p>
      </dsp:txBody>
      <dsp:txXfrm>
        <a:off x="3459314" y="277362"/>
        <a:ext cx="4578377" cy="3509275"/>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diagrams.loki3.com/BracketList+Icon">
  <dgm:title val="Lista de llaves verticales"/>
  <dgm:desc val="Se usa para mostrar bloques de información agrupados. Funciona bien con gran cantidad de texto de nivel 2."/>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2FE4E2B-65D4-4D33-83AE-A5EA535FE91A}" type="datetimeFigureOut">
              <a:rPr lang="es-ES" smtClean="0"/>
              <a:t>2/2/26</a:t>
            </a:fld>
            <a:endParaRPr lang="es-ES"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38CA4C-A49C-45E2-BE04-B4EF3838BE13}" type="slidenum">
              <a:rPr lang="es-ES" smtClean="0"/>
              <a:t>‹Nº›</a:t>
            </a:fld>
            <a:endParaRPr lang="es-ES" dirty="0"/>
          </a:p>
        </p:txBody>
      </p:sp>
    </p:spTree>
    <p:extLst>
      <p:ext uri="{BB962C8B-B14F-4D97-AF65-F5344CB8AC3E}">
        <p14:creationId xmlns:p14="http://schemas.microsoft.com/office/powerpoint/2010/main" val="704342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D438CA4C-A49C-45E2-BE04-B4EF3838BE13}" type="slidenum">
              <a:rPr lang="es-ES" smtClean="0"/>
              <a:t>1</a:t>
            </a:fld>
            <a:endParaRPr lang="es-ES" dirty="0"/>
          </a:p>
        </p:txBody>
      </p:sp>
    </p:spTree>
    <p:extLst>
      <p:ext uri="{BB962C8B-B14F-4D97-AF65-F5344CB8AC3E}">
        <p14:creationId xmlns:p14="http://schemas.microsoft.com/office/powerpoint/2010/main" val="1773542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36F92216-3B5A-48B6-B9E5-989B0A558A73}" type="datetime1">
              <a:rPr lang="es-ES" smtClean="0"/>
              <a:t>2/2/26</a:t>
            </a:fld>
            <a:endParaRPr lang="es-ES" dirty="0"/>
          </a:p>
        </p:txBody>
      </p:sp>
      <p:sp>
        <p:nvSpPr>
          <p:cNvPr id="5" name="Footer Placeholder 4"/>
          <p:cNvSpPr>
            <a:spLocks noGrp="1"/>
          </p:cNvSpPr>
          <p:nvPr>
            <p:ph type="ftr" sz="quarter" idx="11"/>
          </p:nvPr>
        </p:nvSpPr>
        <p:spPr/>
        <p:txBody>
          <a:bodyPr/>
          <a:lstStyle/>
          <a:p>
            <a:r>
              <a:rPr lang="es-ES"/>
              <a:t>M.B.E.</a:t>
            </a:r>
            <a:endParaRPr lang="es-ES" dirty="0"/>
          </a:p>
        </p:txBody>
      </p:sp>
      <p:sp>
        <p:nvSpPr>
          <p:cNvPr id="6" name="Slide Number Placeholder 5"/>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1094669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B1B1F9B-BBA3-4244-91C2-6FFBAC6AFCA8}" type="datetime1">
              <a:rPr lang="es-ES" smtClean="0"/>
              <a:t>2/2/26</a:t>
            </a:fld>
            <a:endParaRPr lang="es-ES" dirty="0"/>
          </a:p>
        </p:txBody>
      </p:sp>
      <p:sp>
        <p:nvSpPr>
          <p:cNvPr id="5" name="Footer Placeholder 4"/>
          <p:cNvSpPr>
            <a:spLocks noGrp="1"/>
          </p:cNvSpPr>
          <p:nvPr>
            <p:ph type="ftr" sz="quarter" idx="11"/>
          </p:nvPr>
        </p:nvSpPr>
        <p:spPr/>
        <p:txBody>
          <a:bodyPr/>
          <a:lstStyle/>
          <a:p>
            <a:r>
              <a:rPr lang="es-ES"/>
              <a:t>M.B.E.</a:t>
            </a:r>
            <a:endParaRPr lang="es-ES" dirty="0"/>
          </a:p>
        </p:txBody>
      </p:sp>
      <p:sp>
        <p:nvSpPr>
          <p:cNvPr id="6" name="Slide Number Placeholder 5"/>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4151252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5B7E45B-77F0-4D4E-AEE8-092E85ECDDBB}" type="datetime1">
              <a:rPr lang="es-ES" smtClean="0"/>
              <a:t>2/2/26</a:t>
            </a:fld>
            <a:endParaRPr lang="es-ES" dirty="0"/>
          </a:p>
        </p:txBody>
      </p:sp>
      <p:sp>
        <p:nvSpPr>
          <p:cNvPr id="5" name="Footer Placeholder 4"/>
          <p:cNvSpPr>
            <a:spLocks noGrp="1"/>
          </p:cNvSpPr>
          <p:nvPr>
            <p:ph type="ftr" sz="quarter" idx="11"/>
          </p:nvPr>
        </p:nvSpPr>
        <p:spPr/>
        <p:txBody>
          <a:bodyPr/>
          <a:lstStyle/>
          <a:p>
            <a:r>
              <a:rPr lang="es-ES"/>
              <a:t>M.B.E.</a:t>
            </a:r>
            <a:endParaRPr lang="es-ES" dirty="0"/>
          </a:p>
        </p:txBody>
      </p:sp>
      <p:sp>
        <p:nvSpPr>
          <p:cNvPr id="6" name="Slide Number Placeholder 5"/>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609601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AE17913-E1AB-4C61-9FD2-6979062E8BFD}" type="datetime1">
              <a:rPr lang="es-ES" smtClean="0"/>
              <a:t>2/2/26</a:t>
            </a:fld>
            <a:endParaRPr lang="es-ES" dirty="0"/>
          </a:p>
        </p:txBody>
      </p:sp>
      <p:sp>
        <p:nvSpPr>
          <p:cNvPr id="6" name="Footer Placeholder 5"/>
          <p:cNvSpPr>
            <a:spLocks noGrp="1"/>
          </p:cNvSpPr>
          <p:nvPr>
            <p:ph type="ftr" sz="quarter" idx="11"/>
          </p:nvPr>
        </p:nvSpPr>
        <p:spPr/>
        <p:txBody>
          <a:bodyPr/>
          <a:lstStyle/>
          <a:p>
            <a:r>
              <a:rPr lang="es-ES"/>
              <a:t>M.B.E.</a:t>
            </a:r>
            <a:endParaRPr lang="es-ES" dirty="0"/>
          </a:p>
        </p:txBody>
      </p:sp>
      <p:sp>
        <p:nvSpPr>
          <p:cNvPr id="7" name="Slide Number Placeholder 6"/>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118567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207D802F-1EBA-498A-BC2B-525F05C7CA10}" type="datetime1">
              <a:rPr lang="es-ES" smtClean="0"/>
              <a:t>2/2/26</a:t>
            </a:fld>
            <a:endParaRPr lang="es-ES" dirty="0"/>
          </a:p>
        </p:txBody>
      </p:sp>
      <p:sp>
        <p:nvSpPr>
          <p:cNvPr id="8" name="Footer Placeholder 7"/>
          <p:cNvSpPr>
            <a:spLocks noGrp="1"/>
          </p:cNvSpPr>
          <p:nvPr>
            <p:ph type="ftr" sz="quarter" idx="11"/>
          </p:nvPr>
        </p:nvSpPr>
        <p:spPr/>
        <p:txBody>
          <a:bodyPr/>
          <a:lstStyle/>
          <a:p>
            <a:r>
              <a:rPr lang="es-ES"/>
              <a:t>M.B.E.</a:t>
            </a:r>
            <a:endParaRPr lang="es-ES" dirty="0"/>
          </a:p>
        </p:txBody>
      </p:sp>
      <p:sp>
        <p:nvSpPr>
          <p:cNvPr id="9" name="Slide Number Placeholder 8"/>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701055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1DBE9AB-F773-4A1D-934E-2C3E337DFB10}" type="datetime1">
              <a:rPr lang="es-ES" smtClean="0"/>
              <a:t>2/2/26</a:t>
            </a:fld>
            <a:endParaRPr lang="es-ES" dirty="0"/>
          </a:p>
        </p:txBody>
      </p:sp>
      <p:sp>
        <p:nvSpPr>
          <p:cNvPr id="4" name="Footer Placeholder 3"/>
          <p:cNvSpPr>
            <a:spLocks noGrp="1"/>
          </p:cNvSpPr>
          <p:nvPr>
            <p:ph type="ftr" sz="quarter" idx="11"/>
          </p:nvPr>
        </p:nvSpPr>
        <p:spPr/>
        <p:txBody>
          <a:bodyPr/>
          <a:lstStyle/>
          <a:p>
            <a:r>
              <a:rPr lang="es-ES"/>
              <a:t>M.B.E.</a:t>
            </a:r>
            <a:endParaRPr lang="es-ES" dirty="0"/>
          </a:p>
        </p:txBody>
      </p:sp>
      <p:sp>
        <p:nvSpPr>
          <p:cNvPr id="5" name="Slide Number Placeholder 4"/>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3990784323"/>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11D479-0467-41FB-B559-0C59942C84FB}" type="datetime1">
              <a:rPr lang="es-ES" smtClean="0"/>
              <a:t>2/2/26</a:t>
            </a:fld>
            <a:endParaRPr lang="es-ES" dirty="0"/>
          </a:p>
        </p:txBody>
      </p:sp>
      <p:sp>
        <p:nvSpPr>
          <p:cNvPr id="3" name="Footer Placeholder 2"/>
          <p:cNvSpPr>
            <a:spLocks noGrp="1"/>
          </p:cNvSpPr>
          <p:nvPr>
            <p:ph type="ftr" sz="quarter" idx="11"/>
          </p:nvPr>
        </p:nvSpPr>
        <p:spPr/>
        <p:txBody>
          <a:bodyPr/>
          <a:lstStyle/>
          <a:p>
            <a:r>
              <a:rPr lang="es-ES"/>
              <a:t>M.B.E.</a:t>
            </a:r>
            <a:endParaRPr lang="es-ES" dirty="0"/>
          </a:p>
        </p:txBody>
      </p:sp>
      <p:sp>
        <p:nvSpPr>
          <p:cNvPr id="4" name="Slide Number Placeholder 3"/>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3521881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0C8193C-88BA-40D2-BEAD-3776E8A6F5B7}" type="datetime1">
              <a:rPr lang="es-ES" smtClean="0"/>
              <a:t>2/2/26</a:t>
            </a:fld>
            <a:endParaRPr lang="es-ES" dirty="0"/>
          </a:p>
        </p:txBody>
      </p:sp>
      <p:sp>
        <p:nvSpPr>
          <p:cNvPr id="6" name="Footer Placeholder 5"/>
          <p:cNvSpPr>
            <a:spLocks noGrp="1"/>
          </p:cNvSpPr>
          <p:nvPr>
            <p:ph type="ftr" sz="quarter" idx="11"/>
          </p:nvPr>
        </p:nvSpPr>
        <p:spPr/>
        <p:txBody>
          <a:bodyPr/>
          <a:lstStyle/>
          <a:p>
            <a:r>
              <a:rPr lang="es-ES"/>
              <a:t>M.B.E.</a:t>
            </a:r>
            <a:endParaRPr lang="es-ES" dirty="0"/>
          </a:p>
        </p:txBody>
      </p:sp>
      <p:sp>
        <p:nvSpPr>
          <p:cNvPr id="7" name="Slide Number Placeholder 6"/>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1866663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47AA35B-299A-4AC6-97C8-0624A440F61B}" type="datetime1">
              <a:rPr lang="es-ES" smtClean="0"/>
              <a:t>2/2/26</a:t>
            </a:fld>
            <a:endParaRPr lang="es-ES" dirty="0"/>
          </a:p>
        </p:txBody>
      </p:sp>
      <p:sp>
        <p:nvSpPr>
          <p:cNvPr id="6" name="Footer Placeholder 5"/>
          <p:cNvSpPr>
            <a:spLocks noGrp="1"/>
          </p:cNvSpPr>
          <p:nvPr>
            <p:ph type="ftr" sz="quarter" idx="11"/>
          </p:nvPr>
        </p:nvSpPr>
        <p:spPr/>
        <p:txBody>
          <a:bodyPr/>
          <a:lstStyle/>
          <a:p>
            <a:r>
              <a:rPr lang="es-ES"/>
              <a:t>M.B.E.</a:t>
            </a:r>
            <a:endParaRPr lang="es-ES" dirty="0"/>
          </a:p>
        </p:txBody>
      </p:sp>
      <p:sp>
        <p:nvSpPr>
          <p:cNvPr id="7" name="Slide Number Placeholder 6"/>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3781140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6412CA2-690F-4F5A-BDDC-BD5487C11BED}" type="datetime1">
              <a:rPr lang="es-ES" smtClean="0"/>
              <a:t>2/2/26</a:t>
            </a:fld>
            <a:endParaRPr lang="es-ES" dirty="0"/>
          </a:p>
        </p:txBody>
      </p:sp>
      <p:sp>
        <p:nvSpPr>
          <p:cNvPr id="5" name="Footer Placeholder 4"/>
          <p:cNvSpPr>
            <a:spLocks noGrp="1"/>
          </p:cNvSpPr>
          <p:nvPr>
            <p:ph type="ftr" sz="quarter" idx="11"/>
          </p:nvPr>
        </p:nvSpPr>
        <p:spPr/>
        <p:txBody>
          <a:bodyPr/>
          <a:lstStyle/>
          <a:p>
            <a:r>
              <a:rPr lang="es-ES"/>
              <a:t>M.B.E.</a:t>
            </a:r>
            <a:endParaRPr lang="es-ES" dirty="0"/>
          </a:p>
        </p:txBody>
      </p:sp>
      <p:sp>
        <p:nvSpPr>
          <p:cNvPr id="6" name="Slide Number Placeholder 5"/>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1717983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66EC64E-3D99-40ED-A0BE-213195A42E87}" type="datetime1">
              <a:rPr lang="es-ES" smtClean="0"/>
              <a:t>2/2/26</a:t>
            </a:fld>
            <a:endParaRPr lang="es-ES" dirty="0"/>
          </a:p>
        </p:txBody>
      </p:sp>
      <p:sp>
        <p:nvSpPr>
          <p:cNvPr id="5" name="Footer Placeholder 4"/>
          <p:cNvSpPr>
            <a:spLocks noGrp="1"/>
          </p:cNvSpPr>
          <p:nvPr>
            <p:ph type="ftr" sz="quarter" idx="11"/>
          </p:nvPr>
        </p:nvSpPr>
        <p:spPr/>
        <p:txBody>
          <a:bodyPr/>
          <a:lstStyle/>
          <a:p>
            <a:r>
              <a:rPr lang="es-ES"/>
              <a:t>M.B.E.</a:t>
            </a:r>
            <a:endParaRPr lang="es-ES" dirty="0"/>
          </a:p>
        </p:txBody>
      </p:sp>
      <p:sp>
        <p:nvSpPr>
          <p:cNvPr id="6" name="Slide Number Placeholder 5"/>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1273857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DBE9AB-F773-4A1D-934E-2C3E337DFB10}" type="datetime1">
              <a:rPr lang="es-ES" smtClean="0"/>
              <a:t>2/2/26</a:t>
            </a:fld>
            <a:endParaRPr lang="es-E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
              <a:t>M.B.E.</a:t>
            </a:r>
            <a:endParaRPr lang="es-E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A34AD4-DC89-4EDF-8DD1-AAEA993E7D46}" type="slidenum">
              <a:rPr lang="es-ES" smtClean="0"/>
              <a:t>‹Nº›</a:t>
            </a:fld>
            <a:endParaRPr lang="es-ES" dirty="0"/>
          </a:p>
        </p:txBody>
      </p:sp>
    </p:spTree>
    <p:extLst>
      <p:ext uri="{BB962C8B-B14F-4D97-AF65-F5344CB8AC3E}">
        <p14:creationId xmlns:p14="http://schemas.microsoft.com/office/powerpoint/2010/main" val="4237819683"/>
      </p:ext>
    </p:extLst>
  </p:cSld>
  <p:clrMap bg1="lt1" tx1="dk1" bg2="lt2" tx2="dk2" accent1="accent1" accent2="accent2" accent3="accent3" accent4="accent4" accent5="accent5" accent6="accent6" hlink="hlink" folHlink="folHlink"/>
  <p:sldLayoutIdLst>
    <p:sldLayoutId id="2147484117" r:id="rId1"/>
    <p:sldLayoutId id="2147484118" r:id="rId2"/>
    <p:sldLayoutId id="2147484119" r:id="rId3"/>
    <p:sldLayoutId id="2147484120" r:id="rId4"/>
    <p:sldLayoutId id="2147484121" r:id="rId5"/>
    <p:sldLayoutId id="2147484122" r:id="rId6"/>
    <p:sldLayoutId id="2147484123" r:id="rId7"/>
    <p:sldLayoutId id="2147484124" r:id="rId8"/>
    <p:sldLayoutId id="2147484125" r:id="rId9"/>
    <p:sldLayoutId id="2147484126" r:id="rId10"/>
    <p:sldLayoutId id="2147484127"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slide" Target="slide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Layout" Target="../diagrams/layout1.xml"/><Relationship Id="rId7" Type="http://schemas.openxmlformats.org/officeDocument/2006/relationships/image" Target="../media/image5.pn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0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youtube.com/watch?v=vxwj4AYN_Ao" TargetMode="Externa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1 Imagen"/>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19809" y="1236976"/>
            <a:ext cx="6900463" cy="4437112"/>
          </a:xfrm>
          <a:prstGeom prst="rect">
            <a:avLst/>
          </a:prstGeom>
        </p:spPr>
      </p:pic>
      <p:pic>
        <p:nvPicPr>
          <p:cNvPr id="9" name="8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1212" y="243283"/>
            <a:ext cx="1362075" cy="638175"/>
          </a:xfrm>
          <a:prstGeom prst="rect">
            <a:avLst/>
          </a:prstGeom>
          <a:effectLst>
            <a:outerShdw blurRad="50800" dist="50800" dir="5400000" algn="ctr" rotWithShape="0">
              <a:srgbClr val="000000"/>
            </a:outerShdw>
          </a:effectLst>
        </p:spPr>
      </p:pic>
      <p:pic>
        <p:nvPicPr>
          <p:cNvPr id="11" name="10 Image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31212" y="933058"/>
            <a:ext cx="1362075" cy="945829"/>
          </a:xfrm>
          <a:prstGeom prst="rect">
            <a:avLst/>
          </a:prstGeom>
        </p:spPr>
      </p:pic>
      <p:sp>
        <p:nvSpPr>
          <p:cNvPr id="14" name="13 CuadroTexto"/>
          <p:cNvSpPr txBox="1"/>
          <p:nvPr/>
        </p:nvSpPr>
        <p:spPr>
          <a:xfrm>
            <a:off x="429816" y="2420888"/>
            <a:ext cx="6374432" cy="1754326"/>
          </a:xfrm>
          <a:prstGeom prst="rect">
            <a:avLst/>
          </a:prstGeom>
          <a:noFill/>
        </p:spPr>
        <p:txBody>
          <a:bodyPr wrap="square" rtlCol="0">
            <a:spAutoFit/>
          </a:bodyPr>
          <a:lstStyle/>
          <a:p>
            <a:r>
              <a:rPr lang="es-ES_tradnl" sz="5400" b="1" dirty="0">
                <a:solidFill>
                  <a:schemeClr val="accent2"/>
                </a:solidFill>
              </a:rPr>
              <a:t>Unidad 7            </a:t>
            </a:r>
          </a:p>
          <a:p>
            <a:r>
              <a:rPr lang="es-ES_tradnl" sz="5400" dirty="0">
                <a:solidFill>
                  <a:schemeClr val="accent2"/>
                </a:solidFill>
              </a:rPr>
              <a:t>El plan de producción</a:t>
            </a:r>
            <a:endParaRPr lang="es-ES" sz="5400" dirty="0">
              <a:solidFill>
                <a:schemeClr val="accent2"/>
              </a:solidFill>
            </a:endParaRPr>
          </a:p>
        </p:txBody>
      </p:sp>
    </p:spTree>
    <p:extLst>
      <p:ext uri="{BB962C8B-B14F-4D97-AF65-F5344CB8AC3E}">
        <p14:creationId xmlns:p14="http://schemas.microsoft.com/office/powerpoint/2010/main" val="3717905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4326" y="-3340"/>
            <a:ext cx="5937834" cy="696036"/>
          </a:xfrm>
        </p:spPr>
        <p:txBody>
          <a:bodyPr>
            <a:normAutofit/>
          </a:bodyPr>
          <a:lstStyle/>
          <a:p>
            <a:pPr algn="l"/>
            <a:r>
              <a:rPr lang="es-ES_tradnl" b="1" dirty="0">
                <a:latin typeface="+mn-lt"/>
              </a:rPr>
              <a:t>CONTENIDOS</a:t>
            </a:r>
            <a:endParaRPr lang="es-ES" b="1" dirty="0">
              <a:latin typeface="+mn-lt"/>
            </a:endParaRPr>
          </a:p>
        </p:txBody>
      </p:sp>
      <p:sp>
        <p:nvSpPr>
          <p:cNvPr id="5" name="4 Rectángulo">
            <a:hlinkClick r:id="rId2" action="ppaction://hlinksldjump" tooltip="click punto 1"/>
          </p:cNvPr>
          <p:cNvSpPr/>
          <p:nvPr/>
        </p:nvSpPr>
        <p:spPr>
          <a:xfrm>
            <a:off x="681173" y="1808472"/>
            <a:ext cx="6927676" cy="523220"/>
          </a:xfrm>
          <a:prstGeom prst="rect">
            <a:avLst/>
          </a:prstGeom>
        </p:spPr>
        <p:txBody>
          <a:bodyPr wrap="square">
            <a:spAutoFit/>
          </a:bodyPr>
          <a:lstStyle/>
          <a:p>
            <a:pPr marL="514350" lvl="0" indent="-514350">
              <a:spcBef>
                <a:spcPct val="20000"/>
              </a:spcBef>
              <a:buFont typeface="Arial" pitchFamily="34" charset="0"/>
              <a:buAutoNum type="arabicPeriod"/>
            </a:pPr>
            <a:r>
              <a:rPr lang="es-ES_tradnl" sz="2800" b="1" dirty="0">
                <a:solidFill>
                  <a:prstClr val="black"/>
                </a:solidFill>
              </a:rPr>
              <a:t>El plan de producción</a:t>
            </a:r>
          </a:p>
        </p:txBody>
      </p:sp>
      <p:sp>
        <p:nvSpPr>
          <p:cNvPr id="6" name="5 Rectángulo">
            <a:hlinkClick r:id="rId3" action="ppaction://hlinksldjump"/>
          </p:cNvPr>
          <p:cNvSpPr/>
          <p:nvPr/>
        </p:nvSpPr>
        <p:spPr>
          <a:xfrm>
            <a:off x="716275" y="3110701"/>
            <a:ext cx="7744157" cy="523220"/>
          </a:xfrm>
          <a:prstGeom prst="rect">
            <a:avLst/>
          </a:prstGeom>
        </p:spPr>
        <p:txBody>
          <a:bodyPr wrap="square">
            <a:spAutoFit/>
          </a:bodyPr>
          <a:lstStyle/>
          <a:p>
            <a:pPr lvl="0">
              <a:spcBef>
                <a:spcPct val="20000"/>
              </a:spcBef>
            </a:pPr>
            <a:r>
              <a:rPr lang="es-ES_tradnl" sz="2800" b="1" dirty="0">
                <a:solidFill>
                  <a:prstClr val="black"/>
                </a:solidFill>
              </a:rPr>
              <a:t>3.  Análisis de costes</a:t>
            </a:r>
          </a:p>
        </p:txBody>
      </p:sp>
      <p:sp>
        <p:nvSpPr>
          <p:cNvPr id="10" name="9 Rectángulo">
            <a:hlinkClick r:id="rId4" action="ppaction://hlinksldjump"/>
          </p:cNvPr>
          <p:cNvSpPr/>
          <p:nvPr/>
        </p:nvSpPr>
        <p:spPr>
          <a:xfrm>
            <a:off x="716276" y="2462629"/>
            <a:ext cx="6927676" cy="523220"/>
          </a:xfrm>
          <a:prstGeom prst="rect">
            <a:avLst/>
          </a:prstGeom>
        </p:spPr>
        <p:txBody>
          <a:bodyPr wrap="square">
            <a:spAutoFit/>
          </a:bodyPr>
          <a:lstStyle/>
          <a:p>
            <a:pPr lvl="0">
              <a:spcBef>
                <a:spcPct val="20000"/>
              </a:spcBef>
            </a:pPr>
            <a:r>
              <a:rPr lang="es-ES_tradnl" sz="2800" b="1" dirty="0">
                <a:solidFill>
                  <a:prstClr val="black"/>
                </a:solidFill>
              </a:rPr>
              <a:t>2.  El aprovisionamiento</a:t>
            </a:r>
          </a:p>
        </p:txBody>
      </p:sp>
      <p:pic>
        <p:nvPicPr>
          <p:cNvPr id="15" name="14 Imagen"/>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rot="2666529">
            <a:off x="440201" y="2130022"/>
            <a:ext cx="351794" cy="442037"/>
          </a:xfrm>
          <a:prstGeom prst="rect">
            <a:avLst/>
          </a:prstGeom>
        </p:spPr>
      </p:pic>
    </p:spTree>
    <p:extLst>
      <p:ext uri="{BB962C8B-B14F-4D97-AF65-F5344CB8AC3E}">
        <p14:creationId xmlns:p14="http://schemas.microsoft.com/office/powerpoint/2010/main" val="789345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1 Título"/>
          <p:cNvSpPr txBox="1">
            <a:spLocks/>
          </p:cNvSpPr>
          <p:nvPr/>
        </p:nvSpPr>
        <p:spPr>
          <a:xfrm>
            <a:off x="179396" y="0"/>
            <a:ext cx="8229600" cy="691013"/>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514350" indent="-514350" algn="l">
              <a:buAutoNum type="arabicPeriod"/>
            </a:pPr>
            <a:r>
              <a:rPr lang="es-ES_tradnl" b="1" dirty="0">
                <a:latin typeface="+mn-lt"/>
              </a:rPr>
              <a:t>El plan de producción</a:t>
            </a:r>
          </a:p>
        </p:txBody>
      </p:sp>
      <p:sp>
        <p:nvSpPr>
          <p:cNvPr id="34" name="33 Rectángulo"/>
          <p:cNvSpPr/>
          <p:nvPr/>
        </p:nvSpPr>
        <p:spPr>
          <a:xfrm>
            <a:off x="338844" y="3913693"/>
            <a:ext cx="3544679" cy="338554"/>
          </a:xfrm>
          <a:prstGeom prst="rect">
            <a:avLst/>
          </a:prstGeom>
          <a:ln>
            <a:solidFill>
              <a:srgbClr val="92D050"/>
            </a:solidFill>
          </a:ln>
        </p:spPr>
        <p:txBody>
          <a:bodyPr wrap="square">
            <a:spAutoFit/>
          </a:bodyPr>
          <a:lstStyle/>
          <a:p>
            <a:r>
              <a:rPr lang="es-ES_tradnl" sz="1600" dirty="0">
                <a:solidFill>
                  <a:prstClr val="black"/>
                </a:solidFill>
                <a:sym typeface="Wingdings" pitchFamily="2" charset="2"/>
              </a:rPr>
              <a:t>¿Cuántas unidades necesito fabricar?</a:t>
            </a:r>
            <a:endParaRPr lang="es-ES" sz="1600" dirty="0"/>
          </a:p>
        </p:txBody>
      </p:sp>
      <p:sp>
        <p:nvSpPr>
          <p:cNvPr id="41" name="40 CuadroTexto"/>
          <p:cNvSpPr txBox="1"/>
          <p:nvPr/>
        </p:nvSpPr>
        <p:spPr>
          <a:xfrm>
            <a:off x="323528" y="3092025"/>
            <a:ext cx="2695305" cy="646331"/>
          </a:xfrm>
          <a:prstGeom prst="rect">
            <a:avLst/>
          </a:prstGeom>
          <a:ln/>
        </p:spPr>
        <p:style>
          <a:lnRef idx="3">
            <a:schemeClr val="lt1"/>
          </a:lnRef>
          <a:fillRef idx="1">
            <a:schemeClr val="accent3"/>
          </a:fillRef>
          <a:effectRef idx="1">
            <a:schemeClr val="accent3"/>
          </a:effectRef>
          <a:fontRef idx="minor">
            <a:schemeClr val="lt1"/>
          </a:fontRef>
        </p:style>
        <p:txBody>
          <a:bodyPr wrap="square" rtlCol="0">
            <a:spAutoFit/>
          </a:bodyPr>
          <a:lstStyle>
            <a:defPPr>
              <a:defRPr lang="es-ES"/>
            </a:defPPr>
            <a:lvl1pPr>
              <a:defRPr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s-ES_tradnl" dirty="0">
                <a:solidFill>
                  <a:schemeClr val="tx1"/>
                </a:solidFill>
              </a:rPr>
              <a:t>A. Plan de producción</a:t>
            </a:r>
          </a:p>
          <a:p>
            <a:pPr algn="ctr"/>
            <a:r>
              <a:rPr lang="es-ES_tradnl" b="0" dirty="0">
                <a:solidFill>
                  <a:schemeClr val="tx1"/>
                </a:solidFill>
              </a:rPr>
              <a:t>(fabricación de un bien)</a:t>
            </a:r>
            <a:endParaRPr lang="es-ES" b="0" dirty="0">
              <a:solidFill>
                <a:schemeClr val="tx1"/>
              </a:solidFill>
            </a:endParaRPr>
          </a:p>
        </p:txBody>
      </p:sp>
      <p:sp>
        <p:nvSpPr>
          <p:cNvPr id="27" name="26 Rectángulo"/>
          <p:cNvSpPr/>
          <p:nvPr/>
        </p:nvSpPr>
        <p:spPr>
          <a:xfrm>
            <a:off x="338844" y="4409055"/>
            <a:ext cx="3544679" cy="338554"/>
          </a:xfrm>
          <a:prstGeom prst="rect">
            <a:avLst/>
          </a:prstGeom>
          <a:ln>
            <a:solidFill>
              <a:srgbClr val="92D050"/>
            </a:solidFill>
          </a:ln>
        </p:spPr>
        <p:txBody>
          <a:bodyPr wrap="square">
            <a:spAutoFit/>
          </a:bodyPr>
          <a:lstStyle/>
          <a:p>
            <a:r>
              <a:rPr lang="es-ES_tradnl" sz="1600" dirty="0">
                <a:solidFill>
                  <a:prstClr val="black"/>
                </a:solidFill>
                <a:sym typeface="Wingdings" pitchFamily="2" charset="2"/>
              </a:rPr>
              <a:t>¿Qué materias primas necesito?</a:t>
            </a:r>
            <a:endParaRPr lang="es-ES" sz="1600" dirty="0"/>
          </a:p>
        </p:txBody>
      </p:sp>
      <p:sp>
        <p:nvSpPr>
          <p:cNvPr id="25" name="24 Rectángulo"/>
          <p:cNvSpPr/>
          <p:nvPr/>
        </p:nvSpPr>
        <p:spPr>
          <a:xfrm>
            <a:off x="344037" y="4905850"/>
            <a:ext cx="3544676" cy="338554"/>
          </a:xfrm>
          <a:prstGeom prst="rect">
            <a:avLst/>
          </a:prstGeom>
          <a:ln>
            <a:solidFill>
              <a:srgbClr val="92D050"/>
            </a:solidFill>
          </a:ln>
        </p:spPr>
        <p:txBody>
          <a:bodyPr wrap="square">
            <a:spAutoFit/>
          </a:bodyPr>
          <a:lstStyle/>
          <a:p>
            <a:r>
              <a:rPr lang="es-ES_tradnl" sz="1600" dirty="0">
                <a:solidFill>
                  <a:prstClr val="black"/>
                </a:solidFill>
                <a:sym typeface="Wingdings" pitchFamily="2" charset="2"/>
              </a:rPr>
              <a:t>¿Qué tareas conlleva el proceso?</a:t>
            </a:r>
            <a:endParaRPr lang="es-ES" sz="1600" dirty="0"/>
          </a:p>
        </p:txBody>
      </p:sp>
      <p:sp>
        <p:nvSpPr>
          <p:cNvPr id="29" name="28 Rectángulo"/>
          <p:cNvSpPr/>
          <p:nvPr/>
        </p:nvSpPr>
        <p:spPr>
          <a:xfrm>
            <a:off x="4644976" y="4417631"/>
            <a:ext cx="3589783" cy="338554"/>
          </a:xfrm>
          <a:prstGeom prst="rect">
            <a:avLst/>
          </a:prstGeom>
          <a:ln>
            <a:solidFill>
              <a:srgbClr val="92D050"/>
            </a:solidFill>
          </a:ln>
        </p:spPr>
        <p:txBody>
          <a:bodyPr wrap="square">
            <a:spAutoFit/>
          </a:bodyPr>
          <a:lstStyle/>
          <a:p>
            <a:r>
              <a:rPr lang="es-ES_tradnl" sz="1600" dirty="0">
                <a:solidFill>
                  <a:prstClr val="black"/>
                </a:solidFill>
                <a:sym typeface="Wingdings" pitchFamily="2" charset="2"/>
              </a:rPr>
              <a:t>¿Quién las va a realizar?</a:t>
            </a:r>
            <a:endParaRPr lang="es-ES" sz="1600" dirty="0"/>
          </a:p>
        </p:txBody>
      </p:sp>
      <p:sp>
        <p:nvSpPr>
          <p:cNvPr id="33" name="32 Rectángulo"/>
          <p:cNvSpPr/>
          <p:nvPr/>
        </p:nvSpPr>
        <p:spPr>
          <a:xfrm>
            <a:off x="4650748" y="4921569"/>
            <a:ext cx="3597296" cy="338554"/>
          </a:xfrm>
          <a:prstGeom prst="rect">
            <a:avLst/>
          </a:prstGeom>
          <a:ln>
            <a:solidFill>
              <a:srgbClr val="92D050"/>
            </a:solidFill>
          </a:ln>
        </p:spPr>
        <p:txBody>
          <a:bodyPr wrap="square">
            <a:spAutoFit/>
          </a:bodyPr>
          <a:lstStyle/>
          <a:p>
            <a:r>
              <a:rPr lang="es-ES_tradnl" sz="1600" dirty="0">
                <a:solidFill>
                  <a:prstClr val="black"/>
                </a:solidFill>
                <a:sym typeface="Wingdings" pitchFamily="2" charset="2"/>
              </a:rPr>
              <a:t>¿Cuándo se van a realizar?</a:t>
            </a:r>
            <a:endParaRPr lang="es-ES" sz="1600" dirty="0"/>
          </a:p>
        </p:txBody>
      </p:sp>
      <p:sp>
        <p:nvSpPr>
          <p:cNvPr id="4" name="Rectángulo 3"/>
          <p:cNvSpPr/>
          <p:nvPr/>
        </p:nvSpPr>
        <p:spPr>
          <a:xfrm>
            <a:off x="496666" y="882296"/>
            <a:ext cx="8229600" cy="2031325"/>
          </a:xfrm>
          <a:prstGeom prst="rect">
            <a:avLst/>
          </a:prstGeom>
        </p:spPr>
        <p:txBody>
          <a:bodyPr wrap="square">
            <a:spAutoFit/>
          </a:bodyPr>
          <a:lstStyle/>
          <a:p>
            <a:pPr algn="ctr"/>
            <a:r>
              <a:rPr lang="es-ES_tradnl" dirty="0">
                <a:solidFill>
                  <a:prstClr val="black"/>
                </a:solidFill>
              </a:rPr>
              <a:t>Toda empresa debe realizar el plan de producción bien porque </a:t>
            </a:r>
            <a:r>
              <a:rPr lang="es-ES_tradnl" b="1" dirty="0">
                <a:solidFill>
                  <a:prstClr val="black"/>
                </a:solidFill>
              </a:rPr>
              <a:t>fabrica</a:t>
            </a:r>
            <a:r>
              <a:rPr lang="es-ES_tradnl" dirty="0">
                <a:solidFill>
                  <a:prstClr val="black"/>
                </a:solidFill>
              </a:rPr>
              <a:t> </a:t>
            </a:r>
            <a:r>
              <a:rPr lang="es-ES_tradnl" b="1" dirty="0">
                <a:solidFill>
                  <a:prstClr val="black"/>
                </a:solidFill>
              </a:rPr>
              <a:t>un producto </a:t>
            </a:r>
            <a:r>
              <a:rPr lang="es-ES_tradnl" dirty="0">
                <a:solidFill>
                  <a:prstClr val="black"/>
                </a:solidFill>
              </a:rPr>
              <a:t>o </a:t>
            </a:r>
            <a:r>
              <a:rPr lang="es-ES_tradnl" b="1" dirty="0">
                <a:solidFill>
                  <a:prstClr val="black"/>
                </a:solidFill>
              </a:rPr>
              <a:t>ofrece un servicio.</a:t>
            </a:r>
          </a:p>
          <a:p>
            <a:pPr lvl="0" algn="ctr"/>
            <a:endParaRPr lang="es-ES_tradnl" b="1" dirty="0">
              <a:solidFill>
                <a:prstClr val="black"/>
              </a:solidFill>
            </a:endParaRPr>
          </a:p>
          <a:p>
            <a:pPr lvl="0" algn="ctr"/>
            <a:r>
              <a:rPr lang="es-ES_tradnl" b="1" dirty="0">
                <a:solidFill>
                  <a:prstClr val="black"/>
                </a:solidFill>
              </a:rPr>
              <a:t>¿Para qué necesitamos un plan de producción?</a:t>
            </a:r>
          </a:p>
          <a:p>
            <a:pPr marL="285750" lvl="0" indent="-285750">
              <a:buFont typeface="Wingdings"/>
              <a:buChar char="à"/>
            </a:pPr>
            <a:r>
              <a:rPr lang="es-ES_tradnl" dirty="0">
                <a:solidFill>
                  <a:prstClr val="black"/>
                </a:solidFill>
              </a:rPr>
              <a:t>Permite reflexionar sobre lo </a:t>
            </a:r>
            <a:r>
              <a:rPr lang="es-ES_tradnl" b="1" dirty="0">
                <a:solidFill>
                  <a:prstClr val="black"/>
                </a:solidFill>
              </a:rPr>
              <a:t>que ofrecemos </a:t>
            </a:r>
            <a:r>
              <a:rPr lang="es-ES_tradnl" dirty="0">
                <a:solidFill>
                  <a:prstClr val="black"/>
                </a:solidFill>
              </a:rPr>
              <a:t>y </a:t>
            </a:r>
            <a:r>
              <a:rPr lang="es-ES_tradnl" b="1" dirty="0">
                <a:solidFill>
                  <a:prstClr val="black"/>
                </a:solidFill>
              </a:rPr>
              <a:t>cómo lo ofrecemos</a:t>
            </a:r>
          </a:p>
          <a:p>
            <a:pPr marL="285750" indent="-285750">
              <a:buFont typeface="Wingdings"/>
              <a:buChar char="à"/>
            </a:pPr>
            <a:r>
              <a:rPr lang="es-ES_tradnl" dirty="0">
                <a:solidFill>
                  <a:prstClr val="black"/>
                </a:solidFill>
              </a:rPr>
              <a:t>Punto de partida para </a:t>
            </a:r>
            <a:r>
              <a:rPr lang="es-ES_tradnl" b="1" dirty="0">
                <a:solidFill>
                  <a:prstClr val="black"/>
                </a:solidFill>
              </a:rPr>
              <a:t>analizar costes</a:t>
            </a:r>
            <a:r>
              <a:rPr lang="es-ES_tradnl" dirty="0">
                <a:solidFill>
                  <a:prstClr val="black"/>
                </a:solidFill>
              </a:rPr>
              <a:t>, elaborar </a:t>
            </a:r>
            <a:r>
              <a:rPr lang="es-ES_tradnl" b="1" dirty="0">
                <a:solidFill>
                  <a:prstClr val="black"/>
                </a:solidFill>
              </a:rPr>
              <a:t>plan de inversiones </a:t>
            </a:r>
            <a:r>
              <a:rPr lang="es-ES_tradnl" dirty="0">
                <a:solidFill>
                  <a:prstClr val="black"/>
                </a:solidFill>
              </a:rPr>
              <a:t>y </a:t>
            </a:r>
            <a:r>
              <a:rPr lang="es-ES_tradnl" b="1" dirty="0">
                <a:solidFill>
                  <a:prstClr val="black"/>
                </a:solidFill>
              </a:rPr>
              <a:t>gastos iniciales</a:t>
            </a:r>
            <a:r>
              <a:rPr lang="es-ES_tradnl" dirty="0">
                <a:solidFill>
                  <a:prstClr val="black"/>
                </a:solidFill>
              </a:rPr>
              <a:t>, </a:t>
            </a:r>
            <a:r>
              <a:rPr lang="es-ES_tradnl" b="1" dirty="0">
                <a:solidFill>
                  <a:prstClr val="black"/>
                </a:solidFill>
              </a:rPr>
              <a:t>balance contable</a:t>
            </a:r>
            <a:r>
              <a:rPr lang="es-ES_tradnl" dirty="0">
                <a:solidFill>
                  <a:prstClr val="black"/>
                </a:solidFill>
              </a:rPr>
              <a:t>, </a:t>
            </a:r>
            <a:r>
              <a:rPr lang="es-ES_tradnl" b="1" dirty="0">
                <a:solidFill>
                  <a:prstClr val="black"/>
                </a:solidFill>
              </a:rPr>
              <a:t>cuenta de resultados </a:t>
            </a:r>
            <a:r>
              <a:rPr lang="es-ES_tradnl" dirty="0">
                <a:solidFill>
                  <a:prstClr val="black"/>
                </a:solidFill>
              </a:rPr>
              <a:t>y </a:t>
            </a:r>
            <a:r>
              <a:rPr lang="es-ES_tradnl" b="1" dirty="0">
                <a:solidFill>
                  <a:prstClr val="black"/>
                </a:solidFill>
              </a:rPr>
              <a:t>previsión de tesorería </a:t>
            </a:r>
            <a:r>
              <a:rPr lang="es-ES_tradnl" dirty="0">
                <a:solidFill>
                  <a:prstClr val="black"/>
                </a:solidFill>
              </a:rPr>
              <a:t>(tema 8).</a:t>
            </a:r>
          </a:p>
        </p:txBody>
      </p:sp>
      <p:sp>
        <p:nvSpPr>
          <p:cNvPr id="37" name="33 Rectángulo"/>
          <p:cNvSpPr/>
          <p:nvPr/>
        </p:nvSpPr>
        <p:spPr>
          <a:xfrm>
            <a:off x="3054728" y="3240478"/>
            <a:ext cx="5193316" cy="338554"/>
          </a:xfrm>
          <a:prstGeom prst="rect">
            <a:avLst/>
          </a:prstGeom>
          <a:solidFill>
            <a:schemeClr val="accent6">
              <a:lumMod val="20000"/>
              <a:lumOff val="80000"/>
            </a:schemeClr>
          </a:solidFill>
          <a:ln>
            <a:solidFill>
              <a:srgbClr val="92D050"/>
            </a:solidFill>
          </a:ln>
        </p:spPr>
        <p:txBody>
          <a:bodyPr wrap="square">
            <a:spAutoFit/>
          </a:bodyPr>
          <a:lstStyle/>
          <a:p>
            <a:r>
              <a:rPr lang="es-ES" sz="1600" dirty="0"/>
              <a:t>Podríamos empezar formulando las siguientes preguntas:</a:t>
            </a:r>
          </a:p>
        </p:txBody>
      </p:sp>
      <p:sp>
        <p:nvSpPr>
          <p:cNvPr id="39" name="28 Rectángulo"/>
          <p:cNvSpPr/>
          <p:nvPr/>
        </p:nvSpPr>
        <p:spPr>
          <a:xfrm>
            <a:off x="4644976" y="3913693"/>
            <a:ext cx="3603068" cy="338554"/>
          </a:xfrm>
          <a:prstGeom prst="rect">
            <a:avLst/>
          </a:prstGeom>
          <a:ln>
            <a:solidFill>
              <a:srgbClr val="92D050"/>
            </a:solidFill>
          </a:ln>
        </p:spPr>
        <p:txBody>
          <a:bodyPr wrap="square">
            <a:spAutoFit/>
          </a:bodyPr>
          <a:lstStyle/>
          <a:p>
            <a:r>
              <a:rPr lang="es-ES_tradnl" sz="1600" dirty="0">
                <a:solidFill>
                  <a:prstClr val="black"/>
                </a:solidFill>
                <a:sym typeface="Wingdings" pitchFamily="2" charset="2"/>
              </a:rPr>
              <a:t>¿Cómo se van a realizar?</a:t>
            </a:r>
            <a:endParaRPr lang="es-ES" sz="1600" dirty="0"/>
          </a:p>
        </p:txBody>
      </p:sp>
    </p:spTree>
    <p:extLst>
      <p:ext uri="{BB962C8B-B14F-4D97-AF65-F5344CB8AC3E}">
        <p14:creationId xmlns:p14="http://schemas.microsoft.com/office/powerpoint/2010/main" val="1806939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49 CuadroTexto">
            <a:extLst>
              <a:ext uri="{FF2B5EF4-FFF2-40B4-BE49-F238E27FC236}">
                <a16:creationId xmlns:a16="http://schemas.microsoft.com/office/drawing/2014/main" id="{B6B94007-89BE-4618-94DA-DABA88EF24BA}"/>
              </a:ext>
            </a:extLst>
          </p:cNvPr>
          <p:cNvSpPr txBox="1"/>
          <p:nvPr/>
        </p:nvSpPr>
        <p:spPr>
          <a:xfrm>
            <a:off x="405023" y="1357664"/>
            <a:ext cx="4527017" cy="369332"/>
          </a:xfrm>
          <a:prstGeom prst="rect">
            <a:avLst/>
          </a:prstGeom>
          <a:solidFill>
            <a:schemeClr val="accent1">
              <a:lumMod val="40000"/>
              <a:lumOff val="60000"/>
            </a:schemeClr>
          </a:solidFill>
          <a:ln/>
        </p:spPr>
        <p:style>
          <a:lnRef idx="3">
            <a:schemeClr val="lt1"/>
          </a:lnRef>
          <a:fillRef idx="1">
            <a:schemeClr val="accent1"/>
          </a:fillRef>
          <a:effectRef idx="1">
            <a:schemeClr val="accent1"/>
          </a:effectRef>
          <a:fontRef idx="minor">
            <a:schemeClr val="lt1"/>
          </a:fontRef>
        </p:style>
        <p:txBody>
          <a:bodyPr wrap="square" rtlCol="0">
            <a:spAutoFit/>
          </a:bodyPr>
          <a:lstStyle>
            <a:defPPr>
              <a:defRPr lang="es-ES"/>
            </a:defPPr>
            <a:lvl1pPr>
              <a:defRPr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s-ES_tradnl" dirty="0">
                <a:solidFill>
                  <a:schemeClr val="tx1"/>
                </a:solidFill>
              </a:rPr>
              <a:t>B. Plan de producción</a:t>
            </a:r>
            <a:r>
              <a:rPr lang="es-ES_tradnl" b="0" dirty="0">
                <a:solidFill>
                  <a:schemeClr val="tx1"/>
                </a:solidFill>
              </a:rPr>
              <a:t>(prestación de servicios)</a:t>
            </a:r>
            <a:endParaRPr lang="es-ES" b="0" dirty="0">
              <a:solidFill>
                <a:schemeClr val="tx1"/>
              </a:solidFill>
            </a:endParaRPr>
          </a:p>
        </p:txBody>
      </p:sp>
      <p:sp>
        <p:nvSpPr>
          <p:cNvPr id="21" name="35 Rectángulo">
            <a:extLst>
              <a:ext uri="{FF2B5EF4-FFF2-40B4-BE49-F238E27FC236}">
                <a16:creationId xmlns:a16="http://schemas.microsoft.com/office/drawing/2014/main" id="{67A82F73-F05C-4271-AB72-67E286AF4792}"/>
              </a:ext>
            </a:extLst>
          </p:cNvPr>
          <p:cNvSpPr/>
          <p:nvPr/>
        </p:nvSpPr>
        <p:spPr>
          <a:xfrm>
            <a:off x="405023" y="1964616"/>
            <a:ext cx="8388264" cy="1277273"/>
          </a:xfrm>
          <a:prstGeom prst="rect">
            <a:avLst/>
          </a:prstGeom>
          <a:ln>
            <a:solidFill>
              <a:schemeClr val="tx2"/>
            </a:solidFill>
          </a:ln>
        </p:spPr>
        <p:txBody>
          <a:bodyPr wrap="square">
            <a:spAutoFit/>
          </a:bodyPr>
          <a:lstStyle/>
          <a:p>
            <a:pPr algn="just"/>
            <a:r>
              <a:rPr lang="es-ES_tradnl" dirty="0">
                <a:solidFill>
                  <a:prstClr val="black"/>
                </a:solidFill>
                <a:sym typeface="Wingdings" pitchFamily="2" charset="2"/>
              </a:rPr>
              <a:t>En empresas de servicios (incluidas las comerciales que venden mercaderías), la planificación de la producción es mas sencilla, centrándose especialmente en determinar </a:t>
            </a:r>
            <a:r>
              <a:rPr lang="es-ES_tradnl" b="1" dirty="0">
                <a:solidFill>
                  <a:prstClr val="black"/>
                </a:solidFill>
                <a:sym typeface="Wingdings" pitchFamily="2" charset="2"/>
              </a:rPr>
              <a:t>qué servicios </a:t>
            </a:r>
            <a:r>
              <a:rPr lang="es-ES_tradnl" dirty="0">
                <a:solidFill>
                  <a:prstClr val="black"/>
                </a:solidFill>
                <a:sym typeface="Wingdings" pitchFamily="2" charset="2"/>
              </a:rPr>
              <a:t>se prestan y </a:t>
            </a:r>
            <a:r>
              <a:rPr lang="es-ES_tradnl" b="1" dirty="0">
                <a:solidFill>
                  <a:prstClr val="black"/>
                </a:solidFill>
                <a:sym typeface="Wingdings" pitchFamily="2" charset="2"/>
              </a:rPr>
              <a:t>cómo se prestan</a:t>
            </a:r>
            <a:r>
              <a:rPr lang="es-ES_tradnl" dirty="0">
                <a:solidFill>
                  <a:prstClr val="black"/>
                </a:solidFill>
                <a:sym typeface="Wingdings" pitchFamily="2" charset="2"/>
              </a:rPr>
              <a:t>. </a:t>
            </a:r>
          </a:p>
          <a:p>
            <a:pPr>
              <a:spcBef>
                <a:spcPts val="600"/>
              </a:spcBef>
            </a:pPr>
            <a:r>
              <a:rPr lang="es-ES_tradnl" dirty="0">
                <a:solidFill>
                  <a:prstClr val="black"/>
                </a:solidFill>
                <a:sym typeface="Wingdings" pitchFamily="2" charset="2"/>
              </a:rPr>
              <a:t>Podríamos plantearnos las siguientes preguntas:</a:t>
            </a:r>
            <a:endParaRPr lang="es-ES" dirty="0"/>
          </a:p>
        </p:txBody>
      </p:sp>
      <p:sp>
        <p:nvSpPr>
          <p:cNvPr id="22" name="35 Rectángulo">
            <a:extLst>
              <a:ext uri="{FF2B5EF4-FFF2-40B4-BE49-F238E27FC236}">
                <a16:creationId xmlns:a16="http://schemas.microsoft.com/office/drawing/2014/main" id="{FC8E4F38-C686-4C1E-84CD-D992F07EED76}"/>
              </a:ext>
            </a:extLst>
          </p:cNvPr>
          <p:cNvSpPr/>
          <p:nvPr/>
        </p:nvSpPr>
        <p:spPr>
          <a:xfrm>
            <a:off x="3490017" y="3558869"/>
            <a:ext cx="4394351" cy="338554"/>
          </a:xfrm>
          <a:prstGeom prst="rect">
            <a:avLst/>
          </a:prstGeom>
          <a:ln>
            <a:solidFill>
              <a:schemeClr val="tx2"/>
            </a:solidFill>
          </a:ln>
        </p:spPr>
        <p:txBody>
          <a:bodyPr wrap="square">
            <a:spAutoFit/>
          </a:bodyPr>
          <a:lstStyle/>
          <a:p>
            <a:r>
              <a:rPr lang="es-ES_tradnl" sz="1600" dirty="0">
                <a:solidFill>
                  <a:prstClr val="black"/>
                </a:solidFill>
                <a:sym typeface="Wingdings" pitchFamily="2" charset="2"/>
              </a:rPr>
              <a:t>¿Cuántos clientes entran al día, semana o mes?</a:t>
            </a:r>
            <a:endParaRPr lang="es-ES" sz="1600" dirty="0"/>
          </a:p>
        </p:txBody>
      </p:sp>
      <p:sp>
        <p:nvSpPr>
          <p:cNvPr id="23" name="50 Rectángulo">
            <a:extLst>
              <a:ext uri="{FF2B5EF4-FFF2-40B4-BE49-F238E27FC236}">
                <a16:creationId xmlns:a16="http://schemas.microsoft.com/office/drawing/2014/main" id="{37CEB561-F03D-4A69-9519-59B3322450AF}"/>
              </a:ext>
            </a:extLst>
          </p:cNvPr>
          <p:cNvSpPr/>
          <p:nvPr/>
        </p:nvSpPr>
        <p:spPr>
          <a:xfrm>
            <a:off x="3490017" y="4079573"/>
            <a:ext cx="4867904" cy="338554"/>
          </a:xfrm>
          <a:prstGeom prst="rect">
            <a:avLst/>
          </a:prstGeom>
          <a:ln>
            <a:solidFill>
              <a:schemeClr val="tx2"/>
            </a:solidFill>
          </a:ln>
        </p:spPr>
        <p:txBody>
          <a:bodyPr wrap="square">
            <a:spAutoFit/>
          </a:bodyPr>
          <a:lstStyle/>
          <a:p>
            <a:r>
              <a:rPr lang="es-ES_tradnl" sz="1600" dirty="0">
                <a:solidFill>
                  <a:prstClr val="black"/>
                </a:solidFill>
                <a:sym typeface="Wingdings" pitchFamily="2" charset="2"/>
              </a:rPr>
              <a:t>¿Qué tareas hay que realizar y cómo se van a realizar? </a:t>
            </a:r>
            <a:endParaRPr lang="es-ES" sz="1600" dirty="0"/>
          </a:p>
        </p:txBody>
      </p:sp>
      <p:sp>
        <p:nvSpPr>
          <p:cNvPr id="24" name="50 Rectángulo">
            <a:extLst>
              <a:ext uri="{FF2B5EF4-FFF2-40B4-BE49-F238E27FC236}">
                <a16:creationId xmlns:a16="http://schemas.microsoft.com/office/drawing/2014/main" id="{5404DBF9-4A62-49C0-8CD3-51209320305E}"/>
              </a:ext>
            </a:extLst>
          </p:cNvPr>
          <p:cNvSpPr/>
          <p:nvPr/>
        </p:nvSpPr>
        <p:spPr>
          <a:xfrm>
            <a:off x="3490017" y="4659857"/>
            <a:ext cx="4867904" cy="338554"/>
          </a:xfrm>
          <a:prstGeom prst="rect">
            <a:avLst/>
          </a:prstGeom>
          <a:ln>
            <a:solidFill>
              <a:schemeClr val="tx2"/>
            </a:solidFill>
          </a:ln>
        </p:spPr>
        <p:txBody>
          <a:bodyPr wrap="square">
            <a:spAutoFit/>
          </a:bodyPr>
          <a:lstStyle/>
          <a:p>
            <a:r>
              <a:rPr lang="es-ES_tradnl" sz="1600" dirty="0">
                <a:solidFill>
                  <a:prstClr val="black"/>
                </a:solidFill>
                <a:sym typeface="Wingdings" pitchFamily="2" charset="2"/>
              </a:rPr>
              <a:t>¿Quienes la realizan?</a:t>
            </a:r>
            <a:endParaRPr lang="es-ES" sz="1600" dirty="0"/>
          </a:p>
        </p:txBody>
      </p:sp>
      <p:sp>
        <p:nvSpPr>
          <p:cNvPr id="26" name="52 Rectángulo">
            <a:extLst>
              <a:ext uri="{FF2B5EF4-FFF2-40B4-BE49-F238E27FC236}">
                <a16:creationId xmlns:a16="http://schemas.microsoft.com/office/drawing/2014/main" id="{052E500D-14BE-49B5-B02C-D6A3495029E4}"/>
              </a:ext>
            </a:extLst>
          </p:cNvPr>
          <p:cNvSpPr/>
          <p:nvPr/>
        </p:nvSpPr>
        <p:spPr>
          <a:xfrm>
            <a:off x="3490017" y="5190083"/>
            <a:ext cx="4409976" cy="338554"/>
          </a:xfrm>
          <a:prstGeom prst="rect">
            <a:avLst/>
          </a:prstGeom>
          <a:ln>
            <a:solidFill>
              <a:schemeClr val="tx2"/>
            </a:solidFill>
          </a:ln>
        </p:spPr>
        <p:txBody>
          <a:bodyPr wrap="square">
            <a:spAutoFit/>
          </a:bodyPr>
          <a:lstStyle/>
          <a:p>
            <a:r>
              <a:rPr lang="es-ES_tradnl" sz="1600" dirty="0">
                <a:solidFill>
                  <a:prstClr val="black"/>
                </a:solidFill>
                <a:sym typeface="Wingdings" pitchFamily="2" charset="2"/>
              </a:rPr>
              <a:t>¿Qué medios materiales serán necesarios?</a:t>
            </a:r>
            <a:endParaRPr lang="es-ES" sz="1600" dirty="0"/>
          </a:p>
        </p:txBody>
      </p:sp>
      <p:sp>
        <p:nvSpPr>
          <p:cNvPr id="28" name="Elipse 27">
            <a:extLst>
              <a:ext uri="{FF2B5EF4-FFF2-40B4-BE49-F238E27FC236}">
                <a16:creationId xmlns:a16="http://schemas.microsoft.com/office/drawing/2014/main" id="{1630F122-043F-4AA6-97F1-DB1CD103F0DB}"/>
              </a:ext>
            </a:extLst>
          </p:cNvPr>
          <p:cNvSpPr/>
          <p:nvPr/>
        </p:nvSpPr>
        <p:spPr>
          <a:xfrm>
            <a:off x="824949" y="3694987"/>
            <a:ext cx="1743452" cy="1656184"/>
          </a:xfrm>
          <a:prstGeom prst="ellipse">
            <a:avLst/>
          </a:prstGeom>
          <a:solidFill>
            <a:schemeClr val="accent1">
              <a:lumMod val="40000"/>
              <a:lumOff val="6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gl-ES" b="1" dirty="0">
                <a:solidFill>
                  <a:schemeClr val="tx1"/>
                </a:solidFill>
              </a:rPr>
              <a:t>Prestación de Servicios</a:t>
            </a:r>
          </a:p>
        </p:txBody>
      </p:sp>
      <p:sp>
        <p:nvSpPr>
          <p:cNvPr id="30" name="39 Flecha derecha">
            <a:extLst>
              <a:ext uri="{FF2B5EF4-FFF2-40B4-BE49-F238E27FC236}">
                <a16:creationId xmlns:a16="http://schemas.microsoft.com/office/drawing/2014/main" id="{EFA89BBD-4D63-49F9-ABCD-036EEDB2A10A}"/>
              </a:ext>
            </a:extLst>
          </p:cNvPr>
          <p:cNvSpPr/>
          <p:nvPr/>
        </p:nvSpPr>
        <p:spPr>
          <a:xfrm rot="20127618">
            <a:off x="2781757" y="3804443"/>
            <a:ext cx="495961" cy="185961"/>
          </a:xfrm>
          <a:prstGeom prst="rightArrow">
            <a:avLst/>
          </a:prstGeom>
          <a:solidFill>
            <a:schemeClr val="tx2">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sp>
        <p:nvSpPr>
          <p:cNvPr id="32" name="51 Flecha derecha">
            <a:extLst>
              <a:ext uri="{FF2B5EF4-FFF2-40B4-BE49-F238E27FC236}">
                <a16:creationId xmlns:a16="http://schemas.microsoft.com/office/drawing/2014/main" id="{DECC43A0-D577-4090-A7C5-383112650A04}"/>
              </a:ext>
            </a:extLst>
          </p:cNvPr>
          <p:cNvSpPr/>
          <p:nvPr/>
        </p:nvSpPr>
        <p:spPr>
          <a:xfrm rot="20837235">
            <a:off x="2881633" y="4242430"/>
            <a:ext cx="495961" cy="185961"/>
          </a:xfrm>
          <a:prstGeom prst="rightArrow">
            <a:avLst/>
          </a:prstGeom>
          <a:solidFill>
            <a:schemeClr val="tx2">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sp>
        <p:nvSpPr>
          <p:cNvPr id="35" name="51 Flecha derecha">
            <a:extLst>
              <a:ext uri="{FF2B5EF4-FFF2-40B4-BE49-F238E27FC236}">
                <a16:creationId xmlns:a16="http://schemas.microsoft.com/office/drawing/2014/main" id="{658B5FB7-F897-4ECD-A487-C6869A2E3643}"/>
              </a:ext>
            </a:extLst>
          </p:cNvPr>
          <p:cNvSpPr/>
          <p:nvPr/>
        </p:nvSpPr>
        <p:spPr>
          <a:xfrm rot="616233">
            <a:off x="2883411" y="4748024"/>
            <a:ext cx="495961" cy="185961"/>
          </a:xfrm>
          <a:prstGeom prst="rightArrow">
            <a:avLst/>
          </a:prstGeom>
          <a:solidFill>
            <a:schemeClr val="tx2">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sp>
        <p:nvSpPr>
          <p:cNvPr id="36" name="53 Flecha derecha">
            <a:extLst>
              <a:ext uri="{FF2B5EF4-FFF2-40B4-BE49-F238E27FC236}">
                <a16:creationId xmlns:a16="http://schemas.microsoft.com/office/drawing/2014/main" id="{1E20869B-9AE5-4FDB-9F31-B6CF19EC2D40}"/>
              </a:ext>
            </a:extLst>
          </p:cNvPr>
          <p:cNvSpPr/>
          <p:nvPr/>
        </p:nvSpPr>
        <p:spPr>
          <a:xfrm rot="1334119">
            <a:off x="2781757" y="5172108"/>
            <a:ext cx="495961" cy="185961"/>
          </a:xfrm>
          <a:prstGeom prst="rightArrow">
            <a:avLst/>
          </a:prstGeom>
          <a:solidFill>
            <a:schemeClr val="tx2">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spTree>
    <p:extLst>
      <p:ext uri="{BB962C8B-B14F-4D97-AF65-F5344CB8AC3E}">
        <p14:creationId xmlns:p14="http://schemas.microsoft.com/office/powerpoint/2010/main" val="2835561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9 CuadroTexto">
            <a:extLst>
              <a:ext uri="{FF2B5EF4-FFF2-40B4-BE49-F238E27FC236}">
                <a16:creationId xmlns:a16="http://schemas.microsoft.com/office/drawing/2014/main" id="{8308E5B3-3A02-432E-8ECC-D173853B19D2}"/>
              </a:ext>
            </a:extLst>
          </p:cNvPr>
          <p:cNvSpPr txBox="1"/>
          <p:nvPr/>
        </p:nvSpPr>
        <p:spPr>
          <a:xfrm>
            <a:off x="395535" y="807897"/>
            <a:ext cx="3712664" cy="369332"/>
          </a:xfrm>
          <a:prstGeom prst="rect">
            <a:avLst/>
          </a:prstGeom>
          <a:noFill/>
          <a:ln/>
        </p:spPr>
        <p:style>
          <a:lnRef idx="3">
            <a:schemeClr val="lt1"/>
          </a:lnRef>
          <a:fillRef idx="1">
            <a:schemeClr val="accent1"/>
          </a:fillRef>
          <a:effectRef idx="1">
            <a:schemeClr val="accent1"/>
          </a:effectRef>
          <a:fontRef idx="minor">
            <a:schemeClr val="lt1"/>
          </a:fontRef>
        </p:style>
        <p:txBody>
          <a:bodyPr wrap="square" rtlCol="0">
            <a:spAutoFit/>
          </a:bodyPr>
          <a:lstStyle>
            <a:defPPr>
              <a:defRPr lang="es-ES"/>
            </a:defPPr>
            <a:lvl1pPr>
              <a:defRPr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s-ES_tradnl" u="sng" dirty="0">
                <a:solidFill>
                  <a:schemeClr val="tx1"/>
                </a:solidFill>
              </a:rPr>
              <a:t>La Subcontratación de funciones</a:t>
            </a:r>
            <a:endParaRPr lang="es-ES" b="0" u="sng" dirty="0">
              <a:solidFill>
                <a:schemeClr val="tx1"/>
              </a:solidFill>
            </a:endParaRPr>
          </a:p>
        </p:txBody>
      </p:sp>
      <p:sp>
        <p:nvSpPr>
          <p:cNvPr id="6" name="35 Rectángulo">
            <a:extLst>
              <a:ext uri="{FF2B5EF4-FFF2-40B4-BE49-F238E27FC236}">
                <a16:creationId xmlns:a16="http://schemas.microsoft.com/office/drawing/2014/main" id="{2C2BE212-43B0-4C59-8484-624353B999D9}"/>
              </a:ext>
            </a:extLst>
          </p:cNvPr>
          <p:cNvSpPr/>
          <p:nvPr/>
        </p:nvSpPr>
        <p:spPr>
          <a:xfrm>
            <a:off x="395535" y="1384593"/>
            <a:ext cx="8277383" cy="1200329"/>
          </a:xfrm>
          <a:prstGeom prst="rect">
            <a:avLst/>
          </a:prstGeom>
          <a:ln>
            <a:solidFill>
              <a:schemeClr val="tx2"/>
            </a:solidFill>
          </a:ln>
        </p:spPr>
        <p:txBody>
          <a:bodyPr wrap="square">
            <a:spAutoFit/>
          </a:bodyPr>
          <a:lstStyle/>
          <a:p>
            <a:pPr algn="just"/>
            <a:r>
              <a:rPr lang="es-ES_tradnl" dirty="0">
                <a:solidFill>
                  <a:prstClr val="black"/>
                </a:solidFill>
                <a:sym typeface="Wingdings" pitchFamily="2" charset="2"/>
              </a:rPr>
              <a:t>La </a:t>
            </a:r>
            <a:r>
              <a:rPr lang="es-ES_tradnl" b="1" dirty="0">
                <a:solidFill>
                  <a:prstClr val="black"/>
                </a:solidFill>
                <a:sym typeface="Wingdings" pitchFamily="2" charset="2"/>
              </a:rPr>
              <a:t>subcontratación</a:t>
            </a:r>
            <a:r>
              <a:rPr lang="es-ES_tradnl" dirty="0">
                <a:solidFill>
                  <a:prstClr val="black"/>
                </a:solidFill>
                <a:sym typeface="Wingdings" pitchFamily="2" charset="2"/>
              </a:rPr>
              <a:t> se realiza tanto cuando se decide que otra empresa realice alguna fase de su proceso de producción, como cuando se delega la realización de funciones generales administrativas o de recursos humanos.</a:t>
            </a:r>
          </a:p>
          <a:p>
            <a:pPr algn="just"/>
            <a:r>
              <a:rPr lang="es-ES_tradnl" sz="1800" b="1" dirty="0">
                <a:solidFill>
                  <a:prstClr val="black"/>
                </a:solidFill>
                <a:sym typeface="Wingdings" pitchFamily="2" charset="2"/>
              </a:rPr>
              <a:t>Objetivo →</a:t>
            </a:r>
            <a:r>
              <a:rPr lang="es-ES_tradnl" sz="1800" dirty="0">
                <a:solidFill>
                  <a:prstClr val="black"/>
                </a:solidFill>
                <a:sym typeface="Wingdings" pitchFamily="2" charset="2"/>
              </a:rPr>
              <a:t> tener un mayor grado de flexibilidad y abaratar los costes</a:t>
            </a:r>
            <a:endParaRPr lang="es-ES" sz="1800" dirty="0"/>
          </a:p>
        </p:txBody>
      </p:sp>
      <p:sp>
        <p:nvSpPr>
          <p:cNvPr id="9" name="35 Rectángulo">
            <a:extLst>
              <a:ext uri="{FF2B5EF4-FFF2-40B4-BE49-F238E27FC236}">
                <a16:creationId xmlns:a16="http://schemas.microsoft.com/office/drawing/2014/main" id="{ACC3392A-8589-44E2-B9B4-8955E528D781}"/>
              </a:ext>
            </a:extLst>
          </p:cNvPr>
          <p:cNvSpPr/>
          <p:nvPr/>
        </p:nvSpPr>
        <p:spPr>
          <a:xfrm>
            <a:off x="395535" y="2792286"/>
            <a:ext cx="4008213" cy="2616101"/>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p>
            <a:pPr algn="just">
              <a:spcAft>
                <a:spcPts val="600"/>
              </a:spcAft>
            </a:pPr>
            <a:r>
              <a:rPr lang="es-ES_tradnl" sz="1600" b="1" u="sng" dirty="0">
                <a:solidFill>
                  <a:prstClr val="black"/>
                </a:solidFill>
                <a:sym typeface="Wingdings" pitchFamily="2" charset="2"/>
              </a:rPr>
              <a:t>Ventajas:</a:t>
            </a:r>
          </a:p>
          <a:p>
            <a:pPr algn="just">
              <a:spcBef>
                <a:spcPts val="600"/>
              </a:spcBef>
            </a:pPr>
            <a:r>
              <a:rPr lang="es-ES_tradnl" sz="1600" b="1" dirty="0">
                <a:solidFill>
                  <a:prstClr val="black"/>
                </a:solidFill>
                <a:sym typeface="Wingdings" pitchFamily="2" charset="2"/>
              </a:rPr>
              <a:t>1. Permite concentrarse a la empresa en las actividades más importantes: </a:t>
            </a:r>
            <a:r>
              <a:rPr lang="es-ES_tradnl" sz="1600" dirty="0">
                <a:solidFill>
                  <a:prstClr val="black"/>
                </a:solidFill>
                <a:sym typeface="Wingdings" pitchFamily="2" charset="2"/>
              </a:rPr>
              <a:t>las que nos permitan ser más competitivos.</a:t>
            </a:r>
          </a:p>
          <a:p>
            <a:pPr algn="just">
              <a:spcBef>
                <a:spcPts val="600"/>
              </a:spcBef>
            </a:pPr>
            <a:r>
              <a:rPr lang="es-ES_tradnl" sz="1600" b="1" dirty="0">
                <a:solidFill>
                  <a:prstClr val="black"/>
                </a:solidFill>
                <a:sym typeface="Wingdings" pitchFamily="2" charset="2"/>
              </a:rPr>
              <a:t>2. Reduce costes: </a:t>
            </a:r>
            <a:r>
              <a:rPr lang="es-ES_tradnl" sz="1600" dirty="0">
                <a:solidFill>
                  <a:prstClr val="black"/>
                </a:solidFill>
                <a:sym typeface="Wingdings" pitchFamily="2" charset="2"/>
              </a:rPr>
              <a:t>transformando costes fijos en costes variables.</a:t>
            </a:r>
          </a:p>
          <a:p>
            <a:pPr algn="just">
              <a:spcBef>
                <a:spcPts val="600"/>
              </a:spcBef>
            </a:pPr>
            <a:r>
              <a:rPr lang="es-ES_tradnl" sz="1600" b="1" dirty="0">
                <a:solidFill>
                  <a:prstClr val="black"/>
                </a:solidFill>
                <a:sym typeface="Wingdings" pitchFamily="2" charset="2"/>
              </a:rPr>
              <a:t>3. Permite evitar grandes inversiones: </a:t>
            </a:r>
            <a:r>
              <a:rPr lang="es-ES_tradnl" sz="1600" dirty="0">
                <a:solidFill>
                  <a:prstClr val="black"/>
                </a:solidFill>
                <a:sym typeface="Wingdings" pitchFamily="2" charset="2"/>
              </a:rPr>
              <a:t>maquinaria, instalaciones,… es la empresa subcontratada la encargada de ello</a:t>
            </a:r>
            <a:endParaRPr lang="es-ES" sz="1600" dirty="0"/>
          </a:p>
        </p:txBody>
      </p:sp>
      <p:sp>
        <p:nvSpPr>
          <p:cNvPr id="10" name="35 Rectángulo">
            <a:extLst>
              <a:ext uri="{FF2B5EF4-FFF2-40B4-BE49-F238E27FC236}">
                <a16:creationId xmlns:a16="http://schemas.microsoft.com/office/drawing/2014/main" id="{776C93DC-45E1-428F-B823-A749888399A1}"/>
              </a:ext>
            </a:extLst>
          </p:cNvPr>
          <p:cNvSpPr/>
          <p:nvPr/>
        </p:nvSpPr>
        <p:spPr>
          <a:xfrm>
            <a:off x="4594410" y="2720182"/>
            <a:ext cx="4078508" cy="2693045"/>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p>
            <a:pPr algn="just">
              <a:spcAft>
                <a:spcPts val="600"/>
              </a:spcAft>
            </a:pPr>
            <a:r>
              <a:rPr lang="es-ES_tradnl" sz="1600" b="1" u="sng" dirty="0">
                <a:solidFill>
                  <a:prstClr val="black"/>
                </a:solidFill>
                <a:sym typeface="Wingdings" pitchFamily="2" charset="2"/>
              </a:rPr>
              <a:t>Desventajas:</a:t>
            </a:r>
          </a:p>
          <a:p>
            <a:pPr algn="just">
              <a:spcBef>
                <a:spcPts val="600"/>
              </a:spcBef>
            </a:pPr>
            <a:r>
              <a:rPr lang="es-ES_tradnl" sz="1600" b="1" dirty="0">
                <a:solidFill>
                  <a:prstClr val="black"/>
                </a:solidFill>
                <a:sym typeface="Wingdings" pitchFamily="2" charset="2"/>
              </a:rPr>
              <a:t>1. Hay dependencia de la otra empresa:</a:t>
            </a:r>
            <a:r>
              <a:rPr lang="es-ES_tradnl" sz="1600" dirty="0">
                <a:solidFill>
                  <a:prstClr val="black"/>
                </a:solidFill>
                <a:sym typeface="Wingdings" pitchFamily="2" charset="2"/>
              </a:rPr>
              <a:t> si falla nosotros también.</a:t>
            </a:r>
          </a:p>
          <a:p>
            <a:pPr algn="just">
              <a:spcBef>
                <a:spcPts val="600"/>
              </a:spcBef>
            </a:pPr>
            <a:r>
              <a:rPr lang="es-ES_tradnl" sz="1600" b="1" dirty="0">
                <a:solidFill>
                  <a:prstClr val="black"/>
                </a:solidFill>
                <a:sym typeface="Wingdings" pitchFamily="2" charset="2"/>
              </a:rPr>
              <a:t>2. Subcontratación de la subcontratación: </a:t>
            </a:r>
            <a:r>
              <a:rPr lang="es-ES_tradnl" sz="1600" dirty="0">
                <a:solidFill>
                  <a:prstClr val="black"/>
                </a:solidFill>
                <a:sym typeface="Wingdings" pitchFamily="2" charset="2"/>
              </a:rPr>
              <a:t>riesgo de pérdida de la calidad.</a:t>
            </a:r>
          </a:p>
          <a:p>
            <a:pPr algn="just">
              <a:spcBef>
                <a:spcPts val="600"/>
              </a:spcBef>
            </a:pPr>
            <a:r>
              <a:rPr lang="es-ES_tradnl" sz="1600" b="1" dirty="0">
                <a:solidFill>
                  <a:prstClr val="black"/>
                </a:solidFill>
                <a:sym typeface="Wingdings" pitchFamily="2" charset="2"/>
              </a:rPr>
              <a:t>3. Riesgo de seguridad y privacidad: </a:t>
            </a:r>
            <a:r>
              <a:rPr lang="es-ES_tradnl" sz="1600" dirty="0">
                <a:solidFill>
                  <a:prstClr val="black"/>
                </a:solidFill>
                <a:sym typeface="Wingdings" pitchFamily="2" charset="2"/>
              </a:rPr>
              <a:t>se proporciona información a otra empresa.</a:t>
            </a:r>
          </a:p>
          <a:p>
            <a:pPr algn="just">
              <a:spcBef>
                <a:spcPts val="600"/>
              </a:spcBef>
            </a:pPr>
            <a:r>
              <a:rPr lang="es-ES_tradnl" sz="1600" b="1" dirty="0">
                <a:solidFill>
                  <a:prstClr val="black"/>
                </a:solidFill>
                <a:sym typeface="Wingdings" pitchFamily="2" charset="2"/>
              </a:rPr>
              <a:t>4. No fijar todas las condiciones claras en el contrato.</a:t>
            </a:r>
            <a:endParaRPr lang="es-ES" sz="1600" b="1" dirty="0"/>
          </a:p>
        </p:txBody>
      </p:sp>
      <p:sp>
        <p:nvSpPr>
          <p:cNvPr id="2" name="CuadroTexto 1">
            <a:extLst>
              <a:ext uri="{FF2B5EF4-FFF2-40B4-BE49-F238E27FC236}">
                <a16:creationId xmlns:a16="http://schemas.microsoft.com/office/drawing/2014/main" id="{3E7D2453-CD89-9AA3-9036-D9609F7BA5B6}"/>
              </a:ext>
            </a:extLst>
          </p:cNvPr>
          <p:cNvSpPr txBox="1"/>
          <p:nvPr/>
        </p:nvSpPr>
        <p:spPr>
          <a:xfrm>
            <a:off x="395535" y="5661248"/>
            <a:ext cx="8277383" cy="923330"/>
          </a:xfrm>
          <a:prstGeom prst="rect">
            <a:avLst/>
          </a:prstGeom>
          <a:noFill/>
        </p:spPr>
        <p:txBody>
          <a:bodyPr wrap="square" rtlCol="0">
            <a:spAutoFit/>
          </a:bodyPr>
          <a:lstStyle/>
          <a:p>
            <a:r>
              <a:rPr lang="es-ES_tradnl" dirty="0"/>
              <a:t>Cada empresa debe utilizar el sentido común y decidir aquello que hace mejor y qué es lo que otra empresa lo puede hacer mejor y más barato que si lo hiciese uno mismo. </a:t>
            </a:r>
          </a:p>
          <a:p>
            <a:r>
              <a:rPr lang="es-ES_tradnl" dirty="0" err="1"/>
              <a:t>Ej</a:t>
            </a:r>
            <a:r>
              <a:rPr lang="es-ES_tradnl" dirty="0"/>
              <a:t>: es habitual subcontratar el área de contabilidad e impuestos con una gestoría. </a:t>
            </a:r>
          </a:p>
        </p:txBody>
      </p:sp>
    </p:spTree>
    <p:extLst>
      <p:ext uri="{BB962C8B-B14F-4D97-AF65-F5344CB8AC3E}">
        <p14:creationId xmlns:p14="http://schemas.microsoft.com/office/powerpoint/2010/main" val="1995477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1 Título"/>
          <p:cNvSpPr txBox="1">
            <a:spLocks/>
          </p:cNvSpPr>
          <p:nvPr/>
        </p:nvSpPr>
        <p:spPr>
          <a:xfrm>
            <a:off x="173589" y="1683"/>
            <a:ext cx="8229600" cy="691013"/>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b="1" dirty="0">
                <a:latin typeface="+mn-lt"/>
              </a:rPr>
              <a:t>2. El aprovisionamiento</a:t>
            </a:r>
          </a:p>
        </p:txBody>
      </p:sp>
      <p:graphicFrame>
        <p:nvGraphicFramePr>
          <p:cNvPr id="5" name="4 Diagrama"/>
          <p:cNvGraphicFramePr/>
          <p:nvPr>
            <p:extLst>
              <p:ext uri="{D42A27DB-BD31-4B8C-83A1-F6EECF244321}">
                <p14:modId xmlns:p14="http://schemas.microsoft.com/office/powerpoint/2010/main" val="3670934326"/>
              </p:ext>
            </p:extLst>
          </p:nvPr>
        </p:nvGraphicFramePr>
        <p:xfrm>
          <a:off x="467544" y="1412776"/>
          <a:ext cx="8496943"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Imagen 2"/>
          <p:cNvPicPr>
            <a:picLocks noChangeAspect="1"/>
          </p:cNvPicPr>
          <p:nvPr/>
        </p:nvPicPr>
        <p:blipFill>
          <a:blip r:embed="rId7"/>
          <a:stretch>
            <a:fillRect/>
          </a:stretch>
        </p:blipFill>
        <p:spPr>
          <a:xfrm>
            <a:off x="919998" y="3714823"/>
            <a:ext cx="2146928" cy="1537914"/>
          </a:xfrm>
          <a:prstGeom prst="rect">
            <a:avLst/>
          </a:prstGeom>
        </p:spPr>
      </p:pic>
      <p:pic>
        <p:nvPicPr>
          <p:cNvPr id="4" name="Imagen 3"/>
          <p:cNvPicPr>
            <a:picLocks noChangeAspect="1"/>
          </p:cNvPicPr>
          <p:nvPr/>
        </p:nvPicPr>
        <p:blipFill>
          <a:blip r:embed="rId8"/>
          <a:stretch>
            <a:fillRect/>
          </a:stretch>
        </p:blipFill>
        <p:spPr>
          <a:xfrm>
            <a:off x="3779912" y="3068960"/>
            <a:ext cx="2232248" cy="1599032"/>
          </a:xfrm>
          <a:prstGeom prst="rect">
            <a:avLst/>
          </a:prstGeom>
        </p:spPr>
      </p:pic>
      <p:pic>
        <p:nvPicPr>
          <p:cNvPr id="6" name="Imagen 5"/>
          <p:cNvPicPr>
            <a:picLocks noChangeAspect="1"/>
          </p:cNvPicPr>
          <p:nvPr/>
        </p:nvPicPr>
        <p:blipFill>
          <a:blip r:embed="rId9"/>
          <a:stretch>
            <a:fillRect/>
          </a:stretch>
        </p:blipFill>
        <p:spPr>
          <a:xfrm>
            <a:off x="6714112" y="2615965"/>
            <a:ext cx="2226095" cy="1446962"/>
          </a:xfrm>
          <a:prstGeom prst="rect">
            <a:avLst/>
          </a:prstGeom>
        </p:spPr>
      </p:pic>
      <p:sp>
        <p:nvSpPr>
          <p:cNvPr id="2" name="CuadroTexto 1">
            <a:extLst>
              <a:ext uri="{FF2B5EF4-FFF2-40B4-BE49-F238E27FC236}">
                <a16:creationId xmlns:a16="http://schemas.microsoft.com/office/drawing/2014/main" id="{752D293E-C131-EBE9-4B60-813AA7D60273}"/>
              </a:ext>
            </a:extLst>
          </p:cNvPr>
          <p:cNvSpPr txBox="1"/>
          <p:nvPr/>
        </p:nvSpPr>
        <p:spPr>
          <a:xfrm>
            <a:off x="299664" y="878950"/>
            <a:ext cx="8544671" cy="646331"/>
          </a:xfrm>
          <a:prstGeom prst="rect">
            <a:avLst/>
          </a:prstGeom>
          <a:noFill/>
        </p:spPr>
        <p:txBody>
          <a:bodyPr wrap="square" rtlCol="0">
            <a:spAutoFit/>
          </a:bodyPr>
          <a:lstStyle/>
          <a:p>
            <a:r>
              <a:rPr lang="es-ES_tradnl" dirty="0"/>
              <a:t>En el aprovisionamiento de las materias primas y los productos, podemos distinguir 3 funciones: </a:t>
            </a:r>
          </a:p>
        </p:txBody>
      </p:sp>
    </p:spTree>
    <p:extLst>
      <p:ext uri="{BB962C8B-B14F-4D97-AF65-F5344CB8AC3E}">
        <p14:creationId xmlns:p14="http://schemas.microsoft.com/office/powerpoint/2010/main" val="2529027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25 CuadroTexto">
            <a:extLst>
              <a:ext uri="{FF2B5EF4-FFF2-40B4-BE49-F238E27FC236}">
                <a16:creationId xmlns:a16="http://schemas.microsoft.com/office/drawing/2014/main" id="{F31D0BEF-2583-48AE-91E1-A318D2E4C70E}"/>
              </a:ext>
            </a:extLst>
          </p:cNvPr>
          <p:cNvSpPr txBox="1"/>
          <p:nvPr/>
        </p:nvSpPr>
        <p:spPr>
          <a:xfrm>
            <a:off x="426364" y="480545"/>
            <a:ext cx="1769372" cy="40011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s-ES_tradnl" sz="2000" b="1" dirty="0">
                <a:solidFill>
                  <a:schemeClr val="tx1"/>
                </a:solidFill>
              </a:rPr>
              <a:t>2.1. Compras</a:t>
            </a:r>
            <a:endParaRPr lang="es-ES" sz="2000" b="1" dirty="0">
              <a:solidFill>
                <a:schemeClr val="tx1"/>
              </a:solidFill>
            </a:endParaRPr>
          </a:p>
        </p:txBody>
      </p:sp>
      <p:sp>
        <p:nvSpPr>
          <p:cNvPr id="7" name="8 Rectángulo redondeado">
            <a:extLst>
              <a:ext uri="{FF2B5EF4-FFF2-40B4-BE49-F238E27FC236}">
                <a16:creationId xmlns:a16="http://schemas.microsoft.com/office/drawing/2014/main" id="{5F9EFC2B-032E-4A59-8200-018965A7192B}"/>
              </a:ext>
            </a:extLst>
          </p:cNvPr>
          <p:cNvSpPr/>
          <p:nvPr/>
        </p:nvSpPr>
        <p:spPr>
          <a:xfrm>
            <a:off x="426364" y="1340768"/>
            <a:ext cx="3114236" cy="43026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b="1" dirty="0">
                <a:solidFill>
                  <a:schemeClr val="tx1"/>
                </a:solidFill>
              </a:rPr>
              <a:t>A. Selección de proveedores</a:t>
            </a:r>
            <a:endParaRPr lang="es-ES" b="1" dirty="0">
              <a:solidFill>
                <a:schemeClr val="tx1"/>
              </a:solidFill>
            </a:endParaRPr>
          </a:p>
        </p:txBody>
      </p:sp>
      <p:sp>
        <p:nvSpPr>
          <p:cNvPr id="8" name="12 CuadroTexto">
            <a:extLst>
              <a:ext uri="{FF2B5EF4-FFF2-40B4-BE49-F238E27FC236}">
                <a16:creationId xmlns:a16="http://schemas.microsoft.com/office/drawing/2014/main" id="{7F418E47-A051-4F1E-8A51-F6D7F5A5CB44}"/>
              </a:ext>
            </a:extLst>
          </p:cNvPr>
          <p:cNvSpPr txBox="1"/>
          <p:nvPr/>
        </p:nvSpPr>
        <p:spPr>
          <a:xfrm>
            <a:off x="426364" y="3865372"/>
            <a:ext cx="2893336" cy="707886"/>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s-ES" sz="2000" b="1" u="sng" dirty="0"/>
              <a:t>¿Qué valorar en un proveedor?</a:t>
            </a:r>
          </a:p>
        </p:txBody>
      </p:sp>
      <p:sp>
        <p:nvSpPr>
          <p:cNvPr id="9" name="1 Abrir llave">
            <a:extLst>
              <a:ext uri="{FF2B5EF4-FFF2-40B4-BE49-F238E27FC236}">
                <a16:creationId xmlns:a16="http://schemas.microsoft.com/office/drawing/2014/main" id="{62594D58-F7C1-4F29-9804-CC63009AA1D7}"/>
              </a:ext>
            </a:extLst>
          </p:cNvPr>
          <p:cNvSpPr/>
          <p:nvPr/>
        </p:nvSpPr>
        <p:spPr>
          <a:xfrm>
            <a:off x="2843808" y="2126434"/>
            <a:ext cx="370747" cy="4185761"/>
          </a:xfrm>
          <a:prstGeom prst="leftBrace">
            <a:avLst>
              <a:gd name="adj1" fmla="val 0"/>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0" name="18 CuadroTexto">
            <a:extLst>
              <a:ext uri="{FF2B5EF4-FFF2-40B4-BE49-F238E27FC236}">
                <a16:creationId xmlns:a16="http://schemas.microsoft.com/office/drawing/2014/main" id="{93D06AEE-5204-4DE9-A06B-7E41B47C26C3}"/>
              </a:ext>
            </a:extLst>
          </p:cNvPr>
          <p:cNvSpPr txBox="1"/>
          <p:nvPr/>
        </p:nvSpPr>
        <p:spPr>
          <a:xfrm>
            <a:off x="3131840" y="2102122"/>
            <a:ext cx="5793510" cy="4462760"/>
          </a:xfrm>
          <a:prstGeom prst="rect">
            <a:avLst/>
          </a:prstGeom>
          <a:noFill/>
        </p:spPr>
        <p:txBody>
          <a:bodyPr wrap="square" rtlCol="0">
            <a:spAutoFit/>
          </a:bodyPr>
          <a:lstStyle/>
          <a:p>
            <a:pPr marL="285750" indent="-285750" algn="just">
              <a:spcAft>
                <a:spcPts val="1200"/>
              </a:spcAft>
              <a:buFont typeface="Arial" charset="0"/>
              <a:buChar char="•"/>
            </a:pPr>
            <a:r>
              <a:rPr lang="es-ES_tradnl" b="1" dirty="0"/>
              <a:t>Precio:  </a:t>
            </a:r>
            <a:r>
              <a:rPr lang="es-ES_tradnl" dirty="0"/>
              <a:t>suele ser el factor más importante, pero sin obsesionarse, ya que lo barato sale caro.</a:t>
            </a:r>
          </a:p>
          <a:p>
            <a:pPr marL="285750" indent="-285750" algn="just">
              <a:spcAft>
                <a:spcPts val="1200"/>
              </a:spcAft>
              <a:buFont typeface="Arial" charset="0"/>
              <a:buChar char="•"/>
            </a:pPr>
            <a:r>
              <a:rPr lang="es-ES_tradnl" b="1" dirty="0"/>
              <a:t>Calidad: </a:t>
            </a:r>
            <a:r>
              <a:rPr lang="es-ES_tradnl" dirty="0"/>
              <a:t>la que necesitemos, si no necesitamos más no hay que comprar más caro. La baja calidad es cara porque el cliente quedará insatisfecho si no cumple sus expectativas y podemos perder clientes.</a:t>
            </a:r>
          </a:p>
          <a:p>
            <a:pPr marL="285750" indent="-285750" algn="just">
              <a:spcAft>
                <a:spcPts val="1200"/>
              </a:spcAft>
              <a:buFont typeface="Arial" charset="0"/>
              <a:buChar char="•"/>
            </a:pPr>
            <a:r>
              <a:rPr lang="es-ES_tradnl" b="1" dirty="0"/>
              <a:t>Descuentos: </a:t>
            </a:r>
            <a:r>
              <a:rPr lang="es-ES_tradnl" dirty="0"/>
              <a:t>rappels, descuentos por pronto pago,..</a:t>
            </a:r>
          </a:p>
          <a:p>
            <a:pPr marL="285750" indent="-285750" algn="just">
              <a:spcAft>
                <a:spcPts val="1200"/>
              </a:spcAft>
              <a:buFont typeface="Arial" charset="0"/>
              <a:buChar char="•"/>
            </a:pPr>
            <a:r>
              <a:rPr lang="es-ES_tradnl" b="1" dirty="0"/>
              <a:t>Condiciones de pago: </a:t>
            </a:r>
            <a:r>
              <a:rPr lang="es-ES_tradnl" dirty="0"/>
              <a:t>plazos 30-60 días es lo habitual y nos da tiempo de pagar con el dinero de las ventas.</a:t>
            </a:r>
          </a:p>
          <a:p>
            <a:pPr marL="285750" indent="-285750" algn="just">
              <a:spcAft>
                <a:spcPts val="1200"/>
              </a:spcAft>
              <a:buFont typeface="Arial" charset="0"/>
              <a:buChar char="•"/>
            </a:pPr>
            <a:r>
              <a:rPr lang="es-ES_tradnl" b="1" dirty="0"/>
              <a:t>Plazo de entrega: </a:t>
            </a:r>
            <a:r>
              <a:rPr lang="es-ES_tradnl" dirty="0"/>
              <a:t>el tiempo en realizar la entrega es fundamental, puede haber roturas de stock.</a:t>
            </a:r>
          </a:p>
          <a:p>
            <a:pPr marL="285750" indent="-285750" algn="just">
              <a:spcAft>
                <a:spcPts val="1200"/>
              </a:spcAft>
              <a:buFont typeface="Arial" charset="0"/>
              <a:buChar char="•"/>
            </a:pPr>
            <a:r>
              <a:rPr lang="es-ES_tradnl" b="1" dirty="0"/>
              <a:t>Servicio de postventa y garantía: </a:t>
            </a:r>
            <a:r>
              <a:rPr lang="es-ES_tradnl" dirty="0"/>
              <a:t>si recoge los productos defectuosos o si devuelve el importe.</a:t>
            </a:r>
            <a:endParaRPr lang="es-ES" dirty="0"/>
          </a:p>
        </p:txBody>
      </p:sp>
    </p:spTree>
    <p:extLst>
      <p:ext uri="{BB962C8B-B14F-4D97-AF65-F5344CB8AC3E}">
        <p14:creationId xmlns:p14="http://schemas.microsoft.com/office/powerpoint/2010/main" val="1614361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9 Rectángulo redondeado">
            <a:extLst>
              <a:ext uri="{FF2B5EF4-FFF2-40B4-BE49-F238E27FC236}">
                <a16:creationId xmlns:a16="http://schemas.microsoft.com/office/drawing/2014/main" id="{0E64C4BF-2AC0-46FF-A7B2-D087700DDD3E}"/>
              </a:ext>
            </a:extLst>
          </p:cNvPr>
          <p:cNvSpPr/>
          <p:nvPr/>
        </p:nvSpPr>
        <p:spPr>
          <a:xfrm>
            <a:off x="446644" y="799422"/>
            <a:ext cx="4529072" cy="389697"/>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_tradnl" b="1" dirty="0">
                <a:solidFill>
                  <a:schemeClr val="tx1"/>
                </a:solidFill>
              </a:rPr>
              <a:t>B. Estrategia de negociación con Proveedores</a:t>
            </a:r>
            <a:endParaRPr lang="es-ES" b="1" dirty="0">
              <a:solidFill>
                <a:schemeClr val="tx1"/>
              </a:solidFill>
            </a:endParaRPr>
          </a:p>
        </p:txBody>
      </p:sp>
      <p:sp>
        <p:nvSpPr>
          <p:cNvPr id="12" name="16 CuadroTexto">
            <a:extLst>
              <a:ext uri="{FF2B5EF4-FFF2-40B4-BE49-F238E27FC236}">
                <a16:creationId xmlns:a16="http://schemas.microsoft.com/office/drawing/2014/main" id="{2A699BBE-A519-4EBD-B453-543D62A3CE4D}"/>
              </a:ext>
            </a:extLst>
          </p:cNvPr>
          <p:cNvSpPr txBox="1"/>
          <p:nvPr/>
        </p:nvSpPr>
        <p:spPr>
          <a:xfrm>
            <a:off x="2735967" y="1394869"/>
            <a:ext cx="3372248" cy="64633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es-ES" b="1" dirty="0"/>
              <a:t>Existen dos estilos para relacionarse con los proveedores</a:t>
            </a:r>
          </a:p>
        </p:txBody>
      </p:sp>
      <p:sp>
        <p:nvSpPr>
          <p:cNvPr id="13" name="Flecha derecha 2">
            <a:extLst>
              <a:ext uri="{FF2B5EF4-FFF2-40B4-BE49-F238E27FC236}">
                <a16:creationId xmlns:a16="http://schemas.microsoft.com/office/drawing/2014/main" id="{EEDD95D0-3E78-488C-B3D5-0AA154732C18}"/>
              </a:ext>
            </a:extLst>
          </p:cNvPr>
          <p:cNvSpPr/>
          <p:nvPr/>
        </p:nvSpPr>
        <p:spPr>
          <a:xfrm rot="8192927">
            <a:off x="2134695" y="2186114"/>
            <a:ext cx="648072" cy="2539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gl-ES"/>
          </a:p>
        </p:txBody>
      </p:sp>
      <p:sp>
        <p:nvSpPr>
          <p:cNvPr id="14" name="Flecha derecha 19">
            <a:extLst>
              <a:ext uri="{FF2B5EF4-FFF2-40B4-BE49-F238E27FC236}">
                <a16:creationId xmlns:a16="http://schemas.microsoft.com/office/drawing/2014/main" id="{837CC9F5-84C9-4E18-B1C9-FF0BE36B1D52}"/>
              </a:ext>
            </a:extLst>
          </p:cNvPr>
          <p:cNvSpPr/>
          <p:nvPr/>
        </p:nvSpPr>
        <p:spPr>
          <a:xfrm rot="2437112">
            <a:off x="5995684" y="2178418"/>
            <a:ext cx="648072" cy="2539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gl-ES"/>
          </a:p>
        </p:txBody>
      </p:sp>
      <p:sp>
        <p:nvSpPr>
          <p:cNvPr id="15" name="16 CuadroTexto">
            <a:extLst>
              <a:ext uri="{FF2B5EF4-FFF2-40B4-BE49-F238E27FC236}">
                <a16:creationId xmlns:a16="http://schemas.microsoft.com/office/drawing/2014/main" id="{08B8920C-F4A7-4669-9BEF-691641A97A25}"/>
              </a:ext>
            </a:extLst>
          </p:cNvPr>
          <p:cNvSpPr txBox="1"/>
          <p:nvPr/>
        </p:nvSpPr>
        <p:spPr>
          <a:xfrm>
            <a:off x="1085399" y="2668848"/>
            <a:ext cx="2746664" cy="369332"/>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r>
              <a:rPr lang="es-ES" b="1" dirty="0"/>
              <a:t>Relaciones Tradicionales</a:t>
            </a:r>
          </a:p>
        </p:txBody>
      </p:sp>
      <p:sp>
        <p:nvSpPr>
          <p:cNvPr id="16" name="14 CuadroTexto">
            <a:extLst>
              <a:ext uri="{FF2B5EF4-FFF2-40B4-BE49-F238E27FC236}">
                <a16:creationId xmlns:a16="http://schemas.microsoft.com/office/drawing/2014/main" id="{D0618212-B45D-40B7-B048-F7707CB0D25C}"/>
              </a:ext>
            </a:extLst>
          </p:cNvPr>
          <p:cNvSpPr txBox="1"/>
          <p:nvPr/>
        </p:nvSpPr>
        <p:spPr>
          <a:xfrm>
            <a:off x="526227" y="3093252"/>
            <a:ext cx="3865008" cy="3108543"/>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lgn="just">
              <a:spcAft>
                <a:spcPts val="600"/>
              </a:spcAft>
              <a:buFont typeface="Arial" charset="0"/>
              <a:buChar char="•"/>
            </a:pPr>
            <a:r>
              <a:rPr lang="es-ES_tradnl" sz="1600" b="1" dirty="0"/>
              <a:t>Somos adversarios:</a:t>
            </a:r>
            <a:r>
              <a:rPr lang="es-ES_tradnl" sz="1600" dirty="0"/>
              <a:t>  “yo gano-tu pierdes”, cada uno intenta sacar ventaja.</a:t>
            </a:r>
          </a:p>
          <a:p>
            <a:pPr marL="285750" indent="-285750" algn="just">
              <a:spcAft>
                <a:spcPts val="600"/>
              </a:spcAft>
              <a:buFont typeface="Arial" charset="0"/>
              <a:buChar char="•"/>
            </a:pPr>
            <a:r>
              <a:rPr lang="es-ES_tradnl" sz="1600" b="1" dirty="0"/>
              <a:t>Cambios constantes de proveedores, </a:t>
            </a:r>
            <a:r>
              <a:rPr lang="es-ES_tradnl" sz="1600" dirty="0"/>
              <a:t>buscando el precio más barato al proveedor más barato.</a:t>
            </a:r>
            <a:endParaRPr lang="es-ES_tradnl" sz="1600" b="1" dirty="0"/>
          </a:p>
          <a:p>
            <a:pPr marL="285750" indent="-285750" algn="just">
              <a:spcAft>
                <a:spcPts val="600"/>
              </a:spcAft>
              <a:buFont typeface="Arial" charset="0"/>
              <a:buChar char="•"/>
            </a:pPr>
            <a:r>
              <a:rPr lang="es-ES_tradnl" sz="1600" b="1" dirty="0"/>
              <a:t>Proveedores en constante pugna, </a:t>
            </a:r>
            <a:r>
              <a:rPr lang="es-ES_tradnl" sz="1600" dirty="0"/>
              <a:t>a ver quien hace más concesiones.</a:t>
            </a:r>
            <a:endParaRPr lang="es-ES_tradnl" sz="1600" b="1" dirty="0"/>
          </a:p>
          <a:p>
            <a:pPr marL="285750" indent="-285750" algn="just">
              <a:spcAft>
                <a:spcPts val="600"/>
              </a:spcAft>
              <a:buFont typeface="Arial" charset="0"/>
              <a:buChar char="•"/>
            </a:pPr>
            <a:r>
              <a:rPr lang="es-ES_tradnl" sz="1600" b="1" dirty="0"/>
              <a:t>Continuas fricciones</a:t>
            </a:r>
            <a:r>
              <a:rPr lang="es-ES_tradnl" sz="1600" dirty="0"/>
              <a:t>: sobre calidad,  plazos de entrega, precios</a:t>
            </a:r>
          </a:p>
          <a:p>
            <a:pPr marL="285750" indent="-285750" algn="just">
              <a:spcAft>
                <a:spcPts val="600"/>
              </a:spcAft>
              <a:buFont typeface="Arial" charset="0"/>
              <a:buChar char="•"/>
            </a:pPr>
            <a:r>
              <a:rPr lang="es-ES_tradnl" sz="1600" dirty="0"/>
              <a:t>Ambiente de </a:t>
            </a:r>
            <a:r>
              <a:rPr lang="es-ES_tradnl" sz="1600" b="1" dirty="0"/>
              <a:t>desconfianza mutua </a:t>
            </a:r>
            <a:r>
              <a:rPr lang="es-ES_tradnl" sz="1600" dirty="0"/>
              <a:t>entre ambas partes</a:t>
            </a:r>
            <a:endParaRPr lang="es-ES" sz="1600" dirty="0"/>
          </a:p>
        </p:txBody>
      </p:sp>
      <p:sp>
        <p:nvSpPr>
          <p:cNvPr id="17" name="22 CuadroTexto">
            <a:extLst>
              <a:ext uri="{FF2B5EF4-FFF2-40B4-BE49-F238E27FC236}">
                <a16:creationId xmlns:a16="http://schemas.microsoft.com/office/drawing/2014/main" id="{14533AA3-4410-4374-A06F-0BA442173F57}"/>
              </a:ext>
            </a:extLst>
          </p:cNvPr>
          <p:cNvSpPr txBox="1"/>
          <p:nvPr/>
        </p:nvSpPr>
        <p:spPr>
          <a:xfrm>
            <a:off x="5614812" y="2680858"/>
            <a:ext cx="2635188" cy="369332"/>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s-ES" b="1" dirty="0"/>
              <a:t>Co-</a:t>
            </a:r>
            <a:r>
              <a:rPr lang="es-ES" b="1" dirty="0" err="1"/>
              <a:t>makership</a:t>
            </a:r>
            <a:endParaRPr lang="es-ES" b="1" dirty="0"/>
          </a:p>
        </p:txBody>
      </p:sp>
      <p:sp>
        <p:nvSpPr>
          <p:cNvPr id="21" name="23 CuadroTexto">
            <a:extLst>
              <a:ext uri="{FF2B5EF4-FFF2-40B4-BE49-F238E27FC236}">
                <a16:creationId xmlns:a16="http://schemas.microsoft.com/office/drawing/2014/main" id="{C1F482A5-6646-45D6-91A8-5283D8074B9C}"/>
              </a:ext>
            </a:extLst>
          </p:cNvPr>
          <p:cNvSpPr txBox="1"/>
          <p:nvPr/>
        </p:nvSpPr>
        <p:spPr>
          <a:xfrm>
            <a:off x="4916182" y="3091821"/>
            <a:ext cx="4032448" cy="2785378"/>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lgn="just">
              <a:spcAft>
                <a:spcPts val="600"/>
              </a:spcAft>
              <a:buFont typeface="Arial" charset="0"/>
              <a:buChar char="•"/>
            </a:pPr>
            <a:r>
              <a:rPr lang="es-ES_tradnl" sz="1600" b="1" dirty="0"/>
              <a:t>Se establece una relación a largo plazo: </a:t>
            </a:r>
            <a:r>
              <a:rPr lang="es-ES_tradnl" sz="1600" dirty="0"/>
              <a:t>con pocos proveedores, basado en el estilo “yo gano-tú ganas”.</a:t>
            </a:r>
          </a:p>
          <a:p>
            <a:pPr marL="285750" indent="-285750" algn="just">
              <a:spcAft>
                <a:spcPts val="600"/>
              </a:spcAft>
              <a:buFont typeface="Arial" charset="0"/>
              <a:buChar char="•"/>
            </a:pPr>
            <a:r>
              <a:rPr lang="es-ES_tradnl" sz="1600" b="1" dirty="0"/>
              <a:t>Hay un objetivo común: </a:t>
            </a:r>
            <a:r>
              <a:rPr lang="es-ES_tradnl" sz="1600" dirty="0"/>
              <a:t>alcanzar un producto de calidad.</a:t>
            </a:r>
          </a:p>
          <a:p>
            <a:pPr marL="285750" indent="-285750" algn="just">
              <a:spcAft>
                <a:spcPts val="600"/>
              </a:spcAft>
              <a:buFont typeface="Arial" charset="0"/>
              <a:buChar char="•"/>
            </a:pPr>
            <a:r>
              <a:rPr lang="es-ES_tradnl" sz="1600" b="1" dirty="0"/>
              <a:t>Confianza mutua y cooperación: </a:t>
            </a:r>
            <a:r>
              <a:rPr lang="es-ES_tradnl" sz="1600" dirty="0"/>
              <a:t>se intercambian información.</a:t>
            </a:r>
          </a:p>
          <a:p>
            <a:pPr marL="285750" indent="-285750" algn="just">
              <a:spcAft>
                <a:spcPts val="1200"/>
              </a:spcAft>
              <a:buFont typeface="Arial" charset="0"/>
              <a:buChar char="•"/>
            </a:pPr>
            <a:r>
              <a:rPr lang="es-ES_tradnl" sz="1600" b="1" dirty="0"/>
              <a:t>Negocios</a:t>
            </a:r>
            <a:r>
              <a:rPr lang="es-ES_tradnl" sz="1600" dirty="0"/>
              <a:t> </a:t>
            </a:r>
            <a:r>
              <a:rPr lang="es-ES_tradnl" sz="1600" b="1" dirty="0"/>
              <a:t>rentables</a:t>
            </a:r>
            <a:r>
              <a:rPr lang="es-ES_tradnl" sz="1600" dirty="0"/>
              <a:t> para la otra parte: el objetivo es que ambos puedan incrementar su rentabilidad. </a:t>
            </a:r>
            <a:endParaRPr lang="es-ES" sz="1400" dirty="0"/>
          </a:p>
        </p:txBody>
      </p:sp>
    </p:spTree>
    <p:extLst>
      <p:ext uri="{BB962C8B-B14F-4D97-AF65-F5344CB8AC3E}">
        <p14:creationId xmlns:p14="http://schemas.microsoft.com/office/powerpoint/2010/main" val="595952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CuadroTexto"/>
          <p:cNvSpPr txBox="1"/>
          <p:nvPr/>
        </p:nvSpPr>
        <p:spPr>
          <a:xfrm>
            <a:off x="3203848" y="4531479"/>
            <a:ext cx="3400659" cy="830997"/>
          </a:xfrm>
          <a:prstGeom prst="rect">
            <a:avLst/>
          </a:prstGeom>
          <a:noFill/>
        </p:spPr>
        <p:txBody>
          <a:bodyPr wrap="square" rtlCol="0">
            <a:spAutoFit/>
          </a:bodyPr>
          <a:lstStyle/>
          <a:p>
            <a:pPr marL="285750" indent="-285750">
              <a:buFont typeface="Arial" charset="0"/>
              <a:buChar char="•"/>
            </a:pPr>
            <a:r>
              <a:rPr lang="es-ES_tradnl" sz="1600" dirty="0"/>
              <a:t>30% de los productos</a:t>
            </a:r>
          </a:p>
          <a:p>
            <a:pPr marL="285750" indent="-285750">
              <a:buFont typeface="Arial" charset="0"/>
              <a:buChar char="•"/>
            </a:pPr>
            <a:r>
              <a:rPr lang="es-ES_tradnl" sz="1600" dirty="0"/>
              <a:t>Valor 20-10% de lo almacenado</a:t>
            </a:r>
          </a:p>
          <a:p>
            <a:pPr marL="285750" indent="-285750">
              <a:buFont typeface="Arial" charset="0"/>
              <a:buChar char="•"/>
            </a:pPr>
            <a:r>
              <a:rPr lang="es-ES_tradnl" sz="1600" dirty="0"/>
              <a:t>Controlados pero moderadamente</a:t>
            </a:r>
          </a:p>
        </p:txBody>
      </p:sp>
      <p:graphicFrame>
        <p:nvGraphicFramePr>
          <p:cNvPr id="24" name="23 Diagrama"/>
          <p:cNvGraphicFramePr/>
          <p:nvPr>
            <p:extLst>
              <p:ext uri="{D42A27DB-BD31-4B8C-83A1-F6EECF244321}">
                <p14:modId xmlns:p14="http://schemas.microsoft.com/office/powerpoint/2010/main" val="1559161009"/>
              </p:ext>
            </p:extLst>
          </p:nvPr>
        </p:nvGraphicFramePr>
        <p:xfrm>
          <a:off x="91537" y="1783337"/>
          <a:ext cx="8965106" cy="292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11 CuadroTexto"/>
          <p:cNvSpPr txBox="1"/>
          <p:nvPr/>
        </p:nvSpPr>
        <p:spPr>
          <a:xfrm>
            <a:off x="6545499" y="3577372"/>
            <a:ext cx="2598501" cy="830997"/>
          </a:xfrm>
          <a:prstGeom prst="rect">
            <a:avLst/>
          </a:prstGeom>
          <a:noFill/>
        </p:spPr>
        <p:txBody>
          <a:bodyPr wrap="square" rtlCol="0">
            <a:spAutoFit/>
          </a:bodyPr>
          <a:lstStyle/>
          <a:p>
            <a:pPr marL="285750" indent="-285750">
              <a:buFont typeface="Arial" charset="0"/>
              <a:buChar char="•"/>
            </a:pPr>
            <a:r>
              <a:rPr lang="es-ES_tradnl" sz="1600" dirty="0"/>
              <a:t>50 % de los productos</a:t>
            </a:r>
          </a:p>
          <a:p>
            <a:pPr marL="285750" indent="-285750">
              <a:buFont typeface="Arial" charset="0"/>
              <a:buChar char="•"/>
            </a:pPr>
            <a:r>
              <a:rPr lang="es-ES_tradnl" sz="1600" dirty="0"/>
              <a:t>5-10% valor almacenado</a:t>
            </a:r>
          </a:p>
          <a:p>
            <a:pPr marL="285750" indent="-285750">
              <a:buFont typeface="Arial" charset="0"/>
              <a:buChar char="•"/>
            </a:pPr>
            <a:r>
              <a:rPr lang="es-ES_tradnl" sz="1600" dirty="0"/>
              <a:t>Control mínimo</a:t>
            </a:r>
          </a:p>
        </p:txBody>
      </p:sp>
      <p:sp>
        <p:nvSpPr>
          <p:cNvPr id="13" name="12 CuadroTexto"/>
          <p:cNvSpPr txBox="1"/>
          <p:nvPr/>
        </p:nvSpPr>
        <p:spPr>
          <a:xfrm>
            <a:off x="71389" y="3577372"/>
            <a:ext cx="3358219" cy="1077218"/>
          </a:xfrm>
          <a:prstGeom prst="rect">
            <a:avLst/>
          </a:prstGeom>
          <a:noFill/>
        </p:spPr>
        <p:txBody>
          <a:bodyPr wrap="square" rtlCol="0">
            <a:spAutoFit/>
          </a:bodyPr>
          <a:lstStyle/>
          <a:p>
            <a:pPr marL="285750" indent="-285750">
              <a:buFont typeface="Arial" charset="0"/>
              <a:buChar char="•"/>
            </a:pPr>
            <a:r>
              <a:rPr lang="es-ES_tradnl" sz="1600" dirty="0"/>
              <a:t>20% de los productos</a:t>
            </a:r>
          </a:p>
          <a:p>
            <a:pPr marL="285750" indent="-285750">
              <a:buFont typeface="Arial" charset="0"/>
              <a:buChar char="•"/>
            </a:pPr>
            <a:r>
              <a:rPr lang="es-ES_tradnl" sz="1600" dirty="0"/>
              <a:t>Valor 60-80 % de lo almacenado</a:t>
            </a:r>
          </a:p>
          <a:p>
            <a:pPr marL="285750" indent="-285750">
              <a:buFont typeface="Arial" charset="0"/>
              <a:buChar char="•"/>
            </a:pPr>
            <a:r>
              <a:rPr lang="es-ES_tradnl" sz="1600" dirty="0"/>
              <a:t>Evitar almacenaje durante mucho tiempo</a:t>
            </a:r>
          </a:p>
        </p:txBody>
      </p:sp>
      <p:sp>
        <p:nvSpPr>
          <p:cNvPr id="14" name="13 CuadroTexto"/>
          <p:cNvSpPr txBox="1"/>
          <p:nvPr/>
        </p:nvSpPr>
        <p:spPr>
          <a:xfrm>
            <a:off x="3144840" y="583009"/>
            <a:ext cx="5675632" cy="1077218"/>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s-ES_tradnl" sz="1600" dirty="0">
                <a:sym typeface="Wingdings" panose="05000000000000000000" pitchFamily="2" charset="2"/>
              </a:rPr>
              <a:t>El sistema de almacenamiento más conocido es el sistema ABC. </a:t>
            </a:r>
          </a:p>
          <a:p>
            <a:r>
              <a:rPr lang="es-ES_tradnl" sz="1600" dirty="0">
                <a:sym typeface="Wingdings" panose="05000000000000000000" pitchFamily="2" charset="2"/>
              </a:rPr>
              <a:t>Se basa en que: </a:t>
            </a:r>
          </a:p>
          <a:p>
            <a:pPr marL="285750" indent="-285750">
              <a:buFont typeface="Wingdings"/>
              <a:buChar char="à"/>
            </a:pPr>
            <a:r>
              <a:rPr lang="es-ES_tradnl" sz="1600" dirty="0">
                <a:sym typeface="Wingdings" panose="05000000000000000000" pitchFamily="2" charset="2"/>
              </a:rPr>
              <a:t>Hay muchos artículos en almacén con poco valor y pocos artículos en almacén con mucho valor</a:t>
            </a:r>
            <a:endParaRPr lang="es-ES_tradnl" sz="1600" dirty="0"/>
          </a:p>
        </p:txBody>
      </p:sp>
      <p:sp>
        <p:nvSpPr>
          <p:cNvPr id="2" name="25 CuadroTexto">
            <a:extLst>
              <a:ext uri="{FF2B5EF4-FFF2-40B4-BE49-F238E27FC236}">
                <a16:creationId xmlns:a16="http://schemas.microsoft.com/office/drawing/2014/main" id="{84FF6B48-A3DA-C1C8-A4D3-32EA5A7417A6}"/>
              </a:ext>
            </a:extLst>
          </p:cNvPr>
          <p:cNvSpPr txBox="1"/>
          <p:nvPr/>
        </p:nvSpPr>
        <p:spPr>
          <a:xfrm>
            <a:off x="323528" y="583009"/>
            <a:ext cx="2561460" cy="40011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s-ES_tradnl" sz="2000" b="1" dirty="0">
                <a:solidFill>
                  <a:schemeClr val="tx1"/>
                </a:solidFill>
              </a:rPr>
              <a:t>2.2. Almacenamiento</a:t>
            </a:r>
            <a:endParaRPr lang="es-ES" sz="2000" b="1" dirty="0">
              <a:solidFill>
                <a:schemeClr val="tx1"/>
              </a:solidFill>
            </a:endParaRPr>
          </a:p>
        </p:txBody>
      </p:sp>
    </p:spTree>
    <p:extLst>
      <p:ext uri="{BB962C8B-B14F-4D97-AF65-F5344CB8AC3E}">
        <p14:creationId xmlns:p14="http://schemas.microsoft.com/office/powerpoint/2010/main" val="3215157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3 CuadroTexto">
            <a:extLst>
              <a:ext uri="{FF2B5EF4-FFF2-40B4-BE49-F238E27FC236}">
                <a16:creationId xmlns:a16="http://schemas.microsoft.com/office/drawing/2014/main" id="{00DFAC5A-558D-46C7-B9F5-03BD50194EE6}"/>
              </a:ext>
            </a:extLst>
          </p:cNvPr>
          <p:cNvSpPr txBox="1"/>
          <p:nvPr/>
        </p:nvSpPr>
        <p:spPr>
          <a:xfrm>
            <a:off x="395536" y="701271"/>
            <a:ext cx="3227310"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s-ES_tradnl" b="1" dirty="0">
                <a:sym typeface="Wingdings" panose="05000000000000000000" pitchFamily="2" charset="2"/>
              </a:rPr>
              <a:t>Cálculo del valor del almacén</a:t>
            </a:r>
            <a:endParaRPr lang="es-ES_tradnl" b="1" dirty="0"/>
          </a:p>
        </p:txBody>
      </p:sp>
      <p:sp>
        <p:nvSpPr>
          <p:cNvPr id="13" name="12 CuadroTexto">
            <a:extLst>
              <a:ext uri="{FF2B5EF4-FFF2-40B4-BE49-F238E27FC236}">
                <a16:creationId xmlns:a16="http://schemas.microsoft.com/office/drawing/2014/main" id="{301D667F-23DC-4FE6-9F4E-DA8DCA512699}"/>
              </a:ext>
            </a:extLst>
          </p:cNvPr>
          <p:cNvSpPr txBox="1"/>
          <p:nvPr/>
        </p:nvSpPr>
        <p:spPr>
          <a:xfrm>
            <a:off x="302839" y="1102234"/>
            <a:ext cx="8229600" cy="1200329"/>
          </a:xfrm>
          <a:prstGeom prst="rect">
            <a:avLst/>
          </a:prstGeom>
          <a:noFill/>
        </p:spPr>
        <p:txBody>
          <a:bodyPr wrap="square" rtlCol="0">
            <a:spAutoFit/>
          </a:bodyPr>
          <a:lstStyle/>
          <a:p>
            <a:pPr algn="just">
              <a:spcAft>
                <a:spcPts val="600"/>
              </a:spcAft>
            </a:pPr>
            <a:r>
              <a:rPr lang="es-ES_tradnl" dirty="0"/>
              <a:t>Para calcular el valor de un almacén que tiene existencias con diferentes precios, existen varios métodos para el cálculo de las existencias que una empresa tiene en el almacén, pero especialmente destacan: el FIFO (</a:t>
            </a:r>
            <a:r>
              <a:rPr lang="es-ES_tradnl" dirty="0" err="1"/>
              <a:t>First</a:t>
            </a:r>
            <a:r>
              <a:rPr lang="es-ES_tradnl" dirty="0"/>
              <a:t> In, </a:t>
            </a:r>
            <a:r>
              <a:rPr lang="es-ES_tradnl" dirty="0" err="1"/>
              <a:t>First</a:t>
            </a:r>
            <a:r>
              <a:rPr lang="es-ES_tradnl" dirty="0"/>
              <a:t> </a:t>
            </a:r>
            <a:r>
              <a:rPr lang="es-ES_tradnl" dirty="0" err="1"/>
              <a:t>Out</a:t>
            </a:r>
            <a:r>
              <a:rPr lang="es-ES_tradnl" dirty="0"/>
              <a:t>) y el PMP (Precio Medio Ponderado).</a:t>
            </a:r>
          </a:p>
        </p:txBody>
      </p:sp>
      <p:sp>
        <p:nvSpPr>
          <p:cNvPr id="14" name="11 CuadroTexto">
            <a:extLst>
              <a:ext uri="{FF2B5EF4-FFF2-40B4-BE49-F238E27FC236}">
                <a16:creationId xmlns:a16="http://schemas.microsoft.com/office/drawing/2014/main" id="{FA7752B6-242E-458D-89B5-10490117055E}"/>
              </a:ext>
            </a:extLst>
          </p:cNvPr>
          <p:cNvSpPr txBox="1"/>
          <p:nvPr/>
        </p:nvSpPr>
        <p:spPr>
          <a:xfrm>
            <a:off x="387495" y="2771195"/>
            <a:ext cx="4032448" cy="160364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es-ES_tradnl" b="1" u="sng" dirty="0"/>
              <a:t>FIFO</a:t>
            </a:r>
            <a:r>
              <a:rPr lang="es-ES_tradnl" u="sng" dirty="0"/>
              <a:t>:</a:t>
            </a:r>
          </a:p>
          <a:p>
            <a:pPr algn="just">
              <a:lnSpc>
                <a:spcPct val="150000"/>
              </a:lnSpc>
            </a:pPr>
            <a:r>
              <a:rPr lang="es-ES_tradnl" b="1" dirty="0"/>
              <a:t>Las primeras </a:t>
            </a:r>
            <a:r>
              <a:rPr lang="es-ES_tradnl" dirty="0"/>
              <a:t>existencias que entran en el almacén son las primeras que debemos </a:t>
            </a:r>
            <a:r>
              <a:rPr lang="es-ES_tradnl" b="1" dirty="0"/>
              <a:t>sacar</a:t>
            </a:r>
            <a:r>
              <a:rPr lang="es-ES_tradnl" dirty="0"/>
              <a:t> cuando se realicen una venta</a:t>
            </a:r>
            <a:r>
              <a:rPr lang="es-ES_tradnl" sz="1600" dirty="0"/>
              <a:t>.</a:t>
            </a:r>
          </a:p>
        </p:txBody>
      </p:sp>
      <mc:AlternateContent xmlns:mc="http://schemas.openxmlformats.org/markup-compatibility/2006" xmlns:a14="http://schemas.microsoft.com/office/drawing/2010/main">
        <mc:Choice Requires="a14">
          <p:sp>
            <p:nvSpPr>
              <p:cNvPr id="15" name="11 CuadroTexto">
                <a:extLst>
                  <a:ext uri="{FF2B5EF4-FFF2-40B4-BE49-F238E27FC236}">
                    <a16:creationId xmlns:a16="http://schemas.microsoft.com/office/drawing/2014/main" id="{2A39FC6C-D434-4ADB-AAE5-5F1372D5C22E}"/>
                  </a:ext>
                </a:extLst>
              </p:cNvPr>
              <p:cNvSpPr txBox="1"/>
              <p:nvPr/>
            </p:nvSpPr>
            <p:spPr>
              <a:xfrm>
                <a:off x="4572000" y="3573017"/>
                <a:ext cx="4174997" cy="2664296"/>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es-ES_tradnl" b="1" u="sng" dirty="0">
                    <a:latin typeface="Calibri" panose="020F0502020204030204" pitchFamily="34" charset="0"/>
                    <a:cs typeface="Calibri" panose="020F0502020204030204" pitchFamily="34" charset="0"/>
                  </a:rPr>
                  <a:t>PMP</a:t>
                </a:r>
                <a:r>
                  <a:rPr lang="es-ES_tradnl" u="sng" dirty="0">
                    <a:latin typeface="Calibri" panose="020F0502020204030204" pitchFamily="34" charset="0"/>
                    <a:cs typeface="Calibri" panose="020F0502020204030204" pitchFamily="34" charset="0"/>
                  </a:rPr>
                  <a:t>:</a:t>
                </a:r>
              </a:p>
              <a:p>
                <a:pPr algn="just">
                  <a:lnSpc>
                    <a:spcPct val="150000"/>
                  </a:lnSpc>
                </a:pPr>
                <a:r>
                  <a:rPr lang="es-ES_tradnl" dirty="0">
                    <a:latin typeface="Calibri" panose="020F0502020204030204" pitchFamily="34" charset="0"/>
                    <a:cs typeface="Calibri" panose="020F0502020204030204" pitchFamily="34" charset="0"/>
                  </a:rPr>
                  <a:t>Cada vez que entran o salen existencias del almacén debemos calcular el </a:t>
                </a:r>
                <a:r>
                  <a:rPr lang="es-ES_tradnl" b="1" dirty="0">
                    <a:latin typeface="Calibri" panose="020F0502020204030204" pitchFamily="34" charset="0"/>
                    <a:cs typeface="Calibri" panose="020F0502020204030204" pitchFamily="34" charset="0"/>
                  </a:rPr>
                  <a:t>precio medio</a:t>
                </a:r>
                <a:r>
                  <a:rPr lang="es-ES_tradnl" dirty="0">
                    <a:latin typeface="Calibri" panose="020F0502020204030204" pitchFamily="34" charset="0"/>
                    <a:cs typeface="Calibri" panose="020F0502020204030204" pitchFamily="34" charset="0"/>
                  </a:rPr>
                  <a:t> de las existencias que quedan. </a:t>
                </a:r>
              </a:p>
              <a:p>
                <a:pPr algn="just">
                  <a:lnSpc>
                    <a:spcPct val="150000"/>
                  </a:lnSpc>
                </a:pPr>
                <a:r>
                  <a:rPr lang="es-ES_tradnl" dirty="0">
                    <a:latin typeface="Calibri" panose="020F0502020204030204" pitchFamily="34" charset="0"/>
                    <a:cs typeface="Calibri" panose="020F0502020204030204" pitchFamily="34" charset="0"/>
                  </a:rPr>
                  <a:t>El PMP se calcula: </a:t>
                </a:r>
                <a14:m>
                  <m:oMath xmlns:m="http://schemas.openxmlformats.org/officeDocument/2006/math">
                    <m:f>
                      <m:fPr>
                        <m:ctrlPr>
                          <a:rPr lang="es-ES_tradnl" i="1" smtClean="0">
                            <a:latin typeface="Cambria Math" panose="02040503050406030204" pitchFamily="18" charset="0"/>
                          </a:rPr>
                        </m:ctrlPr>
                      </m:fPr>
                      <m:num>
                        <m:d>
                          <m:dPr>
                            <m:ctrlPr>
                              <a:rPr lang="es-ES" b="0" i="1" smtClean="0">
                                <a:latin typeface="Cambria Math" panose="02040503050406030204" pitchFamily="18" charset="0"/>
                              </a:rPr>
                            </m:ctrlPr>
                          </m:dPr>
                          <m:e>
                            <m:r>
                              <a:rPr lang="es-ES" b="0" i="1" smtClean="0">
                                <a:latin typeface="Cambria Math" panose="02040503050406030204" pitchFamily="18" charset="0"/>
                              </a:rPr>
                              <m:t>𝑄</m:t>
                            </m:r>
                            <m:r>
                              <a:rPr lang="es-ES" b="0" i="1" smtClean="0">
                                <a:latin typeface="Cambria Math" panose="02040503050406030204" pitchFamily="18" charset="0"/>
                              </a:rPr>
                              <m:t>1∗</m:t>
                            </m:r>
                            <m:r>
                              <a:rPr lang="es-ES" b="0" i="1" smtClean="0">
                                <a:latin typeface="Cambria Math" panose="02040503050406030204" pitchFamily="18" charset="0"/>
                              </a:rPr>
                              <m:t>𝑃</m:t>
                            </m:r>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𝑄</m:t>
                        </m:r>
                        <m:r>
                          <a:rPr lang="es-ES" b="0" i="1" smtClean="0">
                            <a:latin typeface="Cambria Math" panose="02040503050406030204" pitchFamily="18" charset="0"/>
                          </a:rPr>
                          <m:t>2∗</m:t>
                        </m:r>
                        <m:r>
                          <a:rPr lang="es-ES" b="0" i="1" smtClean="0">
                            <a:latin typeface="Cambria Math" panose="02040503050406030204" pitchFamily="18" charset="0"/>
                          </a:rPr>
                          <m:t>𝑃</m:t>
                        </m:r>
                        <m:r>
                          <a:rPr lang="es-ES" b="0" i="1" smtClean="0">
                            <a:latin typeface="Cambria Math" panose="02040503050406030204" pitchFamily="18" charset="0"/>
                          </a:rPr>
                          <m:t>2)</m:t>
                        </m:r>
                      </m:num>
                      <m:den>
                        <m:r>
                          <a:rPr lang="es-ES" b="0" i="1" smtClean="0">
                            <a:latin typeface="Cambria Math" panose="02040503050406030204" pitchFamily="18" charset="0"/>
                          </a:rPr>
                          <m:t>𝑄</m:t>
                        </m:r>
                        <m:r>
                          <a:rPr lang="es-ES" b="0" i="1" smtClean="0">
                            <a:latin typeface="Cambria Math" panose="02040503050406030204" pitchFamily="18" charset="0"/>
                          </a:rPr>
                          <m:t>1+</m:t>
                        </m:r>
                        <m:r>
                          <a:rPr lang="es-ES" b="0" i="1" smtClean="0">
                            <a:latin typeface="Cambria Math" panose="02040503050406030204" pitchFamily="18" charset="0"/>
                          </a:rPr>
                          <m:t>𝑄</m:t>
                        </m:r>
                        <m:r>
                          <a:rPr lang="es-ES" b="0" i="1" smtClean="0">
                            <a:latin typeface="Cambria Math" panose="02040503050406030204" pitchFamily="18" charset="0"/>
                          </a:rPr>
                          <m:t>2</m:t>
                        </m:r>
                      </m:den>
                    </m:f>
                  </m:oMath>
                </a14:m>
                <a:endParaRPr lang="es-ES_tradnl" dirty="0">
                  <a:latin typeface="Calibri" panose="020F0502020204030204" pitchFamily="34" charset="0"/>
                  <a:cs typeface="Calibri" panose="020F0502020204030204" pitchFamily="34" charset="0"/>
                </a:endParaRPr>
              </a:p>
              <a:p>
                <a:pPr algn="just">
                  <a:lnSpc>
                    <a:spcPct val="150000"/>
                  </a:lnSpc>
                </a:pPr>
                <a:endParaRPr lang="es-ES_tradnl" dirty="0"/>
              </a:p>
            </p:txBody>
          </p:sp>
        </mc:Choice>
        <mc:Fallback xmlns="">
          <p:sp>
            <p:nvSpPr>
              <p:cNvPr id="15" name="11 CuadroTexto">
                <a:extLst>
                  <a:ext uri="{FF2B5EF4-FFF2-40B4-BE49-F238E27FC236}">
                    <a16:creationId xmlns:a16="http://schemas.microsoft.com/office/drawing/2014/main" id="{2A39FC6C-D434-4ADB-AAE5-5F1372D5C22E}"/>
                  </a:ext>
                </a:extLst>
              </p:cNvPr>
              <p:cNvSpPr txBox="1">
                <a:spLocks noRot="1" noChangeAspect="1" noMove="1" noResize="1" noEditPoints="1" noAdjustHandles="1" noChangeArrowheads="1" noChangeShapeType="1" noTextEdit="1"/>
              </p:cNvSpPr>
              <p:nvPr/>
            </p:nvSpPr>
            <p:spPr>
              <a:xfrm>
                <a:off x="4572000" y="3573017"/>
                <a:ext cx="4174997" cy="2664296"/>
              </a:xfrm>
              <a:prstGeom prst="rect">
                <a:avLst/>
              </a:prstGeom>
              <a:blipFill>
                <a:blip r:embed="rId2"/>
                <a:stretch>
                  <a:fillRect l="-1212" t="-948" r="-909"/>
                </a:stretch>
              </a:blipFill>
            </p:spPr>
            <p:txBody>
              <a:bodyPr/>
              <a:lstStyle/>
              <a:p>
                <a:r>
                  <a:rPr lang="es-ES_tradnl">
                    <a:noFill/>
                  </a:rPr>
                  <a:t> </a:t>
                </a:r>
              </a:p>
            </p:txBody>
          </p:sp>
        </mc:Fallback>
      </mc:AlternateContent>
    </p:spTree>
    <p:extLst>
      <p:ext uri="{BB962C8B-B14F-4D97-AF65-F5344CB8AC3E}">
        <p14:creationId xmlns:p14="http://schemas.microsoft.com/office/powerpoint/2010/main" val="3064393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513F61C9-A415-42C1-BF86-1B76422E8AD1}"/>
              </a:ext>
            </a:extLst>
          </p:cNvPr>
          <p:cNvSpPr txBox="1"/>
          <p:nvPr/>
        </p:nvSpPr>
        <p:spPr>
          <a:xfrm>
            <a:off x="452347" y="1135059"/>
            <a:ext cx="8023282" cy="1000274"/>
          </a:xfrm>
          <a:prstGeom prst="rect">
            <a:avLst/>
          </a:prstGeom>
          <a:noFill/>
        </p:spPr>
        <p:txBody>
          <a:bodyPr wrap="square">
            <a:spAutoFit/>
          </a:bodyPr>
          <a:lstStyle/>
          <a:p>
            <a:pPr algn="just">
              <a:spcAft>
                <a:spcPts val="600"/>
              </a:spcAft>
            </a:pPr>
            <a:r>
              <a:rPr lang="es-ES" sz="1800" b="1" u="sng" dirty="0">
                <a:effectLst/>
                <a:latin typeface="Calibri" panose="020F0502020204030204" pitchFamily="34" charset="0"/>
                <a:ea typeface="SimSun" panose="02010600030101010101" pitchFamily="2" charset="-122"/>
                <a:cs typeface="Arial" panose="020B0604020202020204" pitchFamily="34" charset="0"/>
              </a:rPr>
              <a:t>EJEMPLO:</a:t>
            </a:r>
          </a:p>
          <a:p>
            <a:pPr algn="just">
              <a:spcAft>
                <a:spcPts val="600"/>
              </a:spcAft>
            </a:pPr>
            <a:r>
              <a:rPr lang="es-ES" sz="1800" dirty="0">
                <a:effectLst/>
                <a:latin typeface="Calibri" panose="020F0502020204030204" pitchFamily="34" charset="0"/>
                <a:ea typeface="SimSun" panose="02010600030101010101" pitchFamily="2" charset="-122"/>
                <a:cs typeface="Arial" panose="020B0604020202020204" pitchFamily="34" charset="0"/>
              </a:rPr>
              <a:t>Analiza a través de los métodos PMP y FIFO, el movimiento del artículo: </a:t>
            </a:r>
            <a:r>
              <a:rPr lang="es-ES" dirty="0">
                <a:latin typeface="Calibri" panose="020F0502020204030204" pitchFamily="34" charset="0"/>
                <a:ea typeface="SimSun" panose="02010600030101010101" pitchFamily="2" charset="-122"/>
                <a:cs typeface="Arial" panose="020B0604020202020204" pitchFamily="34" charset="0"/>
              </a:rPr>
              <a:t>s</a:t>
            </a:r>
            <a:r>
              <a:rPr lang="es-ES" sz="1800" dirty="0">
                <a:effectLst/>
                <a:latin typeface="Calibri" panose="020F0502020204030204" pitchFamily="34" charset="0"/>
                <a:ea typeface="SimSun" panose="02010600030101010101" pitchFamily="2" charset="-122"/>
                <a:cs typeface="Arial" panose="020B0604020202020204" pitchFamily="34" charset="0"/>
              </a:rPr>
              <a:t>illa “Caribe” durante el mes de mayo del año 2025. </a:t>
            </a:r>
            <a:endParaRPr lang="es-ES" sz="1800" dirty="0">
              <a:effectLst/>
              <a:latin typeface="Liberation Serif"/>
              <a:ea typeface="SimSun" panose="02010600030101010101" pitchFamily="2" charset="-122"/>
              <a:cs typeface="Arial" panose="020B0604020202020204" pitchFamily="34" charset="0"/>
            </a:endParaRPr>
          </a:p>
        </p:txBody>
      </p:sp>
      <p:graphicFrame>
        <p:nvGraphicFramePr>
          <p:cNvPr id="16" name="Tabla 15">
            <a:extLst>
              <a:ext uri="{FF2B5EF4-FFF2-40B4-BE49-F238E27FC236}">
                <a16:creationId xmlns:a16="http://schemas.microsoft.com/office/drawing/2014/main" id="{5472C5D7-3E71-4E9A-90AB-CF9312A12102}"/>
              </a:ext>
            </a:extLst>
          </p:cNvPr>
          <p:cNvGraphicFramePr>
            <a:graphicFrameLocks noGrp="1"/>
          </p:cNvGraphicFramePr>
          <p:nvPr>
            <p:extLst>
              <p:ext uri="{D42A27DB-BD31-4B8C-83A1-F6EECF244321}">
                <p14:modId xmlns:p14="http://schemas.microsoft.com/office/powerpoint/2010/main" val="3098195214"/>
              </p:ext>
            </p:extLst>
          </p:nvPr>
        </p:nvGraphicFramePr>
        <p:xfrm>
          <a:off x="1403648" y="2420888"/>
          <a:ext cx="6120680" cy="3312365"/>
        </p:xfrm>
        <a:graphic>
          <a:graphicData uri="http://schemas.openxmlformats.org/drawingml/2006/table">
            <a:tbl>
              <a:tblPr firstRow="1" firstCol="1" bandRow="1">
                <a:tableStyleId>{BC89EF96-8CEA-46FF-86C4-4CE0E7609802}</a:tableStyleId>
              </a:tblPr>
              <a:tblGrid>
                <a:gridCol w="903451">
                  <a:extLst>
                    <a:ext uri="{9D8B030D-6E8A-4147-A177-3AD203B41FA5}">
                      <a16:colId xmlns:a16="http://schemas.microsoft.com/office/drawing/2014/main" val="1988286844"/>
                    </a:ext>
                  </a:extLst>
                </a:gridCol>
                <a:gridCol w="2545582">
                  <a:extLst>
                    <a:ext uri="{9D8B030D-6E8A-4147-A177-3AD203B41FA5}">
                      <a16:colId xmlns:a16="http://schemas.microsoft.com/office/drawing/2014/main" val="535218164"/>
                    </a:ext>
                  </a:extLst>
                </a:gridCol>
                <a:gridCol w="1411020">
                  <a:extLst>
                    <a:ext uri="{9D8B030D-6E8A-4147-A177-3AD203B41FA5}">
                      <a16:colId xmlns:a16="http://schemas.microsoft.com/office/drawing/2014/main" val="3100636156"/>
                    </a:ext>
                  </a:extLst>
                </a:gridCol>
                <a:gridCol w="1260627">
                  <a:extLst>
                    <a:ext uri="{9D8B030D-6E8A-4147-A177-3AD203B41FA5}">
                      <a16:colId xmlns:a16="http://schemas.microsoft.com/office/drawing/2014/main" val="2576571673"/>
                    </a:ext>
                  </a:extLst>
                </a:gridCol>
              </a:tblGrid>
              <a:tr h="473195">
                <a:tc>
                  <a:txBody>
                    <a:bodyPr/>
                    <a:lstStyle/>
                    <a:p>
                      <a:pPr algn="ctr"/>
                      <a:r>
                        <a:rPr lang="es-ES" sz="2000" dirty="0">
                          <a:effectLst/>
                        </a:rPr>
                        <a:t>Día</a:t>
                      </a:r>
                      <a:endParaRPr lang="es-ES" sz="2000" dirty="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dirty="0">
                          <a:effectLst/>
                        </a:rPr>
                        <a:t>Concepto</a:t>
                      </a:r>
                      <a:endParaRPr lang="es-ES" sz="2000" dirty="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a:effectLst/>
                        </a:rPr>
                        <a:t>Cantidad</a:t>
                      </a:r>
                      <a:endParaRPr lang="es-ES" sz="200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dirty="0">
                          <a:effectLst/>
                        </a:rPr>
                        <a:t>Importe</a:t>
                      </a:r>
                      <a:endParaRPr lang="es-ES" sz="2000" dirty="0">
                        <a:effectLst/>
                        <a:latin typeface="Liberation Serif"/>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136808517"/>
                  </a:ext>
                </a:extLst>
              </a:tr>
              <a:tr h="473195">
                <a:tc>
                  <a:txBody>
                    <a:bodyPr/>
                    <a:lstStyle/>
                    <a:p>
                      <a:pPr algn="ctr"/>
                      <a:r>
                        <a:rPr lang="es-ES" sz="2000">
                          <a:effectLst/>
                        </a:rPr>
                        <a:t>1</a:t>
                      </a:r>
                      <a:endParaRPr lang="es-ES" sz="200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dirty="0">
                          <a:effectLst/>
                        </a:rPr>
                        <a:t>Existencias iniciales</a:t>
                      </a:r>
                      <a:endParaRPr lang="es-ES" sz="2000" dirty="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a:effectLst/>
                        </a:rPr>
                        <a:t>100</a:t>
                      </a:r>
                      <a:endParaRPr lang="es-ES" sz="200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a:effectLst/>
                        </a:rPr>
                        <a:t>100</a:t>
                      </a:r>
                      <a:endParaRPr lang="es-ES" sz="2000">
                        <a:effectLst/>
                        <a:latin typeface="Liberation Serif"/>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4094641698"/>
                  </a:ext>
                </a:extLst>
              </a:tr>
              <a:tr h="473195">
                <a:tc>
                  <a:txBody>
                    <a:bodyPr/>
                    <a:lstStyle/>
                    <a:p>
                      <a:pPr algn="ctr"/>
                      <a:r>
                        <a:rPr lang="es-ES" sz="2000">
                          <a:effectLst/>
                        </a:rPr>
                        <a:t>8</a:t>
                      </a:r>
                      <a:endParaRPr lang="es-ES" sz="200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a:effectLst/>
                        </a:rPr>
                        <a:t>Compra</a:t>
                      </a:r>
                      <a:endParaRPr lang="es-ES" sz="200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dirty="0">
                          <a:effectLst/>
                        </a:rPr>
                        <a:t>200</a:t>
                      </a:r>
                      <a:endParaRPr lang="es-ES" sz="2000" dirty="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a:effectLst/>
                        </a:rPr>
                        <a:t>98</a:t>
                      </a:r>
                      <a:endParaRPr lang="es-ES" sz="2000">
                        <a:effectLst/>
                        <a:latin typeface="Liberation Serif"/>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4054946344"/>
                  </a:ext>
                </a:extLst>
              </a:tr>
              <a:tr h="473195">
                <a:tc>
                  <a:txBody>
                    <a:bodyPr/>
                    <a:lstStyle/>
                    <a:p>
                      <a:pPr algn="ctr"/>
                      <a:r>
                        <a:rPr lang="es-ES" sz="2000">
                          <a:effectLst/>
                        </a:rPr>
                        <a:t>14</a:t>
                      </a:r>
                      <a:endParaRPr lang="es-ES" sz="200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a:effectLst/>
                        </a:rPr>
                        <a:t>Vende</a:t>
                      </a:r>
                      <a:endParaRPr lang="es-ES" sz="200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dirty="0">
                          <a:effectLst/>
                        </a:rPr>
                        <a:t>100</a:t>
                      </a:r>
                      <a:endParaRPr lang="es-ES" sz="2000" dirty="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a:effectLst/>
                        </a:rPr>
                        <a:t>--</a:t>
                      </a:r>
                      <a:endParaRPr lang="es-ES" sz="2000">
                        <a:effectLst/>
                        <a:latin typeface="Liberation Serif"/>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793203947"/>
                  </a:ext>
                </a:extLst>
              </a:tr>
              <a:tr h="473195">
                <a:tc>
                  <a:txBody>
                    <a:bodyPr/>
                    <a:lstStyle/>
                    <a:p>
                      <a:pPr algn="ctr"/>
                      <a:r>
                        <a:rPr lang="es-ES" sz="2000">
                          <a:effectLst/>
                        </a:rPr>
                        <a:t>18</a:t>
                      </a:r>
                      <a:endParaRPr lang="es-ES" sz="200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dirty="0">
                          <a:effectLst/>
                        </a:rPr>
                        <a:t>Compra</a:t>
                      </a:r>
                      <a:endParaRPr lang="es-ES" sz="2000" dirty="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dirty="0">
                          <a:effectLst/>
                        </a:rPr>
                        <a:t>250</a:t>
                      </a:r>
                      <a:endParaRPr lang="es-ES" sz="2000" dirty="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dirty="0">
                          <a:effectLst/>
                        </a:rPr>
                        <a:t>100</a:t>
                      </a:r>
                      <a:endParaRPr lang="es-ES" sz="2000" dirty="0">
                        <a:effectLst/>
                        <a:latin typeface="Liberation Serif"/>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129552531"/>
                  </a:ext>
                </a:extLst>
              </a:tr>
              <a:tr h="473195">
                <a:tc>
                  <a:txBody>
                    <a:bodyPr/>
                    <a:lstStyle/>
                    <a:p>
                      <a:pPr algn="ctr"/>
                      <a:r>
                        <a:rPr lang="es-ES" sz="2000">
                          <a:effectLst/>
                        </a:rPr>
                        <a:t>24</a:t>
                      </a:r>
                      <a:endParaRPr lang="es-ES" sz="200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a:effectLst/>
                        </a:rPr>
                        <a:t>Vende</a:t>
                      </a:r>
                      <a:endParaRPr lang="es-ES" sz="200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dirty="0">
                          <a:effectLst/>
                        </a:rPr>
                        <a:t>50</a:t>
                      </a:r>
                      <a:endParaRPr lang="es-ES" sz="2000" dirty="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dirty="0">
                          <a:effectLst/>
                        </a:rPr>
                        <a:t>---</a:t>
                      </a:r>
                      <a:endParaRPr lang="es-ES" sz="2000" dirty="0">
                        <a:effectLst/>
                        <a:latin typeface="Liberation Serif"/>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942518463"/>
                  </a:ext>
                </a:extLst>
              </a:tr>
              <a:tr h="473195">
                <a:tc>
                  <a:txBody>
                    <a:bodyPr/>
                    <a:lstStyle/>
                    <a:p>
                      <a:pPr algn="ctr"/>
                      <a:r>
                        <a:rPr lang="es-ES" sz="2000">
                          <a:effectLst/>
                        </a:rPr>
                        <a:t>26</a:t>
                      </a:r>
                      <a:endParaRPr lang="es-ES" sz="200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dirty="0">
                          <a:effectLst/>
                        </a:rPr>
                        <a:t>Vende</a:t>
                      </a:r>
                      <a:endParaRPr lang="es-ES" sz="2000" dirty="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a:effectLst/>
                        </a:rPr>
                        <a:t>250</a:t>
                      </a:r>
                      <a:endParaRPr lang="es-ES" sz="2000">
                        <a:effectLst/>
                        <a:latin typeface="Liberation Serif"/>
                        <a:ea typeface="SimSun" panose="02010600030101010101" pitchFamily="2" charset="-122"/>
                        <a:cs typeface="Arial" panose="020B0604020202020204" pitchFamily="34" charset="0"/>
                      </a:endParaRPr>
                    </a:p>
                  </a:txBody>
                  <a:tcPr marL="68580" marR="68580" marT="0" marB="0"/>
                </a:tc>
                <a:tc>
                  <a:txBody>
                    <a:bodyPr/>
                    <a:lstStyle/>
                    <a:p>
                      <a:pPr algn="ctr"/>
                      <a:r>
                        <a:rPr lang="es-ES" sz="2000" dirty="0">
                          <a:effectLst/>
                        </a:rPr>
                        <a:t>---</a:t>
                      </a:r>
                      <a:endParaRPr lang="es-ES" sz="2000" dirty="0">
                        <a:effectLst/>
                        <a:latin typeface="Liberation Serif"/>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394556471"/>
                  </a:ext>
                </a:extLst>
              </a:tr>
            </a:tbl>
          </a:graphicData>
        </a:graphic>
      </p:graphicFrame>
    </p:spTree>
    <p:extLst>
      <p:ext uri="{BB962C8B-B14F-4D97-AF65-F5344CB8AC3E}">
        <p14:creationId xmlns:p14="http://schemas.microsoft.com/office/powerpoint/2010/main" val="2750940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8">
            <a:extLst>
              <a:ext uri="{FF2B5EF4-FFF2-40B4-BE49-F238E27FC236}">
                <a16:creationId xmlns:a16="http://schemas.microsoft.com/office/drawing/2014/main" id="{5A9042A1-8594-45F1-9CB3-F7CAC80B4337}"/>
              </a:ext>
            </a:extLst>
          </p:cNvPr>
          <p:cNvPicPr>
            <a:picLocks noChangeAspect="1"/>
          </p:cNvPicPr>
          <p:nvPr/>
        </p:nvPicPr>
        <p:blipFill>
          <a:blip r:embed="rId2"/>
          <a:stretch>
            <a:fillRect/>
          </a:stretch>
        </p:blipFill>
        <p:spPr>
          <a:xfrm>
            <a:off x="535817" y="724631"/>
            <a:ext cx="7819405" cy="2423509"/>
          </a:xfrm>
          <a:prstGeom prst="rect">
            <a:avLst/>
          </a:prstGeom>
        </p:spPr>
      </p:pic>
      <p:sp>
        <p:nvSpPr>
          <p:cNvPr id="2" name="1 Rectángulo"/>
          <p:cNvSpPr/>
          <p:nvPr/>
        </p:nvSpPr>
        <p:spPr>
          <a:xfrm>
            <a:off x="323528" y="260648"/>
            <a:ext cx="5598368" cy="369332"/>
          </a:xfrm>
          <a:prstGeom prst="rect">
            <a:avLst/>
          </a:prstGeom>
        </p:spPr>
        <p:txBody>
          <a:bodyPr wrap="square">
            <a:spAutoFit/>
          </a:bodyPr>
          <a:lstStyle/>
          <a:p>
            <a:pPr algn="just"/>
            <a:r>
              <a:rPr lang="es-ES" b="1" dirty="0">
                <a:ea typeface="SimSun" panose="02010600030101010101" pitchFamily="2" charset="-122"/>
                <a:cs typeface="Arial" panose="020B0604020202020204" pitchFamily="34" charset="0"/>
              </a:rPr>
              <a:t>FICHA DE ALMACÉN:  Silla “Caribe”. Método: F.I.F.O</a:t>
            </a:r>
            <a:endParaRPr lang="es-ES" dirty="0">
              <a:ea typeface="SimSun" panose="02010600030101010101" pitchFamily="2" charset="-122"/>
              <a:cs typeface="Arial" panose="020B0604020202020204" pitchFamily="34" charset="0"/>
            </a:endParaRPr>
          </a:p>
        </p:txBody>
      </p:sp>
      <p:sp>
        <p:nvSpPr>
          <p:cNvPr id="4" name="CuadroTexto 3">
            <a:extLst>
              <a:ext uri="{FF2B5EF4-FFF2-40B4-BE49-F238E27FC236}">
                <a16:creationId xmlns:a16="http://schemas.microsoft.com/office/drawing/2014/main" id="{08B9D450-6C0C-57D5-14D0-CE65DBFA1492}"/>
              </a:ext>
            </a:extLst>
          </p:cNvPr>
          <p:cNvSpPr txBox="1"/>
          <p:nvPr/>
        </p:nvSpPr>
        <p:spPr>
          <a:xfrm>
            <a:off x="251520" y="3372464"/>
            <a:ext cx="5267365" cy="369332"/>
          </a:xfrm>
          <a:prstGeom prst="rect">
            <a:avLst/>
          </a:prstGeom>
          <a:noFill/>
        </p:spPr>
        <p:txBody>
          <a:bodyPr wrap="square">
            <a:spAutoFit/>
          </a:bodyPr>
          <a:lstStyle/>
          <a:p>
            <a:pPr algn="just"/>
            <a:r>
              <a:rPr lang="es-ES" sz="1800" b="1" dirty="0">
                <a:effectLst/>
                <a:ea typeface="SimSun" panose="02010600030101010101" pitchFamily="2" charset="-122"/>
                <a:cs typeface="Arial" panose="020B0604020202020204" pitchFamily="34" charset="0"/>
              </a:rPr>
              <a:t>FICHA DE ALMACÉN:  Silla “Caribe”. Método: P.M.P</a:t>
            </a:r>
            <a:endParaRPr lang="es-ES" sz="1800" dirty="0">
              <a:effectLst/>
              <a:ea typeface="SimSun" panose="02010600030101010101" pitchFamily="2" charset="-122"/>
              <a:cs typeface="Arial" panose="020B0604020202020204" pitchFamily="34" charset="0"/>
            </a:endParaRPr>
          </a:p>
        </p:txBody>
      </p:sp>
      <p:pic>
        <p:nvPicPr>
          <p:cNvPr id="5" name="Imagen 4">
            <a:extLst>
              <a:ext uri="{FF2B5EF4-FFF2-40B4-BE49-F238E27FC236}">
                <a16:creationId xmlns:a16="http://schemas.microsoft.com/office/drawing/2014/main" id="{C2331671-8609-E31B-1B8C-5408BC4C343F}"/>
              </a:ext>
            </a:extLst>
          </p:cNvPr>
          <p:cNvPicPr>
            <a:picLocks noChangeAspect="1"/>
          </p:cNvPicPr>
          <p:nvPr/>
        </p:nvPicPr>
        <p:blipFill>
          <a:blip r:embed="rId3"/>
          <a:stretch>
            <a:fillRect/>
          </a:stretch>
        </p:blipFill>
        <p:spPr>
          <a:xfrm>
            <a:off x="251520" y="3762647"/>
            <a:ext cx="8388000" cy="2085885"/>
          </a:xfrm>
          <a:prstGeom prst="rect">
            <a:avLst/>
          </a:prstGeom>
        </p:spPr>
      </p:pic>
      <mc:AlternateContent xmlns:mc="http://schemas.openxmlformats.org/markup-compatibility/2006" xmlns:a14="http://schemas.microsoft.com/office/drawing/2010/main">
        <mc:Choice Requires="a14">
          <p:sp>
            <p:nvSpPr>
              <p:cNvPr id="8" name="1 Rectángulo">
                <a:extLst>
                  <a:ext uri="{FF2B5EF4-FFF2-40B4-BE49-F238E27FC236}">
                    <a16:creationId xmlns:a16="http://schemas.microsoft.com/office/drawing/2014/main" id="{69A40551-611B-CC45-CD58-3A4DEA7BF8BA}"/>
                  </a:ext>
                </a:extLst>
              </p:cNvPr>
              <p:cNvSpPr/>
              <p:nvPr/>
            </p:nvSpPr>
            <p:spPr>
              <a:xfrm>
                <a:off x="2771800" y="5848532"/>
                <a:ext cx="3796515" cy="538096"/>
              </a:xfrm>
              <a:prstGeom prst="rect">
                <a:avLst/>
              </a:prstGeom>
            </p:spPr>
            <p:txBody>
              <a:bodyPr wrap="square">
                <a:spAutoFit/>
              </a:bodyPr>
              <a:lstStyle/>
              <a:p>
                <a:pPr algn="just"/>
                <a:r>
                  <a:rPr lang="es-ES" dirty="0">
                    <a:ea typeface="SimSun" panose="02010600030101010101" pitchFamily="2" charset="-122"/>
                    <a:cs typeface="Arial" panose="020B0604020202020204" pitchFamily="34" charset="0"/>
                  </a:rPr>
                  <a:t>*Precio: </a:t>
                </a:r>
                <a14:m>
                  <m:oMath xmlns:m="http://schemas.openxmlformats.org/officeDocument/2006/math">
                    <m:f>
                      <m:fPr>
                        <m:ctrlPr>
                          <a:rPr lang="es-ES" i="1" smtClean="0">
                            <a:latin typeface="Cambria Math" panose="02040503050406030204" pitchFamily="18" charset="0"/>
                            <a:ea typeface="SimSun" panose="02010600030101010101" pitchFamily="2" charset="-122"/>
                            <a:cs typeface="Arial" panose="020B0604020202020204" pitchFamily="34" charset="0"/>
                          </a:rPr>
                        </m:ctrlPr>
                      </m:fPr>
                      <m:num>
                        <m:r>
                          <m:rPr>
                            <m:nor/>
                          </m:rPr>
                          <a:rPr lang="es-ES" dirty="0">
                            <a:ea typeface="SimSun" panose="02010600030101010101" pitchFamily="2" charset="-122"/>
                            <a:cs typeface="Arial" panose="020B0604020202020204" pitchFamily="34" charset="0"/>
                          </a:rPr>
                          <m:t>(100∗100)+(200∗98)</m:t>
                        </m:r>
                      </m:num>
                      <m:den>
                        <m:r>
                          <a:rPr lang="es-ES" b="0" i="1" smtClean="0">
                            <a:latin typeface="Cambria Math" panose="02040503050406030204" pitchFamily="18" charset="0"/>
                            <a:ea typeface="SimSun" panose="02010600030101010101" pitchFamily="2" charset="-122"/>
                            <a:cs typeface="Arial" panose="020B0604020202020204" pitchFamily="34" charset="0"/>
                          </a:rPr>
                          <m:t>100+200</m:t>
                        </m:r>
                      </m:den>
                    </m:f>
                  </m:oMath>
                </a14:m>
                <a:r>
                  <a:rPr lang="es-ES" dirty="0">
                    <a:ea typeface="SimSun" panose="02010600030101010101" pitchFamily="2" charset="-122"/>
                    <a:cs typeface="Arial" panose="020B0604020202020204" pitchFamily="34" charset="0"/>
                  </a:rPr>
                  <a:t> = 98,66€</a:t>
                </a:r>
              </a:p>
            </p:txBody>
          </p:sp>
        </mc:Choice>
        <mc:Fallback xmlns="">
          <p:sp>
            <p:nvSpPr>
              <p:cNvPr id="8" name="1 Rectángulo">
                <a:extLst>
                  <a:ext uri="{FF2B5EF4-FFF2-40B4-BE49-F238E27FC236}">
                    <a16:creationId xmlns:a16="http://schemas.microsoft.com/office/drawing/2014/main" id="{69A40551-611B-CC45-CD58-3A4DEA7BF8BA}"/>
                  </a:ext>
                </a:extLst>
              </p:cNvPr>
              <p:cNvSpPr>
                <a:spLocks noRot="1" noChangeAspect="1" noMove="1" noResize="1" noEditPoints="1" noAdjustHandles="1" noChangeArrowheads="1" noChangeShapeType="1" noTextEdit="1"/>
              </p:cNvSpPr>
              <p:nvPr/>
            </p:nvSpPr>
            <p:spPr>
              <a:xfrm>
                <a:off x="2771800" y="5848532"/>
                <a:ext cx="3796515" cy="538096"/>
              </a:xfrm>
              <a:prstGeom prst="rect">
                <a:avLst/>
              </a:prstGeom>
              <a:blipFill>
                <a:blip r:embed="rId5"/>
                <a:stretch>
                  <a:fillRect l="-1447" b="-5618"/>
                </a:stretch>
              </a:blipFill>
            </p:spPr>
            <p:txBody>
              <a:bodyPr/>
              <a:lstStyle/>
              <a:p>
                <a:r>
                  <a:rPr lang="es-ES">
                    <a:noFill/>
                  </a:rPr>
                  <a:t> </a:t>
                </a:r>
              </a:p>
            </p:txBody>
          </p:sp>
        </mc:Fallback>
      </mc:AlternateContent>
    </p:spTree>
    <p:extLst>
      <p:ext uri="{BB962C8B-B14F-4D97-AF65-F5344CB8AC3E}">
        <p14:creationId xmlns:p14="http://schemas.microsoft.com/office/powerpoint/2010/main" val="3706228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48 Rectángulo">
            <a:extLst>
              <a:ext uri="{FF2B5EF4-FFF2-40B4-BE49-F238E27FC236}">
                <a16:creationId xmlns:a16="http://schemas.microsoft.com/office/drawing/2014/main" id="{1DB0A4C1-8E6F-4713-85FC-B86AEA9BDFE7}"/>
              </a:ext>
            </a:extLst>
          </p:cNvPr>
          <p:cNvSpPr/>
          <p:nvPr/>
        </p:nvSpPr>
        <p:spPr>
          <a:xfrm>
            <a:off x="467544" y="773784"/>
            <a:ext cx="7971558" cy="64633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just"/>
            <a:r>
              <a:rPr lang="es-ES_tradnl" dirty="0">
                <a:solidFill>
                  <a:prstClr val="black"/>
                </a:solidFill>
                <a:sym typeface="Wingdings" pitchFamily="2" charset="2"/>
              </a:rPr>
              <a:t>La gestión de inventarios es una de las bazas estratégicas de las empresas. Toyota y Zara deben parte de su éxito a su gestión y control de inventarios. </a:t>
            </a:r>
          </a:p>
        </p:txBody>
      </p:sp>
      <p:pic>
        <p:nvPicPr>
          <p:cNvPr id="14" name="Imagen 13">
            <a:hlinkClick r:id="rId2"/>
            <a:extLst>
              <a:ext uri="{FF2B5EF4-FFF2-40B4-BE49-F238E27FC236}">
                <a16:creationId xmlns:a16="http://schemas.microsoft.com/office/drawing/2014/main" id="{F5CEC6D5-CD63-43B4-88C9-3754CF1A3E8A}"/>
              </a:ext>
            </a:extLst>
          </p:cNvPr>
          <p:cNvPicPr>
            <a:picLocks noChangeAspect="1"/>
          </p:cNvPicPr>
          <p:nvPr/>
        </p:nvPicPr>
        <p:blipFill>
          <a:blip r:embed="rId3"/>
          <a:stretch>
            <a:fillRect/>
          </a:stretch>
        </p:blipFill>
        <p:spPr>
          <a:xfrm>
            <a:off x="5508104" y="1394207"/>
            <a:ext cx="1838325" cy="1104900"/>
          </a:xfrm>
          <a:prstGeom prst="rect">
            <a:avLst/>
          </a:prstGeom>
        </p:spPr>
      </p:pic>
      <p:sp>
        <p:nvSpPr>
          <p:cNvPr id="16" name="35 Rectángulo">
            <a:extLst>
              <a:ext uri="{FF2B5EF4-FFF2-40B4-BE49-F238E27FC236}">
                <a16:creationId xmlns:a16="http://schemas.microsoft.com/office/drawing/2014/main" id="{016B48FB-6ADF-4C6D-9639-7E3470C813A5}"/>
              </a:ext>
            </a:extLst>
          </p:cNvPr>
          <p:cNvSpPr/>
          <p:nvPr/>
        </p:nvSpPr>
        <p:spPr>
          <a:xfrm>
            <a:off x="4139952" y="2499107"/>
            <a:ext cx="4752528" cy="2308324"/>
          </a:xfrm>
          <a:prstGeom prst="rect">
            <a:avLst/>
          </a:prstGeom>
          <a:ln>
            <a:solidFill>
              <a:srgbClr val="92D050"/>
            </a:solidFill>
          </a:ln>
        </p:spPr>
        <p:txBody>
          <a:bodyPr wrap="square">
            <a:spAutoFit/>
          </a:bodyPr>
          <a:lstStyle/>
          <a:p>
            <a:pPr algn="ctr"/>
            <a:r>
              <a:rPr lang="es-ES_tradnl" sz="1600" b="1" dirty="0">
                <a:solidFill>
                  <a:prstClr val="black"/>
                </a:solidFill>
                <a:sym typeface="Wingdings" pitchFamily="2" charset="2"/>
              </a:rPr>
              <a:t>Logística y JIT:</a:t>
            </a:r>
          </a:p>
          <a:p>
            <a:pPr marL="342900" indent="-342900" algn="just">
              <a:buFont typeface="Arial" panose="020B0604020202020204" pitchFamily="34" charset="0"/>
              <a:buChar char="•"/>
            </a:pPr>
            <a:r>
              <a:rPr lang="es-ES_tradnl" sz="1600" dirty="0">
                <a:solidFill>
                  <a:prstClr val="black"/>
                </a:solidFill>
                <a:sym typeface="Wingdings" pitchFamily="2" charset="2"/>
              </a:rPr>
              <a:t>La ropa se diseña y fabrica en Arteixo.</a:t>
            </a:r>
          </a:p>
          <a:p>
            <a:pPr marL="342900" indent="-342900" algn="just">
              <a:buFont typeface="Arial" panose="020B0604020202020204" pitchFamily="34" charset="0"/>
              <a:buChar char="•"/>
            </a:pPr>
            <a:r>
              <a:rPr lang="es-ES_tradnl" sz="1600" dirty="0">
                <a:solidFill>
                  <a:prstClr val="black"/>
                </a:solidFill>
                <a:sym typeface="Wingdings" pitchFamily="2" charset="2"/>
              </a:rPr>
              <a:t>Se distribuye 2 veces por semana.</a:t>
            </a:r>
          </a:p>
          <a:p>
            <a:pPr marL="342900" indent="-342900" algn="just">
              <a:buFont typeface="Arial" panose="020B0604020202020204" pitchFamily="34" charset="0"/>
              <a:buChar char="•"/>
            </a:pPr>
            <a:r>
              <a:rPr lang="es-ES_tradnl" sz="1600" dirty="0">
                <a:solidFill>
                  <a:prstClr val="black"/>
                </a:solidFill>
                <a:sym typeface="Wingdings" pitchFamily="2" charset="2"/>
              </a:rPr>
              <a:t>La ropa se coloca en los expositores, para venderse rápidamente. </a:t>
            </a:r>
          </a:p>
          <a:p>
            <a:pPr marL="342900" indent="-342900" algn="just">
              <a:buFont typeface="Arial" panose="020B0604020202020204" pitchFamily="34" charset="0"/>
              <a:buChar char="•"/>
            </a:pPr>
            <a:r>
              <a:rPr lang="es-ES_tradnl" sz="1600" dirty="0">
                <a:solidFill>
                  <a:prstClr val="black"/>
                </a:solidFill>
                <a:sym typeface="Wingdings" pitchFamily="2" charset="2"/>
              </a:rPr>
              <a:t>Estrategia basada en la fugacidad y la rotación del producto. El ciclo completo, desde la compra hasta la venta, se realiza en 15 días, con plazo de producción mínimo. </a:t>
            </a:r>
          </a:p>
        </p:txBody>
      </p:sp>
      <p:pic>
        <p:nvPicPr>
          <p:cNvPr id="21" name="Imagen 20">
            <a:extLst>
              <a:ext uri="{FF2B5EF4-FFF2-40B4-BE49-F238E27FC236}">
                <a16:creationId xmlns:a16="http://schemas.microsoft.com/office/drawing/2014/main" id="{8FF2028B-F7DF-4A24-B1C5-7A296A4A90BC}"/>
              </a:ext>
            </a:extLst>
          </p:cNvPr>
          <p:cNvPicPr>
            <a:picLocks noChangeAspect="1"/>
          </p:cNvPicPr>
          <p:nvPr/>
        </p:nvPicPr>
        <p:blipFill>
          <a:blip r:embed="rId4"/>
          <a:stretch>
            <a:fillRect/>
          </a:stretch>
        </p:blipFill>
        <p:spPr>
          <a:xfrm>
            <a:off x="1691680" y="1452948"/>
            <a:ext cx="1465193" cy="1104900"/>
          </a:xfrm>
          <a:prstGeom prst="rect">
            <a:avLst/>
          </a:prstGeom>
        </p:spPr>
      </p:pic>
      <p:sp>
        <p:nvSpPr>
          <p:cNvPr id="24" name="35 Rectángulo">
            <a:extLst>
              <a:ext uri="{FF2B5EF4-FFF2-40B4-BE49-F238E27FC236}">
                <a16:creationId xmlns:a16="http://schemas.microsoft.com/office/drawing/2014/main" id="{F20772CC-D008-49DA-A0C7-A55C6CA9C7E2}"/>
              </a:ext>
            </a:extLst>
          </p:cNvPr>
          <p:cNvSpPr/>
          <p:nvPr/>
        </p:nvSpPr>
        <p:spPr>
          <a:xfrm>
            <a:off x="575555" y="2593702"/>
            <a:ext cx="3186057" cy="1077218"/>
          </a:xfrm>
          <a:prstGeom prst="rect">
            <a:avLst/>
          </a:prstGeom>
          <a:ln>
            <a:solidFill>
              <a:srgbClr val="92D050"/>
            </a:solidFill>
          </a:ln>
        </p:spPr>
        <p:txBody>
          <a:bodyPr wrap="square">
            <a:spAutoFit/>
          </a:bodyPr>
          <a:lstStyle/>
          <a:p>
            <a:pPr algn="just"/>
            <a:r>
              <a:rPr lang="es-ES_tradnl" sz="1600" b="1" dirty="0">
                <a:solidFill>
                  <a:prstClr val="black"/>
                </a:solidFill>
                <a:sym typeface="Wingdings" pitchFamily="2" charset="2"/>
              </a:rPr>
              <a:t>Just in Time,</a:t>
            </a:r>
            <a:r>
              <a:rPr lang="es-ES_tradnl" sz="1600" dirty="0">
                <a:solidFill>
                  <a:prstClr val="black"/>
                </a:solidFill>
                <a:sym typeface="Wingdings" pitchFamily="2" charset="2"/>
              </a:rPr>
              <a:t> se basa en:</a:t>
            </a:r>
          </a:p>
          <a:p>
            <a:pPr marL="342900" indent="-342900" algn="just">
              <a:buFont typeface="Arial" panose="020B0604020202020204" pitchFamily="34" charset="0"/>
              <a:buChar char="•"/>
            </a:pPr>
            <a:r>
              <a:rPr lang="es-ES_tradnl" sz="1600" dirty="0">
                <a:solidFill>
                  <a:prstClr val="black"/>
                </a:solidFill>
                <a:sym typeface="Wingdings" pitchFamily="2" charset="2"/>
              </a:rPr>
              <a:t>Calidad perfecta.</a:t>
            </a:r>
          </a:p>
          <a:p>
            <a:pPr marL="342900" indent="-342900" algn="just">
              <a:buFont typeface="Arial" panose="020B0604020202020204" pitchFamily="34" charset="0"/>
              <a:buChar char="•"/>
            </a:pPr>
            <a:r>
              <a:rPr lang="es-ES_tradnl" sz="1600" dirty="0">
                <a:solidFill>
                  <a:prstClr val="black"/>
                </a:solidFill>
                <a:sym typeface="Wingdings" pitchFamily="2" charset="2"/>
              </a:rPr>
              <a:t>Alta flexibilidad. </a:t>
            </a:r>
          </a:p>
          <a:p>
            <a:pPr marL="342900" indent="-342900" algn="just">
              <a:buFont typeface="Arial" panose="020B0604020202020204" pitchFamily="34" charset="0"/>
              <a:buChar char="•"/>
            </a:pPr>
            <a:r>
              <a:rPr lang="es-ES_tradnl" sz="1600" dirty="0">
                <a:solidFill>
                  <a:prstClr val="black"/>
                </a:solidFill>
                <a:sym typeface="Wingdings" pitchFamily="2" charset="2"/>
              </a:rPr>
              <a:t>Proveedores con sistema JIT.</a:t>
            </a:r>
          </a:p>
        </p:txBody>
      </p:sp>
      <p:sp>
        <p:nvSpPr>
          <p:cNvPr id="3" name="25 CuadroTexto">
            <a:extLst>
              <a:ext uri="{FF2B5EF4-FFF2-40B4-BE49-F238E27FC236}">
                <a16:creationId xmlns:a16="http://schemas.microsoft.com/office/drawing/2014/main" id="{4F1B2DA0-DA7C-CA1B-72B1-76D7C1DE2734}"/>
              </a:ext>
            </a:extLst>
          </p:cNvPr>
          <p:cNvSpPr txBox="1"/>
          <p:nvPr/>
        </p:nvSpPr>
        <p:spPr>
          <a:xfrm>
            <a:off x="467544" y="372608"/>
            <a:ext cx="3402081" cy="40011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s-ES_tradnl" sz="2000" b="1" dirty="0">
                <a:solidFill>
                  <a:schemeClr val="tx1"/>
                </a:solidFill>
              </a:rPr>
              <a:t>2.3. La gestión de inventarios</a:t>
            </a:r>
            <a:endParaRPr lang="es-ES" sz="2000" b="1" dirty="0">
              <a:solidFill>
                <a:schemeClr val="tx1"/>
              </a:solidFill>
            </a:endParaRPr>
          </a:p>
        </p:txBody>
      </p:sp>
      <p:pic>
        <p:nvPicPr>
          <p:cNvPr id="2" name="14 Imagen">
            <a:extLst>
              <a:ext uri="{FF2B5EF4-FFF2-40B4-BE49-F238E27FC236}">
                <a16:creationId xmlns:a16="http://schemas.microsoft.com/office/drawing/2014/main" id="{783D3E0E-4D06-6B41-EAB5-44263C73381F}"/>
              </a:ext>
            </a:extLst>
          </p:cNvPr>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rot="2666529">
            <a:off x="5180496" y="1666345"/>
            <a:ext cx="351794" cy="442037"/>
          </a:xfrm>
          <a:prstGeom prst="rect">
            <a:avLst/>
          </a:prstGeom>
        </p:spPr>
      </p:pic>
      <p:sp>
        <p:nvSpPr>
          <p:cNvPr id="5" name="CuadroTexto 4">
            <a:extLst>
              <a:ext uri="{FF2B5EF4-FFF2-40B4-BE49-F238E27FC236}">
                <a16:creationId xmlns:a16="http://schemas.microsoft.com/office/drawing/2014/main" id="{FA565367-9CBF-91FA-F6C4-FAB14375A154}"/>
              </a:ext>
            </a:extLst>
          </p:cNvPr>
          <p:cNvSpPr txBox="1"/>
          <p:nvPr/>
        </p:nvSpPr>
        <p:spPr>
          <a:xfrm>
            <a:off x="251520" y="4653136"/>
            <a:ext cx="8640960" cy="2031325"/>
          </a:xfrm>
          <a:prstGeom prst="rect">
            <a:avLst/>
          </a:prstGeom>
          <a:noFill/>
        </p:spPr>
        <p:txBody>
          <a:bodyPr wrap="square">
            <a:spAutoFit/>
          </a:bodyPr>
          <a:lstStyle/>
          <a:p>
            <a:pPr algn="just"/>
            <a:r>
              <a:rPr lang="es-ES_tradnl" dirty="0">
                <a:solidFill>
                  <a:prstClr val="black"/>
                </a:solidFill>
                <a:sym typeface="Wingdings" pitchFamily="2" charset="2"/>
              </a:rPr>
              <a:t>Se tratan 2 aspectos fundamentales:</a:t>
            </a:r>
          </a:p>
          <a:p>
            <a:pPr marL="285750" indent="-285750" algn="just">
              <a:buFont typeface="Arial" panose="020B0604020202020204" pitchFamily="34" charset="0"/>
              <a:buChar char="•"/>
            </a:pPr>
            <a:r>
              <a:rPr lang="es-ES_tradnl" dirty="0">
                <a:solidFill>
                  <a:prstClr val="black"/>
                </a:solidFill>
                <a:sym typeface="Wingdings" pitchFamily="2" charset="2"/>
              </a:rPr>
              <a:t>Qué cantidad de existencias hay que mantener en el almacén. </a:t>
            </a:r>
          </a:p>
          <a:p>
            <a:pPr marL="285750" indent="-285750" algn="just">
              <a:buFont typeface="Arial" panose="020B0604020202020204" pitchFamily="34" charset="0"/>
              <a:buChar char="•"/>
            </a:pPr>
            <a:r>
              <a:rPr lang="es-ES_tradnl" dirty="0">
                <a:solidFill>
                  <a:prstClr val="black"/>
                </a:solidFill>
                <a:sym typeface="Wingdings" pitchFamily="2" charset="2"/>
              </a:rPr>
              <a:t>Cuando es el momento de hacer pedidos y qué cantidad hay que pedir. </a:t>
            </a:r>
          </a:p>
          <a:p>
            <a:pPr algn="just"/>
            <a:r>
              <a:rPr lang="es-ES_tradnl" dirty="0">
                <a:solidFill>
                  <a:prstClr val="black"/>
                </a:solidFill>
                <a:sym typeface="Wingdings" pitchFamily="2" charset="2"/>
              </a:rPr>
              <a:t>Gracias a eso, la empresa puede evitar que se produzca la </a:t>
            </a:r>
            <a:r>
              <a:rPr lang="es-ES_tradnl" b="1" dirty="0">
                <a:solidFill>
                  <a:prstClr val="black"/>
                </a:solidFill>
                <a:sym typeface="Wingdings" pitchFamily="2" charset="2"/>
              </a:rPr>
              <a:t>rotura de stock</a:t>
            </a:r>
            <a:r>
              <a:rPr lang="es-ES_tradnl" dirty="0">
                <a:solidFill>
                  <a:prstClr val="black"/>
                </a:solidFill>
                <a:sym typeface="Wingdings" pitchFamily="2" charset="2"/>
              </a:rPr>
              <a:t>, es decir, que falten materiales para fabricar o que no se puede ofrecer el producto. </a:t>
            </a:r>
          </a:p>
          <a:p>
            <a:pPr algn="just"/>
            <a:r>
              <a:rPr lang="es-ES_tradnl" dirty="0">
                <a:solidFill>
                  <a:prstClr val="black"/>
                </a:solidFill>
                <a:sym typeface="Wingdings" pitchFamily="2" charset="2"/>
              </a:rPr>
              <a:t>Veremos los métodos más utilizados para la gestión de inventarios: stock de seguridad y pedidos bajo demanda.</a:t>
            </a:r>
            <a:endParaRPr lang="es-ES" dirty="0"/>
          </a:p>
        </p:txBody>
      </p:sp>
    </p:spTree>
    <p:extLst>
      <p:ext uri="{BB962C8B-B14F-4D97-AF65-F5344CB8AC3E}">
        <p14:creationId xmlns:p14="http://schemas.microsoft.com/office/powerpoint/2010/main" val="3788212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27 Proceso alternativo">
            <a:extLst>
              <a:ext uri="{FF2B5EF4-FFF2-40B4-BE49-F238E27FC236}">
                <a16:creationId xmlns:a16="http://schemas.microsoft.com/office/drawing/2014/main" id="{916C7473-B52F-487C-BF83-21B75292A527}"/>
              </a:ext>
            </a:extLst>
          </p:cNvPr>
          <p:cNvSpPr/>
          <p:nvPr/>
        </p:nvSpPr>
        <p:spPr>
          <a:xfrm>
            <a:off x="467544" y="548680"/>
            <a:ext cx="5954308" cy="400110"/>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es-ES_tradnl" b="1" dirty="0">
                <a:solidFill>
                  <a:schemeClr val="tx1"/>
                </a:solidFill>
              </a:rPr>
              <a:t>A. Gestión de pedidos manteniendo un </a:t>
            </a:r>
            <a:r>
              <a:rPr lang="es-ES_tradnl" b="1" u="sng" dirty="0">
                <a:solidFill>
                  <a:schemeClr val="tx1"/>
                </a:solidFill>
              </a:rPr>
              <a:t>stock de seguridad</a:t>
            </a:r>
            <a:endParaRPr lang="es-ES" b="1" u="sng" dirty="0">
              <a:solidFill>
                <a:schemeClr val="tx1"/>
              </a:solidFill>
            </a:endParaRPr>
          </a:p>
        </p:txBody>
      </p:sp>
      <p:sp>
        <p:nvSpPr>
          <p:cNvPr id="34" name="45 Rectángulo">
            <a:extLst>
              <a:ext uri="{FF2B5EF4-FFF2-40B4-BE49-F238E27FC236}">
                <a16:creationId xmlns:a16="http://schemas.microsoft.com/office/drawing/2014/main" id="{F3021B95-9744-4A34-8A61-F3B63066FAE6}"/>
              </a:ext>
            </a:extLst>
          </p:cNvPr>
          <p:cNvSpPr/>
          <p:nvPr/>
        </p:nvSpPr>
        <p:spPr>
          <a:xfrm>
            <a:off x="471581" y="937911"/>
            <a:ext cx="8286273" cy="206210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just"/>
            <a:r>
              <a:rPr lang="es-ES_tradnl" sz="1600" b="1" dirty="0">
                <a:solidFill>
                  <a:prstClr val="black"/>
                </a:solidFill>
                <a:sym typeface="Wingdings" pitchFamily="2" charset="2"/>
              </a:rPr>
              <a:t>Mantener un stock mínimo de existencias en el almacén para imprevistos y la rotura de stock. </a:t>
            </a:r>
            <a:r>
              <a:rPr lang="es-ES_tradnl" sz="1600" dirty="0">
                <a:solidFill>
                  <a:prstClr val="black"/>
                </a:solidFill>
                <a:sym typeface="Wingdings" pitchFamily="2" charset="2"/>
              </a:rPr>
              <a:t>Hay que saber cuando es el momento de hacer pedido. Si se ajusta este momento, se reducen los costes de almacén. Hay </a:t>
            </a:r>
            <a:r>
              <a:rPr lang="es-ES_tradnl" sz="1600" b="1" dirty="0">
                <a:solidFill>
                  <a:prstClr val="black"/>
                </a:solidFill>
                <a:sym typeface="Wingdings" pitchFamily="2" charset="2"/>
              </a:rPr>
              <a:t>3 conceptos:</a:t>
            </a:r>
          </a:p>
          <a:p>
            <a:pPr marL="742950" lvl="1" indent="-285750" algn="just">
              <a:buFont typeface="Arial" charset="0"/>
              <a:buChar char="•"/>
            </a:pPr>
            <a:r>
              <a:rPr lang="es-ES_tradnl" sz="1600" b="1" dirty="0">
                <a:solidFill>
                  <a:prstClr val="black"/>
                </a:solidFill>
                <a:sym typeface="Wingdings" pitchFamily="2" charset="2"/>
              </a:rPr>
              <a:t>Stock de seguridad: </a:t>
            </a:r>
            <a:r>
              <a:rPr lang="es-ES_tradnl" sz="1600" dirty="0">
                <a:solidFill>
                  <a:prstClr val="black"/>
                </a:solidFill>
                <a:sym typeface="Wingdings" pitchFamily="2" charset="2"/>
              </a:rPr>
              <a:t>existencias mínimas en el almacén para hacer frente a imprevistos</a:t>
            </a:r>
          </a:p>
          <a:p>
            <a:pPr marL="742950" lvl="1" indent="-285750" algn="just">
              <a:buFont typeface="Arial" charset="0"/>
              <a:buChar char="•"/>
            </a:pPr>
            <a:r>
              <a:rPr lang="es-ES_tradnl" sz="1600" b="1" dirty="0">
                <a:solidFill>
                  <a:prstClr val="black"/>
                </a:solidFill>
                <a:sym typeface="Wingdings" pitchFamily="2" charset="2"/>
              </a:rPr>
              <a:t>Punto de pedido: </a:t>
            </a:r>
            <a:r>
              <a:rPr lang="es-ES" sz="1600" dirty="0"/>
              <a:t>nivel de stock que indica </a:t>
            </a:r>
            <a:r>
              <a:rPr lang="es-ES" sz="1600" b="1" dirty="0"/>
              <a:t>cuándo se debe realizar un nuevo pedido</a:t>
            </a:r>
            <a:r>
              <a:rPr lang="es-ES" sz="1600" dirty="0"/>
              <a:t> de un artículo en particular. Se calcula considerando el nivel de inventario actual, la demanda del artículo y el tiempo que se tarda en recibir un nuevo pedido. </a:t>
            </a:r>
          </a:p>
          <a:p>
            <a:pPr marL="742950" lvl="1" indent="-285750" algn="just">
              <a:buFont typeface="Arial" charset="0"/>
              <a:buChar char="•"/>
            </a:pPr>
            <a:r>
              <a:rPr lang="es-ES_tradnl" sz="1600" b="1" dirty="0">
                <a:solidFill>
                  <a:prstClr val="black"/>
                </a:solidFill>
                <a:sym typeface="Wingdings" pitchFamily="2" charset="2"/>
              </a:rPr>
              <a:t>Stock máximo: </a:t>
            </a:r>
            <a:r>
              <a:rPr lang="es-ES_tradnl" sz="1600" dirty="0">
                <a:solidFill>
                  <a:prstClr val="black"/>
                </a:solidFill>
                <a:sym typeface="Wingdings" pitchFamily="2" charset="2"/>
              </a:rPr>
              <a:t>nivel máximo de stock. Considera tanto el espacio como los costes.</a:t>
            </a:r>
            <a:endParaRPr lang="es-ES" sz="1600" dirty="0"/>
          </a:p>
        </p:txBody>
      </p:sp>
      <p:sp>
        <p:nvSpPr>
          <p:cNvPr id="4" name="65 CuadroTexto">
            <a:extLst>
              <a:ext uri="{FF2B5EF4-FFF2-40B4-BE49-F238E27FC236}">
                <a16:creationId xmlns:a16="http://schemas.microsoft.com/office/drawing/2014/main" id="{EF0C9918-D7A8-BBED-491D-1936E4B4FBE2}"/>
              </a:ext>
            </a:extLst>
          </p:cNvPr>
          <p:cNvSpPr txBox="1"/>
          <p:nvPr/>
        </p:nvSpPr>
        <p:spPr>
          <a:xfrm>
            <a:off x="467544" y="3378396"/>
            <a:ext cx="8299700" cy="338554"/>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es-ES_tradnl" sz="1600" b="1" dirty="0"/>
              <a:t>Punto de pedido = </a:t>
            </a:r>
            <a:r>
              <a:rPr lang="es-ES_tradnl" sz="1600" dirty="0"/>
              <a:t>(consumo diario x nº de días que tarda el proveedor) + stock de seguridad</a:t>
            </a:r>
            <a:endParaRPr lang="es-ES" sz="1600" dirty="0"/>
          </a:p>
        </p:txBody>
      </p:sp>
      <p:pic>
        <p:nvPicPr>
          <p:cNvPr id="5" name="Imagen 4">
            <a:extLst>
              <a:ext uri="{FF2B5EF4-FFF2-40B4-BE49-F238E27FC236}">
                <a16:creationId xmlns:a16="http://schemas.microsoft.com/office/drawing/2014/main" id="{511675A2-7270-B3A1-7337-4E14E832C524}"/>
              </a:ext>
            </a:extLst>
          </p:cNvPr>
          <p:cNvPicPr>
            <a:picLocks noChangeAspect="1"/>
          </p:cNvPicPr>
          <p:nvPr/>
        </p:nvPicPr>
        <p:blipFill rotWithShape="1">
          <a:blip r:embed="rId2"/>
          <a:srcRect l="34250" t="33201" r="11807" b="23400"/>
          <a:stretch/>
        </p:blipFill>
        <p:spPr>
          <a:xfrm>
            <a:off x="1391833" y="3861048"/>
            <a:ext cx="6360333" cy="2878399"/>
          </a:xfrm>
          <a:prstGeom prst="rect">
            <a:avLst/>
          </a:prstGeom>
        </p:spPr>
      </p:pic>
      <p:sp>
        <p:nvSpPr>
          <p:cNvPr id="11" name="Flecha curva 7">
            <a:extLst>
              <a:ext uri="{FF2B5EF4-FFF2-40B4-BE49-F238E27FC236}">
                <a16:creationId xmlns:a16="http://schemas.microsoft.com/office/drawing/2014/main" id="{CBD6DF91-BDAE-C95C-A269-DCB2DB0B7ECB}"/>
              </a:ext>
            </a:extLst>
          </p:cNvPr>
          <p:cNvSpPr/>
          <p:nvPr/>
        </p:nvSpPr>
        <p:spPr>
          <a:xfrm>
            <a:off x="251520" y="1920816"/>
            <a:ext cx="657462" cy="1796134"/>
          </a:xfrm>
          <a:prstGeom prst="bentArrow">
            <a:avLst>
              <a:gd name="adj1" fmla="val 25000"/>
              <a:gd name="adj2" fmla="val 25000"/>
              <a:gd name="adj3" fmla="val 25000"/>
              <a:gd name="adj4" fmla="val 46824"/>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solidFill>
                <a:schemeClr val="tx1"/>
              </a:solidFill>
            </a:endParaRPr>
          </a:p>
        </p:txBody>
      </p:sp>
    </p:spTree>
    <p:extLst>
      <p:ext uri="{BB962C8B-B14F-4D97-AF65-F5344CB8AC3E}">
        <p14:creationId xmlns:p14="http://schemas.microsoft.com/office/powerpoint/2010/main" val="3678111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65 CuadroTexto">
            <a:extLst>
              <a:ext uri="{FF2B5EF4-FFF2-40B4-BE49-F238E27FC236}">
                <a16:creationId xmlns:a16="http://schemas.microsoft.com/office/drawing/2014/main" id="{5A1AADE4-9AE2-4046-AAA6-E9960F512C6D}"/>
              </a:ext>
            </a:extLst>
          </p:cNvPr>
          <p:cNvSpPr txBox="1"/>
          <p:nvPr/>
        </p:nvSpPr>
        <p:spPr>
          <a:xfrm>
            <a:off x="575556" y="574372"/>
            <a:ext cx="7992887" cy="5866350"/>
          </a:xfrm>
          <a:prstGeom prst="rect">
            <a:avLst/>
          </a:prstGeom>
          <a:noFill/>
        </p:spPr>
        <p:txBody>
          <a:bodyPr wrap="square" rtlCol="0">
            <a:spAutoFit/>
          </a:bodyPr>
          <a:lstStyle/>
          <a:p>
            <a:pPr algn="just">
              <a:lnSpc>
                <a:spcPct val="150000"/>
              </a:lnSpc>
            </a:pPr>
            <a:r>
              <a:rPr lang="es-ES_tradnl" b="1" u="sng" dirty="0"/>
              <a:t>EJEMPLO:</a:t>
            </a:r>
          </a:p>
          <a:p>
            <a:pPr algn="just">
              <a:lnSpc>
                <a:spcPct val="150000"/>
              </a:lnSpc>
            </a:pPr>
            <a:r>
              <a:rPr lang="es-ES_tradnl" dirty="0"/>
              <a:t>Una empresa fabrica 10 muebles al día para lo que necesita 20 tablas de madera de roble al día. La empresa fija un stock de seguridad de 40 tablas para imprevistos, aumentos de demanda o retrasos del proveedor.</a:t>
            </a:r>
          </a:p>
          <a:p>
            <a:pPr algn="just">
              <a:lnSpc>
                <a:spcPct val="150000"/>
              </a:lnSpc>
            </a:pPr>
            <a:r>
              <a:rPr lang="es-ES_tradnl" dirty="0"/>
              <a:t>El tiempo que tarda en el proveedor en abastecer de tablas de roble es de 2 días. El pedido suele ser de 120 tablas.</a:t>
            </a:r>
          </a:p>
          <a:p>
            <a:pPr algn="just">
              <a:lnSpc>
                <a:spcPct val="150000"/>
              </a:lnSpc>
            </a:pPr>
            <a:endParaRPr lang="es-ES_tradnl" b="1" dirty="0"/>
          </a:p>
          <a:p>
            <a:pPr algn="just">
              <a:lnSpc>
                <a:spcPct val="150000"/>
              </a:lnSpc>
            </a:pPr>
            <a:r>
              <a:rPr lang="es-ES_tradnl" b="1" dirty="0"/>
              <a:t>¿Cuándo debe realizar el pedido?</a:t>
            </a:r>
          </a:p>
          <a:p>
            <a:pPr algn="just">
              <a:lnSpc>
                <a:spcPct val="150000"/>
              </a:lnSpc>
            </a:pPr>
            <a:r>
              <a:rPr lang="es-ES_tradnl" dirty="0"/>
              <a:t>Cómo van disminuyendo las existencias en almacén, el pedido habrá que realizarlo unos días antes de que llegue al stock de seguridad.</a:t>
            </a:r>
          </a:p>
          <a:p>
            <a:pPr algn="just">
              <a:lnSpc>
                <a:spcPct val="150000"/>
              </a:lnSpc>
            </a:pPr>
            <a:endParaRPr lang="es-ES_tradnl" dirty="0"/>
          </a:p>
          <a:p>
            <a:pPr algn="just">
              <a:lnSpc>
                <a:spcPct val="150000"/>
              </a:lnSpc>
            </a:pPr>
            <a:r>
              <a:rPr lang="es-ES_tradnl" b="1" dirty="0"/>
              <a:t>Punto de pedido = </a:t>
            </a:r>
            <a:r>
              <a:rPr lang="es-ES_tradnl" dirty="0"/>
              <a:t>(20 tablas/día x 2 días tarda el proveedor) + 40 tablas stock de seguridad = 40 + 40 = 80 tablas</a:t>
            </a:r>
          </a:p>
          <a:p>
            <a:pPr algn="just">
              <a:lnSpc>
                <a:spcPct val="150000"/>
              </a:lnSpc>
            </a:pPr>
            <a:r>
              <a:rPr lang="es-ES_tradnl" dirty="0"/>
              <a:t>La empresa tiene que hacer pedido cuando vea que su stock está en 80 tablas.</a:t>
            </a:r>
            <a:endParaRPr lang="es-ES" dirty="0"/>
          </a:p>
        </p:txBody>
      </p:sp>
    </p:spTree>
    <p:extLst>
      <p:ext uri="{BB962C8B-B14F-4D97-AF65-F5344CB8AC3E}">
        <p14:creationId xmlns:p14="http://schemas.microsoft.com/office/powerpoint/2010/main" val="371080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24 Proceso alternativo">
            <a:extLst>
              <a:ext uri="{FF2B5EF4-FFF2-40B4-BE49-F238E27FC236}">
                <a16:creationId xmlns:a16="http://schemas.microsoft.com/office/drawing/2014/main" id="{0CFB5AFE-0B6C-4991-9EC2-5F6919D93760}"/>
              </a:ext>
            </a:extLst>
          </p:cNvPr>
          <p:cNvSpPr/>
          <p:nvPr/>
        </p:nvSpPr>
        <p:spPr>
          <a:xfrm>
            <a:off x="622065" y="602010"/>
            <a:ext cx="5954308" cy="400111"/>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es-ES_tradnl" b="1" dirty="0"/>
              <a:t>B. Gestión de pedidos bajo demanda</a:t>
            </a:r>
            <a:endParaRPr lang="es-ES" b="1" dirty="0"/>
          </a:p>
        </p:txBody>
      </p:sp>
      <p:sp>
        <p:nvSpPr>
          <p:cNvPr id="36" name="25 Rectángulo">
            <a:extLst>
              <a:ext uri="{FF2B5EF4-FFF2-40B4-BE49-F238E27FC236}">
                <a16:creationId xmlns:a16="http://schemas.microsoft.com/office/drawing/2014/main" id="{D55CF25A-43BB-48AF-9FCE-60B9C3E4B4F7}"/>
              </a:ext>
            </a:extLst>
          </p:cNvPr>
          <p:cNvSpPr/>
          <p:nvPr/>
        </p:nvSpPr>
        <p:spPr>
          <a:xfrm>
            <a:off x="622065" y="1052736"/>
            <a:ext cx="8273506" cy="1754326"/>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marL="285750" indent="-285750" algn="just">
              <a:buFont typeface="Arial" charset="0"/>
              <a:buChar char="•"/>
            </a:pPr>
            <a:r>
              <a:rPr lang="es-ES_tradnl" dirty="0">
                <a:solidFill>
                  <a:prstClr val="black"/>
                </a:solidFill>
                <a:sym typeface="Wingdings" pitchFamily="2" charset="2"/>
              </a:rPr>
              <a:t>El </a:t>
            </a:r>
            <a:r>
              <a:rPr lang="es-ES_tradnl" b="1" dirty="0">
                <a:solidFill>
                  <a:prstClr val="black"/>
                </a:solidFill>
                <a:sym typeface="Wingdings" pitchFamily="2" charset="2"/>
              </a:rPr>
              <a:t>almacén no debe existir </a:t>
            </a:r>
            <a:r>
              <a:rPr lang="es-ES_tradnl" dirty="0">
                <a:solidFill>
                  <a:prstClr val="black"/>
                </a:solidFill>
                <a:sym typeface="Wingdings" pitchFamily="2" charset="2"/>
              </a:rPr>
              <a:t>o debe ser lo más pequeño posible, ya que los costes de almacén son muy elevados. Solo se realizará el pedido cuando hay demanda por parte de los clientes y así este pedido no pasa por el almacén, si se trata de una fábrica, se procederá a su fabricación. </a:t>
            </a:r>
          </a:p>
          <a:p>
            <a:pPr marL="285750" indent="-285750" algn="just">
              <a:buFont typeface="Arial" charset="0"/>
              <a:buChar char="•"/>
            </a:pPr>
            <a:r>
              <a:rPr lang="es-ES_tradnl" dirty="0">
                <a:solidFill>
                  <a:prstClr val="black"/>
                </a:solidFill>
                <a:sym typeface="Wingdings" pitchFamily="2" charset="2"/>
              </a:rPr>
              <a:t>Los costes de almacén son elevados ya que implican: alquileres, seguros, gastos de personal, de instalaciones, de mantenimiento, etc. </a:t>
            </a:r>
          </a:p>
        </p:txBody>
      </p:sp>
      <p:pic>
        <p:nvPicPr>
          <p:cNvPr id="1026" name="Picture 2" descr="Cuáles son las estrategias básicas del sistema JIT?">
            <a:extLst>
              <a:ext uri="{FF2B5EF4-FFF2-40B4-BE49-F238E27FC236}">
                <a16:creationId xmlns:a16="http://schemas.microsoft.com/office/drawing/2014/main" id="{A2E850B0-2DDC-BEA0-8E68-AF03254D3D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8464" y="3082135"/>
            <a:ext cx="4700598" cy="3133732"/>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A4090658-90F2-BB08-20C9-6841C15A0C03}"/>
              </a:ext>
            </a:extLst>
          </p:cNvPr>
          <p:cNvSpPr txBox="1"/>
          <p:nvPr/>
        </p:nvSpPr>
        <p:spPr>
          <a:xfrm>
            <a:off x="217328" y="2879286"/>
            <a:ext cx="3901052" cy="3539430"/>
          </a:xfrm>
          <a:prstGeom prst="rect">
            <a:avLst/>
          </a:prstGeom>
          <a:noFill/>
        </p:spPr>
        <p:txBody>
          <a:bodyPr wrap="square">
            <a:spAutoFit/>
          </a:bodyPr>
          <a:lstStyle/>
          <a:p>
            <a:pPr algn="just"/>
            <a:r>
              <a:rPr lang="es-ES_tradnl" sz="1600" dirty="0">
                <a:solidFill>
                  <a:prstClr val="black"/>
                </a:solidFill>
                <a:sym typeface="Wingdings" pitchFamily="2" charset="2"/>
              </a:rPr>
              <a:t>Este modelo se basa en el </a:t>
            </a:r>
            <a:r>
              <a:rPr lang="es-ES_tradnl" sz="1600" b="1" dirty="0">
                <a:solidFill>
                  <a:prstClr val="black"/>
                </a:solidFill>
                <a:sym typeface="Wingdings" pitchFamily="2" charset="2"/>
              </a:rPr>
              <a:t>sistema J.I.T (Just in time)</a:t>
            </a:r>
            <a:r>
              <a:rPr lang="es-ES_tradnl" sz="1600" dirty="0">
                <a:solidFill>
                  <a:prstClr val="black"/>
                </a:solidFill>
                <a:sym typeface="Wingdings" pitchFamily="2" charset="2"/>
              </a:rPr>
              <a:t> desarrollado por Toyota y por el cual la fabricación es justo a tiempo y con el material exacto y necesario. Evitando despilfarros y que exista stock de seguridad. Condiciones para trabajar con el sistema JIT: </a:t>
            </a:r>
          </a:p>
          <a:p>
            <a:pPr marL="285750" indent="-285750" algn="just">
              <a:buFont typeface="Wingdings" pitchFamily="2" charset="2"/>
              <a:buChar char="ü"/>
            </a:pPr>
            <a:r>
              <a:rPr lang="es-ES_tradnl" sz="1600" b="1" dirty="0">
                <a:solidFill>
                  <a:prstClr val="black"/>
                </a:solidFill>
                <a:sym typeface="Wingdings" pitchFamily="2" charset="2"/>
              </a:rPr>
              <a:t>Calidad perfecta: </a:t>
            </a:r>
            <a:r>
              <a:rPr lang="es-ES_tradnl" sz="1600" dirty="0">
                <a:solidFill>
                  <a:prstClr val="black"/>
                </a:solidFill>
                <a:sym typeface="Wingdings" pitchFamily="2" charset="2"/>
              </a:rPr>
              <a:t>no puede haber fallos al no existir stock de seguridad.</a:t>
            </a:r>
          </a:p>
          <a:p>
            <a:pPr marL="285750" indent="-285750" algn="just">
              <a:buFont typeface="Wingdings" pitchFamily="2" charset="2"/>
              <a:buChar char="ü"/>
            </a:pPr>
            <a:r>
              <a:rPr lang="es-ES_tradnl" sz="1600" b="1" dirty="0">
                <a:solidFill>
                  <a:prstClr val="black"/>
                </a:solidFill>
                <a:sym typeface="Wingdings" pitchFamily="2" charset="2"/>
              </a:rPr>
              <a:t>Alta flexibilidad: </a:t>
            </a:r>
            <a:r>
              <a:rPr lang="es-ES_tradnl" sz="1600" dirty="0">
                <a:solidFill>
                  <a:prstClr val="black"/>
                </a:solidFill>
                <a:sym typeface="Wingdings" pitchFamily="2" charset="2"/>
              </a:rPr>
              <a:t>adaptarse de forma rápida al mercado, tanto trabajadores como máquinas.</a:t>
            </a:r>
          </a:p>
          <a:p>
            <a:pPr marL="285750" indent="-285750" algn="just">
              <a:buFont typeface="Wingdings" pitchFamily="2" charset="2"/>
              <a:buChar char="ü"/>
            </a:pPr>
            <a:r>
              <a:rPr lang="es-ES_tradnl" sz="1600" b="1" dirty="0">
                <a:solidFill>
                  <a:prstClr val="black"/>
                </a:solidFill>
                <a:sym typeface="Wingdings" pitchFamily="2" charset="2"/>
              </a:rPr>
              <a:t>Proveedores con el sistema JIT integrado:</a:t>
            </a:r>
            <a:r>
              <a:rPr lang="es-ES_tradnl" sz="1600" dirty="0">
                <a:solidFill>
                  <a:prstClr val="black"/>
                </a:solidFill>
                <a:sym typeface="Wingdings" pitchFamily="2" charset="2"/>
              </a:rPr>
              <a:t> los materiales deben ser suministrados justo a tiempo.</a:t>
            </a:r>
            <a:endParaRPr lang="es-ES" sz="1600" dirty="0"/>
          </a:p>
        </p:txBody>
      </p:sp>
    </p:spTree>
    <p:extLst>
      <p:ext uri="{BB962C8B-B14F-4D97-AF65-F5344CB8AC3E}">
        <p14:creationId xmlns:p14="http://schemas.microsoft.com/office/powerpoint/2010/main" val="4000537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1 Título"/>
          <p:cNvSpPr txBox="1">
            <a:spLocks/>
          </p:cNvSpPr>
          <p:nvPr/>
        </p:nvSpPr>
        <p:spPr>
          <a:xfrm>
            <a:off x="107504" y="0"/>
            <a:ext cx="8229600" cy="691013"/>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b="1" dirty="0">
                <a:effectLst>
                  <a:outerShdw blurRad="38100" dist="38100" dir="2700000" algn="tl">
                    <a:srgbClr val="000000">
                      <a:alpha val="43137"/>
                    </a:srgbClr>
                  </a:outerShdw>
                </a:effectLst>
                <a:latin typeface="+mn-lt"/>
              </a:rPr>
              <a:t>3. El análisis de costes</a:t>
            </a:r>
          </a:p>
        </p:txBody>
      </p:sp>
      <p:sp>
        <p:nvSpPr>
          <p:cNvPr id="8" name="18 CuadroTexto">
            <a:extLst>
              <a:ext uri="{FF2B5EF4-FFF2-40B4-BE49-F238E27FC236}">
                <a16:creationId xmlns:a16="http://schemas.microsoft.com/office/drawing/2014/main" id="{A5DBDD89-105F-4C42-AEA7-E201608B6448}"/>
              </a:ext>
            </a:extLst>
          </p:cNvPr>
          <p:cNvSpPr txBox="1"/>
          <p:nvPr/>
        </p:nvSpPr>
        <p:spPr>
          <a:xfrm>
            <a:off x="373124" y="836712"/>
            <a:ext cx="8397751" cy="120032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just"/>
            <a:r>
              <a:rPr lang="es-ES_tradnl" dirty="0"/>
              <a:t>Para analizar los costes se pueden tener en cuenta muchas clasificaciones, pero la más útil para el emprendedor es la distinción entre </a:t>
            </a:r>
            <a:r>
              <a:rPr lang="es-ES_tradnl" b="1" dirty="0"/>
              <a:t>costes fijos </a:t>
            </a:r>
            <a:r>
              <a:rPr lang="es-ES_tradnl" dirty="0"/>
              <a:t>y </a:t>
            </a:r>
            <a:r>
              <a:rPr lang="es-ES_tradnl" b="1" dirty="0"/>
              <a:t>costes variables</a:t>
            </a:r>
            <a:r>
              <a:rPr lang="es-ES_tradnl" dirty="0"/>
              <a:t>, que será la base para realizar el estudio sobre los beneficios (o pérdidas) que tiene la empres y el mínimo que debe vender. </a:t>
            </a:r>
          </a:p>
        </p:txBody>
      </p:sp>
      <p:graphicFrame>
        <p:nvGraphicFramePr>
          <p:cNvPr id="9" name="1 Diagrama">
            <a:extLst>
              <a:ext uri="{FF2B5EF4-FFF2-40B4-BE49-F238E27FC236}">
                <a16:creationId xmlns:a16="http://schemas.microsoft.com/office/drawing/2014/main" id="{9D061895-85F0-4CB8-BA25-D105CA4D7F48}"/>
              </a:ext>
            </a:extLst>
          </p:cNvPr>
          <p:cNvGraphicFramePr/>
          <p:nvPr>
            <p:extLst>
              <p:ext uri="{D42A27DB-BD31-4B8C-83A1-F6EECF244321}">
                <p14:modId xmlns:p14="http://schemas.microsoft.com/office/powerpoint/2010/main" val="572792664"/>
              </p:ext>
            </p:extLst>
          </p:nvPr>
        </p:nvGraphicFramePr>
        <p:xfrm>
          <a:off x="217652" y="2182740"/>
          <a:ext cx="8397751" cy="37293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uadroTexto 2">
            <a:extLst>
              <a:ext uri="{FF2B5EF4-FFF2-40B4-BE49-F238E27FC236}">
                <a16:creationId xmlns:a16="http://schemas.microsoft.com/office/drawing/2014/main" id="{55C01C0B-D73C-2FF2-720F-7C4F459C065D}"/>
              </a:ext>
            </a:extLst>
          </p:cNvPr>
          <p:cNvSpPr txBox="1"/>
          <p:nvPr/>
        </p:nvSpPr>
        <p:spPr>
          <a:xfrm>
            <a:off x="361614" y="6021288"/>
            <a:ext cx="8253789" cy="646331"/>
          </a:xfrm>
          <a:prstGeom prst="rect">
            <a:avLst/>
          </a:prstGeom>
          <a:noFill/>
        </p:spPr>
        <p:txBody>
          <a:bodyPr wrap="square">
            <a:spAutoFit/>
          </a:bodyPr>
          <a:lstStyle/>
          <a:p>
            <a:pPr algn="ctr"/>
            <a:r>
              <a:rPr lang="es-ES_tradnl" dirty="0">
                <a:solidFill>
                  <a:srgbClr val="FF0000"/>
                </a:solidFill>
              </a:rPr>
              <a:t>Cada empresa deberá analizar qué considera un coste fijo y cuales son un coste variable.</a:t>
            </a:r>
            <a:endParaRPr lang="es-ES" dirty="0">
              <a:solidFill>
                <a:srgbClr val="FF0000"/>
              </a:solidFill>
            </a:endParaRPr>
          </a:p>
        </p:txBody>
      </p:sp>
    </p:spTree>
    <p:extLst>
      <p:ext uri="{BB962C8B-B14F-4D97-AF65-F5344CB8AC3E}">
        <p14:creationId xmlns:p14="http://schemas.microsoft.com/office/powerpoint/2010/main" val="570055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1 Diagrama">
            <a:extLst>
              <a:ext uri="{FF2B5EF4-FFF2-40B4-BE49-F238E27FC236}">
                <a16:creationId xmlns:a16="http://schemas.microsoft.com/office/drawing/2014/main" id="{62844F62-F112-4D5B-8C93-0BD30A6DD256}"/>
              </a:ext>
            </a:extLst>
          </p:cNvPr>
          <p:cNvGraphicFramePr/>
          <p:nvPr>
            <p:extLst>
              <p:ext uri="{D42A27DB-BD31-4B8C-83A1-F6EECF244321}">
                <p14:modId xmlns:p14="http://schemas.microsoft.com/office/powerpoint/2010/main" val="1974273467"/>
              </p:ext>
            </p:extLst>
          </p:nvPr>
        </p:nvGraphicFramePr>
        <p:xfrm>
          <a:off x="467544" y="1340768"/>
          <a:ext cx="815137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31904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12 Diagrama">
            <a:extLst>
              <a:ext uri="{FF2B5EF4-FFF2-40B4-BE49-F238E27FC236}">
                <a16:creationId xmlns:a16="http://schemas.microsoft.com/office/drawing/2014/main" id="{E4641DCA-ACA9-41A2-893F-9620097D2882}"/>
              </a:ext>
            </a:extLst>
          </p:cNvPr>
          <p:cNvGraphicFramePr/>
          <p:nvPr>
            <p:extLst>
              <p:ext uri="{D42A27DB-BD31-4B8C-83A1-F6EECF244321}">
                <p14:modId xmlns:p14="http://schemas.microsoft.com/office/powerpoint/2010/main" val="4036164344"/>
              </p:ext>
            </p:extLst>
          </p:nvPr>
        </p:nvGraphicFramePr>
        <p:xfrm>
          <a:off x="539552" y="1196752"/>
          <a:ext cx="815137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58191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53590-894B-6A6D-1493-0365D055207F}"/>
            </a:ext>
          </a:extLst>
        </p:cNvPr>
        <p:cNvGrpSpPr/>
        <p:nvPr/>
      </p:nvGrpSpPr>
      <p:grpSpPr>
        <a:xfrm>
          <a:off x="0" y="0"/>
          <a:ext cx="0" cy="0"/>
          <a:chOff x="0" y="0"/>
          <a:chExt cx="0" cy="0"/>
        </a:xfrm>
      </p:grpSpPr>
      <p:sp>
        <p:nvSpPr>
          <p:cNvPr id="10" name="65 CuadroTexto">
            <a:extLst>
              <a:ext uri="{FF2B5EF4-FFF2-40B4-BE49-F238E27FC236}">
                <a16:creationId xmlns:a16="http://schemas.microsoft.com/office/drawing/2014/main" id="{1B2E89A1-6326-FF2A-7E0C-A8368432D60B}"/>
              </a:ext>
            </a:extLst>
          </p:cNvPr>
          <p:cNvSpPr txBox="1"/>
          <p:nvPr/>
        </p:nvSpPr>
        <p:spPr>
          <a:xfrm>
            <a:off x="575556" y="574372"/>
            <a:ext cx="8172908" cy="839012"/>
          </a:xfrm>
          <a:prstGeom prst="rect">
            <a:avLst/>
          </a:prstGeom>
          <a:noFill/>
        </p:spPr>
        <p:txBody>
          <a:bodyPr wrap="square" rtlCol="0">
            <a:spAutoFit/>
          </a:bodyPr>
          <a:lstStyle/>
          <a:p>
            <a:pPr algn="just">
              <a:lnSpc>
                <a:spcPct val="150000"/>
              </a:lnSpc>
            </a:pPr>
            <a:r>
              <a:rPr lang="es-ES_tradnl" b="1" u="sng" dirty="0"/>
              <a:t>EJEMPLO:</a:t>
            </a:r>
          </a:p>
          <a:p>
            <a:pPr algn="just">
              <a:lnSpc>
                <a:spcPct val="150000"/>
              </a:lnSpc>
            </a:pPr>
            <a:r>
              <a:rPr lang="es-ES_tradnl" sz="1600" dirty="0"/>
              <a:t>Una empresa editorial de libros tiene los siguientes costes, clasifícalos en CF y CV y calcula los CT.</a:t>
            </a:r>
          </a:p>
        </p:txBody>
      </p:sp>
      <p:sp>
        <p:nvSpPr>
          <p:cNvPr id="3" name="CuadroTexto 2">
            <a:extLst>
              <a:ext uri="{FF2B5EF4-FFF2-40B4-BE49-F238E27FC236}">
                <a16:creationId xmlns:a16="http://schemas.microsoft.com/office/drawing/2014/main" id="{874DBDDB-2549-F1FC-BB3F-5B52C40B3C43}"/>
              </a:ext>
            </a:extLst>
          </p:cNvPr>
          <p:cNvSpPr txBox="1"/>
          <p:nvPr/>
        </p:nvSpPr>
        <p:spPr>
          <a:xfrm>
            <a:off x="575921" y="1413384"/>
            <a:ext cx="7992523" cy="3760026"/>
          </a:xfrm>
          <a:prstGeom prst="rect">
            <a:avLst/>
          </a:prstGeom>
          <a:noFill/>
        </p:spPr>
        <p:txBody>
          <a:bodyPr wrap="square" numCol="2">
            <a:spAutoFit/>
          </a:bodyPr>
          <a:lstStyle/>
          <a:p>
            <a:pPr marL="285750" indent="-285750" algn="just">
              <a:lnSpc>
                <a:spcPct val="150000"/>
              </a:lnSpc>
              <a:buFont typeface="Arial" panose="020B0604020202020204" pitchFamily="34" charset="0"/>
              <a:buChar char="•"/>
            </a:pPr>
            <a:r>
              <a:rPr lang="es-ES_tradnl" sz="1600" dirty="0"/>
              <a:t>Alquiler 800€</a:t>
            </a:r>
          </a:p>
          <a:p>
            <a:pPr marL="285750" indent="-285750" algn="just">
              <a:lnSpc>
                <a:spcPct val="150000"/>
              </a:lnSpc>
              <a:buFont typeface="Arial" panose="020B0604020202020204" pitchFamily="34" charset="0"/>
              <a:buChar char="•"/>
            </a:pPr>
            <a:r>
              <a:rPr lang="es-ES_tradnl" sz="1600" dirty="0"/>
              <a:t>Compra de 1500 libros a imprenta por 12€/</a:t>
            </a:r>
            <a:r>
              <a:rPr lang="es-ES_tradnl" sz="1600" dirty="0" err="1"/>
              <a:t>ud</a:t>
            </a:r>
            <a:endParaRPr lang="es-ES_tradnl" sz="1600" dirty="0"/>
          </a:p>
          <a:p>
            <a:pPr marL="285750" indent="-285750" algn="just">
              <a:lnSpc>
                <a:spcPct val="150000"/>
              </a:lnSpc>
              <a:buFont typeface="Arial" panose="020B0604020202020204" pitchFamily="34" charset="0"/>
              <a:buChar char="•"/>
            </a:pPr>
            <a:r>
              <a:rPr lang="es-ES_tradnl" sz="1600" dirty="0"/>
              <a:t>Publicidad y promoción 2000€</a:t>
            </a:r>
          </a:p>
          <a:p>
            <a:pPr marL="285750" indent="-285750" algn="just">
              <a:lnSpc>
                <a:spcPct val="150000"/>
              </a:lnSpc>
              <a:buFont typeface="Arial" panose="020B0604020202020204" pitchFamily="34" charset="0"/>
              <a:buChar char="•"/>
            </a:pPr>
            <a:r>
              <a:rPr lang="es-ES_tradnl" sz="1600" dirty="0"/>
              <a:t>Nóminas 1200€</a:t>
            </a:r>
          </a:p>
          <a:p>
            <a:pPr marL="285750" indent="-285750" algn="just">
              <a:lnSpc>
                <a:spcPct val="150000"/>
              </a:lnSpc>
              <a:buFont typeface="Arial" panose="020B0604020202020204" pitchFamily="34" charset="0"/>
              <a:buChar char="•"/>
            </a:pPr>
            <a:r>
              <a:rPr lang="es-ES_tradnl" sz="1600" dirty="0"/>
              <a:t>Seguridad social 400€</a:t>
            </a:r>
          </a:p>
          <a:p>
            <a:pPr marL="285750" indent="-285750" algn="just">
              <a:lnSpc>
                <a:spcPct val="150000"/>
              </a:lnSpc>
              <a:buFont typeface="Arial" panose="020B0604020202020204" pitchFamily="34" charset="0"/>
              <a:buChar char="•"/>
            </a:pPr>
            <a:r>
              <a:rPr lang="es-ES_tradnl" sz="1600" dirty="0"/>
              <a:t>Cuota autónomos 3000€</a:t>
            </a:r>
          </a:p>
          <a:p>
            <a:pPr marL="285750" indent="-285750" algn="just">
              <a:lnSpc>
                <a:spcPct val="150000"/>
              </a:lnSpc>
              <a:buFont typeface="Arial" panose="020B0604020202020204" pitchFamily="34" charset="0"/>
              <a:buChar char="•"/>
            </a:pPr>
            <a:r>
              <a:rPr lang="es-ES_tradnl" sz="1600" dirty="0"/>
              <a:t>1500 sobres acolchados para envío de libros a 0,25€/</a:t>
            </a:r>
            <a:r>
              <a:rPr lang="es-ES_tradnl" sz="1600" dirty="0" err="1"/>
              <a:t>ud</a:t>
            </a:r>
            <a:endParaRPr lang="es-ES_tradnl" sz="1600" dirty="0"/>
          </a:p>
          <a:p>
            <a:pPr marL="285750" indent="-285750" algn="just">
              <a:lnSpc>
                <a:spcPct val="150000"/>
              </a:lnSpc>
              <a:buFont typeface="Arial" panose="020B0604020202020204" pitchFamily="34" charset="0"/>
              <a:buChar char="•"/>
            </a:pPr>
            <a:r>
              <a:rPr lang="es-ES_tradnl" sz="1600" dirty="0"/>
              <a:t>Material de oficina 300€</a:t>
            </a:r>
          </a:p>
          <a:p>
            <a:pPr marL="285750" indent="-285750" algn="just">
              <a:lnSpc>
                <a:spcPct val="150000"/>
              </a:lnSpc>
              <a:buFont typeface="Arial" panose="020B0604020202020204" pitchFamily="34" charset="0"/>
              <a:buChar char="•"/>
            </a:pPr>
            <a:r>
              <a:rPr lang="es-ES_tradnl" sz="1600" dirty="0"/>
              <a:t>Gastos de luz 500€</a:t>
            </a:r>
          </a:p>
          <a:p>
            <a:pPr marL="285750" indent="-285750" algn="just">
              <a:lnSpc>
                <a:spcPct val="150000"/>
              </a:lnSpc>
              <a:buFont typeface="Arial" panose="020B0604020202020204" pitchFamily="34" charset="0"/>
              <a:buChar char="•"/>
            </a:pPr>
            <a:r>
              <a:rPr lang="es-ES_tradnl" sz="1600" dirty="0"/>
              <a:t>Internet 400€</a:t>
            </a:r>
          </a:p>
          <a:p>
            <a:pPr marL="285750" indent="-285750" algn="just">
              <a:lnSpc>
                <a:spcPct val="150000"/>
              </a:lnSpc>
              <a:buFont typeface="Arial" panose="020B0604020202020204" pitchFamily="34" charset="0"/>
              <a:buChar char="•"/>
            </a:pPr>
            <a:r>
              <a:rPr lang="es-ES_tradnl" sz="1600" dirty="0"/>
              <a:t>Gestoría 1200€</a:t>
            </a:r>
          </a:p>
          <a:p>
            <a:pPr marL="285750" indent="-285750" algn="just">
              <a:lnSpc>
                <a:spcPct val="150000"/>
              </a:lnSpc>
              <a:buFont typeface="Arial" panose="020B0604020202020204" pitchFamily="34" charset="0"/>
              <a:buChar char="•"/>
            </a:pPr>
            <a:r>
              <a:rPr lang="es-ES_tradnl" sz="1600" dirty="0"/>
              <a:t>Cuota banco TPV a 0,75€/</a:t>
            </a:r>
            <a:r>
              <a:rPr lang="es-ES_tradnl" sz="1600" dirty="0" err="1"/>
              <a:t>ud</a:t>
            </a:r>
            <a:endParaRPr lang="es-ES_tradnl" sz="1600" dirty="0"/>
          </a:p>
          <a:p>
            <a:pPr marL="285750" indent="-285750" algn="just">
              <a:lnSpc>
                <a:spcPct val="150000"/>
              </a:lnSpc>
              <a:buFont typeface="Arial" panose="020B0604020202020204" pitchFamily="34" charset="0"/>
              <a:buChar char="•"/>
            </a:pPr>
            <a:r>
              <a:rPr lang="es-ES_tradnl" sz="1600" dirty="0"/>
              <a:t>Intereses préstamo 2000€</a:t>
            </a:r>
          </a:p>
          <a:p>
            <a:pPr marL="285750" indent="-285750" algn="just">
              <a:lnSpc>
                <a:spcPct val="150000"/>
              </a:lnSpc>
              <a:buFont typeface="Arial" panose="020B0604020202020204" pitchFamily="34" charset="0"/>
              <a:buChar char="•"/>
            </a:pPr>
            <a:r>
              <a:rPr lang="es-ES_tradnl" sz="1600" dirty="0"/>
              <a:t>Gastos constitución empresa 700€</a:t>
            </a:r>
          </a:p>
          <a:p>
            <a:pPr marL="285750" indent="-285750" algn="just">
              <a:lnSpc>
                <a:spcPct val="150000"/>
              </a:lnSpc>
              <a:buFont typeface="Arial" panose="020B0604020202020204" pitchFamily="34" charset="0"/>
              <a:buChar char="•"/>
            </a:pPr>
            <a:r>
              <a:rPr lang="es-ES_tradnl" sz="1600" dirty="0"/>
              <a:t>Gasto móvil 800€</a:t>
            </a:r>
          </a:p>
          <a:p>
            <a:pPr marL="285750" indent="-285750" algn="just">
              <a:lnSpc>
                <a:spcPct val="150000"/>
              </a:lnSpc>
              <a:buFont typeface="Arial" panose="020B0604020202020204" pitchFamily="34" charset="0"/>
              <a:buChar char="•"/>
            </a:pPr>
            <a:r>
              <a:rPr lang="es-ES_tradnl" sz="1600" dirty="0"/>
              <a:t>Gastos empresa de mensajería 5€/</a:t>
            </a:r>
            <a:r>
              <a:rPr lang="es-ES_tradnl" sz="1600" dirty="0" err="1"/>
              <a:t>ud</a:t>
            </a:r>
            <a:endParaRPr lang="es-ES_tradnl" sz="1600" dirty="0"/>
          </a:p>
        </p:txBody>
      </p:sp>
      <p:sp>
        <p:nvSpPr>
          <p:cNvPr id="4" name="CuadroTexto 3">
            <a:extLst>
              <a:ext uri="{FF2B5EF4-FFF2-40B4-BE49-F238E27FC236}">
                <a16:creationId xmlns:a16="http://schemas.microsoft.com/office/drawing/2014/main" id="{B5B3A46C-D9C2-370E-BA4D-10C00D99C3D8}"/>
              </a:ext>
            </a:extLst>
          </p:cNvPr>
          <p:cNvSpPr txBox="1"/>
          <p:nvPr/>
        </p:nvSpPr>
        <p:spPr>
          <a:xfrm>
            <a:off x="395536" y="5301208"/>
            <a:ext cx="8496943" cy="1323439"/>
          </a:xfrm>
          <a:prstGeom prst="rect">
            <a:avLst/>
          </a:prstGeom>
          <a:noFill/>
        </p:spPr>
        <p:txBody>
          <a:bodyPr wrap="square" rtlCol="0">
            <a:spAutoFit/>
          </a:bodyPr>
          <a:lstStyle/>
          <a:p>
            <a:pPr marL="285750" indent="-285750" algn="just">
              <a:buFont typeface="Wingdings" pitchFamily="2" charset="2"/>
              <a:buChar char="Ø"/>
            </a:pPr>
            <a:r>
              <a:rPr lang="es-ES_tradnl" sz="1600" dirty="0"/>
              <a:t>CF: alquiler, publicidad, nóminas, seguridad social, cuota autónomos, material de oficina, gastos de luz, internet, gestoría, intereses préstamo, gastos de constitución y móvil, </a:t>
            </a:r>
            <a:r>
              <a:rPr lang="es-ES_tradnl" sz="1600" b="1" dirty="0"/>
              <a:t>CF= 13.300€</a:t>
            </a:r>
          </a:p>
          <a:p>
            <a:pPr marL="285750" indent="-285750" algn="just">
              <a:buFont typeface="Wingdings" pitchFamily="2" charset="2"/>
              <a:buChar char="Ø"/>
            </a:pPr>
            <a:r>
              <a:rPr lang="es-ES_tradnl" sz="1600" dirty="0"/>
              <a:t>CV: compra libros, sobres, cuota TPV, transporte empresa = 12 + 0,25 + 0,75 + 5= 18/</a:t>
            </a:r>
            <a:r>
              <a:rPr lang="es-ES_tradnl" sz="1600" dirty="0" err="1"/>
              <a:t>ud.</a:t>
            </a:r>
            <a:r>
              <a:rPr lang="es-ES_tradnl" sz="1600" dirty="0"/>
              <a:t> Como son 1500 </a:t>
            </a:r>
            <a:r>
              <a:rPr lang="es-ES_tradnl" sz="1600" dirty="0" err="1"/>
              <a:t>ud</a:t>
            </a:r>
            <a:r>
              <a:rPr lang="es-ES_tradnl" sz="1600" dirty="0"/>
              <a:t>, los </a:t>
            </a:r>
            <a:r>
              <a:rPr lang="es-ES_tradnl" sz="1600" b="1" dirty="0"/>
              <a:t>CV=</a:t>
            </a:r>
            <a:r>
              <a:rPr lang="es-ES_tradnl" sz="1600" dirty="0"/>
              <a:t> </a:t>
            </a:r>
            <a:r>
              <a:rPr lang="es-ES_tradnl" sz="1600" b="1" dirty="0"/>
              <a:t>1500 x 18= 27.000€</a:t>
            </a:r>
          </a:p>
          <a:p>
            <a:pPr marL="285750" indent="-285750" algn="just">
              <a:buFont typeface="Wingdings" pitchFamily="2" charset="2"/>
              <a:buChar char="Ø"/>
            </a:pPr>
            <a:r>
              <a:rPr lang="es-ES_tradnl" sz="1600" b="1" dirty="0"/>
              <a:t>CT: 13.300 + 27.000= 40.300€</a:t>
            </a:r>
          </a:p>
        </p:txBody>
      </p:sp>
    </p:spTree>
    <p:extLst>
      <p:ext uri="{BB962C8B-B14F-4D97-AF65-F5344CB8AC3E}">
        <p14:creationId xmlns:p14="http://schemas.microsoft.com/office/powerpoint/2010/main" val="4144972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1 CuadroTexto">
            <a:extLst>
              <a:ext uri="{FF2B5EF4-FFF2-40B4-BE49-F238E27FC236}">
                <a16:creationId xmlns:a16="http://schemas.microsoft.com/office/drawing/2014/main" id="{16836C97-555C-4833-AEAD-33E2BC4D5B33}"/>
              </a:ext>
            </a:extLst>
          </p:cNvPr>
          <p:cNvSpPr txBox="1"/>
          <p:nvPr/>
        </p:nvSpPr>
        <p:spPr>
          <a:xfrm>
            <a:off x="463732" y="917107"/>
            <a:ext cx="8068708" cy="923330"/>
          </a:xfrm>
          <a:prstGeom prst="rect">
            <a:avLst/>
          </a:prstGeom>
          <a:noFill/>
        </p:spPr>
        <p:txBody>
          <a:bodyPr wrap="square" rtlCol="0">
            <a:spAutoFit/>
          </a:bodyPr>
          <a:lstStyle/>
          <a:p>
            <a:pPr algn="just"/>
            <a:r>
              <a:rPr lang="es-ES_tradnl" b="1" dirty="0"/>
              <a:t>A) El umbral de rentabilidad o punto muerto (PM): </a:t>
            </a:r>
            <a:r>
              <a:rPr lang="es-ES_tradnl" dirty="0"/>
              <a:t>el nivel de ventas a partir del cual se empiezan a obtener beneficios, o con el que se cubren los gastos y el beneficio es cero.</a:t>
            </a:r>
            <a:endParaRPr lang="es-ES" dirty="0"/>
          </a:p>
        </p:txBody>
      </p:sp>
      <p:sp>
        <p:nvSpPr>
          <p:cNvPr id="8" name="30 CuadroTexto">
            <a:extLst>
              <a:ext uri="{FF2B5EF4-FFF2-40B4-BE49-F238E27FC236}">
                <a16:creationId xmlns:a16="http://schemas.microsoft.com/office/drawing/2014/main" id="{F32C04A2-FEB7-4E6D-89A7-EDEE09E7BE1D}"/>
              </a:ext>
            </a:extLst>
          </p:cNvPr>
          <p:cNvSpPr txBox="1"/>
          <p:nvPr/>
        </p:nvSpPr>
        <p:spPr>
          <a:xfrm>
            <a:off x="463732" y="1763577"/>
            <a:ext cx="5688632" cy="369332"/>
          </a:xfrm>
          <a:prstGeom prst="rect">
            <a:avLst/>
          </a:prstGeom>
          <a:noFill/>
        </p:spPr>
        <p:txBody>
          <a:bodyPr wrap="square" rtlCol="0">
            <a:spAutoFit/>
          </a:bodyPr>
          <a:lstStyle/>
          <a:p>
            <a:r>
              <a:rPr lang="es-ES_tradnl" b="1" i="1" dirty="0"/>
              <a:t>1. Cálculo del umbral de rentabilidad de forma numérica</a:t>
            </a:r>
            <a:endParaRPr lang="es-ES" b="1" i="1" dirty="0"/>
          </a:p>
        </p:txBody>
      </p:sp>
      <p:sp>
        <p:nvSpPr>
          <p:cNvPr id="11" name="32 CuadroTexto">
            <a:extLst>
              <a:ext uri="{FF2B5EF4-FFF2-40B4-BE49-F238E27FC236}">
                <a16:creationId xmlns:a16="http://schemas.microsoft.com/office/drawing/2014/main" id="{034120EF-ACBC-466F-A30C-C7B2372A9E18}"/>
              </a:ext>
            </a:extLst>
          </p:cNvPr>
          <p:cNvSpPr txBox="1"/>
          <p:nvPr/>
        </p:nvSpPr>
        <p:spPr>
          <a:xfrm>
            <a:off x="2639297" y="2539962"/>
            <a:ext cx="3717577"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s-ES_tradnl" b="1" dirty="0"/>
              <a:t>Nivel de ventas </a:t>
            </a:r>
            <a:r>
              <a:rPr lang="es-ES_tradnl" b="1" dirty="0">
                <a:sym typeface="Wingdings" panose="05000000000000000000" pitchFamily="2" charset="2"/>
              </a:rPr>
              <a:t> donde IT = CT</a:t>
            </a:r>
            <a:endParaRPr lang="es-ES" b="1" dirty="0"/>
          </a:p>
        </p:txBody>
      </p:sp>
      <p:sp>
        <p:nvSpPr>
          <p:cNvPr id="12" name="38 CuadroTexto">
            <a:extLst>
              <a:ext uri="{FF2B5EF4-FFF2-40B4-BE49-F238E27FC236}">
                <a16:creationId xmlns:a16="http://schemas.microsoft.com/office/drawing/2014/main" id="{CC19A61D-458C-4A9F-9B72-6277657D2CF5}"/>
              </a:ext>
            </a:extLst>
          </p:cNvPr>
          <p:cNvSpPr txBox="1"/>
          <p:nvPr/>
        </p:nvSpPr>
        <p:spPr>
          <a:xfrm>
            <a:off x="752743" y="3316347"/>
            <a:ext cx="7454749" cy="2500685"/>
          </a:xfrm>
          <a:prstGeom prst="rect">
            <a:avLst/>
          </a:prstGeom>
          <a:noFill/>
        </p:spPr>
        <p:txBody>
          <a:bodyPr wrap="square" rtlCol="0">
            <a:spAutoFit/>
          </a:bodyPr>
          <a:lstStyle/>
          <a:p>
            <a:pPr marL="285750" indent="-285750">
              <a:buFont typeface="Arial" panose="020B0604020202020204" pitchFamily="34" charset="0"/>
              <a:buChar char="•"/>
            </a:pPr>
            <a:r>
              <a:rPr lang="es-ES_tradnl" dirty="0"/>
              <a:t>Ingresos Totales = precio x cantidad que vendemos </a:t>
            </a:r>
            <a:r>
              <a:rPr lang="es-ES_tradnl" dirty="0">
                <a:sym typeface="Wingdings" panose="05000000000000000000" pitchFamily="2" charset="2"/>
              </a:rPr>
              <a:t> </a:t>
            </a:r>
            <a:r>
              <a:rPr lang="es-ES_tradnl" dirty="0">
                <a:solidFill>
                  <a:schemeClr val="accent6">
                    <a:lumMod val="75000"/>
                  </a:schemeClr>
                </a:solidFill>
                <a:sym typeface="Wingdings" panose="05000000000000000000" pitchFamily="2" charset="2"/>
              </a:rPr>
              <a:t>IT = P x Q</a:t>
            </a:r>
          </a:p>
          <a:p>
            <a:pPr marL="171450" indent="-171450" algn="ctr">
              <a:buFont typeface="Arial" panose="020B0604020202020204" pitchFamily="34" charset="0"/>
              <a:buChar char="•"/>
            </a:pPr>
            <a:endParaRPr lang="es-ES_tradnl" sz="800" dirty="0">
              <a:sym typeface="Wingdings" panose="05000000000000000000" pitchFamily="2" charset="2"/>
            </a:endParaRPr>
          </a:p>
          <a:p>
            <a:pPr marL="285750" indent="-285750">
              <a:buFont typeface="Arial" panose="020B0604020202020204" pitchFamily="34" charset="0"/>
              <a:buChar char="•"/>
            </a:pPr>
            <a:r>
              <a:rPr lang="es-ES_tradnl" dirty="0">
                <a:sym typeface="Wingdings" panose="05000000000000000000" pitchFamily="2" charset="2"/>
              </a:rPr>
              <a:t>Costes Totales = CF + CV</a:t>
            </a:r>
          </a:p>
          <a:p>
            <a:pPr marL="171450" indent="-171450">
              <a:buFont typeface="Arial" panose="020B0604020202020204" pitchFamily="34" charset="0"/>
              <a:buChar char="•"/>
            </a:pPr>
            <a:endParaRPr lang="es-ES_tradnl" sz="1000" dirty="0">
              <a:sym typeface="Wingdings" panose="05000000000000000000" pitchFamily="2" charset="2"/>
            </a:endParaRPr>
          </a:p>
          <a:p>
            <a:pPr marL="919163" lvl="1" indent="-285750">
              <a:buFont typeface="Courier New" panose="02070309020205020404" pitchFamily="49" charset="0"/>
              <a:buChar char="o"/>
            </a:pPr>
            <a:r>
              <a:rPr lang="es-ES_tradnl" dirty="0">
                <a:sym typeface="Wingdings" panose="05000000000000000000" pitchFamily="2" charset="2"/>
              </a:rPr>
              <a:t>CV = CV unitario x nº unidades producidas   </a:t>
            </a:r>
            <a:r>
              <a:rPr lang="es-ES_tradnl" dirty="0">
                <a:solidFill>
                  <a:schemeClr val="tx2">
                    <a:lumMod val="60000"/>
                    <a:lumOff val="40000"/>
                  </a:schemeClr>
                </a:solidFill>
                <a:sym typeface="Wingdings" panose="05000000000000000000" pitchFamily="2" charset="2"/>
              </a:rPr>
              <a:t>CV = </a:t>
            </a:r>
            <a:r>
              <a:rPr lang="es-ES_tradnl" dirty="0" err="1">
                <a:solidFill>
                  <a:schemeClr val="tx2">
                    <a:lumMod val="60000"/>
                    <a:lumOff val="40000"/>
                  </a:schemeClr>
                </a:solidFill>
                <a:sym typeface="Wingdings" panose="05000000000000000000" pitchFamily="2" charset="2"/>
              </a:rPr>
              <a:t>CVunit</a:t>
            </a:r>
            <a:r>
              <a:rPr lang="es-ES_tradnl" dirty="0">
                <a:solidFill>
                  <a:schemeClr val="tx2">
                    <a:lumMod val="60000"/>
                    <a:lumOff val="40000"/>
                  </a:schemeClr>
                </a:solidFill>
                <a:sym typeface="Wingdings" panose="05000000000000000000" pitchFamily="2" charset="2"/>
              </a:rPr>
              <a:t> x Q</a:t>
            </a:r>
          </a:p>
          <a:p>
            <a:pPr marL="804863" lvl="1" indent="-171450">
              <a:buFont typeface="Courier New" panose="02070309020205020404" pitchFamily="49" charset="0"/>
              <a:buChar char="o"/>
            </a:pPr>
            <a:endParaRPr lang="es-ES_tradnl" sz="1000" dirty="0">
              <a:sym typeface="Wingdings" panose="05000000000000000000" pitchFamily="2" charset="2"/>
            </a:endParaRPr>
          </a:p>
          <a:p>
            <a:pPr marL="919163" lvl="1" indent="-285750">
              <a:buFont typeface="Courier New" panose="02070309020205020404" pitchFamily="49" charset="0"/>
              <a:buChar char="o"/>
            </a:pPr>
            <a:r>
              <a:rPr lang="es-ES_tradnl" dirty="0">
                <a:sym typeface="Wingdings" panose="05000000000000000000" pitchFamily="2" charset="2"/>
              </a:rPr>
              <a:t>CT = CF + CV  CT =</a:t>
            </a:r>
            <a:r>
              <a:rPr lang="es-ES_tradnl" dirty="0">
                <a:solidFill>
                  <a:srgbClr val="00B050"/>
                </a:solidFill>
                <a:sym typeface="Wingdings" panose="05000000000000000000" pitchFamily="2" charset="2"/>
              </a:rPr>
              <a:t> CF </a:t>
            </a:r>
            <a:r>
              <a:rPr lang="es-ES_tradnl" dirty="0">
                <a:sym typeface="Wingdings" panose="05000000000000000000" pitchFamily="2" charset="2"/>
              </a:rPr>
              <a:t>+ </a:t>
            </a:r>
            <a:r>
              <a:rPr lang="es-ES_tradnl" dirty="0" err="1">
                <a:solidFill>
                  <a:schemeClr val="tx2">
                    <a:lumMod val="60000"/>
                    <a:lumOff val="40000"/>
                  </a:schemeClr>
                </a:solidFill>
                <a:sym typeface="Wingdings" panose="05000000000000000000" pitchFamily="2" charset="2"/>
              </a:rPr>
              <a:t>CVunit</a:t>
            </a:r>
            <a:r>
              <a:rPr lang="es-ES_tradnl" dirty="0">
                <a:solidFill>
                  <a:schemeClr val="tx2">
                    <a:lumMod val="60000"/>
                    <a:lumOff val="40000"/>
                  </a:schemeClr>
                </a:solidFill>
                <a:sym typeface="Wingdings" panose="05000000000000000000" pitchFamily="2" charset="2"/>
              </a:rPr>
              <a:t> x Q</a:t>
            </a:r>
          </a:p>
          <a:p>
            <a:pPr marL="171450" indent="-171450">
              <a:buFont typeface="Arial" panose="020B0604020202020204" pitchFamily="34" charset="0"/>
              <a:buChar char="•"/>
            </a:pPr>
            <a:endParaRPr lang="es-ES_tradnl" sz="1000" dirty="0">
              <a:sym typeface="Wingdings" panose="05000000000000000000" pitchFamily="2" charset="2"/>
            </a:endParaRPr>
          </a:p>
          <a:p>
            <a:pPr marL="285750" indent="-285750">
              <a:buFont typeface="Arial" panose="020B0604020202020204" pitchFamily="34" charset="0"/>
              <a:buChar char="•"/>
            </a:pPr>
            <a:r>
              <a:rPr lang="es-ES_tradnl" b="1" dirty="0">
                <a:sym typeface="Wingdings" panose="05000000000000000000" pitchFamily="2" charset="2"/>
              </a:rPr>
              <a:t>IT = CT  </a:t>
            </a:r>
            <a:r>
              <a:rPr lang="es-ES_tradnl" b="1" dirty="0" err="1">
                <a:solidFill>
                  <a:schemeClr val="accent6">
                    <a:lumMod val="75000"/>
                  </a:schemeClr>
                </a:solidFill>
                <a:sym typeface="Wingdings" panose="05000000000000000000" pitchFamily="2" charset="2"/>
              </a:rPr>
              <a:t>PxQ</a:t>
            </a:r>
            <a:r>
              <a:rPr lang="es-ES_tradnl" b="1" dirty="0">
                <a:sym typeface="Wingdings" panose="05000000000000000000" pitchFamily="2" charset="2"/>
              </a:rPr>
              <a:t> = </a:t>
            </a:r>
            <a:r>
              <a:rPr lang="es-ES_tradnl" b="1" dirty="0">
                <a:solidFill>
                  <a:srgbClr val="00B050"/>
                </a:solidFill>
                <a:sym typeface="Wingdings" panose="05000000000000000000" pitchFamily="2" charset="2"/>
              </a:rPr>
              <a:t>CF</a:t>
            </a:r>
            <a:r>
              <a:rPr lang="es-ES_tradnl" b="1" dirty="0">
                <a:sym typeface="Wingdings" panose="05000000000000000000" pitchFamily="2" charset="2"/>
              </a:rPr>
              <a:t> + </a:t>
            </a:r>
            <a:r>
              <a:rPr lang="es-ES_tradnl" b="1" dirty="0">
                <a:solidFill>
                  <a:schemeClr val="tx2">
                    <a:lumMod val="60000"/>
                    <a:lumOff val="40000"/>
                  </a:schemeClr>
                </a:solidFill>
                <a:sym typeface="Wingdings" panose="05000000000000000000" pitchFamily="2" charset="2"/>
              </a:rPr>
              <a:t>CVU x Q</a:t>
            </a:r>
          </a:p>
          <a:p>
            <a:endParaRPr lang="es-ES_tradnl" sz="1050" b="1" dirty="0">
              <a:solidFill>
                <a:schemeClr val="tx2">
                  <a:lumMod val="60000"/>
                  <a:lumOff val="40000"/>
                </a:schemeClr>
              </a:solidFill>
              <a:sym typeface="Wingdings" panose="05000000000000000000" pitchFamily="2" charset="2"/>
            </a:endParaRPr>
          </a:p>
          <a:p>
            <a:r>
              <a:rPr lang="es-ES_tradnl" dirty="0">
                <a:sym typeface="Wingdings" panose="05000000000000000000" pitchFamily="2" charset="2"/>
              </a:rPr>
              <a:t>Si despejamos Q </a:t>
            </a:r>
            <a:r>
              <a:rPr lang="es-ES_tradnl" dirty="0">
                <a:solidFill>
                  <a:schemeClr val="tx2">
                    <a:lumMod val="60000"/>
                    <a:lumOff val="40000"/>
                  </a:schemeClr>
                </a:solidFill>
                <a:sym typeface="Wingdings" panose="05000000000000000000" pitchFamily="2" charset="2"/>
              </a:rPr>
              <a:t>	 </a:t>
            </a:r>
            <a:r>
              <a:rPr lang="es-ES_tradnl" b="1" dirty="0">
                <a:sym typeface="Wingdings" panose="05000000000000000000" pitchFamily="2" charset="2"/>
              </a:rPr>
              <a:t>Umbral de rentabilidad</a:t>
            </a:r>
            <a:r>
              <a:rPr lang="es-ES_tradnl" dirty="0">
                <a:solidFill>
                  <a:schemeClr val="tx2">
                    <a:lumMod val="60000"/>
                    <a:lumOff val="40000"/>
                  </a:schemeClr>
                </a:solidFill>
                <a:sym typeface="Wingdings" panose="05000000000000000000" pitchFamily="2" charset="2"/>
              </a:rPr>
              <a:t>		</a:t>
            </a:r>
            <a:endParaRPr lang="es-ES" dirty="0"/>
          </a:p>
        </p:txBody>
      </p:sp>
      <mc:AlternateContent xmlns:mc="http://schemas.openxmlformats.org/markup-compatibility/2006" xmlns:a14="http://schemas.microsoft.com/office/drawing/2010/main">
        <mc:Choice Requires="a14">
          <p:sp>
            <p:nvSpPr>
              <p:cNvPr id="13" name="3 CuadroTexto">
                <a:extLst>
                  <a:ext uri="{FF2B5EF4-FFF2-40B4-BE49-F238E27FC236}">
                    <a16:creationId xmlns:a16="http://schemas.microsoft.com/office/drawing/2014/main" id="{723AF416-1680-4E41-BDDE-1392CAA33590}"/>
                  </a:ext>
                </a:extLst>
              </p:cNvPr>
              <p:cNvSpPr txBox="1"/>
              <p:nvPr/>
            </p:nvSpPr>
            <p:spPr>
              <a:xfrm>
                <a:off x="5436096" y="5229200"/>
                <a:ext cx="2155526" cy="661912"/>
              </a:xfrm>
              <a:prstGeom prst="rect">
                <a:avLst/>
              </a:prstGeom>
              <a:noFill/>
              <a:ln w="31750">
                <a:solidFill>
                  <a:schemeClr val="accent4">
                    <a:lumMod val="75000"/>
                  </a:schemeClr>
                </a:solidFill>
              </a:ln>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rgbClr val="FF0000"/>
                              </a:solidFill>
                              <a:latin typeface="Cambria Math" panose="02040503050406030204" pitchFamily="18" charset="0"/>
                            </a:rPr>
                          </m:ctrlPr>
                        </m:sSupPr>
                        <m:e>
                          <m:r>
                            <a:rPr lang="es-ES_tradnl" b="1" i="1" smtClean="0">
                              <a:solidFill>
                                <a:srgbClr val="FF0000"/>
                              </a:solidFill>
                              <a:latin typeface="Cambria Math"/>
                            </a:rPr>
                            <m:t>𝑸</m:t>
                          </m:r>
                        </m:e>
                        <m:sup>
                          <m:r>
                            <a:rPr lang="es-ES_tradnl" b="1" i="1" smtClean="0">
                              <a:solidFill>
                                <a:srgbClr val="FF0000"/>
                              </a:solidFill>
                              <a:latin typeface="Cambria Math"/>
                            </a:rPr>
                            <m:t>∗</m:t>
                          </m:r>
                        </m:sup>
                      </m:sSup>
                      <m:r>
                        <a:rPr lang="es-ES" i="1" smtClean="0">
                          <a:latin typeface="Cambria Math"/>
                        </a:rPr>
                        <m:t>=</m:t>
                      </m:r>
                      <m:f>
                        <m:fPr>
                          <m:ctrlPr>
                            <a:rPr lang="es-ES" i="1" smtClean="0">
                              <a:latin typeface="Cambria Math" panose="02040503050406030204" pitchFamily="18" charset="0"/>
                            </a:rPr>
                          </m:ctrlPr>
                        </m:fPr>
                        <m:num>
                          <m:r>
                            <a:rPr lang="es-ES_tradnl" b="1" i="1" smtClean="0">
                              <a:solidFill>
                                <a:srgbClr val="00B050"/>
                              </a:solidFill>
                              <a:latin typeface="Cambria Math"/>
                            </a:rPr>
                            <m:t>𝑪𝑭</m:t>
                          </m:r>
                        </m:num>
                        <m:den>
                          <m:r>
                            <a:rPr lang="es-ES_tradnl" b="0" i="1" smtClean="0">
                              <a:latin typeface="Cambria Math"/>
                            </a:rPr>
                            <m:t>(</m:t>
                          </m:r>
                          <m:r>
                            <a:rPr lang="es-ES_tradnl" b="1" i="1" smtClean="0">
                              <a:solidFill>
                                <a:schemeClr val="accent6">
                                  <a:lumMod val="75000"/>
                                </a:schemeClr>
                              </a:solidFill>
                              <a:latin typeface="Cambria Math"/>
                            </a:rPr>
                            <m:t>𝑷</m:t>
                          </m:r>
                          <m:r>
                            <a:rPr lang="es-ES_tradnl" b="0" i="1" smtClean="0">
                              <a:latin typeface="Cambria Math"/>
                            </a:rPr>
                            <m:t>−</m:t>
                          </m:r>
                          <m:r>
                            <a:rPr lang="es-ES_tradnl" b="1" i="1" smtClean="0">
                              <a:solidFill>
                                <a:schemeClr val="tx2">
                                  <a:lumMod val="60000"/>
                                  <a:lumOff val="40000"/>
                                </a:schemeClr>
                              </a:solidFill>
                              <a:latin typeface="Cambria Math"/>
                            </a:rPr>
                            <m:t>𝑪𝑽</m:t>
                          </m:r>
                          <m:r>
                            <a:rPr lang="es-ES" b="0" i="1" smtClean="0">
                              <a:solidFill>
                                <a:schemeClr val="tx2">
                                  <a:lumMod val="60000"/>
                                  <a:lumOff val="40000"/>
                                </a:schemeClr>
                              </a:solidFill>
                              <a:latin typeface="Cambria Math" panose="02040503050406030204" pitchFamily="18" charset="0"/>
                            </a:rPr>
                            <m:t>𝑢𝑛𝑖𝑡</m:t>
                          </m:r>
                          <m:r>
                            <a:rPr lang="es-ES_tradnl" b="0" i="1" smtClean="0">
                              <a:latin typeface="Cambria Math"/>
                            </a:rPr>
                            <m:t>)</m:t>
                          </m:r>
                        </m:den>
                      </m:f>
                    </m:oMath>
                  </m:oMathPara>
                </a14:m>
                <a:endParaRPr lang="es-ES" dirty="0"/>
              </a:p>
            </p:txBody>
          </p:sp>
        </mc:Choice>
        <mc:Fallback xmlns="">
          <p:sp>
            <p:nvSpPr>
              <p:cNvPr id="13" name="3 CuadroTexto">
                <a:extLst>
                  <a:ext uri="{FF2B5EF4-FFF2-40B4-BE49-F238E27FC236}">
                    <a16:creationId xmlns:a16="http://schemas.microsoft.com/office/drawing/2014/main" id="{723AF416-1680-4E41-BDDE-1392CAA33590}"/>
                  </a:ext>
                </a:extLst>
              </p:cNvPr>
              <p:cNvSpPr txBox="1">
                <a:spLocks noRot="1" noChangeAspect="1" noMove="1" noResize="1" noEditPoints="1" noAdjustHandles="1" noChangeArrowheads="1" noChangeShapeType="1" noTextEdit="1"/>
              </p:cNvSpPr>
              <p:nvPr/>
            </p:nvSpPr>
            <p:spPr>
              <a:xfrm>
                <a:off x="5436096" y="5229200"/>
                <a:ext cx="2155526" cy="661912"/>
              </a:xfrm>
              <a:prstGeom prst="rect">
                <a:avLst/>
              </a:prstGeom>
              <a:blipFill>
                <a:blip r:embed="rId2"/>
                <a:stretch>
                  <a:fillRect/>
                </a:stretch>
              </a:blipFill>
              <a:ln w="31750">
                <a:solidFill>
                  <a:schemeClr val="accent4">
                    <a:lumMod val="75000"/>
                  </a:schemeClr>
                </a:solidFill>
              </a:ln>
            </p:spPr>
            <p:txBody>
              <a:bodyPr/>
              <a:lstStyle/>
              <a:p>
                <a:r>
                  <a:rPr lang="es-ES">
                    <a:noFill/>
                  </a:rPr>
                  <a:t> </a:t>
                </a:r>
              </a:p>
            </p:txBody>
          </p:sp>
        </mc:Fallback>
      </mc:AlternateContent>
    </p:spTree>
    <p:extLst>
      <p:ext uri="{BB962C8B-B14F-4D97-AF65-F5344CB8AC3E}">
        <p14:creationId xmlns:p14="http://schemas.microsoft.com/office/powerpoint/2010/main" val="4184808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324936" y="887190"/>
            <a:ext cx="5528961" cy="369332"/>
          </a:xfrm>
          <a:prstGeom prst="rect">
            <a:avLst/>
          </a:prstGeom>
          <a:noFill/>
        </p:spPr>
        <p:txBody>
          <a:bodyPr wrap="square" rtlCol="0">
            <a:spAutoFit/>
          </a:bodyPr>
          <a:lstStyle/>
          <a:p>
            <a:r>
              <a:rPr lang="es-ES_tradnl" b="1" i="1" dirty="0"/>
              <a:t>2. Cálculo del umbral de rentabilidad de forma gráfica</a:t>
            </a:r>
            <a:endParaRPr lang="es-ES" b="1" i="1" dirty="0"/>
          </a:p>
        </p:txBody>
      </p:sp>
      <p:cxnSp>
        <p:nvCxnSpPr>
          <p:cNvPr id="42" name="41 Conector recto de flecha"/>
          <p:cNvCxnSpPr/>
          <p:nvPr/>
        </p:nvCxnSpPr>
        <p:spPr>
          <a:xfrm flipH="1" flipV="1">
            <a:off x="2034586" y="1894258"/>
            <a:ext cx="8577" cy="281835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42 Conector recto de flecha"/>
          <p:cNvCxnSpPr/>
          <p:nvPr/>
        </p:nvCxnSpPr>
        <p:spPr>
          <a:xfrm flipV="1">
            <a:off x="2043163" y="4712613"/>
            <a:ext cx="4398192" cy="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43 Conector recto"/>
          <p:cNvCxnSpPr/>
          <p:nvPr/>
        </p:nvCxnSpPr>
        <p:spPr>
          <a:xfrm>
            <a:off x="3688191" y="3110435"/>
            <a:ext cx="1" cy="1525656"/>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5" name="44 CuadroTexto"/>
          <p:cNvSpPr txBox="1"/>
          <p:nvPr/>
        </p:nvSpPr>
        <p:spPr>
          <a:xfrm>
            <a:off x="763699" y="1857254"/>
            <a:ext cx="1251175" cy="461665"/>
          </a:xfrm>
          <a:prstGeom prst="rect">
            <a:avLst/>
          </a:prstGeom>
          <a:noFill/>
        </p:spPr>
        <p:txBody>
          <a:bodyPr wrap="square" rtlCol="0">
            <a:spAutoFit/>
          </a:bodyPr>
          <a:lstStyle/>
          <a:p>
            <a:r>
              <a:rPr lang="es-ES" sz="1200" b="1" dirty="0"/>
              <a:t>Coste o ingresos (paso 1º)</a:t>
            </a:r>
          </a:p>
        </p:txBody>
      </p:sp>
      <p:sp>
        <p:nvSpPr>
          <p:cNvPr id="46" name="45 CuadroTexto"/>
          <p:cNvSpPr txBox="1"/>
          <p:nvPr/>
        </p:nvSpPr>
        <p:spPr>
          <a:xfrm>
            <a:off x="6506825" y="4531080"/>
            <a:ext cx="932632" cy="461665"/>
          </a:xfrm>
          <a:prstGeom prst="rect">
            <a:avLst/>
          </a:prstGeom>
          <a:noFill/>
        </p:spPr>
        <p:txBody>
          <a:bodyPr wrap="square" rtlCol="0">
            <a:spAutoFit/>
          </a:bodyPr>
          <a:lstStyle/>
          <a:p>
            <a:r>
              <a:rPr lang="es-ES_tradnl" sz="1200" b="1" dirty="0"/>
              <a:t>Ventas (paso 1º)</a:t>
            </a:r>
            <a:endParaRPr lang="es-ES" sz="1200" b="1" dirty="0"/>
          </a:p>
        </p:txBody>
      </p:sp>
      <p:cxnSp>
        <p:nvCxnSpPr>
          <p:cNvPr id="49" name="48 Conector recto"/>
          <p:cNvCxnSpPr/>
          <p:nvPr/>
        </p:nvCxnSpPr>
        <p:spPr>
          <a:xfrm>
            <a:off x="2034586" y="3035812"/>
            <a:ext cx="1653606" cy="20617"/>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0" name="49 CuadroTexto"/>
          <p:cNvSpPr txBox="1"/>
          <p:nvPr/>
        </p:nvSpPr>
        <p:spPr>
          <a:xfrm>
            <a:off x="3056352" y="4775855"/>
            <a:ext cx="1435973" cy="461665"/>
          </a:xfrm>
          <a:prstGeom prst="rect">
            <a:avLst/>
          </a:prstGeom>
          <a:noFill/>
        </p:spPr>
        <p:txBody>
          <a:bodyPr wrap="square" rtlCol="0">
            <a:spAutoFit/>
          </a:bodyPr>
          <a:lstStyle/>
          <a:p>
            <a:r>
              <a:rPr lang="es-ES_tradnl" sz="1200" b="1" dirty="0"/>
              <a:t>Q</a:t>
            </a:r>
            <a:r>
              <a:rPr lang="es-ES_tradnl" sz="1200" dirty="0"/>
              <a:t> Punto muerto (paso 6º)</a:t>
            </a:r>
            <a:endParaRPr lang="es-ES" sz="1200" b="1" dirty="0"/>
          </a:p>
        </p:txBody>
      </p:sp>
      <p:cxnSp>
        <p:nvCxnSpPr>
          <p:cNvPr id="54" name="53 Conector recto"/>
          <p:cNvCxnSpPr/>
          <p:nvPr/>
        </p:nvCxnSpPr>
        <p:spPr>
          <a:xfrm>
            <a:off x="2077540" y="4104933"/>
            <a:ext cx="3769984" cy="1"/>
          </a:xfrm>
          <a:prstGeom prst="line">
            <a:avLst/>
          </a:prstGeom>
          <a:ln w="222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flipV="1">
            <a:off x="2034586" y="2852936"/>
            <a:ext cx="3905566" cy="1859677"/>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flipV="1">
            <a:off x="2077540" y="2088085"/>
            <a:ext cx="2490200" cy="2624528"/>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14 Conector recto"/>
          <p:cNvCxnSpPr/>
          <p:nvPr/>
        </p:nvCxnSpPr>
        <p:spPr>
          <a:xfrm flipV="1">
            <a:off x="2034586" y="2318919"/>
            <a:ext cx="2753438" cy="1786014"/>
          </a:xfrm>
          <a:prstGeom prst="line">
            <a:avLst/>
          </a:prstGeom>
          <a:ln w="34925">
            <a:solidFill>
              <a:srgbClr val="92D050"/>
            </a:solidFill>
          </a:ln>
        </p:spPr>
        <p:style>
          <a:lnRef idx="1">
            <a:schemeClr val="accent1"/>
          </a:lnRef>
          <a:fillRef idx="0">
            <a:schemeClr val="accent1"/>
          </a:fillRef>
          <a:effectRef idx="0">
            <a:schemeClr val="accent1"/>
          </a:effectRef>
          <a:fontRef idx="minor">
            <a:schemeClr val="tx1"/>
          </a:fontRef>
        </p:style>
      </p:cxnSp>
      <p:sp>
        <p:nvSpPr>
          <p:cNvPr id="38" name="37 Elipse"/>
          <p:cNvSpPr/>
          <p:nvPr/>
        </p:nvSpPr>
        <p:spPr>
          <a:xfrm flipH="1">
            <a:off x="3585783" y="3011009"/>
            <a:ext cx="130859" cy="1080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0" name="39 CuadroTexto"/>
          <p:cNvSpPr txBox="1"/>
          <p:nvPr/>
        </p:nvSpPr>
        <p:spPr>
          <a:xfrm>
            <a:off x="4650432" y="1784212"/>
            <a:ext cx="2142116" cy="276999"/>
          </a:xfrm>
          <a:prstGeom prst="rect">
            <a:avLst/>
          </a:prstGeom>
          <a:noFill/>
        </p:spPr>
        <p:txBody>
          <a:bodyPr wrap="square" rtlCol="0">
            <a:spAutoFit/>
          </a:bodyPr>
          <a:lstStyle/>
          <a:p>
            <a:r>
              <a:rPr lang="es-ES_tradnl" sz="1200" b="1" dirty="0"/>
              <a:t>I (Ingresos totales) (paso 5º)</a:t>
            </a:r>
            <a:endParaRPr lang="es-ES" sz="1200" b="1" dirty="0"/>
          </a:p>
        </p:txBody>
      </p:sp>
      <p:sp>
        <p:nvSpPr>
          <p:cNvPr id="41" name="40 CuadroTexto"/>
          <p:cNvSpPr txBox="1"/>
          <p:nvPr/>
        </p:nvSpPr>
        <p:spPr>
          <a:xfrm>
            <a:off x="4854757" y="2180419"/>
            <a:ext cx="3085050" cy="276999"/>
          </a:xfrm>
          <a:prstGeom prst="rect">
            <a:avLst/>
          </a:prstGeom>
          <a:noFill/>
        </p:spPr>
        <p:txBody>
          <a:bodyPr wrap="square" rtlCol="0">
            <a:spAutoFit/>
          </a:bodyPr>
          <a:lstStyle/>
          <a:p>
            <a:r>
              <a:rPr lang="es-ES_tradnl" sz="1200" b="1" dirty="0"/>
              <a:t>CT (Costes totales)= CF+CV  (paso 4º)</a:t>
            </a:r>
            <a:endParaRPr lang="es-ES" sz="1200" b="1" dirty="0"/>
          </a:p>
        </p:txBody>
      </p:sp>
      <p:sp>
        <p:nvSpPr>
          <p:cNvPr id="47" name="46 CuadroTexto"/>
          <p:cNvSpPr txBox="1"/>
          <p:nvPr/>
        </p:nvSpPr>
        <p:spPr>
          <a:xfrm>
            <a:off x="6017385" y="2734010"/>
            <a:ext cx="2354470" cy="276999"/>
          </a:xfrm>
          <a:prstGeom prst="rect">
            <a:avLst/>
          </a:prstGeom>
          <a:noFill/>
        </p:spPr>
        <p:txBody>
          <a:bodyPr wrap="square" rtlCol="0">
            <a:spAutoFit/>
          </a:bodyPr>
          <a:lstStyle/>
          <a:p>
            <a:r>
              <a:rPr lang="es-ES_tradnl" sz="1200" b="1" dirty="0"/>
              <a:t>CV (Costes variables) (paso 3º)</a:t>
            </a:r>
            <a:endParaRPr lang="es-ES" sz="1200" b="1" dirty="0"/>
          </a:p>
        </p:txBody>
      </p:sp>
      <p:sp>
        <p:nvSpPr>
          <p:cNvPr id="52" name="51 CuadroTexto"/>
          <p:cNvSpPr txBox="1"/>
          <p:nvPr/>
        </p:nvSpPr>
        <p:spPr>
          <a:xfrm>
            <a:off x="6002016" y="3966433"/>
            <a:ext cx="1937791" cy="276999"/>
          </a:xfrm>
          <a:prstGeom prst="rect">
            <a:avLst/>
          </a:prstGeom>
          <a:noFill/>
        </p:spPr>
        <p:txBody>
          <a:bodyPr wrap="square" rtlCol="0">
            <a:spAutoFit/>
          </a:bodyPr>
          <a:lstStyle/>
          <a:p>
            <a:r>
              <a:rPr lang="es-ES_tradnl" sz="1200" b="1" dirty="0"/>
              <a:t>CF (Costes Fijos) (paso 2º)</a:t>
            </a:r>
            <a:endParaRPr lang="es-ES" sz="1200" b="1" dirty="0"/>
          </a:p>
        </p:txBody>
      </p:sp>
    </p:spTree>
    <p:extLst>
      <p:ext uri="{BB962C8B-B14F-4D97-AF65-F5344CB8AC3E}">
        <p14:creationId xmlns:p14="http://schemas.microsoft.com/office/powerpoint/2010/main" val="4122922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E261-B7E0-3095-432D-834B42366E25}"/>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65 CuadroTexto">
                <a:extLst>
                  <a:ext uri="{FF2B5EF4-FFF2-40B4-BE49-F238E27FC236}">
                    <a16:creationId xmlns:a16="http://schemas.microsoft.com/office/drawing/2014/main" id="{E139E817-8AFD-2109-5397-A3B3788A1267}"/>
                  </a:ext>
                </a:extLst>
              </p:cNvPr>
              <p:cNvSpPr txBox="1"/>
              <p:nvPr/>
            </p:nvSpPr>
            <p:spPr>
              <a:xfrm>
                <a:off x="575556" y="980728"/>
                <a:ext cx="7992887" cy="4016741"/>
              </a:xfrm>
              <a:prstGeom prst="rect">
                <a:avLst/>
              </a:prstGeom>
              <a:noFill/>
            </p:spPr>
            <p:txBody>
              <a:bodyPr wrap="square" rtlCol="0">
                <a:spAutoFit/>
              </a:bodyPr>
              <a:lstStyle/>
              <a:p>
                <a:pPr algn="just">
                  <a:lnSpc>
                    <a:spcPct val="150000"/>
                  </a:lnSpc>
                </a:pPr>
                <a:r>
                  <a:rPr lang="es-ES_tradnl" b="1" u="sng" dirty="0"/>
                  <a:t>EJEMPLO:</a:t>
                </a:r>
              </a:p>
              <a:p>
                <a:pPr algn="just">
                  <a:lnSpc>
                    <a:spcPct val="150000"/>
                  </a:lnSpc>
                </a:pPr>
                <a:r>
                  <a:rPr lang="es-ES_tradnl" dirty="0"/>
                  <a:t>Con el ejemplo anterior, calcula el punto muerto o umbral de rentabilidad:</a:t>
                </a:r>
              </a:p>
              <a:p>
                <a:pPr algn="just">
                  <a:lnSpc>
                    <a:spcPct val="150000"/>
                  </a:lnSpc>
                </a:pPr>
                <a:r>
                  <a:rPr lang="es-ES_tradnl" dirty="0"/>
                  <a:t>Q*= CF/ (P- </a:t>
                </a:r>
                <a:r>
                  <a:rPr lang="es-ES_tradnl" dirty="0" err="1"/>
                  <a:t>Cvu</a:t>
                </a:r>
                <a:r>
                  <a:rPr lang="es-ES_tradnl" dirty="0"/>
                  <a:t>)= </a:t>
                </a:r>
                <a14:m>
                  <m:oMath xmlns:m="http://schemas.openxmlformats.org/officeDocument/2006/math">
                    <m:f>
                      <m:fPr>
                        <m:ctrlPr>
                          <a:rPr lang="es-ES_tradnl" i="1" smtClean="0">
                            <a:latin typeface="Cambria Math" panose="02040503050406030204" pitchFamily="18" charset="0"/>
                          </a:rPr>
                        </m:ctrlPr>
                      </m:fPr>
                      <m:num>
                        <m:r>
                          <a:rPr lang="es-ES" b="0" i="1" smtClean="0">
                            <a:latin typeface="Cambria Math" panose="02040503050406030204" pitchFamily="18" charset="0"/>
                          </a:rPr>
                          <m:t>13.300</m:t>
                        </m:r>
                      </m:num>
                      <m:den>
                        <m:r>
                          <a:rPr lang="es-ES" b="0" i="1" smtClean="0">
                            <a:latin typeface="Cambria Math" panose="02040503050406030204" pitchFamily="18" charset="0"/>
                          </a:rPr>
                          <m:t>(25 −18)</m:t>
                        </m:r>
                      </m:den>
                    </m:f>
                  </m:oMath>
                </a14:m>
                <a:r>
                  <a:rPr lang="es-ES_tradnl" dirty="0"/>
                  <a:t>= 1.900 libros son necesarios para cubrir todos los gastos</a:t>
                </a:r>
              </a:p>
              <a:p>
                <a:pPr algn="just">
                  <a:lnSpc>
                    <a:spcPct val="150000"/>
                  </a:lnSpc>
                </a:pPr>
                <a:endParaRPr lang="es-ES_tradnl" dirty="0"/>
              </a:p>
              <a:p>
                <a:pPr algn="just">
                  <a:lnSpc>
                    <a:spcPct val="150000"/>
                  </a:lnSpc>
                </a:pPr>
                <a:r>
                  <a:rPr lang="es-ES_tradnl" dirty="0"/>
                  <a:t>Como las ventas de la empresa son 1.500ud , la empresa está teniendo pérdidas.</a:t>
                </a:r>
              </a:p>
              <a:p>
                <a:pPr algn="just">
                  <a:lnSpc>
                    <a:spcPct val="150000"/>
                  </a:lnSpc>
                </a:pPr>
                <a:r>
                  <a:rPr lang="es-ES_tradnl" dirty="0"/>
                  <a:t>Posibles soluciones:</a:t>
                </a:r>
              </a:p>
              <a:p>
                <a:pPr marL="285750" indent="-285750" algn="just">
                  <a:lnSpc>
                    <a:spcPct val="150000"/>
                  </a:lnSpc>
                  <a:buFont typeface="Arial" panose="020B0604020202020204" pitchFamily="34" charset="0"/>
                  <a:buChar char="•"/>
                </a:pPr>
                <a:r>
                  <a:rPr lang="es-ES_tradnl" dirty="0"/>
                  <a:t>Vender más libros hasta llegar a 1.900 </a:t>
                </a:r>
                <a:r>
                  <a:rPr lang="es-ES_tradnl" dirty="0" err="1"/>
                  <a:t>ud</a:t>
                </a:r>
                <a:endParaRPr lang="es-ES_tradnl" dirty="0"/>
              </a:p>
              <a:p>
                <a:pPr marL="285750" indent="-285750" algn="just">
                  <a:lnSpc>
                    <a:spcPct val="150000"/>
                  </a:lnSpc>
                  <a:buFont typeface="Arial" panose="020B0604020202020204" pitchFamily="34" charset="0"/>
                  <a:buChar char="•"/>
                </a:pPr>
                <a:r>
                  <a:rPr lang="es-ES_tradnl" dirty="0"/>
                  <a:t>Subir el precio para cubrir gastos</a:t>
                </a:r>
              </a:p>
              <a:p>
                <a:pPr marL="285750" indent="-285750" algn="just">
                  <a:lnSpc>
                    <a:spcPct val="150000"/>
                  </a:lnSpc>
                  <a:buFont typeface="Arial" panose="020B0604020202020204" pitchFamily="34" charset="0"/>
                  <a:buChar char="•"/>
                </a:pPr>
                <a:r>
                  <a:rPr lang="es-ES_tradnl" dirty="0"/>
                  <a:t>Renegociar los precios con proveedores e intentar reducir costes</a:t>
                </a:r>
              </a:p>
            </p:txBody>
          </p:sp>
        </mc:Choice>
        <mc:Fallback>
          <p:sp>
            <p:nvSpPr>
              <p:cNvPr id="10" name="65 CuadroTexto">
                <a:extLst>
                  <a:ext uri="{FF2B5EF4-FFF2-40B4-BE49-F238E27FC236}">
                    <a16:creationId xmlns:a16="http://schemas.microsoft.com/office/drawing/2014/main" id="{E139E817-8AFD-2109-5397-A3B3788A1267}"/>
                  </a:ext>
                </a:extLst>
              </p:cNvPr>
              <p:cNvSpPr txBox="1">
                <a:spLocks noRot="1" noChangeAspect="1" noMove="1" noResize="1" noEditPoints="1" noAdjustHandles="1" noChangeArrowheads="1" noChangeShapeType="1" noTextEdit="1"/>
              </p:cNvSpPr>
              <p:nvPr/>
            </p:nvSpPr>
            <p:spPr>
              <a:xfrm>
                <a:off x="575556" y="980728"/>
                <a:ext cx="7992887" cy="4016741"/>
              </a:xfrm>
              <a:prstGeom prst="rect">
                <a:avLst/>
              </a:prstGeom>
              <a:blipFill>
                <a:blip r:embed="rId2"/>
                <a:stretch>
                  <a:fillRect l="-635" b="-1262"/>
                </a:stretch>
              </a:blipFill>
            </p:spPr>
            <p:txBody>
              <a:bodyPr/>
              <a:lstStyle/>
              <a:p>
                <a:r>
                  <a:rPr lang="es-ES_tradnl">
                    <a:noFill/>
                  </a:rPr>
                  <a:t> </a:t>
                </a:r>
              </a:p>
            </p:txBody>
          </p:sp>
        </mc:Fallback>
      </mc:AlternateContent>
    </p:spTree>
    <p:extLst>
      <p:ext uri="{BB962C8B-B14F-4D97-AF65-F5344CB8AC3E}">
        <p14:creationId xmlns:p14="http://schemas.microsoft.com/office/powerpoint/2010/main" val="25751336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20 CuadroTexto">
            <a:extLst>
              <a:ext uri="{FF2B5EF4-FFF2-40B4-BE49-F238E27FC236}">
                <a16:creationId xmlns:a16="http://schemas.microsoft.com/office/drawing/2014/main" id="{3B6EB503-1401-42B2-A1F8-BF807D63317A}"/>
              </a:ext>
            </a:extLst>
          </p:cNvPr>
          <p:cNvSpPr txBox="1"/>
          <p:nvPr/>
        </p:nvSpPr>
        <p:spPr>
          <a:xfrm>
            <a:off x="421849" y="1136696"/>
            <a:ext cx="5904656"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s-ES_tradnl" b="1" dirty="0"/>
              <a:t>B) Cálculo de Beneficios y precios de venta a partir de costes</a:t>
            </a:r>
            <a:endParaRPr lang="es-ES" b="1" dirty="0"/>
          </a:p>
        </p:txBody>
      </p:sp>
      <p:sp>
        <p:nvSpPr>
          <p:cNvPr id="17" name="23 CuadroTexto">
            <a:extLst>
              <a:ext uri="{FF2B5EF4-FFF2-40B4-BE49-F238E27FC236}">
                <a16:creationId xmlns:a16="http://schemas.microsoft.com/office/drawing/2014/main" id="{B0D593B5-4B00-4E05-BCFA-C98C7521148F}"/>
              </a:ext>
            </a:extLst>
          </p:cNvPr>
          <p:cNvSpPr txBox="1"/>
          <p:nvPr/>
        </p:nvSpPr>
        <p:spPr>
          <a:xfrm>
            <a:off x="500178" y="1687101"/>
            <a:ext cx="7744229" cy="1084912"/>
          </a:xfrm>
          <a:prstGeom prst="rect">
            <a:avLst/>
          </a:prstGeom>
          <a:noFill/>
        </p:spPr>
        <p:txBody>
          <a:bodyPr wrap="square" rtlCol="0">
            <a:spAutoFit/>
          </a:bodyPr>
          <a:lstStyle/>
          <a:p>
            <a:r>
              <a:rPr lang="es-ES_tradnl" b="1" dirty="0"/>
              <a:t>1. Cálculo del beneficio:</a:t>
            </a:r>
          </a:p>
          <a:p>
            <a:r>
              <a:rPr lang="es-ES_tradnl" b="1" dirty="0"/>
              <a:t>Beneficios</a:t>
            </a:r>
            <a:r>
              <a:rPr lang="es-ES_tradnl" dirty="0"/>
              <a:t> = Ingresos Totales – Costes Totales </a:t>
            </a:r>
            <a:r>
              <a:rPr lang="es-ES_tradnl" dirty="0">
                <a:sym typeface="Wingdings" panose="05000000000000000000" pitchFamily="2" charset="2"/>
              </a:rPr>
              <a:t> </a:t>
            </a:r>
            <a:r>
              <a:rPr lang="es-ES_tradnl" b="1" dirty="0"/>
              <a:t>B˚ = </a:t>
            </a:r>
            <a:r>
              <a:rPr lang="es-ES_tradnl" b="1" dirty="0">
                <a:solidFill>
                  <a:schemeClr val="accent6">
                    <a:lumMod val="75000"/>
                  </a:schemeClr>
                </a:solidFill>
              </a:rPr>
              <a:t>IT </a:t>
            </a:r>
            <a:r>
              <a:rPr lang="es-ES_tradnl" b="1" dirty="0"/>
              <a:t>– CT</a:t>
            </a:r>
          </a:p>
          <a:p>
            <a:endParaRPr lang="es-ES_tradnl" sz="1050" b="1" dirty="0"/>
          </a:p>
          <a:p>
            <a:r>
              <a:rPr lang="es-ES_tradnl" b="1" dirty="0"/>
              <a:t>B˚ = (</a:t>
            </a:r>
            <a:r>
              <a:rPr lang="es-ES_tradnl" b="1" dirty="0">
                <a:solidFill>
                  <a:schemeClr val="accent6">
                    <a:lumMod val="75000"/>
                  </a:schemeClr>
                </a:solidFill>
              </a:rPr>
              <a:t>P x Q</a:t>
            </a:r>
            <a:r>
              <a:rPr lang="es-ES_tradnl" b="1" dirty="0"/>
              <a:t>) – (</a:t>
            </a:r>
            <a:r>
              <a:rPr lang="es-ES_tradnl" b="1" dirty="0">
                <a:solidFill>
                  <a:srgbClr val="00B050"/>
                </a:solidFill>
              </a:rPr>
              <a:t>CF</a:t>
            </a:r>
            <a:r>
              <a:rPr lang="es-ES_tradnl" b="1" dirty="0"/>
              <a:t> + </a:t>
            </a:r>
            <a:r>
              <a:rPr lang="es-ES_tradnl" b="1" dirty="0" err="1">
                <a:solidFill>
                  <a:schemeClr val="tx2">
                    <a:lumMod val="60000"/>
                    <a:lumOff val="40000"/>
                  </a:schemeClr>
                </a:solidFill>
              </a:rPr>
              <a:t>CVunit</a:t>
            </a:r>
            <a:r>
              <a:rPr lang="es-ES_tradnl" b="1" dirty="0">
                <a:solidFill>
                  <a:schemeClr val="tx2">
                    <a:lumMod val="60000"/>
                    <a:lumOff val="40000"/>
                  </a:schemeClr>
                </a:solidFill>
              </a:rPr>
              <a:t> x Q</a:t>
            </a:r>
            <a:r>
              <a:rPr lang="es-ES_tradnl" b="1" dirty="0"/>
              <a:t>)</a:t>
            </a:r>
            <a:endParaRPr lang="es-ES" b="1" dirty="0"/>
          </a:p>
        </p:txBody>
      </p:sp>
      <p:sp>
        <p:nvSpPr>
          <p:cNvPr id="22" name="27 CuadroTexto">
            <a:extLst>
              <a:ext uri="{FF2B5EF4-FFF2-40B4-BE49-F238E27FC236}">
                <a16:creationId xmlns:a16="http://schemas.microsoft.com/office/drawing/2014/main" id="{5A811ED6-6E2C-453E-8046-A796B04FBD14}"/>
              </a:ext>
            </a:extLst>
          </p:cNvPr>
          <p:cNvSpPr txBox="1"/>
          <p:nvPr/>
        </p:nvSpPr>
        <p:spPr>
          <a:xfrm>
            <a:off x="460359" y="3099095"/>
            <a:ext cx="7784048" cy="369332"/>
          </a:xfrm>
          <a:prstGeom prst="rect">
            <a:avLst/>
          </a:prstGeom>
          <a:noFill/>
        </p:spPr>
        <p:txBody>
          <a:bodyPr wrap="square" rtlCol="0">
            <a:spAutoFit/>
          </a:bodyPr>
          <a:lstStyle/>
          <a:p>
            <a:r>
              <a:rPr lang="es-ES_tradnl" b="1" dirty="0"/>
              <a:t>2. Cálculo del precio de venta:</a:t>
            </a:r>
            <a:endParaRPr lang="es-ES" dirty="0"/>
          </a:p>
        </p:txBody>
      </p:sp>
      <p:sp>
        <p:nvSpPr>
          <p:cNvPr id="23" name="33 CuadroTexto">
            <a:extLst>
              <a:ext uri="{FF2B5EF4-FFF2-40B4-BE49-F238E27FC236}">
                <a16:creationId xmlns:a16="http://schemas.microsoft.com/office/drawing/2014/main" id="{F699B368-557E-4800-AA9B-A6F224A109D3}"/>
              </a:ext>
            </a:extLst>
          </p:cNvPr>
          <p:cNvSpPr txBox="1"/>
          <p:nvPr/>
        </p:nvSpPr>
        <p:spPr>
          <a:xfrm>
            <a:off x="460557" y="3509139"/>
            <a:ext cx="8051941" cy="369332"/>
          </a:xfrm>
          <a:prstGeom prst="rect">
            <a:avLst/>
          </a:prstGeom>
          <a:noFill/>
        </p:spPr>
        <p:txBody>
          <a:bodyPr wrap="square" rtlCol="0">
            <a:spAutoFit/>
          </a:bodyPr>
          <a:lstStyle/>
          <a:p>
            <a:r>
              <a:rPr lang="es-ES_tradnl" b="1" dirty="0"/>
              <a:t>A) Calculo del precio técnico: </a:t>
            </a:r>
            <a:r>
              <a:rPr lang="es-ES_tradnl" dirty="0"/>
              <a:t>permite cubrir todos los gastos (fijos y variables).</a:t>
            </a:r>
            <a:endParaRPr lang="es-ES" dirty="0"/>
          </a:p>
        </p:txBody>
      </p:sp>
      <mc:AlternateContent xmlns:mc="http://schemas.openxmlformats.org/markup-compatibility/2006">
        <mc:Choice xmlns:a14="http://schemas.microsoft.com/office/drawing/2010/main" Requires="a14">
          <p:sp>
            <p:nvSpPr>
              <p:cNvPr id="24" name="1 CuadroTexto">
                <a:extLst>
                  <a:ext uri="{FF2B5EF4-FFF2-40B4-BE49-F238E27FC236}">
                    <a16:creationId xmlns:a16="http://schemas.microsoft.com/office/drawing/2014/main" id="{631DEE46-1BB3-4C1B-ADDF-D8F2DD4FB1EF}"/>
                  </a:ext>
                </a:extLst>
              </p:cNvPr>
              <p:cNvSpPr txBox="1"/>
              <p:nvPr/>
            </p:nvSpPr>
            <p:spPr>
              <a:xfrm>
                <a:off x="2243913" y="4036338"/>
                <a:ext cx="1066253" cy="65409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b="1" i="1" smtClean="0">
                              <a:latin typeface="Cambria Math" panose="02040503050406030204" pitchFamily="18" charset="0"/>
                            </a:rPr>
                          </m:ctrlPr>
                        </m:sSubPr>
                        <m:e>
                          <m:r>
                            <a:rPr lang="es-ES_tradnl" b="1" i="1" smtClean="0">
                              <a:latin typeface="Cambria Math"/>
                            </a:rPr>
                            <m:t>𝑷</m:t>
                          </m:r>
                        </m:e>
                        <m:sub>
                          <m:r>
                            <a:rPr lang="es-ES_tradnl" b="1" i="1" smtClean="0">
                              <a:latin typeface="Cambria Math"/>
                            </a:rPr>
                            <m:t>𝒕</m:t>
                          </m:r>
                        </m:sub>
                      </m:sSub>
                      <m:r>
                        <a:rPr lang="es-ES_tradnl" b="1" i="1" smtClean="0">
                          <a:latin typeface="Cambria Math"/>
                        </a:rPr>
                        <m:t>=</m:t>
                      </m:r>
                      <m:f>
                        <m:fPr>
                          <m:ctrlPr>
                            <a:rPr lang="pt-BR" b="1" i="1">
                              <a:latin typeface="Cambria Math" panose="02040503050406030204" pitchFamily="18" charset="0"/>
                            </a:rPr>
                          </m:ctrlPr>
                        </m:fPr>
                        <m:num>
                          <m:r>
                            <a:rPr lang="es-ES_tradnl" b="1" i="1">
                              <a:latin typeface="Cambria Math"/>
                            </a:rPr>
                            <m:t>𝑪𝑻</m:t>
                          </m:r>
                        </m:num>
                        <m:den>
                          <m:r>
                            <a:rPr lang="es-ES_tradnl" b="1" i="1">
                              <a:latin typeface="Cambria Math"/>
                            </a:rPr>
                            <m:t>𝑸</m:t>
                          </m:r>
                        </m:den>
                      </m:f>
                    </m:oMath>
                  </m:oMathPara>
                </a14:m>
                <a:endParaRPr lang="es-ES" b="1" dirty="0"/>
              </a:p>
            </p:txBody>
          </p:sp>
        </mc:Choice>
        <mc:Fallback>
          <p:sp>
            <p:nvSpPr>
              <p:cNvPr id="24" name="1 CuadroTexto">
                <a:extLst>
                  <a:ext uri="{FF2B5EF4-FFF2-40B4-BE49-F238E27FC236}">
                    <a16:creationId xmlns:a16="http://schemas.microsoft.com/office/drawing/2014/main" id="{631DEE46-1BB3-4C1B-ADDF-D8F2DD4FB1EF}"/>
                  </a:ext>
                </a:extLst>
              </p:cNvPr>
              <p:cNvSpPr txBox="1">
                <a:spLocks noRot="1" noChangeAspect="1" noMove="1" noResize="1" noEditPoints="1" noAdjustHandles="1" noChangeArrowheads="1" noChangeShapeType="1" noTextEdit="1"/>
              </p:cNvSpPr>
              <p:nvPr/>
            </p:nvSpPr>
            <p:spPr>
              <a:xfrm>
                <a:off x="2243913" y="4036338"/>
                <a:ext cx="1066253" cy="654090"/>
              </a:xfrm>
              <a:prstGeom prst="rect">
                <a:avLst/>
              </a:prstGeom>
              <a:blipFill>
                <a:blip r:embed="rId2"/>
                <a:stretch>
                  <a:fillRect b="-3774"/>
                </a:stretch>
              </a:blipFill>
            </p:spPr>
            <p:txBody>
              <a:bodyPr/>
              <a:lstStyle/>
              <a:p>
                <a:r>
                  <a:rPr lang="es-ES_tradnl">
                    <a:noFill/>
                  </a:rPr>
                  <a:t> </a:t>
                </a:r>
              </a:p>
            </p:txBody>
          </p:sp>
        </mc:Fallback>
      </mc:AlternateContent>
      <mc:AlternateContent xmlns:mc="http://schemas.openxmlformats.org/markup-compatibility/2006">
        <mc:Choice xmlns:a14="http://schemas.microsoft.com/office/drawing/2010/main" Requires="a14">
          <p:sp>
            <p:nvSpPr>
              <p:cNvPr id="26" name="35 CuadroTexto">
                <a:extLst>
                  <a:ext uri="{FF2B5EF4-FFF2-40B4-BE49-F238E27FC236}">
                    <a16:creationId xmlns:a16="http://schemas.microsoft.com/office/drawing/2014/main" id="{1DABCB7A-B797-4768-A995-AED1DB1D28D3}"/>
                  </a:ext>
                </a:extLst>
              </p:cNvPr>
              <p:cNvSpPr txBox="1"/>
              <p:nvPr/>
            </p:nvSpPr>
            <p:spPr>
              <a:xfrm>
                <a:off x="4289588" y="4102061"/>
                <a:ext cx="2637337" cy="522644"/>
              </a:xfrm>
              <a:prstGeom prst="rect">
                <a:avLst/>
              </a:prstGeom>
              <a:noFill/>
            </p:spPr>
            <p:txBody>
              <a:bodyPr wrap="square" rtlCol="0">
                <a:spAutoFit/>
              </a:bodyPr>
              <a:lstStyle/>
              <a:p>
                <a14:m>
                  <m:oMath xmlns:m="http://schemas.openxmlformats.org/officeDocument/2006/math">
                    <m:sSub>
                      <m:sSubPr>
                        <m:ctrlPr>
                          <a:rPr lang="pt-BR" b="1" i="1" smtClean="0">
                            <a:latin typeface="Cambria Math" panose="02040503050406030204" pitchFamily="18" charset="0"/>
                          </a:rPr>
                        </m:ctrlPr>
                      </m:sSubPr>
                      <m:e>
                        <m:r>
                          <a:rPr lang="es-ES_tradnl" b="1" i="1" smtClean="0">
                            <a:latin typeface="Cambria Math"/>
                          </a:rPr>
                          <m:t>𝑷</m:t>
                        </m:r>
                      </m:e>
                      <m:sub>
                        <m:r>
                          <a:rPr lang="es-ES_tradnl" b="1" i="1" smtClean="0">
                            <a:latin typeface="Cambria Math"/>
                          </a:rPr>
                          <m:t>𝒕</m:t>
                        </m:r>
                      </m:sub>
                    </m:sSub>
                    <m:r>
                      <a:rPr lang="es-ES_tradnl" b="1" i="1" smtClean="0">
                        <a:latin typeface="Cambria Math"/>
                      </a:rPr>
                      <m:t>=</m:t>
                    </m:r>
                    <m:f>
                      <m:fPr>
                        <m:ctrlPr>
                          <a:rPr lang="pt-BR" b="1" i="1">
                            <a:latin typeface="Cambria Math" panose="02040503050406030204" pitchFamily="18" charset="0"/>
                          </a:rPr>
                        </m:ctrlPr>
                      </m:fPr>
                      <m:num>
                        <m:r>
                          <a:rPr lang="es-ES_tradnl" b="1" i="1">
                            <a:latin typeface="Cambria Math"/>
                          </a:rPr>
                          <m:t>𝑪𝑻</m:t>
                        </m:r>
                      </m:num>
                      <m:den>
                        <m:r>
                          <a:rPr lang="es-ES_tradnl" b="1" i="1">
                            <a:latin typeface="Cambria Math"/>
                          </a:rPr>
                          <m:t>𝑸</m:t>
                        </m:r>
                      </m:den>
                    </m:f>
                  </m:oMath>
                </a14:m>
                <a:r>
                  <a:rPr lang="es-ES" b="1" dirty="0"/>
                  <a:t> = </a:t>
                </a:r>
                <a:r>
                  <a:rPr lang="pt-BR" b="1" dirty="0"/>
                  <a:t> </a:t>
                </a:r>
                <a14:m>
                  <m:oMath xmlns:m="http://schemas.openxmlformats.org/officeDocument/2006/math">
                    <m:f>
                      <m:fPr>
                        <m:ctrlPr>
                          <a:rPr lang="pt-BR" b="1" i="1">
                            <a:latin typeface="Cambria Math" panose="02040503050406030204" pitchFamily="18" charset="0"/>
                          </a:rPr>
                        </m:ctrlPr>
                      </m:fPr>
                      <m:num>
                        <m:r>
                          <a:rPr lang="es-ES_tradnl" b="1" i="1" smtClean="0">
                            <a:solidFill>
                              <a:srgbClr val="00B050"/>
                            </a:solidFill>
                            <a:latin typeface="Cambria Math"/>
                          </a:rPr>
                          <m:t>𝑪𝑭</m:t>
                        </m:r>
                      </m:num>
                      <m:den>
                        <m:r>
                          <a:rPr lang="es-ES_tradnl" b="1" i="1">
                            <a:latin typeface="Cambria Math"/>
                          </a:rPr>
                          <m:t>𝑸</m:t>
                        </m:r>
                      </m:den>
                    </m:f>
                    <m:r>
                      <a:rPr lang="es-ES_tradnl" b="1" i="1" smtClean="0">
                        <a:latin typeface="Cambria Math"/>
                      </a:rPr>
                      <m:t>+</m:t>
                    </m:r>
                    <m:r>
                      <a:rPr lang="es-ES_tradnl" b="1" i="1" smtClean="0">
                        <a:solidFill>
                          <a:schemeClr val="tx2">
                            <a:lumMod val="60000"/>
                            <a:lumOff val="40000"/>
                          </a:schemeClr>
                        </a:solidFill>
                        <a:latin typeface="Cambria Math"/>
                      </a:rPr>
                      <m:t>𝑪</m:t>
                    </m:r>
                    <m:r>
                      <a:rPr lang="es-ES" b="1" i="1" smtClean="0">
                        <a:solidFill>
                          <a:schemeClr val="tx2">
                            <a:lumMod val="60000"/>
                            <a:lumOff val="40000"/>
                          </a:schemeClr>
                        </a:solidFill>
                        <a:latin typeface="Cambria Math" panose="02040503050406030204" pitchFamily="18" charset="0"/>
                      </a:rPr>
                      <m:t>𝑽𝒖𝒏𝒊𝒕</m:t>
                    </m:r>
                  </m:oMath>
                </a14:m>
                <a:r>
                  <a:rPr lang="es-ES" b="1" dirty="0"/>
                  <a:t> </a:t>
                </a:r>
              </a:p>
            </p:txBody>
          </p:sp>
        </mc:Choice>
        <mc:Fallback>
          <p:sp>
            <p:nvSpPr>
              <p:cNvPr id="26" name="35 CuadroTexto">
                <a:extLst>
                  <a:ext uri="{FF2B5EF4-FFF2-40B4-BE49-F238E27FC236}">
                    <a16:creationId xmlns:a16="http://schemas.microsoft.com/office/drawing/2014/main" id="{1DABCB7A-B797-4768-A995-AED1DB1D28D3}"/>
                  </a:ext>
                </a:extLst>
              </p:cNvPr>
              <p:cNvSpPr txBox="1">
                <a:spLocks noRot="1" noChangeAspect="1" noMove="1" noResize="1" noEditPoints="1" noAdjustHandles="1" noChangeArrowheads="1" noChangeShapeType="1" noTextEdit="1"/>
              </p:cNvSpPr>
              <p:nvPr/>
            </p:nvSpPr>
            <p:spPr>
              <a:xfrm>
                <a:off x="4289588" y="4102061"/>
                <a:ext cx="2637337" cy="522644"/>
              </a:xfrm>
              <a:prstGeom prst="rect">
                <a:avLst/>
              </a:prstGeom>
              <a:blipFill>
                <a:blip r:embed="rId3"/>
                <a:stretch>
                  <a:fillRect b="-2381"/>
                </a:stretch>
              </a:blipFill>
            </p:spPr>
            <p:txBody>
              <a:bodyPr/>
              <a:lstStyle/>
              <a:p>
                <a:r>
                  <a:rPr lang="es-ES_tradnl">
                    <a:noFill/>
                  </a:rPr>
                  <a:t> </a:t>
                </a:r>
              </a:p>
            </p:txBody>
          </p:sp>
        </mc:Fallback>
      </mc:AlternateContent>
      <p:sp>
        <p:nvSpPr>
          <p:cNvPr id="28" name="38 CuadroTexto">
            <a:extLst>
              <a:ext uri="{FF2B5EF4-FFF2-40B4-BE49-F238E27FC236}">
                <a16:creationId xmlns:a16="http://schemas.microsoft.com/office/drawing/2014/main" id="{36A8AA89-5676-4194-9250-0EA517ADD982}"/>
              </a:ext>
            </a:extLst>
          </p:cNvPr>
          <p:cNvSpPr txBox="1"/>
          <p:nvPr/>
        </p:nvSpPr>
        <p:spPr>
          <a:xfrm>
            <a:off x="480498" y="5135958"/>
            <a:ext cx="7907925" cy="646331"/>
          </a:xfrm>
          <a:prstGeom prst="rect">
            <a:avLst/>
          </a:prstGeom>
          <a:noFill/>
        </p:spPr>
        <p:txBody>
          <a:bodyPr wrap="square" rtlCol="0">
            <a:spAutoFit/>
          </a:bodyPr>
          <a:lstStyle/>
          <a:p>
            <a:r>
              <a:rPr lang="es-ES_tradnl" b="1" dirty="0"/>
              <a:t>B) Cálculo del precio de venta: </a:t>
            </a:r>
            <a:r>
              <a:rPr lang="es-ES_tradnl" dirty="0"/>
              <a:t>añadiendo al precio técnico el margen que queremos ganar</a:t>
            </a:r>
            <a:endParaRPr lang="es-ES" dirty="0"/>
          </a:p>
        </p:txBody>
      </p:sp>
      <mc:AlternateContent xmlns:mc="http://schemas.openxmlformats.org/markup-compatibility/2006">
        <mc:Choice xmlns:a14="http://schemas.microsoft.com/office/drawing/2010/main" Requires="a14">
          <p:sp>
            <p:nvSpPr>
              <p:cNvPr id="29" name="41 CuadroTexto">
                <a:extLst>
                  <a:ext uri="{FF2B5EF4-FFF2-40B4-BE49-F238E27FC236}">
                    <a16:creationId xmlns:a16="http://schemas.microsoft.com/office/drawing/2014/main" id="{30ADCED9-E240-4179-A6D2-5F0E5802114C}"/>
                  </a:ext>
                </a:extLst>
              </p:cNvPr>
              <p:cNvSpPr txBox="1"/>
              <p:nvPr/>
            </p:nvSpPr>
            <p:spPr>
              <a:xfrm>
                <a:off x="2643300" y="5721304"/>
                <a:ext cx="329257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b="1" i="1" smtClean="0">
                              <a:latin typeface="Cambria Math" panose="02040503050406030204" pitchFamily="18" charset="0"/>
                            </a:rPr>
                          </m:ctrlPr>
                        </m:sSubPr>
                        <m:e>
                          <m:r>
                            <a:rPr lang="es-ES_tradnl" b="1" i="1" smtClean="0">
                              <a:latin typeface="Cambria Math"/>
                            </a:rPr>
                            <m:t>𝑷𝑽</m:t>
                          </m:r>
                          <m:r>
                            <a:rPr lang="es-ES_tradnl" b="1" i="1" smtClean="0">
                              <a:latin typeface="Cambria Math"/>
                            </a:rPr>
                            <m:t>=</m:t>
                          </m:r>
                          <m:r>
                            <a:rPr lang="es-ES_tradnl" b="1" i="1" smtClean="0">
                              <a:latin typeface="Cambria Math"/>
                            </a:rPr>
                            <m:t>𝑷</m:t>
                          </m:r>
                        </m:e>
                        <m:sub>
                          <m:r>
                            <a:rPr lang="es-ES_tradnl" b="1" i="1" smtClean="0">
                              <a:latin typeface="Cambria Math"/>
                            </a:rPr>
                            <m:t>𝒕</m:t>
                          </m:r>
                          <m:r>
                            <a:rPr lang="es-ES_tradnl" b="1" i="1" smtClean="0">
                              <a:latin typeface="Cambria Math"/>
                            </a:rPr>
                            <m:t> </m:t>
                          </m:r>
                        </m:sub>
                      </m:sSub>
                      <m:r>
                        <a:rPr lang="es-ES_tradnl" b="1" i="1" smtClean="0">
                          <a:latin typeface="Cambria Math"/>
                        </a:rPr>
                        <m:t>𝒙</m:t>
                      </m:r>
                      <m:r>
                        <a:rPr lang="es-ES_tradnl" b="1" i="1" smtClean="0">
                          <a:latin typeface="Cambria Math"/>
                        </a:rPr>
                        <m:t> (</m:t>
                      </m:r>
                      <m:r>
                        <a:rPr lang="es-ES_tradnl" b="1" i="1" smtClean="0">
                          <a:latin typeface="Cambria Math"/>
                        </a:rPr>
                        <m:t>𝟏</m:t>
                      </m:r>
                      <m:r>
                        <a:rPr lang="es-ES_tradnl" b="1" i="1" smtClean="0">
                          <a:latin typeface="Cambria Math"/>
                        </a:rPr>
                        <m:t>+</m:t>
                      </m:r>
                      <m:r>
                        <a:rPr lang="es-ES_tradnl" b="1" i="1" smtClean="0">
                          <a:latin typeface="Cambria Math"/>
                        </a:rPr>
                        <m:t>𝒎𝒂𝒓𝒈𝒆𝒏</m:t>
                      </m:r>
                      <m:r>
                        <a:rPr lang="es-ES_tradnl" b="1" i="1" smtClean="0">
                          <a:latin typeface="Cambria Math"/>
                        </a:rPr>
                        <m:t>)</m:t>
                      </m:r>
                    </m:oMath>
                  </m:oMathPara>
                </a14:m>
                <a:endParaRPr lang="es-ES" b="1" dirty="0"/>
              </a:p>
            </p:txBody>
          </p:sp>
        </mc:Choice>
        <mc:Fallback>
          <p:sp>
            <p:nvSpPr>
              <p:cNvPr id="29" name="41 CuadroTexto">
                <a:extLst>
                  <a:ext uri="{FF2B5EF4-FFF2-40B4-BE49-F238E27FC236}">
                    <a16:creationId xmlns:a16="http://schemas.microsoft.com/office/drawing/2014/main" id="{30ADCED9-E240-4179-A6D2-5F0E5802114C}"/>
                  </a:ext>
                </a:extLst>
              </p:cNvPr>
              <p:cNvSpPr txBox="1">
                <a:spLocks noRot="1" noChangeAspect="1" noMove="1" noResize="1" noEditPoints="1" noAdjustHandles="1" noChangeArrowheads="1" noChangeShapeType="1" noTextEdit="1"/>
              </p:cNvSpPr>
              <p:nvPr/>
            </p:nvSpPr>
            <p:spPr>
              <a:xfrm>
                <a:off x="2643300" y="5721304"/>
                <a:ext cx="3292576" cy="369332"/>
              </a:xfrm>
              <a:prstGeom prst="rect">
                <a:avLst/>
              </a:prstGeom>
              <a:blipFill>
                <a:blip r:embed="rId4"/>
                <a:stretch>
                  <a:fillRect b="-16667"/>
                </a:stretch>
              </a:blipFill>
            </p:spPr>
            <p:txBody>
              <a:bodyPr/>
              <a:lstStyle/>
              <a:p>
                <a:r>
                  <a:rPr lang="es-ES_tradnl">
                    <a:noFill/>
                  </a:rPr>
                  <a:t> </a:t>
                </a:r>
              </a:p>
            </p:txBody>
          </p:sp>
        </mc:Fallback>
      </mc:AlternateContent>
    </p:spTree>
    <p:extLst>
      <p:ext uri="{BB962C8B-B14F-4D97-AF65-F5344CB8AC3E}">
        <p14:creationId xmlns:p14="http://schemas.microsoft.com/office/powerpoint/2010/main" val="40991412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C844C-87D6-560E-CB88-A94A4642394E}"/>
            </a:ext>
          </a:extLst>
        </p:cNvPr>
        <p:cNvGrpSpPr/>
        <p:nvPr/>
      </p:nvGrpSpPr>
      <p:grpSpPr>
        <a:xfrm>
          <a:off x="0" y="0"/>
          <a:ext cx="0" cy="0"/>
          <a:chOff x="0" y="0"/>
          <a:chExt cx="0" cy="0"/>
        </a:xfrm>
      </p:grpSpPr>
      <p:sp>
        <p:nvSpPr>
          <p:cNvPr id="10" name="65 CuadroTexto">
            <a:extLst>
              <a:ext uri="{FF2B5EF4-FFF2-40B4-BE49-F238E27FC236}">
                <a16:creationId xmlns:a16="http://schemas.microsoft.com/office/drawing/2014/main" id="{5E53B79B-531C-6C12-A0C6-FCF40AA5603E}"/>
              </a:ext>
            </a:extLst>
          </p:cNvPr>
          <p:cNvSpPr txBox="1"/>
          <p:nvPr/>
        </p:nvSpPr>
        <p:spPr>
          <a:xfrm>
            <a:off x="575556" y="980728"/>
            <a:ext cx="7992887" cy="4204356"/>
          </a:xfrm>
          <a:prstGeom prst="rect">
            <a:avLst/>
          </a:prstGeom>
          <a:noFill/>
        </p:spPr>
        <p:txBody>
          <a:bodyPr wrap="square" rtlCol="0">
            <a:spAutoFit/>
          </a:bodyPr>
          <a:lstStyle/>
          <a:p>
            <a:pPr algn="just">
              <a:lnSpc>
                <a:spcPct val="150000"/>
              </a:lnSpc>
            </a:pPr>
            <a:r>
              <a:rPr lang="es-ES_tradnl" b="1" u="sng" dirty="0"/>
              <a:t>EJEMPLO:</a:t>
            </a:r>
          </a:p>
          <a:p>
            <a:pPr algn="just">
              <a:lnSpc>
                <a:spcPct val="150000"/>
              </a:lnSpc>
            </a:pPr>
            <a:r>
              <a:rPr lang="es-ES" dirty="0"/>
              <a:t>A partir de los datos del ejemplo anterior, calcula el precio técnico, el precio de venta con un margen del 50% y el beneficio que se obtendría aplicando el precio de venta anterior.</a:t>
            </a:r>
          </a:p>
          <a:p>
            <a:pPr algn="just">
              <a:lnSpc>
                <a:spcPct val="150000"/>
              </a:lnSpc>
            </a:pPr>
            <a:r>
              <a:rPr lang="es-ES" dirty="0"/>
              <a:t>a) Precio técnico Pt= CT/Q= CF/Q + </a:t>
            </a:r>
            <a:r>
              <a:rPr lang="es-ES" dirty="0" err="1"/>
              <a:t>Cvu</a:t>
            </a:r>
            <a:endParaRPr lang="es-ES" dirty="0"/>
          </a:p>
          <a:p>
            <a:pPr algn="just">
              <a:lnSpc>
                <a:spcPct val="150000"/>
              </a:lnSpc>
            </a:pPr>
            <a:r>
              <a:rPr lang="es-ES" dirty="0"/>
              <a:t>CF: 13.300€, Q: 1.500€ y </a:t>
            </a:r>
            <a:r>
              <a:rPr lang="es-ES" dirty="0" err="1"/>
              <a:t>Cvu</a:t>
            </a:r>
            <a:r>
              <a:rPr lang="es-ES" dirty="0"/>
              <a:t>: 18€</a:t>
            </a:r>
          </a:p>
          <a:p>
            <a:pPr algn="just">
              <a:lnSpc>
                <a:spcPct val="150000"/>
              </a:lnSpc>
            </a:pPr>
            <a:r>
              <a:rPr lang="es-ES" dirty="0"/>
              <a:t>Pt= (13.300/1.500) + 18= </a:t>
            </a:r>
            <a:r>
              <a:rPr lang="es-ES" b="1" dirty="0"/>
              <a:t>26,87€</a:t>
            </a:r>
          </a:p>
          <a:p>
            <a:pPr algn="just">
              <a:lnSpc>
                <a:spcPct val="150000"/>
              </a:lnSpc>
            </a:pPr>
            <a:r>
              <a:rPr lang="es-ES" dirty="0"/>
              <a:t>b) PV= Pt x (1 + margen)= 26,87 x (1 + 0,50)= </a:t>
            </a:r>
            <a:r>
              <a:rPr lang="es-ES" b="1" dirty="0"/>
              <a:t>40,31€</a:t>
            </a:r>
          </a:p>
          <a:p>
            <a:pPr algn="just">
              <a:lnSpc>
                <a:spcPct val="150000"/>
              </a:lnSpc>
            </a:pPr>
            <a:r>
              <a:rPr lang="es-ES" dirty="0"/>
              <a:t>c) </a:t>
            </a:r>
            <a:r>
              <a:rPr lang="es-ES" dirty="0" err="1"/>
              <a:t>Bº</a:t>
            </a:r>
            <a:r>
              <a:rPr lang="es-ES" dirty="0"/>
              <a:t>= IT – CT= (P x Q) – (CF + </a:t>
            </a:r>
            <a:r>
              <a:rPr lang="es-ES" dirty="0" err="1"/>
              <a:t>CVu</a:t>
            </a:r>
            <a:r>
              <a:rPr lang="es-ES" dirty="0"/>
              <a:t> </a:t>
            </a:r>
            <a:r>
              <a:rPr lang="es-ES" dirty="0" err="1"/>
              <a:t>xQ</a:t>
            </a:r>
            <a:r>
              <a:rPr lang="es-ES" dirty="0"/>
              <a:t>)</a:t>
            </a:r>
          </a:p>
          <a:p>
            <a:pPr algn="just">
              <a:lnSpc>
                <a:spcPct val="150000"/>
              </a:lnSpc>
            </a:pPr>
            <a:r>
              <a:rPr lang="es-ES" dirty="0"/>
              <a:t> </a:t>
            </a:r>
            <a:r>
              <a:rPr lang="es-ES" dirty="0" err="1"/>
              <a:t>Bº</a:t>
            </a:r>
            <a:r>
              <a:rPr lang="es-ES" dirty="0"/>
              <a:t> = (40,31 x 1500) – (13300 + 18 x 1500)= </a:t>
            </a:r>
            <a:r>
              <a:rPr lang="es-ES" b="1" dirty="0"/>
              <a:t>20.165€</a:t>
            </a:r>
            <a:endParaRPr lang="es-ES_tradnl" b="1" dirty="0"/>
          </a:p>
        </p:txBody>
      </p:sp>
    </p:spTree>
    <p:extLst>
      <p:ext uri="{BB962C8B-B14F-4D97-AF65-F5344CB8AC3E}">
        <p14:creationId xmlns:p14="http://schemas.microsoft.com/office/powerpoint/2010/main" val="1710672215"/>
      </p:ext>
    </p:extLst>
  </p:cSld>
  <p:clrMapOvr>
    <a:masterClrMapping/>
  </p:clrMapOvr>
</p:sld>
</file>

<file path=ppt/theme/theme1.xml><?xml version="1.0" encoding="utf-8"?>
<a:theme xmlns:a="http://schemas.openxmlformats.org/drawingml/2006/main" name="Office 2013 - Tema de 2022">
  <a:themeElements>
    <a:clrScheme name="Office 2013 - Tema de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Tema de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Tema de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2708</TotalTime>
  <Words>2797</Words>
  <Application>Microsoft Macintosh PowerPoint</Application>
  <PresentationFormat>Presentación en pantalla (4:3)</PresentationFormat>
  <Paragraphs>264</Paragraphs>
  <Slides>25</Slides>
  <Notes>1</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25</vt:i4>
      </vt:variant>
    </vt:vector>
  </HeadingPairs>
  <TitlesOfParts>
    <vt:vector size="34" baseType="lpstr">
      <vt:lpstr>SimSun</vt:lpstr>
      <vt:lpstr>Arial</vt:lpstr>
      <vt:lpstr>Calibri</vt:lpstr>
      <vt:lpstr>Calibri Light</vt:lpstr>
      <vt:lpstr>Cambria Math</vt:lpstr>
      <vt:lpstr>Courier New</vt:lpstr>
      <vt:lpstr>Liberation Serif</vt:lpstr>
      <vt:lpstr>Wingdings</vt:lpstr>
      <vt:lpstr>Office 2013 - Tema de 2022</vt:lpstr>
      <vt:lpstr>Presentación de PowerPoint</vt:lpstr>
      <vt:lpstr>CONTENIDOS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TONI</dc:creator>
  <cp:lastModifiedBy>Ana Suárez</cp:lastModifiedBy>
  <cp:revision>354</cp:revision>
  <dcterms:created xsi:type="dcterms:W3CDTF">2013-09-12T06:29:10Z</dcterms:created>
  <dcterms:modified xsi:type="dcterms:W3CDTF">2026-02-02T13:06:16Z</dcterms:modified>
</cp:coreProperties>
</file>