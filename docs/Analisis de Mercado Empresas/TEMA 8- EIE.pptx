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2" r:id="rId1"/>
  </p:sldMasterIdLst>
  <p:notesMasterIdLst>
    <p:notesMasterId r:id="rId17"/>
  </p:notesMasterIdLst>
  <p:sldIdLst>
    <p:sldId id="256" r:id="rId2"/>
    <p:sldId id="257" r:id="rId3"/>
    <p:sldId id="324" r:id="rId4"/>
    <p:sldId id="325" r:id="rId5"/>
    <p:sldId id="326" r:id="rId6"/>
    <p:sldId id="260" r:id="rId7"/>
    <p:sldId id="327" r:id="rId8"/>
    <p:sldId id="307" r:id="rId9"/>
    <p:sldId id="328" r:id="rId10"/>
    <p:sldId id="329" r:id="rId11"/>
    <p:sldId id="330" r:id="rId12"/>
    <p:sldId id="261" r:id="rId13"/>
    <p:sldId id="331" r:id="rId14"/>
    <p:sldId id="288" r:id="rId15"/>
    <p:sldId id="31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1" autoAdjust="0"/>
    <p:restoredTop sz="94650"/>
  </p:normalViewPr>
  <p:slideViewPr>
    <p:cSldViewPr>
      <p:cViewPr varScale="1">
        <p:scale>
          <a:sx n="120" d="100"/>
          <a:sy n="120" d="100"/>
        </p:scale>
        <p:origin x="12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64606D-EFF1-4F9B-84F3-FEB66F2C04E6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0DA1774-2F10-431F-B4D1-B14E6B555DEA}">
      <dgm:prSet phldrT="[Texto]" custT="1"/>
      <dgm:spPr/>
      <dgm:t>
        <a:bodyPr/>
        <a:lstStyle/>
        <a:p>
          <a:r>
            <a:rPr lang="es-ES_tradnl" sz="1800" b="1" dirty="0">
              <a:solidFill>
                <a:schemeClr val="tx1"/>
              </a:solidFill>
            </a:rPr>
            <a:t>Financiación</a:t>
          </a:r>
          <a:endParaRPr lang="es-ES" sz="1800" b="1" dirty="0">
            <a:solidFill>
              <a:schemeClr val="tx1"/>
            </a:solidFill>
          </a:endParaRPr>
        </a:p>
      </dgm:t>
    </dgm:pt>
    <dgm:pt modelId="{DE2424A6-93DA-463A-BB34-2DD13E2EDD3A}" type="parTrans" cxnId="{D77A7430-DE24-4390-823C-A2ECAE94B3F6}">
      <dgm:prSet/>
      <dgm:spPr/>
      <dgm:t>
        <a:bodyPr/>
        <a:lstStyle/>
        <a:p>
          <a:endParaRPr lang="es-ES" sz="1800"/>
        </a:p>
      </dgm:t>
    </dgm:pt>
    <dgm:pt modelId="{76449FB5-EE42-442D-ADF0-D728F412228F}" type="sibTrans" cxnId="{D77A7430-DE24-4390-823C-A2ECAE94B3F6}">
      <dgm:prSet/>
      <dgm:spPr/>
      <dgm:t>
        <a:bodyPr/>
        <a:lstStyle/>
        <a:p>
          <a:endParaRPr lang="es-ES" sz="1800"/>
        </a:p>
      </dgm:t>
    </dgm:pt>
    <dgm:pt modelId="{52AB2401-5F6F-42C1-BFCC-54A4DC714AFC}">
      <dgm:prSet phldrT="[Texto]" custT="1"/>
      <dgm:spPr/>
      <dgm:t>
        <a:bodyPr/>
        <a:lstStyle/>
        <a:p>
          <a:r>
            <a:rPr lang="es-ES_tradnl" sz="1800" dirty="0"/>
            <a:t>La financiación es la obtención de los recursos económicos para hacer frente a las inversiones y a los gastos.</a:t>
          </a:r>
          <a:endParaRPr lang="es-ES" sz="1800" dirty="0"/>
        </a:p>
      </dgm:t>
    </dgm:pt>
    <dgm:pt modelId="{730EE574-F3C4-4EF5-9EF2-74440E22DCEE}" type="parTrans" cxnId="{CE2E2A1E-853F-42FD-9F8D-44B84295CBAB}">
      <dgm:prSet/>
      <dgm:spPr/>
      <dgm:t>
        <a:bodyPr/>
        <a:lstStyle/>
        <a:p>
          <a:endParaRPr lang="es-ES" sz="1800"/>
        </a:p>
      </dgm:t>
    </dgm:pt>
    <dgm:pt modelId="{2731C732-76C9-45B3-9723-78C19835D549}" type="sibTrans" cxnId="{CE2E2A1E-853F-42FD-9F8D-44B84295CBAB}">
      <dgm:prSet/>
      <dgm:spPr/>
      <dgm:t>
        <a:bodyPr/>
        <a:lstStyle/>
        <a:p>
          <a:endParaRPr lang="es-ES" sz="1800"/>
        </a:p>
      </dgm:t>
    </dgm:pt>
    <dgm:pt modelId="{4CD268C8-2E30-43E8-804D-7028FC78CD10}">
      <dgm:prSet phldrT="[Texto]" custT="1"/>
      <dgm:spPr/>
      <dgm:t>
        <a:bodyPr/>
        <a:lstStyle/>
        <a:p>
          <a:r>
            <a:rPr lang="es-ES_tradnl" sz="1800" dirty="0"/>
            <a:t>Hace referencia a de dónde obtengo el dinero para poder pagar las inversiones y gastos</a:t>
          </a:r>
          <a:endParaRPr lang="es-ES" sz="1800" dirty="0"/>
        </a:p>
      </dgm:t>
    </dgm:pt>
    <dgm:pt modelId="{8E923C0B-8C49-4B22-89D5-2BC74DFB70BB}" type="parTrans" cxnId="{9E86D56F-798F-4D9B-B197-9D1F5E4DB1AD}">
      <dgm:prSet/>
      <dgm:spPr/>
      <dgm:t>
        <a:bodyPr/>
        <a:lstStyle/>
        <a:p>
          <a:endParaRPr lang="es-ES" sz="1800"/>
        </a:p>
      </dgm:t>
    </dgm:pt>
    <dgm:pt modelId="{BD943C37-ECC8-4E95-9FF1-FCE93BA471D5}" type="sibTrans" cxnId="{9E86D56F-798F-4D9B-B197-9D1F5E4DB1AD}">
      <dgm:prSet/>
      <dgm:spPr/>
      <dgm:t>
        <a:bodyPr/>
        <a:lstStyle/>
        <a:p>
          <a:endParaRPr lang="es-ES" sz="1800"/>
        </a:p>
      </dgm:t>
    </dgm:pt>
    <dgm:pt modelId="{62376258-4861-4522-8A4A-E0E6926503C1}" type="pres">
      <dgm:prSet presAssocID="{D764606D-EFF1-4F9B-84F3-FEB66F2C04E6}" presName="Name0" presStyleCnt="0">
        <dgm:presLayoutVars>
          <dgm:dir/>
          <dgm:animLvl val="lvl"/>
          <dgm:resizeHandles/>
        </dgm:presLayoutVars>
      </dgm:prSet>
      <dgm:spPr/>
    </dgm:pt>
    <dgm:pt modelId="{FCBE8121-FE7D-4624-A9A6-DE53AD21F7C8}" type="pres">
      <dgm:prSet presAssocID="{20DA1774-2F10-431F-B4D1-B14E6B555DEA}" presName="linNode" presStyleCnt="0"/>
      <dgm:spPr/>
    </dgm:pt>
    <dgm:pt modelId="{88AB60C0-10F5-4527-809B-607DCDDAE206}" type="pres">
      <dgm:prSet presAssocID="{20DA1774-2F10-431F-B4D1-B14E6B555DEA}" presName="parentShp" presStyleLbl="node1" presStyleIdx="0" presStyleCnt="1" custScaleX="53593" custScaleY="37305">
        <dgm:presLayoutVars>
          <dgm:bulletEnabled val="1"/>
        </dgm:presLayoutVars>
      </dgm:prSet>
      <dgm:spPr/>
    </dgm:pt>
    <dgm:pt modelId="{8100E588-D3FA-47D6-8621-29A5E8C7A1A9}" type="pres">
      <dgm:prSet presAssocID="{20DA1774-2F10-431F-B4D1-B14E6B555DEA}" presName="childShp" presStyleLbl="bgAccFollowNode1" presStyleIdx="0" presStyleCnt="1" custScaleX="130819" custScaleY="100098">
        <dgm:presLayoutVars>
          <dgm:bulletEnabled val="1"/>
        </dgm:presLayoutVars>
      </dgm:prSet>
      <dgm:spPr/>
    </dgm:pt>
  </dgm:ptLst>
  <dgm:cxnLst>
    <dgm:cxn modelId="{CE2E2A1E-853F-42FD-9F8D-44B84295CBAB}" srcId="{20DA1774-2F10-431F-B4D1-B14E6B555DEA}" destId="{52AB2401-5F6F-42C1-BFCC-54A4DC714AFC}" srcOrd="0" destOrd="0" parTransId="{730EE574-F3C4-4EF5-9EF2-74440E22DCEE}" sibTransId="{2731C732-76C9-45B3-9723-78C19835D549}"/>
    <dgm:cxn modelId="{D77A7430-DE24-4390-823C-A2ECAE94B3F6}" srcId="{D764606D-EFF1-4F9B-84F3-FEB66F2C04E6}" destId="{20DA1774-2F10-431F-B4D1-B14E6B555DEA}" srcOrd="0" destOrd="0" parTransId="{DE2424A6-93DA-463A-BB34-2DD13E2EDD3A}" sibTransId="{76449FB5-EE42-442D-ADF0-D728F412228F}"/>
    <dgm:cxn modelId="{80E44166-F008-4E9D-82FE-BC7A79E419B6}" type="presOf" srcId="{20DA1774-2F10-431F-B4D1-B14E6B555DEA}" destId="{88AB60C0-10F5-4527-809B-607DCDDAE206}" srcOrd="0" destOrd="0" presId="urn:microsoft.com/office/officeart/2005/8/layout/vList6"/>
    <dgm:cxn modelId="{9E86D56F-798F-4D9B-B197-9D1F5E4DB1AD}" srcId="{20DA1774-2F10-431F-B4D1-B14E6B555DEA}" destId="{4CD268C8-2E30-43E8-804D-7028FC78CD10}" srcOrd="1" destOrd="0" parTransId="{8E923C0B-8C49-4B22-89D5-2BC74DFB70BB}" sibTransId="{BD943C37-ECC8-4E95-9FF1-FCE93BA471D5}"/>
    <dgm:cxn modelId="{B072747D-A8A9-467E-A6B6-1428119EF25C}" type="presOf" srcId="{52AB2401-5F6F-42C1-BFCC-54A4DC714AFC}" destId="{8100E588-D3FA-47D6-8621-29A5E8C7A1A9}" srcOrd="0" destOrd="0" presId="urn:microsoft.com/office/officeart/2005/8/layout/vList6"/>
    <dgm:cxn modelId="{ECA528A7-2B70-463A-980B-B609B162EC6A}" type="presOf" srcId="{4CD268C8-2E30-43E8-804D-7028FC78CD10}" destId="{8100E588-D3FA-47D6-8621-29A5E8C7A1A9}" srcOrd="0" destOrd="1" presId="urn:microsoft.com/office/officeart/2005/8/layout/vList6"/>
    <dgm:cxn modelId="{A1C76AD0-71EE-43E0-8BD1-A6E4DF1A4900}" type="presOf" srcId="{D764606D-EFF1-4F9B-84F3-FEB66F2C04E6}" destId="{62376258-4861-4522-8A4A-E0E6926503C1}" srcOrd="0" destOrd="0" presId="urn:microsoft.com/office/officeart/2005/8/layout/vList6"/>
    <dgm:cxn modelId="{76838C18-645C-4996-A0A4-77489C78A90A}" type="presParOf" srcId="{62376258-4861-4522-8A4A-E0E6926503C1}" destId="{FCBE8121-FE7D-4624-A9A6-DE53AD21F7C8}" srcOrd="0" destOrd="0" presId="urn:microsoft.com/office/officeart/2005/8/layout/vList6"/>
    <dgm:cxn modelId="{E6C05DA2-860C-4070-A13C-2A46996BB07E}" type="presParOf" srcId="{FCBE8121-FE7D-4624-A9A6-DE53AD21F7C8}" destId="{88AB60C0-10F5-4527-809B-607DCDDAE206}" srcOrd="0" destOrd="0" presId="urn:microsoft.com/office/officeart/2005/8/layout/vList6"/>
    <dgm:cxn modelId="{DCB06C9A-D936-43C7-9D03-131DBEE58DBC}" type="presParOf" srcId="{FCBE8121-FE7D-4624-A9A6-DE53AD21F7C8}" destId="{8100E588-D3FA-47D6-8621-29A5E8C7A1A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E588-D3FA-47D6-8621-29A5E8C7A1A9}">
      <dsp:nvSpPr>
        <dsp:cNvPr id="0" name=""/>
        <dsp:cNvSpPr/>
      </dsp:nvSpPr>
      <dsp:spPr>
        <a:xfrm>
          <a:off x="1891476" y="720"/>
          <a:ext cx="6898346" cy="147588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La financiación es la obtención de los recursos económicos para hacer frente a las inversiones y a los gastos.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Hace referencia a de dónde obtengo el dinero para poder pagar las inversiones y gastos</a:t>
          </a:r>
          <a:endParaRPr lang="es-ES" sz="1800" kern="1200" dirty="0"/>
        </a:p>
      </dsp:txBody>
      <dsp:txXfrm>
        <a:off x="1891476" y="185206"/>
        <a:ext cx="6344888" cy="1106915"/>
      </dsp:txXfrm>
    </dsp:sp>
    <dsp:sp modelId="{88AB60C0-10F5-4527-809B-607DCDDAE206}">
      <dsp:nvSpPr>
        <dsp:cNvPr id="0" name=""/>
        <dsp:cNvSpPr/>
      </dsp:nvSpPr>
      <dsp:spPr>
        <a:xfrm>
          <a:off x="7433" y="463643"/>
          <a:ext cx="1884043" cy="550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solidFill>
                <a:schemeClr val="tx1"/>
              </a:solidFill>
            </a:rPr>
            <a:t>Financiación</a:t>
          </a:r>
          <a:endParaRPr lang="es-ES" sz="1800" b="1" kern="1200" dirty="0">
            <a:solidFill>
              <a:schemeClr val="tx1"/>
            </a:solidFill>
          </a:endParaRPr>
        </a:p>
      </dsp:txBody>
      <dsp:txXfrm>
        <a:off x="34284" y="490494"/>
        <a:ext cx="1830341" cy="496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23/2/26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4155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6166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581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245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457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389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681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482997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3866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734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150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379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551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23/2/26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785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diagramLayout" Target="../diagrams/layout1.xml"/><Relationship Id="rId7" Type="http://schemas.openxmlformats.org/officeDocument/2006/relationships/slide" Target="slide6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espanol.com/treintayseis/economia/emprendedores/20221114/ecosistema-emprendedor-business-angels-activos-galicia/718428625_0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arketing4ecommerce.net/ejemplos-de-crowdfunding-para-entender-que-es-y-como-funcion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628800"/>
            <a:ext cx="7056784" cy="378904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243283"/>
            <a:ext cx="1362075" cy="63817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933058"/>
            <a:ext cx="1362075" cy="945829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429816" y="2420888"/>
            <a:ext cx="7166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8            </a:t>
            </a:r>
          </a:p>
          <a:p>
            <a:r>
              <a:rPr lang="es-ES_tradnl" sz="5400" dirty="0">
                <a:solidFill>
                  <a:schemeClr val="accent2"/>
                </a:solidFill>
              </a:rPr>
              <a:t>Inversión y Financiación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6" name="5 Rectángulo">
            <a:hlinkClick r:id="rId2" action="ppaction://hlinksldjump"/>
          </p:cNvPr>
          <p:cNvSpPr/>
          <p:nvPr/>
        </p:nvSpPr>
        <p:spPr>
          <a:xfrm>
            <a:off x="902743" y="1772816"/>
            <a:ext cx="7744157" cy="259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La inversión y los gastos iniciales</a:t>
            </a:r>
          </a:p>
          <a:p>
            <a:pPr marL="514350" lvl="0" indent="-514350">
              <a:spcBef>
                <a:spcPct val="20000"/>
              </a:spcBef>
              <a:buFont typeface="+mj-lt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La financiación de la empresa</a:t>
            </a:r>
          </a:p>
          <a:p>
            <a:pPr marL="514350" lvl="0" indent="-514350">
              <a:spcBef>
                <a:spcPct val="20000"/>
              </a:spcBef>
              <a:buFont typeface="+mj-lt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Fuentes de financiación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Ayudas y subvenciones públicas</a:t>
            </a:r>
          </a:p>
          <a:p>
            <a:pPr lvl="0">
              <a:spcBef>
                <a:spcPct val="20000"/>
              </a:spcBef>
            </a:pPr>
            <a:endParaRPr lang="es-ES_tradnl" sz="2800" b="1" dirty="0">
              <a:solidFill>
                <a:prstClr val="black"/>
              </a:solidFill>
            </a:endParaRP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40201" y="2130022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30 Rectángulo"/>
          <p:cNvSpPr/>
          <p:nvPr/>
        </p:nvSpPr>
        <p:spPr>
          <a:xfrm>
            <a:off x="328761" y="830332"/>
            <a:ext cx="8640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 estudiar los costes y antes de determinar el dinero que nos va a hacer falta es preciso: Plan de Inversiones y Gastos Iniciales</a:t>
            </a:r>
          </a:p>
        </p:txBody>
      </p:sp>
      <p:sp>
        <p:nvSpPr>
          <p:cNvPr id="34" name="33 Rectángulo"/>
          <p:cNvSpPr/>
          <p:nvPr/>
        </p:nvSpPr>
        <p:spPr>
          <a:xfrm>
            <a:off x="2637863" y="1878198"/>
            <a:ext cx="5856725" cy="58477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Compra de un bien o derecho que es duradero en la empresa, ya que va a usarse durante más de un año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Flecha derecha"/>
          <p:cNvSpPr/>
          <p:nvPr/>
        </p:nvSpPr>
        <p:spPr>
          <a:xfrm>
            <a:off x="2050166" y="2017336"/>
            <a:ext cx="494484" cy="21299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328761" y="1865794"/>
            <a:ext cx="1717723" cy="4616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sz="2400" dirty="0">
                <a:solidFill>
                  <a:schemeClr val="tx1"/>
                </a:solidFill>
              </a:rPr>
              <a:t>Inversión</a:t>
            </a:r>
            <a:endParaRPr lang="es-ES" sz="2400" b="0" dirty="0">
              <a:solidFill>
                <a:schemeClr val="tx1"/>
              </a:solidFill>
            </a:endParaRPr>
          </a:p>
        </p:txBody>
      </p:sp>
      <p:sp>
        <p:nvSpPr>
          <p:cNvPr id="29" name="28 Rectángulo"/>
          <p:cNvSpPr/>
          <p:nvPr/>
        </p:nvSpPr>
        <p:spPr>
          <a:xfrm>
            <a:off x="5640507" y="5408661"/>
            <a:ext cx="2495836" cy="34895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Local</a:t>
            </a:r>
            <a:endParaRPr lang="es-ES" sz="1600" b="1" dirty="0"/>
          </a:p>
        </p:txBody>
      </p:sp>
      <p:sp>
        <p:nvSpPr>
          <p:cNvPr id="26" name="25 Rectángulo"/>
          <p:cNvSpPr/>
          <p:nvPr/>
        </p:nvSpPr>
        <p:spPr>
          <a:xfrm>
            <a:off x="755576" y="4682066"/>
            <a:ext cx="1757390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Instalaciones</a:t>
            </a:r>
            <a:endParaRPr lang="es-ES" sz="1600" b="1" dirty="0"/>
          </a:p>
        </p:txBody>
      </p:sp>
      <p:sp>
        <p:nvSpPr>
          <p:cNvPr id="30" name="29 Rectángulo"/>
          <p:cNvSpPr/>
          <p:nvPr/>
        </p:nvSpPr>
        <p:spPr>
          <a:xfrm>
            <a:off x="880473" y="3926191"/>
            <a:ext cx="1757390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Mobiliario</a:t>
            </a:r>
            <a:endParaRPr lang="es-ES" sz="1600" b="1" dirty="0"/>
          </a:p>
        </p:txBody>
      </p:sp>
      <p:sp>
        <p:nvSpPr>
          <p:cNvPr id="37" name="36 Rectángulo"/>
          <p:cNvSpPr/>
          <p:nvPr/>
        </p:nvSpPr>
        <p:spPr>
          <a:xfrm>
            <a:off x="2173557" y="3247273"/>
            <a:ext cx="2150038" cy="35024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Maquinaria</a:t>
            </a:r>
            <a:endParaRPr lang="es-ES" sz="1600" b="1" dirty="0"/>
          </a:p>
        </p:txBody>
      </p:sp>
      <p:sp>
        <p:nvSpPr>
          <p:cNvPr id="39" name="38 Rectángulo"/>
          <p:cNvSpPr/>
          <p:nvPr/>
        </p:nvSpPr>
        <p:spPr>
          <a:xfrm>
            <a:off x="6101640" y="4676664"/>
            <a:ext cx="2301549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Herramientas y útiles</a:t>
            </a:r>
            <a:endParaRPr lang="es-ES" sz="1600" b="1" dirty="0"/>
          </a:p>
        </p:txBody>
      </p:sp>
      <p:sp>
        <p:nvSpPr>
          <p:cNvPr id="42" name="41 Rectángulo"/>
          <p:cNvSpPr/>
          <p:nvPr/>
        </p:nvSpPr>
        <p:spPr>
          <a:xfrm>
            <a:off x="4860032" y="3226362"/>
            <a:ext cx="2150038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Vehículos</a:t>
            </a:r>
            <a:endParaRPr lang="es-ES" sz="1600" b="1" dirty="0"/>
          </a:p>
        </p:txBody>
      </p:sp>
      <p:sp>
        <p:nvSpPr>
          <p:cNvPr id="43" name="42 Rectángulo"/>
          <p:cNvSpPr/>
          <p:nvPr/>
        </p:nvSpPr>
        <p:spPr>
          <a:xfrm>
            <a:off x="6060660" y="3916977"/>
            <a:ext cx="2383508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Equipos informáticos</a:t>
            </a:r>
            <a:endParaRPr lang="es-ES" sz="1600" b="1" dirty="0"/>
          </a:p>
        </p:txBody>
      </p:sp>
      <p:sp>
        <p:nvSpPr>
          <p:cNvPr id="44" name="43 Rectángulo"/>
          <p:cNvSpPr/>
          <p:nvPr/>
        </p:nvSpPr>
        <p:spPr>
          <a:xfrm>
            <a:off x="3222863" y="6021288"/>
            <a:ext cx="2514128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Programas informáticos</a:t>
            </a:r>
            <a:endParaRPr lang="es-ES" sz="1600" b="1" dirty="0"/>
          </a:p>
        </p:txBody>
      </p:sp>
      <p:sp>
        <p:nvSpPr>
          <p:cNvPr id="45" name="44 Rectángulo"/>
          <p:cNvSpPr/>
          <p:nvPr/>
        </p:nvSpPr>
        <p:spPr>
          <a:xfrm>
            <a:off x="1187623" y="5491898"/>
            <a:ext cx="2001993" cy="33855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Patentes, marcas</a:t>
            </a:r>
            <a:endParaRPr lang="es-ES" sz="1600" b="1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97EBB13-B1BB-4AF9-A48A-C750E4F40FA7}"/>
              </a:ext>
            </a:extLst>
          </p:cNvPr>
          <p:cNvSpPr/>
          <p:nvPr/>
        </p:nvSpPr>
        <p:spPr>
          <a:xfrm>
            <a:off x="2762759" y="3870864"/>
            <a:ext cx="2946176" cy="16116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1"/>
                </a:solidFill>
              </a:rPr>
              <a:t>INVERSIONES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CA94F2-F950-F24E-BD3F-97898E2EF440}"/>
              </a:ext>
            </a:extLst>
          </p:cNvPr>
          <p:cNvSpPr txBox="1"/>
          <p:nvPr/>
        </p:nvSpPr>
        <p:spPr>
          <a:xfrm>
            <a:off x="301896" y="-31443"/>
            <a:ext cx="795637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4100" b="1" dirty="0"/>
              <a:t>1. La inversión y los gastos iniciales</a:t>
            </a:r>
          </a:p>
        </p:txBody>
      </p:sp>
    </p:spTree>
    <p:extLst>
      <p:ext uri="{BB962C8B-B14F-4D97-AF65-F5344CB8AC3E}">
        <p14:creationId xmlns:p14="http://schemas.microsoft.com/office/powerpoint/2010/main" val="184695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"/>
          <p:cNvSpPr/>
          <p:nvPr/>
        </p:nvSpPr>
        <p:spPr>
          <a:xfrm>
            <a:off x="2648353" y="1123749"/>
            <a:ext cx="6252915" cy="830997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Compra de un bien, servicio o derecho, que la empresa va a consumir (a “gastar”) de forma inmediata, por lo que su uso es menor de un año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Flecha derecha"/>
          <p:cNvSpPr/>
          <p:nvPr/>
        </p:nvSpPr>
        <p:spPr>
          <a:xfrm>
            <a:off x="2086086" y="1319794"/>
            <a:ext cx="495961" cy="18596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50" name="49 CuadroTexto"/>
          <p:cNvSpPr txBox="1"/>
          <p:nvPr/>
        </p:nvSpPr>
        <p:spPr>
          <a:xfrm>
            <a:off x="323560" y="1181943"/>
            <a:ext cx="1719466" cy="4616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sz="2400" dirty="0">
                <a:solidFill>
                  <a:schemeClr val="tx1"/>
                </a:solidFill>
              </a:rPr>
              <a:t>Gasto</a:t>
            </a:r>
            <a:endParaRPr lang="es-ES" sz="2400" b="0" dirty="0">
              <a:solidFill>
                <a:schemeClr val="tx1"/>
              </a:solidFill>
            </a:endParaRPr>
          </a:p>
        </p:txBody>
      </p:sp>
      <p:sp>
        <p:nvSpPr>
          <p:cNvPr id="53" name="52 Rectángulo"/>
          <p:cNvSpPr/>
          <p:nvPr/>
        </p:nvSpPr>
        <p:spPr>
          <a:xfrm>
            <a:off x="1227242" y="2655348"/>
            <a:ext cx="1832590" cy="34190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 err="1">
                <a:solidFill>
                  <a:prstClr val="black"/>
                </a:solidFill>
                <a:sym typeface="Wingdings" pitchFamily="2" charset="2"/>
              </a:rPr>
              <a:t>Gts</a:t>
            </a:r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. constitución</a:t>
            </a:r>
            <a:endParaRPr lang="es-ES" sz="1600" b="1" dirty="0"/>
          </a:p>
        </p:txBody>
      </p:sp>
      <p:sp>
        <p:nvSpPr>
          <p:cNvPr id="46" name="45 Rectángulo"/>
          <p:cNvSpPr/>
          <p:nvPr/>
        </p:nvSpPr>
        <p:spPr>
          <a:xfrm>
            <a:off x="3630385" y="2147351"/>
            <a:ext cx="1914023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Gts. lanzamiento</a:t>
            </a:r>
            <a:endParaRPr lang="es-ES" sz="1600" b="1" dirty="0"/>
          </a:p>
        </p:txBody>
      </p:sp>
      <p:sp>
        <p:nvSpPr>
          <p:cNvPr id="47" name="46 Rectángulo"/>
          <p:cNvSpPr/>
          <p:nvPr/>
        </p:nvSpPr>
        <p:spPr>
          <a:xfrm>
            <a:off x="6123350" y="2669907"/>
            <a:ext cx="1837111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Alquiler locales</a:t>
            </a:r>
            <a:endParaRPr lang="es-ES" sz="1600" b="1" dirty="0"/>
          </a:p>
        </p:txBody>
      </p:sp>
      <p:sp>
        <p:nvSpPr>
          <p:cNvPr id="48" name="47 Rectángulo"/>
          <p:cNvSpPr/>
          <p:nvPr/>
        </p:nvSpPr>
        <p:spPr>
          <a:xfrm>
            <a:off x="756723" y="3414473"/>
            <a:ext cx="1568285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Sueldos y SS</a:t>
            </a:r>
            <a:endParaRPr lang="es-ES" sz="1600" b="1" dirty="0"/>
          </a:p>
        </p:txBody>
      </p:sp>
      <p:sp>
        <p:nvSpPr>
          <p:cNvPr id="49" name="48 Rectángulo"/>
          <p:cNvSpPr/>
          <p:nvPr/>
        </p:nvSpPr>
        <p:spPr>
          <a:xfrm>
            <a:off x="6666793" y="3468179"/>
            <a:ext cx="1407372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Suministros</a:t>
            </a:r>
            <a:endParaRPr lang="es-ES" sz="1600" b="1" dirty="0"/>
          </a:p>
        </p:txBody>
      </p:sp>
      <p:sp>
        <p:nvSpPr>
          <p:cNvPr id="55" name="54 Rectángulo"/>
          <p:cNvSpPr/>
          <p:nvPr/>
        </p:nvSpPr>
        <p:spPr>
          <a:xfrm>
            <a:off x="604904" y="4146844"/>
            <a:ext cx="2428566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Servicios profesionales</a:t>
            </a:r>
            <a:endParaRPr lang="es-ES" sz="1600" b="1" dirty="0"/>
          </a:p>
        </p:txBody>
      </p:sp>
      <p:sp>
        <p:nvSpPr>
          <p:cNvPr id="56" name="55 Rectángulo"/>
          <p:cNvSpPr/>
          <p:nvPr/>
        </p:nvSpPr>
        <p:spPr>
          <a:xfrm>
            <a:off x="2334066" y="4819864"/>
            <a:ext cx="1987973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Material de oficina</a:t>
            </a:r>
            <a:endParaRPr lang="es-ES" sz="1600" b="1" dirty="0"/>
          </a:p>
        </p:txBody>
      </p:sp>
      <p:sp>
        <p:nvSpPr>
          <p:cNvPr id="57" name="56 Rectángulo"/>
          <p:cNvSpPr/>
          <p:nvPr/>
        </p:nvSpPr>
        <p:spPr>
          <a:xfrm>
            <a:off x="5007086" y="4849094"/>
            <a:ext cx="2232527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Stock mín. a la venta</a:t>
            </a:r>
            <a:endParaRPr lang="es-ES" sz="1600" b="1" dirty="0"/>
          </a:p>
        </p:txBody>
      </p:sp>
      <p:sp>
        <p:nvSpPr>
          <p:cNvPr id="58" name="57 Rectángulo"/>
          <p:cNvSpPr/>
          <p:nvPr/>
        </p:nvSpPr>
        <p:spPr>
          <a:xfrm>
            <a:off x="6519313" y="4220099"/>
            <a:ext cx="1852542" cy="33855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Gts. Financieros </a:t>
            </a:r>
            <a:endParaRPr lang="es-ES" sz="1600" b="1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9D81846-A6C1-4CD2-8FF2-B40EC2088937}"/>
              </a:ext>
            </a:extLst>
          </p:cNvPr>
          <p:cNvSpPr/>
          <p:nvPr/>
        </p:nvSpPr>
        <p:spPr>
          <a:xfrm>
            <a:off x="3059832" y="2861507"/>
            <a:ext cx="3094542" cy="181417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GASTOS</a:t>
            </a:r>
          </a:p>
        </p:txBody>
      </p:sp>
    </p:spTree>
    <p:extLst>
      <p:ext uri="{BB962C8B-B14F-4D97-AF65-F5344CB8AC3E}">
        <p14:creationId xmlns:p14="http://schemas.microsoft.com/office/powerpoint/2010/main" val="423613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2. La financiación de la empresa</a:t>
            </a:r>
          </a:p>
        </p:txBody>
      </p:sp>
      <p:graphicFrame>
        <p:nvGraphicFramePr>
          <p:cNvPr id="3" name="2 Diagrama"/>
          <p:cNvGraphicFramePr/>
          <p:nvPr/>
        </p:nvGraphicFramePr>
        <p:xfrm>
          <a:off x="167098" y="799544"/>
          <a:ext cx="8797256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CuadroTexto">
            <a:hlinkClick r:id="rId7" action="ppaction://hlinksldjump"/>
          </p:cNvPr>
          <p:cNvSpPr txBox="1"/>
          <p:nvPr/>
        </p:nvSpPr>
        <p:spPr>
          <a:xfrm>
            <a:off x="167098" y="2865468"/>
            <a:ext cx="3285697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chemeClr val="tx1"/>
                </a:solidFill>
              </a:rPr>
              <a:t>Fuentes de financiación PROPIAS</a:t>
            </a:r>
            <a:endParaRPr lang="es-ES" sz="2000" b="1" dirty="0">
              <a:solidFill>
                <a:schemeClr val="tx1"/>
              </a:solidFill>
            </a:endParaRPr>
          </a:p>
        </p:txBody>
      </p:sp>
      <p:sp>
        <p:nvSpPr>
          <p:cNvPr id="11" name="10 CuadroTexto">
            <a:hlinkClick r:id="rId8" action="ppaction://hlinksldjump"/>
          </p:cNvPr>
          <p:cNvSpPr txBox="1"/>
          <p:nvPr/>
        </p:nvSpPr>
        <p:spPr>
          <a:xfrm>
            <a:off x="5215986" y="4603951"/>
            <a:ext cx="3630794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2000" b="1" dirty="0">
                <a:solidFill>
                  <a:schemeClr val="tx1"/>
                </a:solidFill>
              </a:rPr>
              <a:t>Fuentes de financiación   AJENAS</a:t>
            </a:r>
            <a:endParaRPr lang="es-ES" sz="2000" b="1" dirty="0">
              <a:solidFill>
                <a:schemeClr val="tx1"/>
              </a:solidFill>
            </a:endParaRPr>
          </a:p>
        </p:txBody>
      </p:sp>
      <p:sp>
        <p:nvSpPr>
          <p:cNvPr id="7" name="6 Flecha a la derecha con muesca"/>
          <p:cNvSpPr/>
          <p:nvPr/>
        </p:nvSpPr>
        <p:spPr>
          <a:xfrm>
            <a:off x="3614916" y="2930763"/>
            <a:ext cx="643651" cy="577295"/>
          </a:xfrm>
          <a:prstGeom prst="notched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13 Flecha a la derecha con muesca"/>
          <p:cNvSpPr/>
          <p:nvPr/>
        </p:nvSpPr>
        <p:spPr>
          <a:xfrm rot="10800000">
            <a:off x="4440788" y="4669246"/>
            <a:ext cx="643651" cy="577295"/>
          </a:xfrm>
          <a:prstGeom prst="notched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7 CuadroTexto"/>
          <p:cNvSpPr txBox="1"/>
          <p:nvPr/>
        </p:nvSpPr>
        <p:spPr>
          <a:xfrm>
            <a:off x="4440788" y="2477795"/>
            <a:ext cx="4523566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dirty="0"/>
              <a:t>Proceden de:</a:t>
            </a:r>
          </a:p>
          <a:p>
            <a:pPr marL="285750" indent="-285750">
              <a:buFontTx/>
              <a:buChar char="-"/>
            </a:pPr>
            <a:r>
              <a:rPr lang="es-ES_tradnl" dirty="0"/>
              <a:t>Aportaciones de los socios</a:t>
            </a:r>
          </a:p>
          <a:p>
            <a:pPr marL="285750" indent="-285750">
              <a:buFontTx/>
              <a:buChar char="-"/>
            </a:pPr>
            <a:r>
              <a:rPr lang="es-ES_tradnl" dirty="0"/>
              <a:t>Aportaciones de inversores</a:t>
            </a:r>
          </a:p>
          <a:p>
            <a:pPr marL="285750" indent="-285750">
              <a:buFontTx/>
              <a:buChar char="-"/>
            </a:pPr>
            <a:r>
              <a:rPr lang="es-ES_tradnl" dirty="0"/>
              <a:t>De la propia actividad </a:t>
            </a:r>
            <a:r>
              <a:rPr lang="es-ES_tradnl" dirty="0">
                <a:sym typeface="Wingdings" panose="05000000000000000000" pitchFamily="2" charset="2"/>
              </a:rPr>
              <a:t> Beneficios</a:t>
            </a:r>
          </a:p>
          <a:p>
            <a:pPr algn="ctr"/>
            <a:r>
              <a:rPr lang="es-ES_tradnl" b="1" dirty="0">
                <a:sym typeface="Wingdings" panose="05000000000000000000" pitchFamily="2" charset="2"/>
              </a:rPr>
              <a:t>No se deben devolver</a:t>
            </a:r>
            <a:endParaRPr lang="es-ES" b="1" dirty="0"/>
          </a:p>
        </p:txBody>
      </p:sp>
      <p:sp>
        <p:nvSpPr>
          <p:cNvPr id="16" name="15 CuadroTexto"/>
          <p:cNvSpPr txBox="1"/>
          <p:nvPr/>
        </p:nvSpPr>
        <p:spPr>
          <a:xfrm>
            <a:off x="206267" y="4515643"/>
            <a:ext cx="4120299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dirty="0"/>
              <a:t>Proceden de:</a:t>
            </a:r>
          </a:p>
          <a:p>
            <a:pPr marL="285750" indent="-285750">
              <a:buFontTx/>
              <a:buChar char="-"/>
            </a:pPr>
            <a:r>
              <a:rPr lang="es-ES_tradnl" dirty="0"/>
              <a:t>Bancos, otras empresas, particulares,…</a:t>
            </a:r>
          </a:p>
          <a:p>
            <a:pPr algn="ctr"/>
            <a:r>
              <a:rPr lang="es-ES_tradnl" b="1" dirty="0"/>
              <a:t>Hay que devolver </a:t>
            </a:r>
            <a:endParaRPr lang="es-ES" b="1" dirty="0"/>
          </a:p>
        </p:txBody>
      </p:sp>
      <p:pic>
        <p:nvPicPr>
          <p:cNvPr id="18" name="17 Imagen"/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282210" y="3421025"/>
            <a:ext cx="387739" cy="487202"/>
          </a:xfrm>
          <a:prstGeom prst="rect">
            <a:avLst/>
          </a:prstGeom>
        </p:spPr>
      </p:pic>
      <p:pic>
        <p:nvPicPr>
          <p:cNvPr id="19" name="18 Imagen"/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5296007" y="5177568"/>
            <a:ext cx="387739" cy="4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6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13A6099-F152-9071-1FFB-F55BCC42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242458"/>
              </p:ext>
            </p:extLst>
          </p:nvPr>
        </p:nvGraphicFramePr>
        <p:xfrm>
          <a:off x="827584" y="990992"/>
          <a:ext cx="7488832" cy="4601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33853658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46565889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97991020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36553923"/>
                    </a:ext>
                  </a:extLst>
                </a:gridCol>
              </a:tblGrid>
              <a:tr h="606210">
                <a:tc gridSpan="4"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FUENTES DE FINANCIACIÓN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66021"/>
                  </a:ext>
                </a:extLst>
              </a:tr>
              <a:tr h="977966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PROPIAS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EXTERNAS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Aportaciones de los socios e inversores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Capital social</a:t>
                      </a: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dirty="0"/>
                        <a:t>Business </a:t>
                      </a:r>
                      <a:r>
                        <a:rPr lang="es-ES_tradnl" dirty="0" err="1"/>
                        <a:t>Angels</a:t>
                      </a:r>
                      <a:endParaRPr lang="es-ES_tradnl" dirty="0"/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dirty="0"/>
                        <a:t>FFF (</a:t>
                      </a:r>
                      <a:r>
                        <a:rPr lang="es-ES_tradnl" dirty="0" err="1"/>
                        <a:t>Family</a:t>
                      </a:r>
                      <a:r>
                        <a:rPr lang="es-ES_tradnl" dirty="0"/>
                        <a:t>, Friends y </a:t>
                      </a:r>
                      <a:r>
                        <a:rPr lang="es-ES_tradnl" dirty="0" err="1"/>
                        <a:t>Fools</a:t>
                      </a:r>
                      <a:r>
                        <a:rPr lang="es-ES_tradnl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692227"/>
                  </a:ext>
                </a:extLst>
              </a:tr>
              <a:tr h="606210">
                <a:tc v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INTERNAS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Aportaciones de la empresa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Autofinanciación: reservas y amortizaciones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826683"/>
                  </a:ext>
                </a:extLst>
              </a:tr>
              <a:tr h="597905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AJENAS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b="1" dirty="0"/>
                        <a:t>EXTERNAS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Financiación a largo placo (más de 1 año)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Préstamos 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Leasing/renting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Ayudas y subvenciones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Crowdfunding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782075"/>
                  </a:ext>
                </a:extLst>
              </a:tr>
              <a:tr h="606210">
                <a:tc v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Financiación a corto plazo (menos de 1 año)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Créditos bancarios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s-ES_tradnl" dirty="0"/>
                        <a:t>Créditos comerciales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867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75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1186" y="1268760"/>
            <a:ext cx="7886700" cy="471586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+mn-lt"/>
              </a:rPr>
              <a:t>3.1. Fuentes propias externas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1186" y="1844824"/>
            <a:ext cx="8181628" cy="39903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ES" sz="1900" dirty="0"/>
              <a:t>Son las aportaciones que han realizado los </a:t>
            </a:r>
            <a:r>
              <a:rPr lang="es-ES" sz="1900" b="1" dirty="0"/>
              <a:t>socios o inversores:</a:t>
            </a:r>
          </a:p>
          <a:p>
            <a:pPr algn="just">
              <a:lnSpc>
                <a:spcPct val="110000"/>
              </a:lnSpc>
            </a:pPr>
            <a:r>
              <a:rPr lang="es-ES" sz="1900" dirty="0"/>
              <a:t>El dinero que aportan los socios se denomina: </a:t>
            </a:r>
            <a:r>
              <a:rPr lang="es-ES" sz="1900" b="1" dirty="0"/>
              <a:t>capital social</a:t>
            </a:r>
            <a:r>
              <a:rPr lang="es-ES" sz="1900" dirty="0"/>
              <a:t>. Este dinero puede sufrir variaciones a lo largo del tiempo, cuando aumenta se denomina: </a:t>
            </a:r>
            <a:r>
              <a:rPr lang="es-ES" sz="1900" b="1" dirty="0"/>
              <a:t>ampliaciones de capital social.</a:t>
            </a:r>
          </a:p>
          <a:p>
            <a:pPr algn="just">
              <a:lnSpc>
                <a:spcPct val="110000"/>
              </a:lnSpc>
            </a:pPr>
            <a:r>
              <a:rPr lang="es-ES" sz="1900" dirty="0"/>
              <a:t>Los inversores son personas ajenas a la empresa que deciden aportar dinero en la empresa. Algunos de estos inversores se denominan </a:t>
            </a:r>
            <a:r>
              <a:rPr lang="es-ES" sz="1900" b="1" dirty="0"/>
              <a:t>“</a:t>
            </a:r>
            <a:r>
              <a:rPr lang="es-ES" sz="1900" b="1" dirty="0">
                <a:hlinkClick r:id="rId2"/>
              </a:rPr>
              <a:t>business </a:t>
            </a:r>
            <a:r>
              <a:rPr lang="es-ES" sz="1900" b="1" dirty="0" err="1">
                <a:hlinkClick r:id="rId2"/>
              </a:rPr>
              <a:t>angels</a:t>
            </a:r>
            <a:r>
              <a:rPr lang="es-ES" sz="1900" b="1" dirty="0"/>
              <a:t>”, </a:t>
            </a:r>
            <a:r>
              <a:rPr lang="es-ES_tradnl" sz="1900" dirty="0"/>
              <a:t>ofrecen capital, conocimientos técnicos y red de contactos a pequeñas empresas en sus primeras fases.  A cambio obtienen una plusvalía o </a:t>
            </a:r>
            <a:r>
              <a:rPr lang="es-ES_tradnl" sz="1900" dirty="0">
                <a:solidFill>
                  <a:prstClr val="black"/>
                </a:solidFill>
                <a:sym typeface="Wingdings" panose="05000000000000000000" pitchFamily="2" charset="2"/>
              </a:rPr>
              <a:t>rendimiento a medio plazo al revender su aportación.</a:t>
            </a:r>
          </a:p>
          <a:p>
            <a:pPr algn="just">
              <a:lnSpc>
                <a:spcPct val="110000"/>
              </a:lnSpc>
            </a:pPr>
            <a:r>
              <a:rPr lang="es-ES_tradnl" sz="1900" dirty="0"/>
              <a:t>FFF (</a:t>
            </a:r>
            <a:r>
              <a:rPr lang="es-ES_tradnl" sz="1900" dirty="0" err="1"/>
              <a:t>Family</a:t>
            </a:r>
            <a:r>
              <a:rPr lang="es-ES_tradnl" sz="1900" dirty="0"/>
              <a:t>, Friends y </a:t>
            </a:r>
            <a:r>
              <a:rPr lang="es-ES_tradnl" sz="1900" dirty="0" err="1"/>
              <a:t>Fools</a:t>
            </a:r>
            <a:r>
              <a:rPr lang="es-ES_tradnl" sz="1900" dirty="0"/>
              <a:t>): familia, amigos y conocidos que prestan dinero. </a:t>
            </a:r>
            <a:endParaRPr lang="es-ES" sz="1900" dirty="0"/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1A1E42AF-6BF2-CE8F-BDAF-21F690A7BBDB}"/>
              </a:ext>
            </a:extLst>
          </p:cNvPr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3. Fuentes de financiación</a:t>
            </a:r>
          </a:p>
        </p:txBody>
      </p:sp>
    </p:spTree>
    <p:extLst>
      <p:ext uri="{BB962C8B-B14F-4D97-AF65-F5344CB8AC3E}">
        <p14:creationId xmlns:p14="http://schemas.microsoft.com/office/powerpoint/2010/main" val="206047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/>
          <p:cNvSpPr txBox="1"/>
          <p:nvPr/>
        </p:nvSpPr>
        <p:spPr>
          <a:xfrm>
            <a:off x="389951" y="2415371"/>
            <a:ext cx="180921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Reservas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1" name="19 CuadroTexto"/>
          <p:cNvSpPr txBox="1"/>
          <p:nvPr/>
        </p:nvSpPr>
        <p:spPr>
          <a:xfrm>
            <a:off x="2360838" y="2276872"/>
            <a:ext cx="6444645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dirty="0"/>
              <a:t>Parte de los </a:t>
            </a:r>
            <a:r>
              <a:rPr lang="es-ES_tradnl" b="1" dirty="0"/>
              <a:t>beneficios</a:t>
            </a:r>
            <a:r>
              <a:rPr lang="es-ES_tradnl" dirty="0"/>
              <a:t> que la empresa deja </a:t>
            </a:r>
            <a:r>
              <a:rPr lang="es-ES_tradnl" b="1" dirty="0"/>
              <a:t>sin repartir </a:t>
            </a:r>
            <a:r>
              <a:rPr lang="es-ES_tradnl" dirty="0"/>
              <a:t>a los socios y se mantiene en la empresa. </a:t>
            </a:r>
          </a:p>
          <a:p>
            <a:r>
              <a:rPr lang="es-ES_tradnl" dirty="0"/>
              <a:t>Ejemplo: </a:t>
            </a:r>
            <a:r>
              <a:rPr lang="es-ES_tradnl" i="1" dirty="0"/>
              <a:t>si una empresa que ha tenido un beneficio de 20.000 € y decide dejar un 20% en reservas, estaría dejando 4.000 € sin tocar en la empresa y los socios se repartirían los otros 16.000 €. Los 4.000 € incrementarían el valor de la empresa = </a:t>
            </a:r>
            <a:r>
              <a:rPr lang="es-ES_tradnl" b="1" i="1" dirty="0"/>
              <a:t>Capital Social + Reservas</a:t>
            </a:r>
            <a:endParaRPr lang="es-ES" b="1" i="1" dirty="0"/>
          </a:p>
        </p:txBody>
      </p:sp>
      <p:sp>
        <p:nvSpPr>
          <p:cNvPr id="12" name="17 CuadroTexto"/>
          <p:cNvSpPr txBox="1"/>
          <p:nvPr/>
        </p:nvSpPr>
        <p:spPr>
          <a:xfrm>
            <a:off x="392735" y="4715107"/>
            <a:ext cx="2232248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Amortizaciones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6" name="20 CuadroTexto"/>
          <p:cNvSpPr txBox="1"/>
          <p:nvPr/>
        </p:nvSpPr>
        <p:spPr>
          <a:xfrm>
            <a:off x="2794629" y="4723037"/>
            <a:ext cx="602148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dirty="0"/>
              <a:t>Es la </a:t>
            </a:r>
            <a:r>
              <a:rPr lang="es-ES_tradnl" b="1" dirty="0"/>
              <a:t>pérdida de valor </a:t>
            </a:r>
            <a:r>
              <a:rPr lang="es-ES_tradnl" dirty="0"/>
              <a:t>de un bien de inversión por uso o por obsolescencia, que se refleja como </a:t>
            </a:r>
            <a:r>
              <a:rPr lang="es-ES_tradnl" b="1" dirty="0"/>
              <a:t>gasto en la empresa.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5CC1E5-B8F9-5E99-C5E1-23874D265750}"/>
              </a:ext>
            </a:extLst>
          </p:cNvPr>
          <p:cNvSpPr txBox="1">
            <a:spLocks/>
          </p:cNvSpPr>
          <p:nvPr/>
        </p:nvSpPr>
        <p:spPr>
          <a:xfrm>
            <a:off x="251520" y="483024"/>
            <a:ext cx="7886700" cy="471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latin typeface="+mn-lt"/>
              </a:rPr>
              <a:t>3.2. Fuentes propias internas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E2528F-D7AE-DA16-4EE8-B8EC5929C796}"/>
              </a:ext>
            </a:extLst>
          </p:cNvPr>
          <p:cNvSpPr txBox="1"/>
          <p:nvPr/>
        </p:nvSpPr>
        <p:spPr>
          <a:xfrm>
            <a:off x="251519" y="1018972"/>
            <a:ext cx="8553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s-ES" sz="1800" dirty="0"/>
              <a:t>Es la financiación que consigue la empresa a través de su propia actividad, se denomina </a:t>
            </a:r>
            <a:r>
              <a:rPr lang="es-ES" sz="1800" b="1" dirty="0"/>
              <a:t>autofinanciación</a:t>
            </a:r>
            <a:r>
              <a:rPr lang="es-ES" sz="1800" dirty="0"/>
              <a:t> y son:</a:t>
            </a:r>
          </a:p>
        </p:txBody>
      </p:sp>
    </p:spTree>
    <p:extLst>
      <p:ext uri="{BB962C8B-B14F-4D97-AF65-F5344CB8AC3E}">
        <p14:creationId xmlns:p14="http://schemas.microsoft.com/office/powerpoint/2010/main" val="181518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4BFB-CA18-D0DB-59D8-C5AD603A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4C514-778E-76B8-BFD4-FCFAABDC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5828"/>
            <a:ext cx="7886700" cy="471586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+mn-lt"/>
              </a:rPr>
              <a:t>3.3. Fuentes ajenas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42D466-8E81-16AC-2D31-1FBFE9FC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08720"/>
            <a:ext cx="7886700" cy="1224136"/>
          </a:xfrm>
        </p:spPr>
        <p:txBody>
          <a:bodyPr>
            <a:normAutofit/>
          </a:bodyPr>
          <a:lstStyle/>
          <a:p>
            <a:pPr algn="just"/>
            <a:r>
              <a:rPr lang="es-ES_tradnl" sz="1800" dirty="0"/>
              <a:t>Suponen una deuda para la empresa.</a:t>
            </a:r>
          </a:p>
          <a:p>
            <a:pPr algn="just"/>
            <a:r>
              <a:rPr lang="es-ES_tradnl" sz="1800" dirty="0"/>
              <a:t>Se debe acudir a ellas cuando no se dispone de suficientes fondos propios.</a:t>
            </a:r>
          </a:p>
          <a:p>
            <a:pPr algn="just"/>
            <a:r>
              <a:rPr lang="es-ES_tradnl" sz="1800" dirty="0"/>
              <a:t>Se pueden clasificar en largo plazo (+ de 1 año) y en corto plazo (- de 1 año).</a:t>
            </a:r>
            <a:endParaRPr lang="es-ES" sz="1800" dirty="0"/>
          </a:p>
        </p:txBody>
      </p:sp>
      <p:sp>
        <p:nvSpPr>
          <p:cNvPr id="4" name="1 CuadroTexto">
            <a:extLst>
              <a:ext uri="{FF2B5EF4-FFF2-40B4-BE49-F238E27FC236}">
                <a16:creationId xmlns:a16="http://schemas.microsoft.com/office/drawing/2014/main" id="{D53103C9-17C0-0250-F958-F90FC13EE9CF}"/>
              </a:ext>
            </a:extLst>
          </p:cNvPr>
          <p:cNvSpPr txBox="1"/>
          <p:nvPr/>
        </p:nvSpPr>
        <p:spPr>
          <a:xfrm>
            <a:off x="467544" y="2344234"/>
            <a:ext cx="538351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b="1" dirty="0"/>
              <a:t>A) Fuentes ajenas en el largo plazo (+ de 1 año)</a:t>
            </a:r>
            <a:endParaRPr lang="es-E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AA2FE-5CE8-EB0B-F3B0-CF8E4F47EAE2}"/>
              </a:ext>
            </a:extLst>
          </p:cNvPr>
          <p:cNvSpPr txBox="1"/>
          <p:nvPr/>
        </p:nvSpPr>
        <p:spPr>
          <a:xfrm>
            <a:off x="467544" y="2924944"/>
            <a:ext cx="82089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u="sng" dirty="0"/>
              <a:t>1. Préstamo bancario:</a:t>
            </a:r>
          </a:p>
          <a:p>
            <a:pPr algn="just"/>
            <a:r>
              <a:rPr lang="es-ES_tradnl" dirty="0"/>
              <a:t>Es una de las fuentes más utilizadas por las empresas para financiar grandes cantidades de dinero que deben devolverse en varios años (largo plazo) junto con unos intereses. Elementos más importantes: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Capital: es la cantidad que el banco entrega.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Tipo de interés: interés que cobra el banco por prestar el dinero.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Plazos de amortización: número de años de duración del préstamo.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Garantía: puede ser hipotecaria (el banco podría quedarse con el bien) o aval (persona).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Comisión de cancelación o amortización anticipada: si la empresa decide devolver antes de tiempo todo o parte del dinero, tendrá que pagar una comisión al banco. </a:t>
            </a:r>
          </a:p>
        </p:txBody>
      </p:sp>
    </p:spTree>
    <p:extLst>
      <p:ext uri="{BB962C8B-B14F-4D97-AF65-F5344CB8AC3E}">
        <p14:creationId xmlns:p14="http://schemas.microsoft.com/office/powerpoint/2010/main" val="917212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CuadroTexto"/>
          <p:cNvSpPr txBox="1"/>
          <p:nvPr/>
        </p:nvSpPr>
        <p:spPr>
          <a:xfrm>
            <a:off x="539552" y="548680"/>
            <a:ext cx="8064896" cy="56323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b="1" u="sng" dirty="0">
                <a:sym typeface="Wingdings" panose="05000000000000000000" pitchFamily="2" charset="2"/>
              </a:rPr>
              <a:t>2. </a:t>
            </a:r>
            <a:r>
              <a:rPr lang="es-ES_tradnl" b="1" u="sng" dirty="0"/>
              <a:t>Leasing y renting</a:t>
            </a:r>
            <a:endParaRPr lang="es-ES_tradnl" b="1" u="sng" dirty="0">
              <a:sym typeface="Wingdings" panose="05000000000000000000" pitchFamily="2" charset="2"/>
            </a:endParaRPr>
          </a:p>
          <a:p>
            <a:pPr algn="just"/>
            <a:r>
              <a:rPr lang="es-ES_tradnl" dirty="0">
                <a:sym typeface="Wingdings" panose="05000000000000000000" pitchFamily="2" charset="2"/>
              </a:rPr>
              <a:t>Para financiar inversiones en activos de la empresa como vehículos, maquinaria, ordenadores, mobiliario,  </a:t>
            </a:r>
            <a:r>
              <a:rPr lang="es-ES_tradnl" dirty="0" err="1">
                <a:sym typeface="Wingdings" panose="05000000000000000000" pitchFamily="2" charset="2"/>
              </a:rPr>
              <a:t>etc</a:t>
            </a:r>
            <a:r>
              <a:rPr lang="es-ES_tradnl" dirty="0">
                <a:sym typeface="Wingdings" panose="05000000000000000000" pitchFamily="2" charset="2"/>
              </a:rPr>
              <a:t>, que en un periodo corto de tiempo se quedan obsoletos o pierden valor, a través del pago de una cuota de alquiler.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_tradnl" b="1" dirty="0">
                <a:sym typeface="Wingdings" panose="05000000000000000000" pitchFamily="2" charset="2"/>
              </a:rPr>
              <a:t>Leasing: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dirty="0"/>
              <a:t>Contrato de alquiler de un activo con </a:t>
            </a:r>
            <a:r>
              <a:rPr lang="es-ES_tradnl" dirty="0">
                <a:solidFill>
                  <a:srgbClr val="00B050"/>
                </a:solidFill>
              </a:rPr>
              <a:t>opción a compra.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dirty="0"/>
              <a:t>3 opciones (devolverlo, comprarlo o renovar contrato).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dirty="0"/>
              <a:t>No cubre mantenimiento, reparaciones o seguros.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b="1" dirty="0"/>
              <a:t>Renting: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dirty="0"/>
              <a:t>Contrato de alquiler de un activo mueble de la empresa que incluye además mantenimiento, reparaciones y seguros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dirty="0">
                <a:solidFill>
                  <a:srgbClr val="FF0000"/>
                </a:solidFill>
              </a:rPr>
              <a:t>No tiene opción de comprar.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_tradnl" dirty="0"/>
              <a:t>Tanto particulares como empresas.</a:t>
            </a:r>
          </a:p>
          <a:p>
            <a:endParaRPr lang="es-ES_tradnl" dirty="0"/>
          </a:p>
          <a:p>
            <a:r>
              <a:rPr lang="es-ES_tradnl" b="1" u="sng" dirty="0"/>
              <a:t>3. Ayudas y subvenciones:</a:t>
            </a:r>
          </a:p>
          <a:p>
            <a:r>
              <a:rPr lang="es-ES_tradnl" dirty="0"/>
              <a:t>Las Administraciones Públicas ofrecen ayudas y subvenciones a los emprendedores.</a:t>
            </a:r>
          </a:p>
          <a:p>
            <a:r>
              <a:rPr lang="es-ES_tradnl" dirty="0"/>
              <a:t>Es importante tener presente que no son un fondo para iniciar un negocio, sino que el emprendedor primero tiene que invertir en su empresa y después solicitar las ayudas. Estas ayudas son una reducción de la inversión.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2108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CC776D-BCEC-B61D-ED39-801FF252A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32" y="1253331"/>
            <a:ext cx="84249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800" b="1" u="sng" dirty="0"/>
              <a:t>4. Crowdfunding:</a:t>
            </a:r>
          </a:p>
          <a:p>
            <a:pPr marL="0" indent="0">
              <a:buNone/>
            </a:pPr>
            <a:r>
              <a:rPr lang="es-ES_tradnl" sz="1800" dirty="0"/>
              <a:t>Es un sistema de financiación colectiva donde a través de la red, muchas personas aportan pequeñas cantidades de dinero para un determinado proyecto, a cambio de alguna recompensa. </a:t>
            </a:r>
          </a:p>
          <a:p>
            <a:pPr marL="0" indent="0">
              <a:buNone/>
            </a:pPr>
            <a:r>
              <a:rPr lang="es-ES_tradnl" sz="1800" dirty="0"/>
              <a:t>Tipos de crowdfunding:</a:t>
            </a:r>
          </a:p>
          <a:p>
            <a:r>
              <a:rPr lang="es-ES_tradnl" sz="1800" dirty="0"/>
              <a:t>De recompensa: aportan dinero a cambio de elementos, </a:t>
            </a:r>
            <a:r>
              <a:rPr lang="es-ES_tradnl" sz="1800" dirty="0" err="1"/>
              <a:t>ej</a:t>
            </a:r>
            <a:r>
              <a:rPr lang="es-ES_tradnl" sz="1800" dirty="0"/>
              <a:t>: libro gratuito dedicado, entradas, cena con autores, etc. </a:t>
            </a:r>
          </a:p>
          <a:p>
            <a:r>
              <a:rPr lang="es-ES_tradnl" sz="1800" dirty="0"/>
              <a:t>De donación: va dirigido a una ONG y no hay contraprestación.</a:t>
            </a:r>
          </a:p>
          <a:p>
            <a:r>
              <a:rPr lang="es-ES_tradnl" sz="1800" dirty="0"/>
              <a:t>De inversión: aportan dinero para ser inversores o accionistas de la empresa. </a:t>
            </a:r>
          </a:p>
          <a:p>
            <a:r>
              <a:rPr lang="es-ES_tradnl" sz="1800" dirty="0"/>
              <a:t>De préstamo: prestan el dinero a cambio de que se devuelva más un tipo de interés. </a:t>
            </a:r>
          </a:p>
          <a:p>
            <a:pPr marL="0" indent="0" algn="ctr">
              <a:buNone/>
            </a:pPr>
            <a:r>
              <a:rPr lang="es-ES_tradnl" sz="1800" dirty="0">
                <a:hlinkClick r:id="rId2"/>
              </a:rPr>
              <a:t>5 ejemplos de crowdfunding</a:t>
            </a:r>
            <a:endParaRPr lang="es-ES_tradnl" sz="1800" dirty="0"/>
          </a:p>
        </p:txBody>
      </p:sp>
    </p:spTree>
    <p:extLst>
      <p:ext uri="{BB962C8B-B14F-4D97-AF65-F5344CB8AC3E}">
        <p14:creationId xmlns:p14="http://schemas.microsoft.com/office/powerpoint/2010/main" val="236721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CuadroTexto"/>
          <p:cNvSpPr txBox="1"/>
          <p:nvPr/>
        </p:nvSpPr>
        <p:spPr>
          <a:xfrm>
            <a:off x="395536" y="620688"/>
            <a:ext cx="535984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b="1" dirty="0"/>
              <a:t>B) Fuentes ajenas en el corto plazo (- de 1 año)</a:t>
            </a:r>
            <a:endParaRPr lang="es-ES" b="1" dirty="0"/>
          </a:p>
        </p:txBody>
      </p:sp>
      <p:sp>
        <p:nvSpPr>
          <p:cNvPr id="29" name="28 CuadroTexto"/>
          <p:cNvSpPr txBox="1"/>
          <p:nvPr/>
        </p:nvSpPr>
        <p:spPr>
          <a:xfrm>
            <a:off x="539552" y="1268760"/>
            <a:ext cx="8136904" cy="5040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b="1" u="sng" dirty="0"/>
              <a:t>1. Crédito bancario: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El banco pone a disposición de la empresa un dinero en una cuenta de crédito. La empresa pagará intereses por las cantidades que vaya sacando de la misma y también un interés menor por la cantidad no utilizada.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Plazo entre 6 meses y un año (corto plazo). Posibilidad de renovar.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Suele estar sujeta a las mismas comisiones y garantías que el préstamo.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/>
              <a:t>Póliza de crédito: modalidad de crédito en la que es posible realizar ingresos y por tanto ir disminuyendo la cantidad utilizada y los intereses.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/>
          </a:p>
          <a:p>
            <a:pPr algn="just"/>
            <a:r>
              <a:rPr lang="es-ES_tradnl" b="1" u="sng" dirty="0"/>
              <a:t>2. Créditos comerciales de proveedores: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anose="05000000000000000000" pitchFamily="2" charset="2"/>
              </a:rPr>
              <a:t>Cuando las empresas compran mercaderías y no las pagan al contado, sino dentro de 30 o 60 días sin intereses añadidos.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anose="05000000000000000000" pitchFamily="2" charset="2"/>
              </a:rPr>
              <a:t>Supone una fuente de financiación.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ym typeface="Wingdings" panose="05000000000000000000" pitchFamily="2" charset="2"/>
              </a:rPr>
              <a:t>Si el proveedor no permitiese pagar a 30-60 días la empresa debería pagar las mercaderías sin haberlas vendido, debiendo acudir a otras fuentes de financiación que cobran intereses.</a:t>
            </a:r>
            <a:endParaRPr lang="es-ES" dirty="0"/>
          </a:p>
          <a:p>
            <a:pPr algn="just"/>
            <a:endParaRPr lang="es-ES_tradnl" dirty="0"/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292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7801-051E-738E-EC96-CCA4B5F4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" name="28 CuadroTexto">
                <a:extLst>
                  <a:ext uri="{FF2B5EF4-FFF2-40B4-BE49-F238E27FC236}">
                    <a16:creationId xmlns:a16="http://schemas.microsoft.com/office/drawing/2014/main" id="{2AE1F186-AF4F-A7C4-6531-3966BAF6874A}"/>
                  </a:ext>
                </a:extLst>
              </p:cNvPr>
              <p:cNvSpPr txBox="1"/>
              <p:nvPr/>
            </p:nvSpPr>
            <p:spPr>
              <a:xfrm>
                <a:off x="503548" y="548680"/>
                <a:ext cx="8136904" cy="55700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just"/>
                <a:r>
                  <a:rPr lang="es-ES_tradnl" b="1" u="sng" dirty="0"/>
                  <a:t>3. Descuento de efectos: </a:t>
                </a:r>
              </a:p>
              <a:p>
                <a:pPr algn="just"/>
                <a:r>
                  <a:rPr lang="es-ES_tradnl" sz="1600" dirty="0"/>
                  <a:t>Fuente de financiación muy utilizada para obtener recursos en el c/p. Se trata de un acuerdo entre la empresa y una entidad financiera, </a:t>
                </a:r>
                <a:r>
                  <a:rPr lang="es-ES" sz="1600" dirty="0"/>
                  <a:t>mediante el cual la empresa </a:t>
                </a:r>
                <a:r>
                  <a:rPr lang="es-ES" sz="1600" b="1" dirty="0"/>
                  <a:t>cobra por adelantado</a:t>
                </a:r>
                <a:r>
                  <a:rPr lang="es-ES" sz="1600" dirty="0"/>
                  <a:t> el dinero de efectos comerciales que aún no han vencido (letras de cambio o pagarés), a cambio de pagar intereses y comisiones al banco.</a:t>
                </a:r>
                <a:r>
                  <a:rPr lang="es-ES_tradnl" sz="1600" dirty="0"/>
                  <a:t> Funcionamiento: </a:t>
                </a:r>
                <a:endParaRPr lang="es-ES" sz="1600" b="1" dirty="0"/>
              </a:p>
              <a:p>
                <a:pPr marL="342900" indent="-342900" algn="just">
                  <a:buAutoNum type="arabicPeriod"/>
                </a:pPr>
                <a:r>
                  <a:rPr lang="es-ES" sz="1600" b="1" dirty="0"/>
                  <a:t>La empresa tiene un efecto a cobrar: </a:t>
                </a:r>
                <a:r>
                  <a:rPr lang="es-ES" sz="1600" dirty="0"/>
                  <a:t>por ejemplo, un pagaré de 10.000€ con vencimiento a 90 días. Pero la empresa necesita el dinero ya. </a:t>
                </a:r>
              </a:p>
              <a:p>
                <a:pPr marL="342900" indent="-342900" algn="just">
                  <a:buFontTx/>
                  <a:buAutoNum type="arabicPeriod"/>
                </a:pPr>
                <a:r>
                  <a:rPr lang="es-ES" sz="1600" b="1" dirty="0"/>
                  <a:t>Se lleva el pagaré al banco: </a:t>
                </a:r>
                <a:r>
                  <a:rPr lang="es-ES" sz="1600" dirty="0"/>
                  <a:t>el banco te adelanta el dinero antes del vencimiento, pero no te da los 10.000 € completos, sino que te descuenta: intereses por el anticipo, comisiones y gastos. Ejemplo: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Tipo de descuento: 6% anual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s-ES" sz="1600" dirty="0"/>
                  <a:t>Comisión: 0,5%</a:t>
                </a:r>
              </a:p>
              <a:p>
                <a:pPr lvl="1"/>
                <a:r>
                  <a:rPr lang="es-ES" sz="1600" dirty="0"/>
                  <a:t>Intereses de descuento: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/>
                        <m:t>10</m:t>
                      </m:r>
                      <m:r>
                        <a:rPr lang="es-ES" sz="1600"/>
                        <m:t>.</m:t>
                      </m:r>
                      <m:r>
                        <a:rPr lang="es-ES" sz="1600" i="1"/>
                        <m:t>000</m:t>
                      </m:r>
                      <m:r>
                        <a:rPr lang="es-ES" sz="1600"/>
                        <m:t>×</m:t>
                      </m:r>
                      <m:r>
                        <a:rPr lang="es-ES" sz="1600" i="1"/>
                        <m:t>6</m:t>
                      </m:r>
                      <m:r>
                        <a:rPr lang="es-ES" sz="1600"/>
                        <m:t>%×</m:t>
                      </m:r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90</m:t>
                          </m:r>
                          <m:r>
                            <a:rPr lang="ar-AE" sz="1600"/>
                            <m:t>/</m:t>
                          </m:r>
                          <m:r>
                            <a:rPr lang="ar-AE" sz="1600" i="1"/>
                            <m:t>360</m:t>
                          </m:r>
                        </m:e>
                      </m:d>
                      <m:r>
                        <a:rPr lang="ar-AE" sz="1600"/>
                        <m:t>=</m:t>
                      </m:r>
                      <m:r>
                        <a:rPr lang="ar-AE" sz="1600" i="1"/>
                        <m:t>150</m:t>
                      </m:r>
                      <m:r>
                        <m:rPr>
                          <m:nor/>
                        </m:rPr>
                        <a:rPr lang="ar-AE" sz="1600" i="1"/>
                        <m:t>€</m:t>
                      </m:r>
                    </m:oMath>
                  </m:oMathPara>
                </a14:m>
                <a:endParaRPr lang="ar-AE" sz="1600" dirty="0"/>
              </a:p>
              <a:p>
                <a:pPr lvl="1"/>
                <a:r>
                  <a:rPr lang="es-ES" sz="1600" dirty="0"/>
                  <a:t>Comisión: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/>
                        <m:t>10</m:t>
                      </m:r>
                      <m:r>
                        <a:rPr lang="es-ES" sz="1600"/>
                        <m:t>.</m:t>
                      </m:r>
                      <m:r>
                        <a:rPr lang="es-ES" sz="1600" i="1"/>
                        <m:t>000</m:t>
                      </m:r>
                      <m:r>
                        <a:rPr lang="es-ES" sz="1600"/>
                        <m:t>×</m:t>
                      </m:r>
                      <m:r>
                        <a:rPr lang="es-ES" sz="1600" i="1"/>
                        <m:t>0</m:t>
                      </m:r>
                      <m:r>
                        <a:rPr lang="es-ES" sz="1600"/>
                        <m:t>,</m:t>
                      </m:r>
                      <m:r>
                        <a:rPr lang="es-ES" sz="1600" i="1"/>
                        <m:t>5</m:t>
                      </m:r>
                      <m:r>
                        <a:rPr lang="es-ES" sz="1600"/>
                        <m:t>%=</m:t>
                      </m:r>
                      <m:r>
                        <a:rPr lang="es-ES" sz="1600" i="1"/>
                        <m:t>50</m:t>
                      </m:r>
                      <m:r>
                        <m:rPr>
                          <m:nor/>
                        </m:rPr>
                        <a:rPr lang="es-ES" sz="1600" i="1"/>
                        <m:t>€</m:t>
                      </m:r>
                    </m:oMath>
                  </m:oMathPara>
                </a14:m>
                <a:endParaRPr lang="es-ES" sz="1600" dirty="0"/>
              </a:p>
              <a:p>
                <a:pPr lvl="1"/>
                <a:r>
                  <a:rPr lang="es-ES" sz="1600" dirty="0"/>
                  <a:t>Dinero que recibes hoy: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/>
                        <m:t>10</m:t>
                      </m:r>
                      <m:r>
                        <a:rPr lang="es-ES" sz="1600"/>
                        <m:t>.</m:t>
                      </m:r>
                      <m:r>
                        <a:rPr lang="es-ES" sz="1600" i="1"/>
                        <m:t>000</m:t>
                      </m:r>
                      <m:r>
                        <a:rPr lang="es-ES" sz="1600"/>
                        <m:t>−</m:t>
                      </m:r>
                      <m:r>
                        <a:rPr lang="es-ES" sz="1600" i="1"/>
                        <m:t>150</m:t>
                      </m:r>
                      <m:r>
                        <a:rPr lang="es-ES" sz="1600"/>
                        <m:t>−</m:t>
                      </m:r>
                      <m:r>
                        <a:rPr lang="es-ES" sz="1600" i="1"/>
                        <m:t>50</m:t>
                      </m:r>
                      <m:r>
                        <a:rPr lang="es-ES" sz="1600"/>
                        <m:t>=</m:t>
                      </m:r>
                      <m:r>
                        <a:rPr lang="es-ES" sz="1600" i="1"/>
                        <m:t>9</m:t>
                      </m:r>
                      <m:r>
                        <a:rPr lang="es-ES" sz="1600"/>
                        <m:t>.</m:t>
                      </m:r>
                      <m:r>
                        <a:rPr lang="es-ES" sz="1600" i="1"/>
                        <m:t>800</m:t>
                      </m:r>
                      <m:r>
                        <m:rPr>
                          <m:nor/>
                        </m:rPr>
                        <a:rPr lang="es-ES" sz="1600" i="1"/>
                        <m:t>€</m:t>
                      </m:r>
                    </m:oMath>
                  </m:oMathPara>
                </a14:m>
                <a:br>
                  <a:rPr lang="es-ES" sz="1600" dirty="0"/>
                </a:br>
                <a:endParaRPr lang="es-ES" sz="1600" dirty="0"/>
              </a:p>
              <a:p>
                <a:pPr algn="just"/>
                <a:r>
                  <a:rPr lang="es-ES" sz="1600" b="1" dirty="0"/>
                  <a:t>3. El banco cobra al vencimiento: </a:t>
                </a:r>
                <a:r>
                  <a:rPr lang="es-ES" sz="1600" dirty="0"/>
                  <a:t>cuando llega la fecha el cliente paga al banco y la operación se cierra. Si el cliente no paga, el banco reclama el dinero a la empresa.</a:t>
                </a:r>
              </a:p>
              <a:p>
                <a:r>
                  <a:rPr lang="es-ES" sz="1600" dirty="0"/>
                  <a:t>Ejemplo: </a:t>
                </a:r>
              </a:p>
              <a:p>
                <a:r>
                  <a:rPr lang="es-ES" sz="1600" dirty="0"/>
                  <a:t>Dinero que cobrará el banco al vencimiento: 10.000 € </a:t>
                </a:r>
              </a:p>
            </p:txBody>
          </p:sp>
        </mc:Choice>
        <mc:Fallback>
          <p:sp>
            <p:nvSpPr>
              <p:cNvPr id="29" name="28 CuadroTexto">
                <a:extLst>
                  <a:ext uri="{FF2B5EF4-FFF2-40B4-BE49-F238E27FC236}">
                    <a16:creationId xmlns:a16="http://schemas.microsoft.com/office/drawing/2014/main" id="{2AE1F186-AF4F-A7C4-6531-3966BAF68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8" y="548680"/>
                <a:ext cx="8136904" cy="5570051"/>
              </a:xfrm>
              <a:prstGeom prst="rect">
                <a:avLst/>
              </a:prstGeom>
              <a:blipFill>
                <a:blip r:embed="rId2"/>
                <a:stretch>
                  <a:fillRect l="-623" t="-456" r="-467" b="-4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652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CuadroTexto"/>
          <p:cNvSpPr txBox="1"/>
          <p:nvPr/>
        </p:nvSpPr>
        <p:spPr>
          <a:xfrm>
            <a:off x="318216" y="1676707"/>
            <a:ext cx="8507568" cy="35045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b="1" u="sng" dirty="0">
                <a:sym typeface="Wingdings" panose="05000000000000000000" pitchFamily="2" charset="2"/>
              </a:rPr>
              <a:t>4. </a:t>
            </a:r>
            <a:r>
              <a:rPr lang="es-ES_tradnl" b="1" u="sng" dirty="0" err="1">
                <a:sym typeface="Wingdings" panose="05000000000000000000" pitchFamily="2" charset="2"/>
              </a:rPr>
              <a:t>Factoring</a:t>
            </a:r>
            <a:r>
              <a:rPr lang="es-ES_tradnl" b="1" u="sng" dirty="0">
                <a:sym typeface="Wingdings" panose="05000000000000000000" pitchFamily="2" charset="2"/>
              </a:rPr>
              <a:t>: </a:t>
            </a:r>
          </a:p>
          <a:p>
            <a:pPr marL="285750" indent="-285750" algn="just">
              <a:buFont typeface="Wingdings"/>
              <a:buChar char="à"/>
            </a:pPr>
            <a:r>
              <a:rPr lang="es-ES_tradnl" dirty="0">
                <a:sym typeface="Wingdings" panose="05000000000000000000" pitchFamily="2" charset="2"/>
              </a:rPr>
              <a:t>Financiación muy parecida al descuento.</a:t>
            </a:r>
          </a:p>
          <a:p>
            <a:pPr marL="285750" indent="-285750" algn="just">
              <a:buFont typeface="Wingdings"/>
              <a:buChar char="à"/>
            </a:pPr>
            <a:r>
              <a:rPr lang="es-ES_tradnl" dirty="0">
                <a:sym typeface="Wingdings" panose="05000000000000000000" pitchFamily="2" charset="2"/>
              </a:rPr>
              <a:t>La empresa vende el cobro de sus facturas y efectos sobre sus clientes a otra empresa (sociedad factor). </a:t>
            </a:r>
          </a:p>
          <a:p>
            <a:pPr marL="285750" indent="-285750" algn="just">
              <a:buFont typeface="Wingdings"/>
              <a:buChar char="à"/>
            </a:pPr>
            <a:r>
              <a:rPr lang="es-ES_tradnl" dirty="0">
                <a:sym typeface="Wingdings" panose="05000000000000000000" pitchFamily="2" charset="2"/>
              </a:rPr>
              <a:t>A cambio hay que pagar intereses, comisiones y ceder todas las facturas.</a:t>
            </a:r>
          </a:p>
          <a:p>
            <a:pPr marL="285750" indent="-285750" algn="just">
              <a:buFont typeface="Wingdings"/>
              <a:buChar char="à"/>
            </a:pPr>
            <a:endParaRPr lang="es-ES_tradnl" dirty="0">
              <a:sym typeface="Wingdings" panose="05000000000000000000" pitchFamily="2" charset="2"/>
            </a:endParaRPr>
          </a:p>
          <a:p>
            <a:pPr algn="just"/>
            <a:r>
              <a:rPr lang="es-ES_tradnl" u="sng" dirty="0">
                <a:sym typeface="Wingdings" panose="05000000000000000000" pitchFamily="2" charset="2"/>
              </a:rPr>
              <a:t>Diferencia con el descuento:</a:t>
            </a:r>
          </a:p>
          <a:p>
            <a:pPr marL="285750" indent="-285750" algn="just">
              <a:buFontTx/>
              <a:buChar char="-"/>
            </a:pPr>
            <a:r>
              <a:rPr lang="es-ES_tradnl" dirty="0">
                <a:sym typeface="Wingdings" panose="05000000000000000000" pitchFamily="2" charset="2"/>
              </a:rPr>
              <a:t>La empresa de </a:t>
            </a:r>
            <a:r>
              <a:rPr lang="es-ES_tradnl" dirty="0" err="1">
                <a:sym typeface="Wingdings" panose="05000000000000000000" pitchFamily="2" charset="2"/>
              </a:rPr>
              <a:t>factoring</a:t>
            </a:r>
            <a:r>
              <a:rPr lang="es-ES_tradnl" dirty="0">
                <a:sym typeface="Wingdings" panose="05000000000000000000" pitchFamily="2" charset="2"/>
              </a:rPr>
              <a:t> nos anticipa el crédito a cobrar a los clientes, pero no en su totalidad (un % según la calidad o seguridad de cobro). El resto de la facturación es pagada por la empresa factor una vez sea cobrada. </a:t>
            </a:r>
          </a:p>
          <a:p>
            <a:pPr marL="285750" indent="-285750" algn="just">
              <a:buFontTx/>
              <a:buChar char="-"/>
            </a:pPr>
            <a:r>
              <a:rPr lang="es-ES_tradnl" dirty="0">
                <a:sym typeface="Wingdings" panose="05000000000000000000" pitchFamily="2" charset="2"/>
              </a:rPr>
              <a:t>Pueden realizar servicios añadidos como asumir riesgo de impago, estudio de solvencia de clientes u otras gestiones administrativas.</a:t>
            </a:r>
          </a:p>
        </p:txBody>
      </p:sp>
    </p:spTree>
    <p:extLst>
      <p:ext uri="{BB962C8B-B14F-4D97-AF65-F5344CB8AC3E}">
        <p14:creationId xmlns:p14="http://schemas.microsoft.com/office/powerpoint/2010/main" val="357879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1 Título"/>
          <p:cNvSpPr txBox="1">
            <a:spLocks/>
          </p:cNvSpPr>
          <p:nvPr/>
        </p:nvSpPr>
        <p:spPr>
          <a:xfrm>
            <a:off x="179512" y="18958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4100" b="1" dirty="0">
                <a:latin typeface="+mn-lt"/>
              </a:rPr>
              <a:t>4. Ayudas públicas y subvenciones</a:t>
            </a:r>
          </a:p>
        </p:txBody>
      </p:sp>
      <p:sp>
        <p:nvSpPr>
          <p:cNvPr id="16" name="13 CuadroTexto"/>
          <p:cNvSpPr txBox="1"/>
          <p:nvPr/>
        </p:nvSpPr>
        <p:spPr>
          <a:xfrm>
            <a:off x="350713" y="1114022"/>
            <a:ext cx="8397751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dirty="0"/>
              <a:t>Las Administraciones Públicas ofrecen ayudas y subvenciones a los emprendedores</a:t>
            </a:r>
            <a:endParaRPr lang="es-ES" dirty="0"/>
          </a:p>
        </p:txBody>
      </p:sp>
      <p:sp>
        <p:nvSpPr>
          <p:cNvPr id="17" name="11 CuadroTexto"/>
          <p:cNvSpPr txBox="1"/>
          <p:nvPr/>
        </p:nvSpPr>
        <p:spPr>
          <a:xfrm>
            <a:off x="350713" y="1641109"/>
            <a:ext cx="8611445" cy="26161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Importante:</a:t>
            </a:r>
          </a:p>
          <a:p>
            <a:pPr algn="ctr"/>
            <a:endParaRPr lang="es-ES_tradnl" sz="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Las ayudas públicas no son un fondo para iniciar un negocio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no se conceden antes de comenzar y abrir la empresa</a:t>
            </a:r>
          </a:p>
          <a:p>
            <a:endParaRPr lang="es-ES_tradnl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</a:rPr>
              <a:t>El emprendedor primero debe invertir en su empresa y después solicitar las ayudas si cree que reúne los requisitos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tardan en llegar y suelen exigir una documentación</a:t>
            </a:r>
          </a:p>
          <a:p>
            <a:endParaRPr lang="es-ES" sz="8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_tradnl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Las ayudas públicas hay que verlas más como “una reducción” de la inversión y los gastos pagados más que como un capital inicial para que el emprendedor pueda implantar su proyecto</a:t>
            </a:r>
            <a:endParaRPr lang="es-ES_trad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4465513" y="4929013"/>
            <a:ext cx="41044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>
                <a:latin typeface="Arial Narrow" panose="020B0606020202030204" pitchFamily="34" charset="0"/>
              </a:rPr>
              <a:t>http://www.ipyme.org/es-ES/BBDD/AyudasIncentivos/Paginas/BuscadorAyudas.aspx</a:t>
            </a:r>
          </a:p>
        </p:txBody>
      </p:sp>
      <p:sp>
        <p:nvSpPr>
          <p:cNvPr id="8" name="18 Rectángulo">
            <a:hlinkClick r:id="" action="ppaction://noaction"/>
          </p:cNvPr>
          <p:cNvSpPr/>
          <p:nvPr/>
        </p:nvSpPr>
        <p:spPr>
          <a:xfrm>
            <a:off x="697051" y="4984925"/>
            <a:ext cx="35317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Amplía 2:</a:t>
            </a:r>
            <a:r>
              <a:rPr lang="es-ES_tradnl" sz="1400" b="1" dirty="0">
                <a:solidFill>
                  <a:srgbClr val="C00000"/>
                </a:solidFill>
              </a:rPr>
              <a:t> “Buscador de ayudas: </a:t>
            </a:r>
            <a:r>
              <a:rPr lang="es-ES_tradnl" sz="1400" b="1" dirty="0" err="1">
                <a:solidFill>
                  <a:srgbClr val="C00000"/>
                </a:solidFill>
              </a:rPr>
              <a:t>ipyme</a:t>
            </a:r>
            <a:r>
              <a:rPr lang="es-ES_tradnl" sz="1400" b="1" dirty="0">
                <a:solidFill>
                  <a:srgbClr val="C00000"/>
                </a:solidFill>
              </a:rPr>
              <a:t>”</a:t>
            </a:r>
          </a:p>
        </p:txBody>
      </p:sp>
      <p:sp>
        <p:nvSpPr>
          <p:cNvPr id="3" name="Rectángulo 2"/>
          <p:cNvSpPr/>
          <p:nvPr/>
        </p:nvSpPr>
        <p:spPr>
          <a:xfrm>
            <a:off x="4491693" y="5550309"/>
            <a:ext cx="2274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latin typeface="Arial Narrow" panose="020B0606020202030204" pitchFamily="34" charset="0"/>
              </a:rPr>
              <a:t>https://axudas.gal/es/buscar</a:t>
            </a:r>
          </a:p>
        </p:txBody>
      </p:sp>
      <p:sp>
        <p:nvSpPr>
          <p:cNvPr id="4" name="Rectángulo 3"/>
          <p:cNvSpPr/>
          <p:nvPr/>
        </p:nvSpPr>
        <p:spPr>
          <a:xfrm>
            <a:off x="592124" y="5565698"/>
            <a:ext cx="39836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Amplía 3:</a:t>
            </a:r>
            <a:r>
              <a:rPr lang="es-ES_tradnl" sz="1400" b="1" dirty="0">
                <a:solidFill>
                  <a:srgbClr val="C00000"/>
                </a:solidFill>
              </a:rPr>
              <a:t> “Buscador de ayudas: </a:t>
            </a:r>
            <a:r>
              <a:rPr lang="es-ES_tradnl" sz="1400" b="1" dirty="0" err="1">
                <a:solidFill>
                  <a:srgbClr val="C00000"/>
                </a:solidFill>
              </a:rPr>
              <a:t>axudas.gal</a:t>
            </a:r>
            <a:r>
              <a:rPr lang="es-ES_tradnl" sz="1400" b="1" dirty="0">
                <a:solidFill>
                  <a:srgbClr val="C00000"/>
                </a:solidFill>
              </a:rPr>
              <a:t>”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465513" y="4327207"/>
            <a:ext cx="44966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>
                <a:latin typeface="Arial Narrow" pitchFamily="34" charset="0"/>
              </a:rPr>
              <a:t>https://sede.xunta.gal/detalle-procedemento?codtram=TR341D&amp;ano=2024&amp;numpub=1&amp;lang=es</a:t>
            </a:r>
          </a:p>
        </p:txBody>
      </p:sp>
      <p:sp>
        <p:nvSpPr>
          <p:cNvPr id="13" name="18 Rectángulo">
            <a:hlinkClick r:id="" action="ppaction://noaction"/>
          </p:cNvPr>
          <p:cNvSpPr/>
          <p:nvPr/>
        </p:nvSpPr>
        <p:spPr>
          <a:xfrm>
            <a:off x="676225" y="4404152"/>
            <a:ext cx="38154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Amplía 1:</a:t>
            </a:r>
            <a:r>
              <a:rPr lang="es-ES_tradnl" sz="1400" b="1" dirty="0">
                <a:solidFill>
                  <a:srgbClr val="C00000"/>
                </a:solidFill>
              </a:rPr>
              <a:t> “Subvención autónomos Xunta”</a:t>
            </a:r>
          </a:p>
        </p:txBody>
      </p:sp>
    </p:spTree>
    <p:extLst>
      <p:ext uri="{BB962C8B-B14F-4D97-AF65-F5344CB8AC3E}">
        <p14:creationId xmlns:p14="http://schemas.microsoft.com/office/powerpoint/2010/main" val="4126330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3179</TotalTime>
  <Words>1738</Words>
  <Application>Microsoft Macintosh PowerPoint</Application>
  <PresentationFormat>Presentación en pantalla (4:3)</PresentationFormat>
  <Paragraphs>166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Calibri</vt:lpstr>
      <vt:lpstr>Calibri Light</vt:lpstr>
      <vt:lpstr>Courier New</vt:lpstr>
      <vt:lpstr>Wingdings</vt:lpstr>
      <vt:lpstr>Office 2013 - Tema de 2022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3.1. Fuentes propias externas</vt:lpstr>
      <vt:lpstr>Presentación de PowerPoint</vt:lpstr>
      <vt:lpstr>3.3. Fuentes ajenas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Ana Suárez</cp:lastModifiedBy>
  <cp:revision>424</cp:revision>
  <dcterms:created xsi:type="dcterms:W3CDTF">2013-09-12T06:29:10Z</dcterms:created>
  <dcterms:modified xsi:type="dcterms:W3CDTF">2026-02-23T11:45:34Z</dcterms:modified>
</cp:coreProperties>
</file>