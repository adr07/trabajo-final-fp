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2" r:id="rId1"/>
  </p:sldMasterIdLst>
  <p:notesMasterIdLst>
    <p:notesMasterId r:id="rId30"/>
  </p:notesMasterIdLst>
  <p:sldIdLst>
    <p:sldId id="256" r:id="rId2"/>
    <p:sldId id="257" r:id="rId3"/>
    <p:sldId id="258" r:id="rId4"/>
    <p:sldId id="289" r:id="rId5"/>
    <p:sldId id="288" r:id="rId6"/>
    <p:sldId id="25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60" r:id="rId15"/>
    <p:sldId id="297" r:id="rId16"/>
    <p:sldId id="298" r:id="rId17"/>
    <p:sldId id="299" r:id="rId18"/>
    <p:sldId id="263" r:id="rId19"/>
    <p:sldId id="301" r:id="rId20"/>
    <p:sldId id="283" r:id="rId21"/>
    <p:sldId id="302" r:id="rId22"/>
    <p:sldId id="303" r:id="rId23"/>
    <p:sldId id="304" r:id="rId24"/>
    <p:sldId id="271" r:id="rId25"/>
    <p:sldId id="274" r:id="rId26"/>
    <p:sldId id="286" r:id="rId27"/>
    <p:sldId id="305" r:id="rId28"/>
    <p:sldId id="306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AED9FC-23B0-DA9E-9E11-76927CDCC3D7}" name="Ana Suárez Pérez" initials="AS" userId="be69f37c92d61ad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03"/>
    <p:restoredTop sz="94650"/>
  </p:normalViewPr>
  <p:slideViewPr>
    <p:cSldViewPr>
      <p:cViewPr varScale="1">
        <p:scale>
          <a:sx n="120" d="100"/>
          <a:sy n="120" d="100"/>
        </p:scale>
        <p:origin x="119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7A05A3-14D9-44A5-B768-02F08550772E}" type="doc">
      <dgm:prSet loTypeId="urn:microsoft.com/office/officeart/2005/8/layout/radial3" loCatId="cycle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ED2B4624-7341-43E5-B4B2-09A70E7847B3}">
      <dgm:prSet phldrT="[Texto]" custT="1"/>
      <dgm:spPr>
        <a:solidFill>
          <a:schemeClr val="accent3"/>
        </a:solidFill>
        <a:ln w="28575">
          <a:solidFill>
            <a:srgbClr val="00B050"/>
          </a:solidFill>
        </a:ln>
      </dgm:spPr>
      <dgm:t>
        <a:bodyPr/>
        <a:lstStyle/>
        <a:p>
          <a:r>
            <a:rPr lang="es-ES_tradnl" sz="1800" b="1" dirty="0"/>
            <a:t>1. Criterios de segmentación del mercado</a:t>
          </a:r>
          <a:endParaRPr lang="es-ES" sz="1800" b="1" dirty="0"/>
        </a:p>
      </dgm:t>
    </dgm:pt>
    <dgm:pt modelId="{B5847ABE-AF46-483D-BCB2-95A0C15A9DB6}" type="parTrans" cxnId="{7150E0E6-08C4-4382-A9AB-091C87EB90E5}">
      <dgm:prSet/>
      <dgm:spPr/>
      <dgm:t>
        <a:bodyPr/>
        <a:lstStyle/>
        <a:p>
          <a:endParaRPr lang="es-ES"/>
        </a:p>
      </dgm:t>
    </dgm:pt>
    <dgm:pt modelId="{8EEDBB42-9CFE-4006-9F30-B7728819F50E}" type="sibTrans" cxnId="{7150E0E6-08C4-4382-A9AB-091C87EB90E5}">
      <dgm:prSet/>
      <dgm:spPr/>
      <dgm:t>
        <a:bodyPr/>
        <a:lstStyle/>
        <a:p>
          <a:endParaRPr lang="es-ES"/>
        </a:p>
      </dgm:t>
    </dgm:pt>
    <dgm:pt modelId="{6F43B42A-71AC-474D-85DD-AE1BDDBD8C68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Geográficos (provincia, país, </a:t>
          </a:r>
          <a:r>
            <a:rPr lang="es-ES_tradnl" sz="2000" b="1" dirty="0" err="1">
              <a:solidFill>
                <a:schemeClr val="tx2"/>
              </a:solidFill>
            </a:rPr>
            <a:t>etc</a:t>
          </a:r>
          <a:r>
            <a:rPr lang="es-ES_tradnl" sz="2000" b="1" dirty="0">
              <a:solidFill>
                <a:schemeClr val="tx2"/>
              </a:solidFill>
            </a:rPr>
            <a:t>)</a:t>
          </a:r>
          <a:endParaRPr lang="es-ES" sz="2000" b="1" dirty="0">
            <a:solidFill>
              <a:schemeClr val="tx2"/>
            </a:solidFill>
          </a:endParaRPr>
        </a:p>
      </dgm:t>
    </dgm:pt>
    <dgm:pt modelId="{30EFEDF0-9914-448A-956B-0DAC7DF97A4A}" type="parTrans" cxnId="{23600551-2706-4BB0-8AB3-5F63980DF5FE}">
      <dgm:prSet/>
      <dgm:spPr/>
      <dgm:t>
        <a:bodyPr/>
        <a:lstStyle/>
        <a:p>
          <a:endParaRPr lang="es-ES"/>
        </a:p>
      </dgm:t>
    </dgm:pt>
    <dgm:pt modelId="{BA93C95D-0012-4D1C-959A-C3D690C8C7B3}" type="sibTrans" cxnId="{23600551-2706-4BB0-8AB3-5F63980DF5FE}">
      <dgm:prSet/>
      <dgm:spPr/>
      <dgm:t>
        <a:bodyPr/>
        <a:lstStyle/>
        <a:p>
          <a:endParaRPr lang="es-ES"/>
        </a:p>
      </dgm:t>
    </dgm:pt>
    <dgm:pt modelId="{2B6E8293-BED0-4F3F-8FBA-F6F96FA7E5C6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Demográficos </a:t>
          </a:r>
          <a:r>
            <a:rPr lang="es-ES_tradnl" sz="1600" b="1" dirty="0">
              <a:solidFill>
                <a:schemeClr val="tx2"/>
              </a:solidFill>
            </a:rPr>
            <a:t>(sexo, edad, estado civil, </a:t>
          </a:r>
          <a:r>
            <a:rPr lang="es-ES_tradnl" sz="1600" b="1" dirty="0" err="1">
              <a:solidFill>
                <a:schemeClr val="tx2"/>
              </a:solidFill>
            </a:rPr>
            <a:t>etc</a:t>
          </a:r>
          <a:r>
            <a:rPr lang="es-ES_tradnl" sz="1600" b="1" dirty="0">
              <a:solidFill>
                <a:schemeClr val="tx2"/>
              </a:solidFill>
            </a:rPr>
            <a:t>)</a:t>
          </a:r>
          <a:endParaRPr lang="es-ES_tradnl" sz="2000" b="1" dirty="0">
            <a:solidFill>
              <a:schemeClr val="tx2"/>
            </a:solidFill>
          </a:endParaRPr>
        </a:p>
      </dgm:t>
    </dgm:pt>
    <dgm:pt modelId="{67867E74-FD39-41D3-814F-04575D7A2BF4}" type="parTrans" cxnId="{A6475787-836F-4454-80BD-9C2926A4C24A}">
      <dgm:prSet/>
      <dgm:spPr/>
      <dgm:t>
        <a:bodyPr/>
        <a:lstStyle/>
        <a:p>
          <a:endParaRPr lang="es-ES"/>
        </a:p>
      </dgm:t>
    </dgm:pt>
    <dgm:pt modelId="{395664F9-63A3-41E6-9FE2-2E43622DD4E4}" type="sibTrans" cxnId="{A6475787-836F-4454-80BD-9C2926A4C24A}">
      <dgm:prSet/>
      <dgm:spPr/>
      <dgm:t>
        <a:bodyPr/>
        <a:lstStyle/>
        <a:p>
          <a:endParaRPr lang="es-ES"/>
        </a:p>
      </dgm:t>
    </dgm:pt>
    <dgm:pt modelId="{ED08D634-BC50-477C-BD9D-0C4552AD2BB4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Económicos </a:t>
          </a:r>
          <a:r>
            <a:rPr lang="es-ES_tradnl" sz="1600" b="1" dirty="0">
              <a:solidFill>
                <a:schemeClr val="tx2"/>
              </a:solidFill>
            </a:rPr>
            <a:t>(renta alta, baja, media)</a:t>
          </a:r>
          <a:endParaRPr lang="es-ES" sz="2000" b="1" dirty="0">
            <a:solidFill>
              <a:schemeClr val="tx2"/>
            </a:solidFill>
          </a:endParaRPr>
        </a:p>
      </dgm:t>
    </dgm:pt>
    <dgm:pt modelId="{FC82DE27-753B-45E7-86A1-2AC6C2601B4F}" type="parTrans" cxnId="{27288744-A2CE-44EA-8A63-1D258249BA43}">
      <dgm:prSet/>
      <dgm:spPr/>
      <dgm:t>
        <a:bodyPr/>
        <a:lstStyle/>
        <a:p>
          <a:endParaRPr lang="es-ES"/>
        </a:p>
      </dgm:t>
    </dgm:pt>
    <dgm:pt modelId="{7B7FC7B1-D33A-447D-B605-5B146965A05F}" type="sibTrans" cxnId="{27288744-A2CE-44EA-8A63-1D258249BA43}">
      <dgm:prSet/>
      <dgm:spPr/>
      <dgm:t>
        <a:bodyPr/>
        <a:lstStyle/>
        <a:p>
          <a:endParaRPr lang="es-ES"/>
        </a:p>
      </dgm:t>
    </dgm:pt>
    <dgm:pt modelId="{A77E5D3E-9064-4B58-8259-2D8B61C6F2FD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Profesión </a:t>
          </a:r>
          <a:r>
            <a:rPr lang="es-ES_tradnl" sz="1400" b="1" dirty="0">
              <a:solidFill>
                <a:schemeClr val="tx2"/>
              </a:solidFill>
            </a:rPr>
            <a:t>(tener determinada profesión)</a:t>
          </a:r>
          <a:endParaRPr lang="es-ES" sz="2000" b="1" dirty="0">
            <a:solidFill>
              <a:schemeClr val="tx2"/>
            </a:solidFill>
          </a:endParaRPr>
        </a:p>
      </dgm:t>
    </dgm:pt>
    <dgm:pt modelId="{0C39793F-CA49-4362-A21D-F5C1FDD2203D}" type="parTrans" cxnId="{A9907DBF-B601-49CE-97E8-051C16024280}">
      <dgm:prSet/>
      <dgm:spPr/>
      <dgm:t>
        <a:bodyPr/>
        <a:lstStyle/>
        <a:p>
          <a:endParaRPr lang="es-ES"/>
        </a:p>
      </dgm:t>
    </dgm:pt>
    <dgm:pt modelId="{5E7ED7AA-5B60-48C9-91F9-C94F9F27592E}" type="sibTrans" cxnId="{A9907DBF-B601-49CE-97E8-051C16024280}">
      <dgm:prSet/>
      <dgm:spPr/>
      <dgm:t>
        <a:bodyPr/>
        <a:lstStyle/>
        <a:p>
          <a:endParaRPr lang="es-ES"/>
        </a:p>
      </dgm:t>
    </dgm:pt>
    <dgm:pt modelId="{1ED62123-E3C1-400D-ABC1-5AC9D56D3D1B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Psicológicos </a:t>
          </a:r>
          <a:r>
            <a:rPr lang="es-ES_tradnl" sz="1600" b="1" dirty="0">
              <a:solidFill>
                <a:schemeClr val="tx2"/>
              </a:solidFill>
            </a:rPr>
            <a:t>(rasgos de la personalidad)</a:t>
          </a:r>
          <a:endParaRPr lang="es-ES" sz="2000" b="1" dirty="0">
            <a:solidFill>
              <a:schemeClr val="tx2"/>
            </a:solidFill>
          </a:endParaRPr>
        </a:p>
      </dgm:t>
    </dgm:pt>
    <dgm:pt modelId="{D52B87D4-DFD7-4626-AF0F-A02758A36CED}" type="parTrans" cxnId="{F7F2C522-67EA-4261-8DBD-2B748B12C1D9}">
      <dgm:prSet/>
      <dgm:spPr/>
      <dgm:t>
        <a:bodyPr/>
        <a:lstStyle/>
        <a:p>
          <a:endParaRPr lang="es-ES"/>
        </a:p>
      </dgm:t>
    </dgm:pt>
    <dgm:pt modelId="{3D07D0D6-737B-4A78-9CFB-102232CDC4C4}" type="sibTrans" cxnId="{F7F2C522-67EA-4261-8DBD-2B748B12C1D9}">
      <dgm:prSet/>
      <dgm:spPr/>
      <dgm:t>
        <a:bodyPr/>
        <a:lstStyle/>
        <a:p>
          <a:endParaRPr lang="es-ES"/>
        </a:p>
      </dgm:t>
    </dgm:pt>
    <dgm:pt modelId="{747FFA44-8EE2-4034-88D2-8B71A0A4AD9C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Gustos </a:t>
          </a:r>
          <a:r>
            <a:rPr lang="es-ES_tradnl" sz="1600" b="1" dirty="0">
              <a:solidFill>
                <a:schemeClr val="tx2"/>
              </a:solidFill>
            </a:rPr>
            <a:t>(gustos de consumo distintos)</a:t>
          </a:r>
          <a:endParaRPr lang="es-ES" sz="2000" b="1" dirty="0">
            <a:solidFill>
              <a:schemeClr val="tx2"/>
            </a:solidFill>
          </a:endParaRPr>
        </a:p>
      </dgm:t>
    </dgm:pt>
    <dgm:pt modelId="{7C87FDE8-E87D-471F-81CC-854A21960090}" type="parTrans" cxnId="{1474F5F1-9772-412C-A7AF-606385892162}">
      <dgm:prSet/>
      <dgm:spPr/>
      <dgm:t>
        <a:bodyPr/>
        <a:lstStyle/>
        <a:p>
          <a:endParaRPr lang="es-ES"/>
        </a:p>
      </dgm:t>
    </dgm:pt>
    <dgm:pt modelId="{53E308B8-2204-41C0-AE6D-E63551ED4A70}" type="sibTrans" cxnId="{1474F5F1-9772-412C-A7AF-606385892162}">
      <dgm:prSet/>
      <dgm:spPr/>
      <dgm:t>
        <a:bodyPr/>
        <a:lstStyle/>
        <a:p>
          <a:endParaRPr lang="es-ES"/>
        </a:p>
      </dgm:t>
    </dgm:pt>
    <dgm:pt modelId="{B434BC2F-67D7-4451-8103-F1390F2A89CC}">
      <dgm:prSet phldrT="[Texto]" custT="1"/>
      <dgm:spPr>
        <a:solidFill>
          <a:schemeClr val="tx2">
            <a:lumMod val="40000"/>
            <a:lumOff val="60000"/>
          </a:schemeClr>
        </a:solidFill>
      </dgm:spPr>
      <dgm:t>
        <a:bodyPr/>
        <a:lstStyle/>
        <a:p>
          <a:r>
            <a:rPr lang="es-ES_tradnl" sz="2000" b="1" dirty="0">
              <a:solidFill>
                <a:schemeClr val="tx2"/>
              </a:solidFill>
            </a:rPr>
            <a:t>Empresa </a:t>
          </a:r>
          <a:r>
            <a:rPr lang="es-ES_tradnl" sz="1200" b="1" dirty="0">
              <a:solidFill>
                <a:schemeClr val="tx2"/>
              </a:solidFill>
            </a:rPr>
            <a:t>(autónomo, empresa grande, </a:t>
          </a:r>
          <a:r>
            <a:rPr lang="es-ES_tradnl" sz="1200" b="1" dirty="0" err="1">
              <a:solidFill>
                <a:schemeClr val="tx2"/>
              </a:solidFill>
            </a:rPr>
            <a:t>etc</a:t>
          </a:r>
          <a:r>
            <a:rPr lang="es-ES_tradnl" sz="1200" b="1" dirty="0">
              <a:solidFill>
                <a:schemeClr val="tx2"/>
              </a:solidFill>
            </a:rPr>
            <a:t>)</a:t>
          </a:r>
          <a:endParaRPr lang="es-ES" sz="2000" b="1" dirty="0">
            <a:solidFill>
              <a:schemeClr val="tx2"/>
            </a:solidFill>
          </a:endParaRPr>
        </a:p>
      </dgm:t>
    </dgm:pt>
    <dgm:pt modelId="{C163A023-C730-4CFA-B01D-E8B4B61C78C1}" type="parTrans" cxnId="{72C03771-B952-44D3-9B3F-377B346AE90E}">
      <dgm:prSet/>
      <dgm:spPr/>
      <dgm:t>
        <a:bodyPr/>
        <a:lstStyle/>
        <a:p>
          <a:endParaRPr lang="es-ES"/>
        </a:p>
      </dgm:t>
    </dgm:pt>
    <dgm:pt modelId="{3FF4F9C2-D5A9-498E-8D99-2ED7F2B0FD80}" type="sibTrans" cxnId="{72C03771-B952-44D3-9B3F-377B346AE90E}">
      <dgm:prSet/>
      <dgm:spPr/>
      <dgm:t>
        <a:bodyPr/>
        <a:lstStyle/>
        <a:p>
          <a:endParaRPr lang="es-ES"/>
        </a:p>
      </dgm:t>
    </dgm:pt>
    <dgm:pt modelId="{A39BE283-9FAD-47E6-AC51-206C1A91E69D}" type="pres">
      <dgm:prSet presAssocID="{A97A05A3-14D9-44A5-B768-02F08550772E}" presName="composite" presStyleCnt="0">
        <dgm:presLayoutVars>
          <dgm:chMax val="1"/>
          <dgm:dir/>
          <dgm:resizeHandles val="exact"/>
        </dgm:presLayoutVars>
      </dgm:prSet>
      <dgm:spPr/>
    </dgm:pt>
    <dgm:pt modelId="{EC439966-727C-4807-A236-D4E3CE9950C7}" type="pres">
      <dgm:prSet presAssocID="{A97A05A3-14D9-44A5-B768-02F08550772E}" presName="radial" presStyleCnt="0">
        <dgm:presLayoutVars>
          <dgm:animLvl val="ctr"/>
        </dgm:presLayoutVars>
      </dgm:prSet>
      <dgm:spPr/>
    </dgm:pt>
    <dgm:pt modelId="{25F7C319-B8D2-45BF-BAB3-3C04DE6DD803}" type="pres">
      <dgm:prSet presAssocID="{ED2B4624-7341-43E5-B4B2-09A70E7847B3}" presName="centerShape" presStyleLbl="vennNode1" presStyleIdx="0" presStyleCnt="8" custScaleX="124213" custScaleY="76252" custLinFactNeighborX="35" custLinFactNeighborY="-13084"/>
      <dgm:spPr/>
    </dgm:pt>
    <dgm:pt modelId="{AF411819-B58E-4FD4-9EE5-2623AA8BBF37}" type="pres">
      <dgm:prSet presAssocID="{6F43B42A-71AC-474D-85DD-AE1BDDBD8C68}" presName="node" presStyleLbl="vennNode1" presStyleIdx="1" presStyleCnt="8" custScaleX="164671" custScaleY="74051" custRadScaleRad="68734" custRadScaleInc="-349277">
        <dgm:presLayoutVars>
          <dgm:bulletEnabled val="1"/>
        </dgm:presLayoutVars>
      </dgm:prSet>
      <dgm:spPr/>
    </dgm:pt>
    <dgm:pt modelId="{E5BAAAA9-52C2-4E91-A9A7-8B6AF296F61B}" type="pres">
      <dgm:prSet presAssocID="{2B6E8293-BED0-4F3F-8FBA-F6F96FA7E5C6}" presName="node" presStyleLbl="vennNode1" presStyleIdx="2" presStyleCnt="8" custScaleX="181034" custScaleY="63613" custRadScaleRad="138433" custRadScaleInc="-20191">
        <dgm:presLayoutVars>
          <dgm:bulletEnabled val="1"/>
        </dgm:presLayoutVars>
      </dgm:prSet>
      <dgm:spPr/>
    </dgm:pt>
    <dgm:pt modelId="{42D7EF66-2A05-47BB-A0C0-AE1BC7175C92}" type="pres">
      <dgm:prSet presAssocID="{ED08D634-BC50-477C-BD9D-0C4552AD2BB4}" presName="node" presStyleLbl="vennNode1" presStyleIdx="3" presStyleCnt="8" custScaleX="149751" custScaleY="63992" custRadScaleRad="167878" custRadScaleInc="-49412">
        <dgm:presLayoutVars>
          <dgm:bulletEnabled val="1"/>
        </dgm:presLayoutVars>
      </dgm:prSet>
      <dgm:spPr/>
    </dgm:pt>
    <dgm:pt modelId="{5933F40E-2C7C-40F8-A97F-20A93F4CAC2C}" type="pres">
      <dgm:prSet presAssocID="{A77E5D3E-9064-4B58-8259-2D8B61C6F2FD}" presName="node" presStyleLbl="vennNode1" presStyleIdx="4" presStyleCnt="8" custScaleX="145540" custScaleY="70605" custRadScaleRad="135653" custRadScaleInc="-92966">
        <dgm:presLayoutVars>
          <dgm:bulletEnabled val="1"/>
        </dgm:presLayoutVars>
      </dgm:prSet>
      <dgm:spPr/>
    </dgm:pt>
    <dgm:pt modelId="{9CB082E1-761D-4D66-8320-6722D39E1446}" type="pres">
      <dgm:prSet presAssocID="{1ED62123-E3C1-400D-ABC1-5AC9D56D3D1B}" presName="node" presStyleLbl="vennNode1" presStyleIdx="5" presStyleCnt="8" custScaleX="144673" custScaleY="60318" custRadScaleRad="135222" custRadScaleInc="88930">
        <dgm:presLayoutVars>
          <dgm:bulletEnabled val="1"/>
        </dgm:presLayoutVars>
      </dgm:prSet>
      <dgm:spPr/>
    </dgm:pt>
    <dgm:pt modelId="{01DBBD10-EC99-4CA3-9D68-0B12A955F2B6}" type="pres">
      <dgm:prSet presAssocID="{747FFA44-8EE2-4034-88D2-8B71A0A4AD9C}" presName="node" presStyleLbl="vennNode1" presStyleIdx="6" presStyleCnt="8" custScaleX="104408" custScaleY="76833" custRadScaleRad="151246" custRadScaleInc="52492">
        <dgm:presLayoutVars>
          <dgm:bulletEnabled val="1"/>
        </dgm:presLayoutVars>
      </dgm:prSet>
      <dgm:spPr/>
    </dgm:pt>
    <dgm:pt modelId="{3A33AB6C-90BF-4D69-BD96-FA6FF42757B5}" type="pres">
      <dgm:prSet presAssocID="{B434BC2F-67D7-4451-8103-F1390F2A89CC}" presName="node" presStyleLbl="vennNode1" presStyleIdx="7" presStyleCnt="8" custScaleX="138970" custScaleY="63816" custRadScaleRad="128965" custRadScaleInc="29990">
        <dgm:presLayoutVars>
          <dgm:bulletEnabled val="1"/>
        </dgm:presLayoutVars>
      </dgm:prSet>
      <dgm:spPr/>
    </dgm:pt>
  </dgm:ptLst>
  <dgm:cxnLst>
    <dgm:cxn modelId="{F7F2C522-67EA-4261-8DBD-2B748B12C1D9}" srcId="{ED2B4624-7341-43E5-B4B2-09A70E7847B3}" destId="{1ED62123-E3C1-400D-ABC1-5AC9D56D3D1B}" srcOrd="4" destOrd="0" parTransId="{D52B87D4-DFD7-4626-AF0F-A02758A36CED}" sibTransId="{3D07D0D6-737B-4A78-9CFB-102232CDC4C4}"/>
    <dgm:cxn modelId="{43F5D733-53B6-4F4B-92E5-CB8C6DFF230D}" type="presOf" srcId="{ED2B4624-7341-43E5-B4B2-09A70E7847B3}" destId="{25F7C319-B8D2-45BF-BAB3-3C04DE6DD803}" srcOrd="0" destOrd="0" presId="urn:microsoft.com/office/officeart/2005/8/layout/radial3"/>
    <dgm:cxn modelId="{27288744-A2CE-44EA-8A63-1D258249BA43}" srcId="{ED2B4624-7341-43E5-B4B2-09A70E7847B3}" destId="{ED08D634-BC50-477C-BD9D-0C4552AD2BB4}" srcOrd="2" destOrd="0" parTransId="{FC82DE27-753B-45E7-86A1-2AC6C2601B4F}" sibTransId="{7B7FC7B1-D33A-447D-B605-5B146965A05F}"/>
    <dgm:cxn modelId="{58EBB148-C8DD-4D3E-837F-141E5D38F81B}" type="presOf" srcId="{B434BC2F-67D7-4451-8103-F1390F2A89CC}" destId="{3A33AB6C-90BF-4D69-BD96-FA6FF42757B5}" srcOrd="0" destOrd="0" presId="urn:microsoft.com/office/officeart/2005/8/layout/radial3"/>
    <dgm:cxn modelId="{23600551-2706-4BB0-8AB3-5F63980DF5FE}" srcId="{ED2B4624-7341-43E5-B4B2-09A70E7847B3}" destId="{6F43B42A-71AC-474D-85DD-AE1BDDBD8C68}" srcOrd="0" destOrd="0" parTransId="{30EFEDF0-9914-448A-956B-0DAC7DF97A4A}" sibTransId="{BA93C95D-0012-4D1C-959A-C3D690C8C7B3}"/>
    <dgm:cxn modelId="{72C03771-B952-44D3-9B3F-377B346AE90E}" srcId="{ED2B4624-7341-43E5-B4B2-09A70E7847B3}" destId="{B434BC2F-67D7-4451-8103-F1390F2A89CC}" srcOrd="6" destOrd="0" parTransId="{C163A023-C730-4CFA-B01D-E8B4B61C78C1}" sibTransId="{3FF4F9C2-D5A9-498E-8D99-2ED7F2B0FD80}"/>
    <dgm:cxn modelId="{22A6D077-BF9E-44D3-AE1D-A7BAFF2E7E7F}" type="presOf" srcId="{2B6E8293-BED0-4F3F-8FBA-F6F96FA7E5C6}" destId="{E5BAAAA9-52C2-4E91-A9A7-8B6AF296F61B}" srcOrd="0" destOrd="0" presId="urn:microsoft.com/office/officeart/2005/8/layout/radial3"/>
    <dgm:cxn modelId="{A6475787-836F-4454-80BD-9C2926A4C24A}" srcId="{ED2B4624-7341-43E5-B4B2-09A70E7847B3}" destId="{2B6E8293-BED0-4F3F-8FBA-F6F96FA7E5C6}" srcOrd="1" destOrd="0" parTransId="{67867E74-FD39-41D3-814F-04575D7A2BF4}" sibTransId="{395664F9-63A3-41E6-9FE2-2E43622DD4E4}"/>
    <dgm:cxn modelId="{C779DDB1-BD8E-4879-A392-EED3DDF6B617}" type="presOf" srcId="{A77E5D3E-9064-4B58-8259-2D8B61C6F2FD}" destId="{5933F40E-2C7C-40F8-A97F-20A93F4CAC2C}" srcOrd="0" destOrd="0" presId="urn:microsoft.com/office/officeart/2005/8/layout/radial3"/>
    <dgm:cxn modelId="{A9907DBF-B601-49CE-97E8-051C16024280}" srcId="{ED2B4624-7341-43E5-B4B2-09A70E7847B3}" destId="{A77E5D3E-9064-4B58-8259-2D8B61C6F2FD}" srcOrd="3" destOrd="0" parTransId="{0C39793F-CA49-4362-A21D-F5C1FDD2203D}" sibTransId="{5E7ED7AA-5B60-48C9-91F9-C94F9F27592E}"/>
    <dgm:cxn modelId="{EDFA4CC4-DC50-49B0-BBA9-67B3C502DC99}" type="presOf" srcId="{A97A05A3-14D9-44A5-B768-02F08550772E}" destId="{A39BE283-9FAD-47E6-AC51-206C1A91E69D}" srcOrd="0" destOrd="0" presId="urn:microsoft.com/office/officeart/2005/8/layout/radial3"/>
    <dgm:cxn modelId="{1909E2CE-8B3C-40A3-9B8F-5E3A6F489532}" type="presOf" srcId="{ED08D634-BC50-477C-BD9D-0C4552AD2BB4}" destId="{42D7EF66-2A05-47BB-A0C0-AE1BC7175C92}" srcOrd="0" destOrd="0" presId="urn:microsoft.com/office/officeart/2005/8/layout/radial3"/>
    <dgm:cxn modelId="{C40800D9-B570-4F77-95D1-4ABD431CC551}" type="presOf" srcId="{747FFA44-8EE2-4034-88D2-8B71A0A4AD9C}" destId="{01DBBD10-EC99-4CA3-9D68-0B12A955F2B6}" srcOrd="0" destOrd="0" presId="urn:microsoft.com/office/officeart/2005/8/layout/radial3"/>
    <dgm:cxn modelId="{7150E0E6-08C4-4382-A9AB-091C87EB90E5}" srcId="{A97A05A3-14D9-44A5-B768-02F08550772E}" destId="{ED2B4624-7341-43E5-B4B2-09A70E7847B3}" srcOrd="0" destOrd="0" parTransId="{B5847ABE-AF46-483D-BCB2-95A0C15A9DB6}" sibTransId="{8EEDBB42-9CFE-4006-9F30-B7728819F50E}"/>
    <dgm:cxn modelId="{01E4DDEB-EEE8-4000-91DA-77E169EDC67F}" type="presOf" srcId="{6F43B42A-71AC-474D-85DD-AE1BDDBD8C68}" destId="{AF411819-B58E-4FD4-9EE5-2623AA8BBF37}" srcOrd="0" destOrd="0" presId="urn:microsoft.com/office/officeart/2005/8/layout/radial3"/>
    <dgm:cxn modelId="{B507B9F0-8392-4CC4-8FBF-0126EB4368AC}" type="presOf" srcId="{1ED62123-E3C1-400D-ABC1-5AC9D56D3D1B}" destId="{9CB082E1-761D-4D66-8320-6722D39E1446}" srcOrd="0" destOrd="0" presId="urn:microsoft.com/office/officeart/2005/8/layout/radial3"/>
    <dgm:cxn modelId="{1474F5F1-9772-412C-A7AF-606385892162}" srcId="{ED2B4624-7341-43E5-B4B2-09A70E7847B3}" destId="{747FFA44-8EE2-4034-88D2-8B71A0A4AD9C}" srcOrd="5" destOrd="0" parTransId="{7C87FDE8-E87D-471F-81CC-854A21960090}" sibTransId="{53E308B8-2204-41C0-AE6D-E63551ED4A70}"/>
    <dgm:cxn modelId="{E60A6B97-2F47-4418-9E76-86EA7959C8B4}" type="presParOf" srcId="{A39BE283-9FAD-47E6-AC51-206C1A91E69D}" destId="{EC439966-727C-4807-A236-D4E3CE9950C7}" srcOrd="0" destOrd="0" presId="urn:microsoft.com/office/officeart/2005/8/layout/radial3"/>
    <dgm:cxn modelId="{BFD519BC-0D79-4F2A-98B0-35408A618883}" type="presParOf" srcId="{EC439966-727C-4807-A236-D4E3CE9950C7}" destId="{25F7C319-B8D2-45BF-BAB3-3C04DE6DD803}" srcOrd="0" destOrd="0" presId="urn:microsoft.com/office/officeart/2005/8/layout/radial3"/>
    <dgm:cxn modelId="{7ECD48E5-4E04-46CC-86D4-725AFBE3DE79}" type="presParOf" srcId="{EC439966-727C-4807-A236-D4E3CE9950C7}" destId="{AF411819-B58E-4FD4-9EE5-2623AA8BBF37}" srcOrd="1" destOrd="0" presId="urn:microsoft.com/office/officeart/2005/8/layout/radial3"/>
    <dgm:cxn modelId="{A0378DDF-CA91-4D80-BBBD-48A050E0FBD4}" type="presParOf" srcId="{EC439966-727C-4807-A236-D4E3CE9950C7}" destId="{E5BAAAA9-52C2-4E91-A9A7-8B6AF296F61B}" srcOrd="2" destOrd="0" presId="urn:microsoft.com/office/officeart/2005/8/layout/radial3"/>
    <dgm:cxn modelId="{7CD08841-C160-414C-AE04-0A11851203B8}" type="presParOf" srcId="{EC439966-727C-4807-A236-D4E3CE9950C7}" destId="{42D7EF66-2A05-47BB-A0C0-AE1BC7175C92}" srcOrd="3" destOrd="0" presId="urn:microsoft.com/office/officeart/2005/8/layout/radial3"/>
    <dgm:cxn modelId="{9036BE39-6F42-4CB8-9EEA-61D56FF42215}" type="presParOf" srcId="{EC439966-727C-4807-A236-D4E3CE9950C7}" destId="{5933F40E-2C7C-40F8-A97F-20A93F4CAC2C}" srcOrd="4" destOrd="0" presId="urn:microsoft.com/office/officeart/2005/8/layout/radial3"/>
    <dgm:cxn modelId="{8823F3DD-2F89-463C-B2B6-4B4057148729}" type="presParOf" srcId="{EC439966-727C-4807-A236-D4E3CE9950C7}" destId="{9CB082E1-761D-4D66-8320-6722D39E1446}" srcOrd="5" destOrd="0" presId="urn:microsoft.com/office/officeart/2005/8/layout/radial3"/>
    <dgm:cxn modelId="{A13D254D-3EE1-42D3-B057-411D169543B4}" type="presParOf" srcId="{EC439966-727C-4807-A236-D4E3CE9950C7}" destId="{01DBBD10-EC99-4CA3-9D68-0B12A955F2B6}" srcOrd="6" destOrd="0" presId="urn:microsoft.com/office/officeart/2005/8/layout/radial3"/>
    <dgm:cxn modelId="{AF46782F-7295-48D2-BE85-458A02E2EADF}" type="presParOf" srcId="{EC439966-727C-4807-A236-D4E3CE9950C7}" destId="{3A33AB6C-90BF-4D69-BD96-FA6FF42757B5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90BED7-A091-4E77-AF1B-56D0D0AABAF4}" type="doc">
      <dgm:prSet loTypeId="urn:microsoft.com/office/officeart/2008/layout/RadialCluster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4AF87AD-9C00-42F9-9DD4-CD40036C8E49}">
      <dgm:prSet phldrT="[Texto]"/>
      <dgm:spPr/>
      <dgm:t>
        <a:bodyPr/>
        <a:lstStyle/>
        <a:p>
          <a:r>
            <a:rPr lang="es-ES_tradnl" b="1" dirty="0">
              <a:solidFill>
                <a:schemeClr val="tx1"/>
              </a:solidFill>
            </a:rPr>
            <a:t>Estudio de mercado</a:t>
          </a:r>
          <a:endParaRPr lang="es-ES" b="1" dirty="0">
            <a:solidFill>
              <a:schemeClr val="tx1"/>
            </a:solidFill>
          </a:endParaRPr>
        </a:p>
      </dgm:t>
    </dgm:pt>
    <dgm:pt modelId="{A6CCBE0C-F961-4549-BF71-88BDFBA56F89}" type="parTrans" cxnId="{D8C9051C-5760-4033-8232-0A5DD5E05B88}">
      <dgm:prSet/>
      <dgm:spPr/>
      <dgm:t>
        <a:bodyPr/>
        <a:lstStyle/>
        <a:p>
          <a:endParaRPr lang="es-ES"/>
        </a:p>
      </dgm:t>
    </dgm:pt>
    <dgm:pt modelId="{CC4609DD-24E2-40B7-A1E1-C461519991F0}" type="sibTrans" cxnId="{D8C9051C-5760-4033-8232-0A5DD5E05B88}">
      <dgm:prSet/>
      <dgm:spPr/>
      <dgm:t>
        <a:bodyPr/>
        <a:lstStyle/>
        <a:p>
          <a:endParaRPr lang="es-ES"/>
        </a:p>
      </dgm:t>
    </dgm:pt>
    <dgm:pt modelId="{8992D164-9BDA-4E64-8A6B-B97BDBAE67CA}">
      <dgm:prSet phldrT="[Texto]"/>
      <dgm:spPr/>
      <dgm:t>
        <a:bodyPr/>
        <a:lstStyle/>
        <a:p>
          <a:r>
            <a:rPr lang="es-ES_tradnl" dirty="0">
              <a:solidFill>
                <a:schemeClr val="tx1"/>
              </a:solidFill>
            </a:rPr>
            <a:t>Cliente objetivo</a:t>
          </a:r>
          <a:endParaRPr lang="es-ES" dirty="0">
            <a:solidFill>
              <a:schemeClr val="tx1"/>
            </a:solidFill>
          </a:endParaRPr>
        </a:p>
      </dgm:t>
    </dgm:pt>
    <dgm:pt modelId="{42FD31EB-D6B8-4706-87BC-B31F15A45ED1}" type="parTrans" cxnId="{FF15E119-9F12-498E-9735-F55913CC3732}">
      <dgm:prSet/>
      <dgm:spPr/>
      <dgm:t>
        <a:bodyPr/>
        <a:lstStyle/>
        <a:p>
          <a:endParaRPr lang="es-ES"/>
        </a:p>
      </dgm:t>
    </dgm:pt>
    <dgm:pt modelId="{91AAC720-99CF-402F-A129-65BC5C73E8D8}" type="sibTrans" cxnId="{FF15E119-9F12-498E-9735-F55913CC3732}">
      <dgm:prSet/>
      <dgm:spPr/>
      <dgm:t>
        <a:bodyPr/>
        <a:lstStyle/>
        <a:p>
          <a:endParaRPr lang="es-ES"/>
        </a:p>
      </dgm:t>
    </dgm:pt>
    <dgm:pt modelId="{6EB7D124-0D9C-46AE-860B-63C066EA3FB1}">
      <dgm:prSet phldrT="[Texto]" custT="1"/>
      <dgm:spPr/>
      <dgm:t>
        <a:bodyPr/>
        <a:lstStyle/>
        <a:p>
          <a:r>
            <a:rPr lang="es-ES_tradnl" sz="2300" dirty="0">
              <a:solidFill>
                <a:schemeClr val="tx1"/>
              </a:solidFill>
            </a:rPr>
            <a:t>Competencia</a:t>
          </a:r>
          <a:endParaRPr lang="es-ES" sz="2300" dirty="0">
            <a:solidFill>
              <a:schemeClr val="tx1"/>
            </a:solidFill>
          </a:endParaRPr>
        </a:p>
      </dgm:t>
    </dgm:pt>
    <dgm:pt modelId="{FCA264BC-BEA2-4327-97A6-8875A5E4CEEC}" type="parTrans" cxnId="{202BAA5B-0A06-4E41-937A-1B78607DEF1D}">
      <dgm:prSet/>
      <dgm:spPr/>
      <dgm:t>
        <a:bodyPr/>
        <a:lstStyle/>
        <a:p>
          <a:endParaRPr lang="es-ES"/>
        </a:p>
      </dgm:t>
    </dgm:pt>
    <dgm:pt modelId="{9D47CBB5-8DE5-47D1-A90B-FCDBF8CBB35D}" type="sibTrans" cxnId="{202BAA5B-0A06-4E41-937A-1B78607DEF1D}">
      <dgm:prSet/>
      <dgm:spPr/>
      <dgm:t>
        <a:bodyPr/>
        <a:lstStyle/>
        <a:p>
          <a:endParaRPr lang="es-ES"/>
        </a:p>
      </dgm:t>
    </dgm:pt>
    <dgm:pt modelId="{DFC803BC-202E-419B-883A-3E2FEF5D9539}">
      <dgm:prSet phldrT="[Texto]"/>
      <dgm:spPr/>
      <dgm:t>
        <a:bodyPr/>
        <a:lstStyle/>
        <a:p>
          <a:r>
            <a:rPr lang="es-ES_tradnl" dirty="0">
              <a:solidFill>
                <a:schemeClr val="tx1"/>
              </a:solidFill>
            </a:rPr>
            <a:t>Productos sustitutivos</a:t>
          </a:r>
          <a:endParaRPr lang="es-ES" dirty="0">
            <a:solidFill>
              <a:schemeClr val="tx1"/>
            </a:solidFill>
          </a:endParaRPr>
        </a:p>
      </dgm:t>
    </dgm:pt>
    <dgm:pt modelId="{E820095C-14A2-4FA5-B944-2B3C36A2EA35}" type="parTrans" cxnId="{8796E4B6-D478-488D-967B-A02730734940}">
      <dgm:prSet/>
      <dgm:spPr/>
      <dgm:t>
        <a:bodyPr/>
        <a:lstStyle/>
        <a:p>
          <a:endParaRPr lang="es-ES"/>
        </a:p>
      </dgm:t>
    </dgm:pt>
    <dgm:pt modelId="{E5DD978E-6990-4296-8C60-0D380E23E63E}" type="sibTrans" cxnId="{8796E4B6-D478-488D-967B-A02730734940}">
      <dgm:prSet/>
      <dgm:spPr/>
      <dgm:t>
        <a:bodyPr/>
        <a:lstStyle/>
        <a:p>
          <a:endParaRPr lang="es-ES"/>
        </a:p>
      </dgm:t>
    </dgm:pt>
    <dgm:pt modelId="{DAD6C178-1D77-41FD-9829-FB60178C50EF}">
      <dgm:prSet phldrT="[Texto]" custT="1"/>
      <dgm:spPr/>
      <dgm:t>
        <a:bodyPr/>
        <a:lstStyle/>
        <a:p>
          <a:r>
            <a:rPr lang="es-ES_tradnl" sz="2300" dirty="0">
              <a:solidFill>
                <a:schemeClr val="tx1"/>
              </a:solidFill>
            </a:rPr>
            <a:t>Proveedores</a:t>
          </a:r>
          <a:endParaRPr lang="es-ES" sz="2300" dirty="0">
            <a:solidFill>
              <a:schemeClr val="tx1"/>
            </a:solidFill>
          </a:endParaRPr>
        </a:p>
      </dgm:t>
    </dgm:pt>
    <dgm:pt modelId="{C3F01F95-D18D-4711-9CB7-9B1579840866}" type="parTrans" cxnId="{2A259060-4AE7-47CD-B4E1-93DFAC9D5FBD}">
      <dgm:prSet/>
      <dgm:spPr/>
      <dgm:t>
        <a:bodyPr/>
        <a:lstStyle/>
        <a:p>
          <a:endParaRPr lang="es-ES"/>
        </a:p>
      </dgm:t>
    </dgm:pt>
    <dgm:pt modelId="{1E1539FC-4840-4018-8CBE-00E399D990A1}" type="sibTrans" cxnId="{2A259060-4AE7-47CD-B4E1-93DFAC9D5FBD}">
      <dgm:prSet/>
      <dgm:spPr/>
      <dgm:t>
        <a:bodyPr/>
        <a:lstStyle/>
        <a:p>
          <a:endParaRPr lang="es-ES"/>
        </a:p>
      </dgm:t>
    </dgm:pt>
    <dgm:pt modelId="{00F9AF66-C789-4202-9190-9867A2C063D6}" type="pres">
      <dgm:prSet presAssocID="{DE90BED7-A091-4E77-AF1B-56D0D0AABAF4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B80EDF2-1683-4000-9065-E9AB9B3BEF7F}" type="pres">
      <dgm:prSet presAssocID="{A4AF87AD-9C00-42F9-9DD4-CD40036C8E49}" presName="singleCycle" presStyleCnt="0"/>
      <dgm:spPr/>
    </dgm:pt>
    <dgm:pt modelId="{9F83B95B-ECA2-40E1-AF0C-5D56C1E8AEA5}" type="pres">
      <dgm:prSet presAssocID="{A4AF87AD-9C00-42F9-9DD4-CD40036C8E49}" presName="singleCenter" presStyleLbl="node1" presStyleIdx="0" presStyleCnt="5" custScaleX="231400" custScaleY="142857" custLinFactNeighborX="-2514">
        <dgm:presLayoutVars>
          <dgm:chMax val="7"/>
          <dgm:chPref val="7"/>
        </dgm:presLayoutVars>
      </dgm:prSet>
      <dgm:spPr/>
    </dgm:pt>
    <dgm:pt modelId="{662AD3D4-CDF0-41B7-8B84-8D82AAE62888}" type="pres">
      <dgm:prSet presAssocID="{42FD31EB-D6B8-4706-87BC-B31F15A45ED1}" presName="Name56" presStyleLbl="parChTrans1D2" presStyleIdx="0" presStyleCnt="4"/>
      <dgm:spPr/>
    </dgm:pt>
    <dgm:pt modelId="{F232273C-E5E1-43EB-99D4-7940BC64DC58}" type="pres">
      <dgm:prSet presAssocID="{8992D164-9BDA-4E64-8A6B-B97BDBAE67CA}" presName="text0" presStyleLbl="node1" presStyleIdx="1" presStyleCnt="5" custScaleX="346968" custRadScaleRad="100129" custRadScaleInc="-5887">
        <dgm:presLayoutVars>
          <dgm:bulletEnabled val="1"/>
        </dgm:presLayoutVars>
      </dgm:prSet>
      <dgm:spPr/>
    </dgm:pt>
    <dgm:pt modelId="{82321E6E-9CF0-4A42-9844-9069575EF86E}" type="pres">
      <dgm:prSet presAssocID="{FCA264BC-BEA2-4327-97A6-8875A5E4CEEC}" presName="Name56" presStyleLbl="parChTrans1D2" presStyleIdx="1" presStyleCnt="4"/>
      <dgm:spPr/>
    </dgm:pt>
    <dgm:pt modelId="{EF1EB6F4-1BD8-49B8-AD73-0E342E680666}" type="pres">
      <dgm:prSet presAssocID="{6EB7D124-0D9C-46AE-860B-63C066EA3FB1}" presName="text0" presStyleLbl="node1" presStyleIdx="2" presStyleCnt="5" custScaleX="384214" custRadScaleRad="200501" custRadScaleInc="-2949">
        <dgm:presLayoutVars>
          <dgm:bulletEnabled val="1"/>
        </dgm:presLayoutVars>
      </dgm:prSet>
      <dgm:spPr/>
    </dgm:pt>
    <dgm:pt modelId="{7320522A-0C4B-47E5-8CE9-5A542AAAE584}" type="pres">
      <dgm:prSet presAssocID="{C3F01F95-D18D-4711-9CB7-9B1579840866}" presName="Name56" presStyleLbl="parChTrans1D2" presStyleIdx="2" presStyleCnt="4"/>
      <dgm:spPr/>
    </dgm:pt>
    <dgm:pt modelId="{DD356131-301D-4C4F-BBB5-71011C6649C0}" type="pres">
      <dgm:prSet presAssocID="{DAD6C178-1D77-41FD-9829-FB60178C50EF}" presName="text0" presStyleLbl="node1" presStyleIdx="3" presStyleCnt="5" custScaleX="335253" custRadScaleRad="97062" custRadScaleInc="11073">
        <dgm:presLayoutVars>
          <dgm:bulletEnabled val="1"/>
        </dgm:presLayoutVars>
      </dgm:prSet>
      <dgm:spPr/>
    </dgm:pt>
    <dgm:pt modelId="{B66EE456-5373-4992-9715-2A45C639861B}" type="pres">
      <dgm:prSet presAssocID="{E820095C-14A2-4FA5-B944-2B3C36A2EA35}" presName="Name56" presStyleLbl="parChTrans1D2" presStyleIdx="3" presStyleCnt="4"/>
      <dgm:spPr/>
    </dgm:pt>
    <dgm:pt modelId="{FF6A552A-CE3B-47B2-A952-BCB55722F172}" type="pres">
      <dgm:prSet presAssocID="{DFC803BC-202E-419B-883A-3E2FEF5D9539}" presName="text0" presStyleLbl="node1" presStyleIdx="4" presStyleCnt="5" custScaleX="466494" custRadScaleRad="237280" custRadScaleInc="-707">
        <dgm:presLayoutVars>
          <dgm:bulletEnabled val="1"/>
        </dgm:presLayoutVars>
      </dgm:prSet>
      <dgm:spPr/>
    </dgm:pt>
  </dgm:ptLst>
  <dgm:cxnLst>
    <dgm:cxn modelId="{ABF84108-2617-4EB7-983A-18BE44E9E80B}" type="presOf" srcId="{DE90BED7-A091-4E77-AF1B-56D0D0AABAF4}" destId="{00F9AF66-C789-4202-9190-9867A2C063D6}" srcOrd="0" destOrd="0" presId="urn:microsoft.com/office/officeart/2008/layout/RadialCluster"/>
    <dgm:cxn modelId="{FF15E119-9F12-498E-9735-F55913CC3732}" srcId="{A4AF87AD-9C00-42F9-9DD4-CD40036C8E49}" destId="{8992D164-9BDA-4E64-8A6B-B97BDBAE67CA}" srcOrd="0" destOrd="0" parTransId="{42FD31EB-D6B8-4706-87BC-B31F15A45ED1}" sibTransId="{91AAC720-99CF-402F-A129-65BC5C73E8D8}"/>
    <dgm:cxn modelId="{D8C9051C-5760-4033-8232-0A5DD5E05B88}" srcId="{DE90BED7-A091-4E77-AF1B-56D0D0AABAF4}" destId="{A4AF87AD-9C00-42F9-9DD4-CD40036C8E49}" srcOrd="0" destOrd="0" parTransId="{A6CCBE0C-F961-4549-BF71-88BDFBA56F89}" sibTransId="{CC4609DD-24E2-40B7-A1E1-C461519991F0}"/>
    <dgm:cxn modelId="{A596C529-9E6F-44BC-9753-A27EED17F7E3}" type="presOf" srcId="{42FD31EB-D6B8-4706-87BC-B31F15A45ED1}" destId="{662AD3D4-CDF0-41B7-8B84-8D82AAE62888}" srcOrd="0" destOrd="0" presId="urn:microsoft.com/office/officeart/2008/layout/RadialCluster"/>
    <dgm:cxn modelId="{202BAA5B-0A06-4E41-937A-1B78607DEF1D}" srcId="{A4AF87AD-9C00-42F9-9DD4-CD40036C8E49}" destId="{6EB7D124-0D9C-46AE-860B-63C066EA3FB1}" srcOrd="1" destOrd="0" parTransId="{FCA264BC-BEA2-4327-97A6-8875A5E4CEEC}" sibTransId="{9D47CBB5-8DE5-47D1-A90B-FCDBF8CBB35D}"/>
    <dgm:cxn modelId="{2A259060-4AE7-47CD-B4E1-93DFAC9D5FBD}" srcId="{A4AF87AD-9C00-42F9-9DD4-CD40036C8E49}" destId="{DAD6C178-1D77-41FD-9829-FB60178C50EF}" srcOrd="2" destOrd="0" parTransId="{C3F01F95-D18D-4711-9CB7-9B1579840866}" sibTransId="{1E1539FC-4840-4018-8CBE-00E399D990A1}"/>
    <dgm:cxn modelId="{93D33084-54D6-4A64-BC64-8DF6754CDCF9}" type="presOf" srcId="{FCA264BC-BEA2-4327-97A6-8875A5E4CEEC}" destId="{82321E6E-9CF0-4A42-9844-9069575EF86E}" srcOrd="0" destOrd="0" presId="urn:microsoft.com/office/officeart/2008/layout/RadialCluster"/>
    <dgm:cxn modelId="{1A805B8B-7318-4426-A4EC-B43FBE2C28F1}" type="presOf" srcId="{A4AF87AD-9C00-42F9-9DD4-CD40036C8E49}" destId="{9F83B95B-ECA2-40E1-AF0C-5D56C1E8AEA5}" srcOrd="0" destOrd="0" presId="urn:microsoft.com/office/officeart/2008/layout/RadialCluster"/>
    <dgm:cxn modelId="{84226A91-1F3B-4CF4-8F51-7EFA406B0850}" type="presOf" srcId="{8992D164-9BDA-4E64-8A6B-B97BDBAE67CA}" destId="{F232273C-E5E1-43EB-99D4-7940BC64DC58}" srcOrd="0" destOrd="0" presId="urn:microsoft.com/office/officeart/2008/layout/RadialCluster"/>
    <dgm:cxn modelId="{E1B207B0-2CFA-4BD7-A636-02B848EFBED6}" type="presOf" srcId="{DFC803BC-202E-419B-883A-3E2FEF5D9539}" destId="{FF6A552A-CE3B-47B2-A952-BCB55722F172}" srcOrd="0" destOrd="0" presId="urn:microsoft.com/office/officeart/2008/layout/RadialCluster"/>
    <dgm:cxn modelId="{8796E4B6-D478-488D-967B-A02730734940}" srcId="{A4AF87AD-9C00-42F9-9DD4-CD40036C8E49}" destId="{DFC803BC-202E-419B-883A-3E2FEF5D9539}" srcOrd="3" destOrd="0" parTransId="{E820095C-14A2-4FA5-B944-2B3C36A2EA35}" sibTransId="{E5DD978E-6990-4296-8C60-0D380E23E63E}"/>
    <dgm:cxn modelId="{DC2AA8C2-56F8-4AF6-8317-18BFB2A370D0}" type="presOf" srcId="{E820095C-14A2-4FA5-B944-2B3C36A2EA35}" destId="{B66EE456-5373-4992-9715-2A45C639861B}" srcOrd="0" destOrd="0" presId="urn:microsoft.com/office/officeart/2008/layout/RadialCluster"/>
    <dgm:cxn modelId="{09F696CD-6BDA-46CB-80B5-6A1AB25AE1C6}" type="presOf" srcId="{DAD6C178-1D77-41FD-9829-FB60178C50EF}" destId="{DD356131-301D-4C4F-BBB5-71011C6649C0}" srcOrd="0" destOrd="0" presId="urn:microsoft.com/office/officeart/2008/layout/RadialCluster"/>
    <dgm:cxn modelId="{6282B3DD-2432-460E-B629-0AB300D53714}" type="presOf" srcId="{C3F01F95-D18D-4711-9CB7-9B1579840866}" destId="{7320522A-0C4B-47E5-8CE9-5A542AAAE584}" srcOrd="0" destOrd="0" presId="urn:microsoft.com/office/officeart/2008/layout/RadialCluster"/>
    <dgm:cxn modelId="{B9D189E9-5268-4DE5-8B64-7D7F0FDA8514}" type="presOf" srcId="{6EB7D124-0D9C-46AE-860B-63C066EA3FB1}" destId="{EF1EB6F4-1BD8-49B8-AD73-0E342E680666}" srcOrd="0" destOrd="0" presId="urn:microsoft.com/office/officeart/2008/layout/RadialCluster"/>
    <dgm:cxn modelId="{61962308-4912-4D53-A34E-53E984A71091}" type="presParOf" srcId="{00F9AF66-C789-4202-9190-9867A2C063D6}" destId="{7B80EDF2-1683-4000-9065-E9AB9B3BEF7F}" srcOrd="0" destOrd="0" presId="urn:microsoft.com/office/officeart/2008/layout/RadialCluster"/>
    <dgm:cxn modelId="{ACBC4B90-9BC1-429A-80EB-334746566C4F}" type="presParOf" srcId="{7B80EDF2-1683-4000-9065-E9AB9B3BEF7F}" destId="{9F83B95B-ECA2-40E1-AF0C-5D56C1E8AEA5}" srcOrd="0" destOrd="0" presId="urn:microsoft.com/office/officeart/2008/layout/RadialCluster"/>
    <dgm:cxn modelId="{D6828049-FE23-41E6-987F-E43F266A39BA}" type="presParOf" srcId="{7B80EDF2-1683-4000-9065-E9AB9B3BEF7F}" destId="{662AD3D4-CDF0-41B7-8B84-8D82AAE62888}" srcOrd="1" destOrd="0" presId="urn:microsoft.com/office/officeart/2008/layout/RadialCluster"/>
    <dgm:cxn modelId="{F623C2DA-4D78-4139-AE5A-9C8D11840A7C}" type="presParOf" srcId="{7B80EDF2-1683-4000-9065-E9AB9B3BEF7F}" destId="{F232273C-E5E1-43EB-99D4-7940BC64DC58}" srcOrd="2" destOrd="0" presId="urn:microsoft.com/office/officeart/2008/layout/RadialCluster"/>
    <dgm:cxn modelId="{BA271DB1-FE78-4D78-8016-CB3747269175}" type="presParOf" srcId="{7B80EDF2-1683-4000-9065-E9AB9B3BEF7F}" destId="{82321E6E-9CF0-4A42-9844-9069575EF86E}" srcOrd="3" destOrd="0" presId="urn:microsoft.com/office/officeart/2008/layout/RadialCluster"/>
    <dgm:cxn modelId="{9169CADB-CF8C-4962-82F0-6DF49330E80B}" type="presParOf" srcId="{7B80EDF2-1683-4000-9065-E9AB9B3BEF7F}" destId="{EF1EB6F4-1BD8-49B8-AD73-0E342E680666}" srcOrd="4" destOrd="0" presId="urn:microsoft.com/office/officeart/2008/layout/RadialCluster"/>
    <dgm:cxn modelId="{81A7ADF0-B9A5-482B-9A6F-A0E49717E27B}" type="presParOf" srcId="{7B80EDF2-1683-4000-9065-E9AB9B3BEF7F}" destId="{7320522A-0C4B-47E5-8CE9-5A542AAAE584}" srcOrd="5" destOrd="0" presId="urn:microsoft.com/office/officeart/2008/layout/RadialCluster"/>
    <dgm:cxn modelId="{8BDE2041-EBE0-4F49-9726-654923CB276A}" type="presParOf" srcId="{7B80EDF2-1683-4000-9065-E9AB9B3BEF7F}" destId="{DD356131-301D-4C4F-BBB5-71011C6649C0}" srcOrd="6" destOrd="0" presId="urn:microsoft.com/office/officeart/2008/layout/RadialCluster"/>
    <dgm:cxn modelId="{D27D9D29-B6E8-4696-9F51-433629C0337E}" type="presParOf" srcId="{7B80EDF2-1683-4000-9065-E9AB9B3BEF7F}" destId="{B66EE456-5373-4992-9715-2A45C639861B}" srcOrd="7" destOrd="0" presId="urn:microsoft.com/office/officeart/2008/layout/RadialCluster"/>
    <dgm:cxn modelId="{081943C9-4C96-41DD-BC21-317AFD731DD5}" type="presParOf" srcId="{7B80EDF2-1683-4000-9065-E9AB9B3BEF7F}" destId="{FF6A552A-CE3B-47B2-A952-BCB55722F172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7C319-B8D2-45BF-BAB3-3C04DE6DD803}">
      <dsp:nvSpPr>
        <dsp:cNvPr id="0" name=""/>
        <dsp:cNvSpPr/>
      </dsp:nvSpPr>
      <dsp:spPr>
        <a:xfrm>
          <a:off x="2414643" y="964076"/>
          <a:ext cx="3231138" cy="1983534"/>
        </a:xfrm>
        <a:prstGeom prst="ellipse">
          <a:avLst/>
        </a:prstGeom>
        <a:solidFill>
          <a:schemeClr val="accent3"/>
        </a:solidFill>
        <a:ln w="28575">
          <a:solidFill>
            <a:srgbClr val="00B050"/>
          </a:solidFill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b="1" kern="1200" dirty="0"/>
            <a:t>1. Criterios de segmentación del mercado</a:t>
          </a:r>
          <a:endParaRPr lang="es-ES" sz="1800" b="1" kern="1200" dirty="0"/>
        </a:p>
      </dsp:txBody>
      <dsp:txXfrm>
        <a:off x="2887832" y="1254558"/>
        <a:ext cx="2284760" cy="1402570"/>
      </dsp:txXfrm>
    </dsp:sp>
    <dsp:sp modelId="{AF411819-B58E-4FD4-9EE5-2623AA8BBF37}">
      <dsp:nvSpPr>
        <dsp:cNvPr id="0" name=""/>
        <dsp:cNvSpPr/>
      </dsp:nvSpPr>
      <dsp:spPr>
        <a:xfrm>
          <a:off x="2950573" y="3082830"/>
          <a:ext cx="2141783" cy="963140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Geográficos (provincia, país, </a:t>
          </a:r>
          <a:r>
            <a:rPr lang="es-ES_tradnl" sz="2000" b="1" kern="1200" dirty="0" err="1">
              <a:solidFill>
                <a:schemeClr val="tx2"/>
              </a:solidFill>
            </a:rPr>
            <a:t>etc</a:t>
          </a:r>
          <a:r>
            <a:rPr lang="es-ES_tradnl" sz="2000" b="1" kern="1200" dirty="0">
              <a:solidFill>
                <a:schemeClr val="tx2"/>
              </a:solidFill>
            </a:rPr>
            <a:t>)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3264230" y="3223879"/>
        <a:ext cx="1514469" cy="681042"/>
      </dsp:txXfrm>
    </dsp:sp>
    <dsp:sp modelId="{E5BAAAA9-52C2-4E91-A9A7-8B6AF296F61B}">
      <dsp:nvSpPr>
        <dsp:cNvPr id="0" name=""/>
        <dsp:cNvSpPr/>
      </dsp:nvSpPr>
      <dsp:spPr>
        <a:xfrm>
          <a:off x="4392497" y="216026"/>
          <a:ext cx="2354608" cy="827378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Demográficos </a:t>
          </a:r>
          <a:r>
            <a:rPr lang="es-ES_tradnl" sz="1600" b="1" kern="1200" dirty="0">
              <a:solidFill>
                <a:schemeClr val="tx2"/>
              </a:solidFill>
            </a:rPr>
            <a:t>(sexo, edad, estado civil, </a:t>
          </a:r>
          <a:r>
            <a:rPr lang="es-ES_tradnl" sz="1600" b="1" kern="1200" dirty="0" err="1">
              <a:solidFill>
                <a:schemeClr val="tx2"/>
              </a:solidFill>
            </a:rPr>
            <a:t>etc</a:t>
          </a:r>
          <a:r>
            <a:rPr lang="es-ES_tradnl" sz="1600" b="1" kern="1200" dirty="0">
              <a:solidFill>
                <a:schemeClr val="tx2"/>
              </a:solidFill>
            </a:rPr>
            <a:t>)</a:t>
          </a:r>
          <a:endParaRPr lang="es-ES_tradnl" sz="2000" b="1" kern="1200" dirty="0">
            <a:solidFill>
              <a:schemeClr val="tx2"/>
            </a:solidFill>
          </a:endParaRPr>
        </a:p>
      </dsp:txBody>
      <dsp:txXfrm>
        <a:off x="4737321" y="337193"/>
        <a:ext cx="1664960" cy="585044"/>
      </dsp:txXfrm>
    </dsp:sp>
    <dsp:sp modelId="{42D7EF66-2A05-47BB-A0C0-AE1BC7175C92}">
      <dsp:nvSpPr>
        <dsp:cNvPr id="0" name=""/>
        <dsp:cNvSpPr/>
      </dsp:nvSpPr>
      <dsp:spPr>
        <a:xfrm>
          <a:off x="5832642" y="1364697"/>
          <a:ext cx="1947727" cy="832308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Económicos </a:t>
          </a:r>
          <a:r>
            <a:rPr lang="es-ES_tradnl" sz="1600" b="1" kern="1200" dirty="0">
              <a:solidFill>
                <a:schemeClr val="tx2"/>
              </a:solidFill>
            </a:rPr>
            <a:t>(renta alta, baja, media)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6117880" y="1486586"/>
        <a:ext cx="1377251" cy="588530"/>
      </dsp:txXfrm>
    </dsp:sp>
    <dsp:sp modelId="{5933F40E-2C7C-40F8-A97F-20A93F4CAC2C}">
      <dsp:nvSpPr>
        <dsp:cNvPr id="0" name=""/>
        <dsp:cNvSpPr/>
      </dsp:nvSpPr>
      <dsp:spPr>
        <a:xfrm>
          <a:off x="5287458" y="2592291"/>
          <a:ext cx="1892957" cy="918319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Profesión </a:t>
          </a:r>
          <a:r>
            <a:rPr lang="es-ES_tradnl" sz="1400" b="1" kern="1200" dirty="0">
              <a:solidFill>
                <a:schemeClr val="tx2"/>
              </a:solidFill>
            </a:rPr>
            <a:t>(tener determinada profesión)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5564675" y="2726776"/>
        <a:ext cx="1338523" cy="649349"/>
      </dsp:txXfrm>
    </dsp:sp>
    <dsp:sp modelId="{9CB082E1-761D-4D66-8320-6722D39E1446}">
      <dsp:nvSpPr>
        <dsp:cNvPr id="0" name=""/>
        <dsp:cNvSpPr/>
      </dsp:nvSpPr>
      <dsp:spPr>
        <a:xfrm>
          <a:off x="915263" y="2736298"/>
          <a:ext cx="1881681" cy="784522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Psicológicos </a:t>
          </a:r>
          <a:r>
            <a:rPr lang="es-ES_tradnl" sz="1600" b="1" kern="1200" dirty="0">
              <a:solidFill>
                <a:schemeClr val="tx2"/>
              </a:solidFill>
            </a:rPr>
            <a:t>(rasgos de la personalidad)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1190829" y="2851189"/>
        <a:ext cx="1330549" cy="554740"/>
      </dsp:txXfrm>
    </dsp:sp>
    <dsp:sp modelId="{01DBBD10-EC99-4CA3-9D68-0B12A955F2B6}">
      <dsp:nvSpPr>
        <dsp:cNvPr id="0" name=""/>
        <dsp:cNvSpPr/>
      </dsp:nvSpPr>
      <dsp:spPr>
        <a:xfrm>
          <a:off x="864088" y="1273512"/>
          <a:ext cx="1357976" cy="999323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Gustos </a:t>
          </a:r>
          <a:r>
            <a:rPr lang="es-ES_tradnl" sz="1600" b="1" kern="1200" dirty="0">
              <a:solidFill>
                <a:schemeClr val="tx2"/>
              </a:solidFill>
            </a:rPr>
            <a:t>(gustos de consumo distintos)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1062959" y="1419859"/>
        <a:ext cx="960234" cy="706629"/>
      </dsp:txXfrm>
    </dsp:sp>
    <dsp:sp modelId="{3A33AB6C-90BF-4D69-BD96-FA6FF42757B5}">
      <dsp:nvSpPr>
        <dsp:cNvPr id="0" name=""/>
        <dsp:cNvSpPr/>
      </dsp:nvSpPr>
      <dsp:spPr>
        <a:xfrm>
          <a:off x="1840247" y="216026"/>
          <a:ext cx="1807505" cy="830019"/>
        </a:xfrm>
        <a:prstGeom prst="ellipse">
          <a:avLst/>
        </a:prstGeom>
        <a:solidFill>
          <a:schemeClr val="tx2">
            <a:lumMod val="40000"/>
            <a:lumOff val="6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>
              <a:solidFill>
                <a:schemeClr val="tx2"/>
              </a:solidFill>
            </a:rPr>
            <a:t>Empresa </a:t>
          </a:r>
          <a:r>
            <a:rPr lang="es-ES_tradnl" sz="1200" b="1" kern="1200" dirty="0">
              <a:solidFill>
                <a:schemeClr val="tx2"/>
              </a:solidFill>
            </a:rPr>
            <a:t>(autónomo, empresa grande, </a:t>
          </a:r>
          <a:r>
            <a:rPr lang="es-ES_tradnl" sz="1200" b="1" kern="1200" dirty="0" err="1">
              <a:solidFill>
                <a:schemeClr val="tx2"/>
              </a:solidFill>
            </a:rPr>
            <a:t>etc</a:t>
          </a:r>
          <a:r>
            <a:rPr lang="es-ES_tradnl" sz="1200" b="1" kern="1200" dirty="0">
              <a:solidFill>
                <a:schemeClr val="tx2"/>
              </a:solidFill>
            </a:rPr>
            <a:t>)</a:t>
          </a:r>
          <a:endParaRPr lang="es-ES" sz="2000" b="1" kern="1200" dirty="0">
            <a:solidFill>
              <a:schemeClr val="tx2"/>
            </a:solidFill>
          </a:endParaRPr>
        </a:p>
      </dsp:txBody>
      <dsp:txXfrm>
        <a:off x="2104950" y="337579"/>
        <a:ext cx="1278099" cy="5869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83B95B-ECA2-40E1-AF0C-5D56C1E8AEA5}">
      <dsp:nvSpPr>
        <dsp:cNvPr id="0" name=""/>
        <dsp:cNvSpPr/>
      </dsp:nvSpPr>
      <dsp:spPr>
        <a:xfrm>
          <a:off x="3307534" y="781801"/>
          <a:ext cx="1899542" cy="11727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800" b="1" kern="1200" dirty="0">
              <a:solidFill>
                <a:schemeClr val="tx1"/>
              </a:solidFill>
            </a:rPr>
            <a:t>Estudio de mercado</a:t>
          </a:r>
          <a:endParaRPr lang="es-ES" sz="2800" b="1" kern="1200" dirty="0">
            <a:solidFill>
              <a:schemeClr val="tx1"/>
            </a:solidFill>
          </a:endParaRPr>
        </a:p>
      </dsp:txBody>
      <dsp:txXfrm>
        <a:off x="3364780" y="839047"/>
        <a:ext cx="1785050" cy="1058208"/>
      </dsp:txXfrm>
    </dsp:sp>
    <dsp:sp modelId="{662AD3D4-CDF0-41B7-8B84-8D82AAE62888}">
      <dsp:nvSpPr>
        <dsp:cNvPr id="0" name=""/>
        <dsp:cNvSpPr/>
      </dsp:nvSpPr>
      <dsp:spPr>
        <a:xfrm rot="16213750">
          <a:off x="4144211" y="665899"/>
          <a:ext cx="23180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1806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2273C-E5E1-43EB-99D4-7940BC64DC58}">
      <dsp:nvSpPr>
        <dsp:cNvPr id="0" name=""/>
        <dsp:cNvSpPr/>
      </dsp:nvSpPr>
      <dsp:spPr>
        <a:xfrm>
          <a:off x="3307521" y="0"/>
          <a:ext cx="1908313" cy="54999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kern="1200" dirty="0">
              <a:solidFill>
                <a:schemeClr val="tx1"/>
              </a:solidFill>
            </a:rPr>
            <a:t>Cliente objetivo</a:t>
          </a:r>
          <a:endParaRPr lang="es-ES" sz="2100" kern="1200" dirty="0">
            <a:solidFill>
              <a:schemeClr val="tx1"/>
            </a:solidFill>
          </a:endParaRPr>
        </a:p>
      </dsp:txBody>
      <dsp:txXfrm>
        <a:off x="3334370" y="26849"/>
        <a:ext cx="1854615" cy="496299"/>
      </dsp:txXfrm>
    </dsp:sp>
    <dsp:sp modelId="{82321E6E-9CF0-4A42-9844-9069575EF86E}">
      <dsp:nvSpPr>
        <dsp:cNvPr id="0" name=""/>
        <dsp:cNvSpPr/>
      </dsp:nvSpPr>
      <dsp:spPr>
        <a:xfrm rot="21522325">
          <a:off x="5207046" y="1343984"/>
          <a:ext cx="23938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9383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1EB6F4-1BD8-49B8-AD73-0E342E680666}">
      <dsp:nvSpPr>
        <dsp:cNvPr id="0" name=""/>
        <dsp:cNvSpPr/>
      </dsp:nvSpPr>
      <dsp:spPr>
        <a:xfrm>
          <a:off x="5446399" y="1042404"/>
          <a:ext cx="2113165" cy="54999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300" kern="1200" dirty="0">
              <a:solidFill>
                <a:schemeClr val="tx1"/>
              </a:solidFill>
            </a:rPr>
            <a:t>Competencia</a:t>
          </a:r>
          <a:endParaRPr lang="es-ES" sz="2300" kern="1200" dirty="0">
            <a:solidFill>
              <a:schemeClr val="tx1"/>
            </a:solidFill>
          </a:endParaRPr>
        </a:p>
      </dsp:txBody>
      <dsp:txXfrm>
        <a:off x="5473248" y="1069253"/>
        <a:ext cx="2059467" cy="496299"/>
      </dsp:txXfrm>
    </dsp:sp>
    <dsp:sp modelId="{7320522A-0C4B-47E5-8CE9-5A542AAAE584}">
      <dsp:nvSpPr>
        <dsp:cNvPr id="0" name=""/>
        <dsp:cNvSpPr/>
      </dsp:nvSpPr>
      <dsp:spPr>
        <a:xfrm rot="5520920">
          <a:off x="4135448" y="2052227"/>
          <a:ext cx="19557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95571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356131-301D-4C4F-BBB5-71011C6649C0}">
      <dsp:nvSpPr>
        <dsp:cNvPr id="0" name=""/>
        <dsp:cNvSpPr/>
      </dsp:nvSpPr>
      <dsp:spPr>
        <a:xfrm>
          <a:off x="3298177" y="2149952"/>
          <a:ext cx="1843881" cy="54999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20" tIns="58420" rIns="58420" bIns="5842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300" kern="1200" dirty="0">
              <a:solidFill>
                <a:schemeClr val="tx1"/>
              </a:solidFill>
            </a:rPr>
            <a:t>Proveedores</a:t>
          </a:r>
          <a:endParaRPr lang="es-ES" sz="2300" kern="1200" dirty="0">
            <a:solidFill>
              <a:schemeClr val="tx1"/>
            </a:solidFill>
          </a:endParaRPr>
        </a:p>
      </dsp:txBody>
      <dsp:txXfrm>
        <a:off x="3325026" y="2176801"/>
        <a:ext cx="1790183" cy="496299"/>
      </dsp:txXfrm>
    </dsp:sp>
    <dsp:sp modelId="{B66EE456-5373-4992-9715-2A45C639861B}">
      <dsp:nvSpPr>
        <dsp:cNvPr id="0" name=""/>
        <dsp:cNvSpPr/>
      </dsp:nvSpPr>
      <dsp:spPr>
        <a:xfrm rot="10780498">
          <a:off x="3001870" y="1374407"/>
          <a:ext cx="30566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05666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6A552A-CE3B-47B2-A952-BCB55722F172}">
      <dsp:nvSpPr>
        <dsp:cNvPr id="0" name=""/>
        <dsp:cNvSpPr/>
      </dsp:nvSpPr>
      <dsp:spPr>
        <a:xfrm>
          <a:off x="436169" y="1107553"/>
          <a:ext cx="2565703" cy="54999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100" kern="1200" dirty="0">
              <a:solidFill>
                <a:schemeClr val="tx1"/>
              </a:solidFill>
            </a:rPr>
            <a:t>Productos sustitutivos</a:t>
          </a:r>
          <a:endParaRPr lang="es-ES" sz="2100" kern="1200" dirty="0">
            <a:solidFill>
              <a:schemeClr val="tx1"/>
            </a:solidFill>
          </a:endParaRPr>
        </a:p>
      </dsp:txBody>
      <dsp:txXfrm>
        <a:off x="463018" y="1134402"/>
        <a:ext cx="2512005" cy="496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4E2B-65D4-4D33-83AE-A5EA535FE91A}" type="datetimeFigureOut">
              <a:rPr lang="es-ES" smtClean="0"/>
              <a:t>6/10/25</a:t>
            </a:fld>
            <a:endParaRPr lang="es-ES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8CA4C-A49C-45E2-BE04-B4EF3838BE1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4342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73542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97338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0051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523124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38CA4C-A49C-45E2-BE04-B4EF3838BE13}" type="slidenum">
              <a:rPr lang="es-ES" smtClean="0"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82195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92216-3B5A-48B6-B9E5-989B0A558A73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879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B1F9B-BBA3-4244-91C2-6FFBAC6AFCA8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197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7E45B-77F0-4D4E-AEE8-092E85ECDDBB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647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17913-E1AB-4C61-9FD2-6979062E8BFD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2808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D802F-1EBA-498A-BC2B-525F05C7CA10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2379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BE9AB-F773-4A1D-934E-2C3E337DFB10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790770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D479-0467-41FB-B559-0C59942C84FB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404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8193C-88BA-40D2-BEAD-3776E8A6F5B7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7804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A35B-299A-4AC6-97C8-0624A440F61B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0329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12CA2-690F-4F5A-BDDC-BD5487C11BED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7220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EC64E-3D99-40ED-A0BE-213195A42E87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012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BE9AB-F773-4A1D-934E-2C3E337DFB10}" type="datetime1">
              <a:rPr lang="es-ES" smtClean="0"/>
              <a:t>6/10/25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M.B.E.</a:t>
            </a: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4AD4-DC89-4EDF-8DD1-AAEA993E7D46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3670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3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4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uOa43weCxA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jfif"/><Relationship Id="rId4" Type="http://schemas.openxmlformats.org/officeDocument/2006/relationships/image" Target="../media/image2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63okZEdAy50" TargetMode="External"/><Relationship Id="rId2" Type="http://schemas.openxmlformats.org/officeDocument/2006/relationships/hyperlink" Target="https://www.youtube.com/watch?v=JAFYt5jeWhg" TargetMode="Externa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603982"/>
            <a:ext cx="6768752" cy="3888983"/>
          </a:xfrm>
          <a:prstGeom prst="rect">
            <a:avLst/>
          </a:prstGeom>
        </p:spPr>
      </p:pic>
      <p:pic>
        <p:nvPicPr>
          <p:cNvPr id="9" name="8 Imagen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243283"/>
            <a:ext cx="1362075" cy="638175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212" y="933058"/>
            <a:ext cx="1362075" cy="945829"/>
          </a:xfrm>
          <a:prstGeom prst="rect">
            <a:avLst/>
          </a:prstGeom>
        </p:spPr>
      </p:pic>
      <p:sp>
        <p:nvSpPr>
          <p:cNvPr id="14" name="13 CuadroTexto"/>
          <p:cNvSpPr txBox="1"/>
          <p:nvPr/>
        </p:nvSpPr>
        <p:spPr>
          <a:xfrm>
            <a:off x="395536" y="2136338"/>
            <a:ext cx="560294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5400" b="1" dirty="0">
                <a:solidFill>
                  <a:schemeClr val="accent2"/>
                </a:solidFill>
              </a:rPr>
              <a:t>Unidad 1 - Tema 2             </a:t>
            </a:r>
            <a:r>
              <a:rPr lang="es-ES_tradnl" sz="5400" dirty="0">
                <a:solidFill>
                  <a:schemeClr val="accent2"/>
                </a:solidFill>
              </a:rPr>
              <a:t>EL MERCADO</a:t>
            </a:r>
          </a:p>
          <a:p>
            <a:r>
              <a:rPr lang="es-ES_tradnl" sz="5400" dirty="0">
                <a:solidFill>
                  <a:schemeClr val="accent2"/>
                </a:solidFill>
              </a:rPr>
              <a:t>Y LOS CLIENTES</a:t>
            </a:r>
            <a:endParaRPr lang="es-ES" sz="5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905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4326" y="-3340"/>
            <a:ext cx="5937834" cy="696036"/>
          </a:xfrm>
        </p:spPr>
        <p:txBody>
          <a:bodyPr>
            <a:normAutofit/>
          </a:bodyPr>
          <a:lstStyle/>
          <a:p>
            <a:pPr algn="l"/>
            <a:r>
              <a:rPr lang="es-ES_tradnl" b="1" dirty="0"/>
              <a:t>CONTENIDOS</a:t>
            </a:r>
            <a:endParaRPr lang="es-ES" b="1" dirty="0"/>
          </a:p>
        </p:txBody>
      </p:sp>
      <p:sp>
        <p:nvSpPr>
          <p:cNvPr id="5" name="4 Rectángulo">
            <a:hlinkClick r:id="rId2" action="ppaction://hlinksldjump" tooltip="click punto 1"/>
          </p:cNvPr>
          <p:cNvSpPr/>
          <p:nvPr/>
        </p:nvSpPr>
        <p:spPr>
          <a:xfrm>
            <a:off x="681172" y="1406691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s-ES_tradnl" sz="2800" b="1" dirty="0">
                <a:solidFill>
                  <a:prstClr val="black"/>
                </a:solidFill>
              </a:rPr>
              <a:t>El mercado</a:t>
            </a:r>
          </a:p>
        </p:txBody>
      </p:sp>
      <p:sp>
        <p:nvSpPr>
          <p:cNvPr id="6" name="5 Rectángulo">
            <a:hlinkClick r:id="rId3" action="ppaction://hlinksldjump"/>
          </p:cNvPr>
          <p:cNvSpPr/>
          <p:nvPr/>
        </p:nvSpPr>
        <p:spPr>
          <a:xfrm>
            <a:off x="716275" y="2708920"/>
            <a:ext cx="607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3.  La segmentación del mercado</a:t>
            </a:r>
          </a:p>
        </p:txBody>
      </p:sp>
      <p:sp>
        <p:nvSpPr>
          <p:cNvPr id="10" name="9 Rectángulo">
            <a:hlinkClick r:id="rId4" action="ppaction://hlinksldjump"/>
          </p:cNvPr>
          <p:cNvSpPr/>
          <p:nvPr/>
        </p:nvSpPr>
        <p:spPr>
          <a:xfrm>
            <a:off x="716275" y="2060848"/>
            <a:ext cx="69276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2.  Tipos de mercado</a:t>
            </a:r>
          </a:p>
        </p:txBody>
      </p:sp>
      <p:sp>
        <p:nvSpPr>
          <p:cNvPr id="18" name="17 Rectángulo">
            <a:hlinkClick r:id="rId5" action="ppaction://hlinksldjump"/>
          </p:cNvPr>
          <p:cNvSpPr/>
          <p:nvPr/>
        </p:nvSpPr>
        <p:spPr>
          <a:xfrm>
            <a:off x="744357" y="3356992"/>
            <a:ext cx="824059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s-ES_tradnl" sz="2800" b="1" dirty="0">
                <a:solidFill>
                  <a:prstClr val="black"/>
                </a:solidFill>
              </a:rPr>
              <a:t>4.  Estudio del mercado: los clientes</a:t>
            </a:r>
          </a:p>
        </p:txBody>
      </p:sp>
    </p:spTree>
    <p:extLst>
      <p:ext uri="{BB962C8B-B14F-4D97-AF65-F5344CB8AC3E}">
        <p14:creationId xmlns:p14="http://schemas.microsoft.com/office/powerpoint/2010/main" val="789345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15 Imagen"/>
          <p:cNvPicPr>
            <a:picLocks noChangeAspect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18" name="17 Flecha derecha"/>
          <p:cNvSpPr/>
          <p:nvPr/>
        </p:nvSpPr>
        <p:spPr>
          <a:xfrm rot="5400000">
            <a:off x="6505425" y="1461093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1 Título"/>
          <p:cNvSpPr txBox="1">
            <a:spLocks/>
          </p:cNvSpPr>
          <p:nvPr/>
        </p:nvSpPr>
        <p:spPr>
          <a:xfrm>
            <a:off x="173589" y="1683"/>
            <a:ext cx="8229600" cy="691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 algn="l">
              <a:buAutoNum type="arabicPeriod"/>
            </a:pPr>
            <a:r>
              <a:rPr lang="es-ES_tradnl" b="1" dirty="0"/>
              <a:t>El mercado</a:t>
            </a:r>
          </a:p>
        </p:txBody>
      </p:sp>
      <p:sp>
        <p:nvSpPr>
          <p:cNvPr id="25" name="24 CuadroTexto"/>
          <p:cNvSpPr txBox="1"/>
          <p:nvPr/>
        </p:nvSpPr>
        <p:spPr>
          <a:xfrm>
            <a:off x="4921249" y="1766462"/>
            <a:ext cx="38884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dirty="0"/>
              <a:t>Consumidores reales que ya compran el producto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Consumidores potenciales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3389147" y="934059"/>
            <a:ext cx="1798484" cy="5232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sz="2800" b="1" dirty="0"/>
              <a:t>MERCADO</a:t>
            </a:r>
            <a:endParaRPr lang="es-ES" sz="2800" b="1" dirty="0"/>
          </a:p>
        </p:txBody>
      </p:sp>
      <p:sp>
        <p:nvSpPr>
          <p:cNvPr id="28" name="27 Flecha derecha"/>
          <p:cNvSpPr/>
          <p:nvPr/>
        </p:nvSpPr>
        <p:spPr>
          <a:xfrm rot="10800000">
            <a:off x="2715671" y="1087657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28 CuadroTexto"/>
          <p:cNvSpPr txBox="1"/>
          <p:nvPr/>
        </p:nvSpPr>
        <p:spPr>
          <a:xfrm>
            <a:off x="528525" y="1011003"/>
            <a:ext cx="2102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Según la Economía</a:t>
            </a:r>
            <a:endParaRPr lang="es-ES" dirty="0"/>
          </a:p>
        </p:txBody>
      </p:sp>
      <p:sp>
        <p:nvSpPr>
          <p:cNvPr id="30" name="29 Flecha derecha"/>
          <p:cNvSpPr/>
          <p:nvPr/>
        </p:nvSpPr>
        <p:spPr>
          <a:xfrm>
            <a:off x="5383391" y="1087657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30 Rectángulo"/>
          <p:cNvSpPr/>
          <p:nvPr/>
        </p:nvSpPr>
        <p:spPr>
          <a:xfrm>
            <a:off x="5972126" y="1000022"/>
            <a:ext cx="210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_tradnl" dirty="0">
                <a:solidFill>
                  <a:prstClr val="black"/>
                </a:solidFill>
              </a:rPr>
              <a:t>Según el Marketing</a:t>
            </a:r>
          </a:p>
        </p:txBody>
      </p:sp>
      <p:sp>
        <p:nvSpPr>
          <p:cNvPr id="32" name="31 Flecha derecha"/>
          <p:cNvSpPr/>
          <p:nvPr/>
        </p:nvSpPr>
        <p:spPr>
          <a:xfrm rot="5400000">
            <a:off x="1260006" y="1467977"/>
            <a:ext cx="50405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3" name="32 CuadroTexto"/>
          <p:cNvSpPr txBox="1"/>
          <p:nvPr/>
        </p:nvSpPr>
        <p:spPr>
          <a:xfrm>
            <a:off x="151339" y="1766462"/>
            <a:ext cx="4686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dirty="0"/>
              <a:t>Lugar físico o virtual 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Intercambios económicos </a:t>
            </a:r>
          </a:p>
          <a:p>
            <a:r>
              <a:rPr lang="es-ES_tradnl" dirty="0"/>
              <a:t>     (compradores y vendedores)</a:t>
            </a:r>
          </a:p>
        </p:txBody>
      </p:sp>
      <p:sp>
        <p:nvSpPr>
          <p:cNvPr id="34" name="33 Rectángulo"/>
          <p:cNvSpPr/>
          <p:nvPr/>
        </p:nvSpPr>
        <p:spPr>
          <a:xfrm>
            <a:off x="3584999" y="3441204"/>
            <a:ext cx="55185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Cantidad total vendida de un producto en un mercado concreto</a:t>
            </a:r>
            <a:endParaRPr lang="es-ES" sz="1600" dirty="0"/>
          </a:p>
        </p:txBody>
      </p:sp>
      <p:sp>
        <p:nvSpPr>
          <p:cNvPr id="41" name="40 CuadroTexto"/>
          <p:cNvSpPr txBox="1"/>
          <p:nvPr/>
        </p:nvSpPr>
        <p:spPr>
          <a:xfrm>
            <a:off x="326668" y="3428473"/>
            <a:ext cx="2695305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solidFill>
                  <a:schemeClr val="tx1"/>
                </a:solidFill>
              </a:rPr>
              <a:t>Tamaño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42" name="41 Flecha derecha"/>
          <p:cNvSpPr/>
          <p:nvPr/>
        </p:nvSpPr>
        <p:spPr>
          <a:xfrm>
            <a:off x="3089038" y="3507718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BC300A-B1A2-E6EE-49B0-CF8CE04B6858}"/>
              </a:ext>
            </a:extLst>
          </p:cNvPr>
          <p:cNvSpPr txBox="1"/>
          <p:nvPr/>
        </p:nvSpPr>
        <p:spPr>
          <a:xfrm>
            <a:off x="196052" y="2741556"/>
            <a:ext cx="8472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/>
              <a:t>A) Tamaño, cuota y estructura de mercado: </a:t>
            </a:r>
            <a:r>
              <a:rPr lang="es-ES_tradnl" dirty="0"/>
              <a:t>para cualquier negocio es muy importante conocer las características del mercado:</a:t>
            </a:r>
          </a:p>
        </p:txBody>
      </p:sp>
      <p:pic>
        <p:nvPicPr>
          <p:cNvPr id="4" name="Imagen 3" descr="Recorte de pantalla">
            <a:extLst>
              <a:ext uri="{FF2B5EF4-FFF2-40B4-BE49-F238E27FC236}">
                <a16:creationId xmlns:a16="http://schemas.microsoft.com/office/drawing/2014/main" id="{FA1ECAA5-8F2C-B640-768C-0A44A4EEC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525" y="3928183"/>
            <a:ext cx="3497116" cy="27756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Imagen 4" descr="Recorte de pantalla">
            <a:extLst>
              <a:ext uri="{FF2B5EF4-FFF2-40B4-BE49-F238E27FC236}">
                <a16:creationId xmlns:a16="http://schemas.microsoft.com/office/drawing/2014/main" id="{E0541AFD-F9A3-8A89-9D73-FD580F7130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146" y="3928183"/>
            <a:ext cx="3235980" cy="2760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36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DC0F4-B414-0D31-665A-E40FA24A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34 CuadroTexto">
            <a:extLst>
              <a:ext uri="{FF2B5EF4-FFF2-40B4-BE49-F238E27FC236}">
                <a16:creationId xmlns:a16="http://schemas.microsoft.com/office/drawing/2014/main" id="{CBFEFDC8-0136-89B6-4E32-CE1C7B3C8B61}"/>
              </a:ext>
            </a:extLst>
          </p:cNvPr>
          <p:cNvSpPr txBox="1"/>
          <p:nvPr/>
        </p:nvSpPr>
        <p:spPr>
          <a:xfrm>
            <a:off x="163538" y="836712"/>
            <a:ext cx="2724911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dirty="0">
                <a:solidFill>
                  <a:schemeClr val="tx1"/>
                </a:solidFill>
              </a:rPr>
              <a:t>Cuota de mercado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8" name="37 Flecha derecha">
            <a:extLst>
              <a:ext uri="{FF2B5EF4-FFF2-40B4-BE49-F238E27FC236}">
                <a16:creationId xmlns:a16="http://schemas.microsoft.com/office/drawing/2014/main" id="{F783B336-03C0-2D5F-A88D-2BEF987BA428}"/>
              </a:ext>
            </a:extLst>
          </p:cNvPr>
          <p:cNvSpPr/>
          <p:nvPr/>
        </p:nvSpPr>
        <p:spPr>
          <a:xfrm>
            <a:off x="2934635" y="928397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43" name="42 Rectángulo">
            <a:extLst>
              <a:ext uri="{FF2B5EF4-FFF2-40B4-BE49-F238E27FC236}">
                <a16:creationId xmlns:a16="http://schemas.microsoft.com/office/drawing/2014/main" id="{C1428138-5B1F-2E81-1F16-71EA10AFBEC6}"/>
              </a:ext>
            </a:extLst>
          </p:cNvPr>
          <p:cNvSpPr/>
          <p:nvPr/>
        </p:nvSpPr>
        <p:spPr>
          <a:xfrm>
            <a:off x="3439817" y="867490"/>
            <a:ext cx="56403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600" dirty="0">
                <a:solidFill>
                  <a:prstClr val="black"/>
                </a:solidFill>
                <a:sym typeface="Wingdings" pitchFamily="2" charset="2"/>
              </a:rPr>
              <a:t>Porcentaje de negocio que una empresa tiene sobre el total del mercado.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F559936-6DD2-4510-BE1D-58112FEA4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425386"/>
              </p:ext>
            </p:extLst>
          </p:nvPr>
        </p:nvGraphicFramePr>
        <p:xfrm>
          <a:off x="2437166" y="1689509"/>
          <a:ext cx="38589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141">
                  <a:extLst>
                    <a:ext uri="{9D8B030D-6E8A-4147-A177-3AD203B41FA5}">
                      <a16:colId xmlns:a16="http://schemas.microsoft.com/office/drawing/2014/main" val="46093122"/>
                    </a:ext>
                  </a:extLst>
                </a:gridCol>
                <a:gridCol w="2292856">
                  <a:extLst>
                    <a:ext uri="{9D8B030D-6E8A-4147-A177-3AD203B41FA5}">
                      <a16:colId xmlns:a16="http://schemas.microsoft.com/office/drawing/2014/main" val="1811025920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l"/>
                      <a:r>
                        <a:rPr lang="es-ES_tradnl" sz="1400" b="1" dirty="0">
                          <a:solidFill>
                            <a:prstClr val="black"/>
                          </a:solidFill>
                          <a:sym typeface="Wingdings" pitchFamily="2" charset="2"/>
                        </a:rPr>
                        <a:t>Cuota de mercado de una empresa </a:t>
                      </a:r>
                      <a:r>
                        <a:rPr lang="es-ES_tradnl" sz="1400" dirty="0">
                          <a:solidFill>
                            <a:prstClr val="black"/>
                          </a:solidFill>
                          <a:sym typeface="Wingdings" pitchFamily="2" charset="2"/>
                        </a:rPr>
                        <a:t>= </a:t>
                      </a:r>
                      <a:endParaRPr lang="es-E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Ventas</a:t>
                      </a:r>
                      <a:r>
                        <a:rPr lang="es-ES" sz="1400" baseline="0" dirty="0">
                          <a:solidFill>
                            <a:schemeClr val="tx1"/>
                          </a:solidFill>
                        </a:rPr>
                        <a:t> de la empresa</a:t>
                      </a:r>
                      <a:endParaRPr lang="es-E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4578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b="1" dirty="0">
                          <a:solidFill>
                            <a:schemeClr val="tx1"/>
                          </a:solidFill>
                        </a:rPr>
                        <a:t>Ventas del sector</a:t>
                      </a:r>
                    </a:p>
                  </a:txBody>
                  <a:tcPr>
                    <a:lnL w="381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545807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1A5DF4A1-624F-7757-840B-A73DBCE75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00" y="2833673"/>
            <a:ext cx="4107789" cy="24238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4" descr="Mapa cervezas España">
            <a:extLst>
              <a:ext uri="{FF2B5EF4-FFF2-40B4-BE49-F238E27FC236}">
                <a16:creationId xmlns:a16="http://schemas.microsoft.com/office/drawing/2014/main" id="{02BB97EC-C152-B63A-D679-66BFF252A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52274"/>
            <a:ext cx="3927111" cy="28365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7334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E38D-BB7C-EE9E-D3E9-56EAFD00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35 CuadroTexto">
            <a:extLst>
              <a:ext uri="{FF2B5EF4-FFF2-40B4-BE49-F238E27FC236}">
                <a16:creationId xmlns:a16="http://schemas.microsoft.com/office/drawing/2014/main" id="{F3C7000C-FA00-F76D-32FA-635651375A82}"/>
              </a:ext>
            </a:extLst>
          </p:cNvPr>
          <p:cNvSpPr txBox="1"/>
          <p:nvPr/>
        </p:nvSpPr>
        <p:spPr>
          <a:xfrm>
            <a:off x="228935" y="896351"/>
            <a:ext cx="2732897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s-ES_tradnl" dirty="0">
                <a:solidFill>
                  <a:schemeClr val="tx1"/>
                </a:solidFill>
              </a:rPr>
              <a:t>Estructura de un mercado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9" name="38 Rectángulo">
            <a:extLst>
              <a:ext uri="{FF2B5EF4-FFF2-40B4-BE49-F238E27FC236}">
                <a16:creationId xmlns:a16="http://schemas.microsoft.com/office/drawing/2014/main" id="{51BA5F44-2F85-2862-F284-72641A11D432}"/>
              </a:ext>
            </a:extLst>
          </p:cNvPr>
          <p:cNvSpPr/>
          <p:nvPr/>
        </p:nvSpPr>
        <p:spPr>
          <a:xfrm>
            <a:off x="3602918" y="972500"/>
            <a:ext cx="253174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600" dirty="0"/>
              <a:t>Agentes que intervienen</a:t>
            </a:r>
            <a:endParaRPr lang="es-ES" sz="1600" dirty="0"/>
          </a:p>
        </p:txBody>
      </p:sp>
      <p:sp>
        <p:nvSpPr>
          <p:cNvPr id="40" name="39 Flecha derecha">
            <a:extLst>
              <a:ext uri="{FF2B5EF4-FFF2-40B4-BE49-F238E27FC236}">
                <a16:creationId xmlns:a16="http://schemas.microsoft.com/office/drawing/2014/main" id="{44E3153B-A77A-3B5F-8CC2-06AE396EB290}"/>
              </a:ext>
            </a:extLst>
          </p:cNvPr>
          <p:cNvSpPr/>
          <p:nvPr/>
        </p:nvSpPr>
        <p:spPr>
          <a:xfrm>
            <a:off x="3106957" y="1048796"/>
            <a:ext cx="495961" cy="185961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/>
          </a:p>
        </p:txBody>
      </p:sp>
      <p:sp>
        <p:nvSpPr>
          <p:cNvPr id="6" name="5 Abrir llave">
            <a:extLst>
              <a:ext uri="{FF2B5EF4-FFF2-40B4-BE49-F238E27FC236}">
                <a16:creationId xmlns:a16="http://schemas.microsoft.com/office/drawing/2014/main" id="{21125F46-4670-CE4A-70D5-88CEDBCD1643}"/>
              </a:ext>
            </a:extLst>
          </p:cNvPr>
          <p:cNvSpPr/>
          <p:nvPr/>
        </p:nvSpPr>
        <p:spPr>
          <a:xfrm>
            <a:off x="5797861" y="896351"/>
            <a:ext cx="336806" cy="1359695"/>
          </a:xfrm>
          <a:prstGeom prst="leftBrace">
            <a:avLst>
              <a:gd name="adj1" fmla="val 8333"/>
              <a:gd name="adj2" fmla="val 16419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44" name="43 Rectángulo">
            <a:extLst>
              <a:ext uri="{FF2B5EF4-FFF2-40B4-BE49-F238E27FC236}">
                <a16:creationId xmlns:a16="http://schemas.microsoft.com/office/drawing/2014/main" id="{D2CCD40F-0EAB-39D3-17EB-DAD8764CCB67}"/>
              </a:ext>
            </a:extLst>
          </p:cNvPr>
          <p:cNvSpPr/>
          <p:nvPr/>
        </p:nvSpPr>
        <p:spPr>
          <a:xfrm>
            <a:off x="5983806" y="896351"/>
            <a:ext cx="316019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Fabricantes de bienes y servicios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Intermediarios o canal de distribución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Prescriptores (influyen)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Consumidores</a:t>
            </a:r>
          </a:p>
          <a:p>
            <a:pPr marL="285750" indent="-285750">
              <a:buFont typeface="Arial" charset="0"/>
              <a:buChar char="•"/>
            </a:pPr>
            <a:endParaRPr lang="es-ES" sz="1600" dirty="0"/>
          </a:p>
        </p:txBody>
      </p:sp>
      <p:pic>
        <p:nvPicPr>
          <p:cNvPr id="9" name="Picture 2" descr="Niveles de los canales de distribución: canal directo y canal indirecto">
            <a:extLst>
              <a:ext uri="{FF2B5EF4-FFF2-40B4-BE49-F238E27FC236}">
                <a16:creationId xmlns:a16="http://schemas.microsoft.com/office/drawing/2014/main" id="{7BE6A6F5-8E1E-EB43-E6B4-007ABB28F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167" y="2747670"/>
            <a:ext cx="3783219" cy="2415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7DC9E0B-ADCF-0103-7645-FB7A7D8BE22C}"/>
              </a:ext>
            </a:extLst>
          </p:cNvPr>
          <p:cNvSpPr txBox="1"/>
          <p:nvPr/>
        </p:nvSpPr>
        <p:spPr>
          <a:xfrm>
            <a:off x="379910" y="2104510"/>
            <a:ext cx="43204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ES_tradnl" u="sng" dirty="0"/>
              <a:t>Fabricantes</a:t>
            </a:r>
            <a:r>
              <a:rPr lang="es-ES_tradnl" dirty="0"/>
              <a:t>: quienes fabrican el bien o prestan el servicio.</a:t>
            </a:r>
          </a:p>
          <a:p>
            <a:pPr marL="285750" indent="-285750">
              <a:buFontTx/>
              <a:buChar char="-"/>
            </a:pPr>
            <a:r>
              <a:rPr lang="es-ES_tradnl" u="sng" dirty="0"/>
              <a:t>Intermediarios o canal de distribución</a:t>
            </a:r>
            <a:r>
              <a:rPr lang="es-ES_tradnl" dirty="0"/>
              <a:t>: puede ser una cadena de intermediarios o una venta directa.</a:t>
            </a:r>
          </a:p>
          <a:p>
            <a:pPr marL="285750" indent="-285750">
              <a:buFontTx/>
              <a:buChar char="-"/>
            </a:pPr>
            <a:r>
              <a:rPr lang="es-ES_tradnl" u="sng" dirty="0"/>
              <a:t>Prescriptores</a:t>
            </a:r>
            <a:r>
              <a:rPr lang="es-ES_tradnl" dirty="0"/>
              <a:t>: son aquellos que influyen en la decisión de compra (</a:t>
            </a:r>
            <a:r>
              <a:rPr lang="es-ES_tradnl" dirty="0" err="1"/>
              <a:t>ej</a:t>
            </a:r>
            <a:r>
              <a:rPr lang="es-ES_tradnl" dirty="0"/>
              <a:t>: médico o niños cuando piden un juguete).</a:t>
            </a:r>
          </a:p>
          <a:p>
            <a:pPr marL="285750" indent="-285750">
              <a:buFontTx/>
              <a:buChar char="-"/>
            </a:pPr>
            <a:r>
              <a:rPr lang="es-ES_tradnl" u="sng" dirty="0"/>
              <a:t>Consumidores:</a:t>
            </a:r>
            <a:r>
              <a:rPr lang="es-ES_tradnl" dirty="0"/>
              <a:t> son los demandantes del producto (no tienen por qué ser quienes compran).</a:t>
            </a:r>
          </a:p>
          <a:p>
            <a:pPr marL="285750" indent="-285750">
              <a:buFontTx/>
              <a:buChar char="-"/>
            </a:pPr>
            <a:endParaRPr lang="es-ES_tradnl" dirty="0"/>
          </a:p>
          <a:p>
            <a:r>
              <a:rPr lang="es-ES_tradnl" b="1" dirty="0">
                <a:solidFill>
                  <a:srgbClr val="FF0000"/>
                </a:solidFill>
              </a:rPr>
              <a:t>Vídeo: </a:t>
            </a:r>
            <a:r>
              <a:rPr lang="es-ES_tradnl" b="1" dirty="0">
                <a:solidFill>
                  <a:srgbClr val="FF0000"/>
                </a:solidFill>
                <a:hlinkClick r:id="rId3"/>
              </a:rPr>
              <a:t>¿qué es un </a:t>
            </a:r>
            <a:r>
              <a:rPr lang="es-ES_tradnl" b="1" dirty="0" err="1">
                <a:solidFill>
                  <a:srgbClr val="FF0000"/>
                </a:solidFill>
                <a:hlinkClick r:id="rId3"/>
              </a:rPr>
              <a:t>influencer</a:t>
            </a:r>
            <a:r>
              <a:rPr lang="es-ES_tradnl" b="1" dirty="0">
                <a:solidFill>
                  <a:srgbClr val="FF0000"/>
                </a:solidFill>
                <a:hlinkClick r:id="rId3"/>
              </a:rPr>
              <a:t>?</a:t>
            </a:r>
            <a:endParaRPr lang="es-ES_tradnl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07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uadroTexto"/>
          <p:cNvSpPr txBox="1"/>
          <p:nvPr/>
        </p:nvSpPr>
        <p:spPr>
          <a:xfrm>
            <a:off x="344253" y="1074700"/>
            <a:ext cx="2571251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B) Equilibrio de mercado</a:t>
            </a:r>
            <a:endParaRPr lang="es-ES" b="1" dirty="0"/>
          </a:p>
        </p:txBody>
      </p:sp>
      <p:sp>
        <p:nvSpPr>
          <p:cNvPr id="26" name="25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29" name="28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22" name="21 Rectángulo redondeado"/>
          <p:cNvSpPr/>
          <p:nvPr/>
        </p:nvSpPr>
        <p:spPr>
          <a:xfrm>
            <a:off x="2174859" y="5849735"/>
            <a:ext cx="3905221" cy="82149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OFERTA = DEMANDA</a:t>
            </a:r>
            <a:endParaRPr lang="es-E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4 Conector recto de flecha"/>
          <p:cNvCxnSpPr/>
          <p:nvPr/>
        </p:nvCxnSpPr>
        <p:spPr>
          <a:xfrm flipV="1">
            <a:off x="1835696" y="1988840"/>
            <a:ext cx="0" cy="33123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>
            <a:off x="1835696" y="5301208"/>
            <a:ext cx="45835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41 Arco"/>
          <p:cNvSpPr/>
          <p:nvPr/>
        </p:nvSpPr>
        <p:spPr>
          <a:xfrm rot="1745724" flipH="1" flipV="1">
            <a:off x="2125498" y="2612190"/>
            <a:ext cx="4688634" cy="1872208"/>
          </a:xfrm>
          <a:prstGeom prst="arc">
            <a:avLst>
              <a:gd name="adj1" fmla="val 12689195"/>
              <a:gd name="adj2" fmla="val 20926505"/>
            </a:avLst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43 Arco"/>
          <p:cNvSpPr/>
          <p:nvPr/>
        </p:nvSpPr>
        <p:spPr>
          <a:xfrm rot="19294275" flipH="1" flipV="1">
            <a:off x="975372" y="2167588"/>
            <a:ext cx="4688634" cy="1937763"/>
          </a:xfrm>
          <a:prstGeom prst="arc">
            <a:avLst>
              <a:gd name="adj1" fmla="val 12947785"/>
              <a:gd name="adj2" fmla="val 20563855"/>
            </a:avLst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2" name="11 Conector recto"/>
          <p:cNvCxnSpPr/>
          <p:nvPr/>
        </p:nvCxnSpPr>
        <p:spPr>
          <a:xfrm>
            <a:off x="3635896" y="4077072"/>
            <a:ext cx="0" cy="122413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flipH="1">
            <a:off x="1835696" y="4087111"/>
            <a:ext cx="18002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15 Conector recto"/>
          <p:cNvCxnSpPr/>
          <p:nvPr/>
        </p:nvCxnSpPr>
        <p:spPr>
          <a:xfrm>
            <a:off x="1812860" y="4581128"/>
            <a:ext cx="2653774" cy="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 flipV="1">
            <a:off x="1804113" y="3645024"/>
            <a:ext cx="2484276" cy="776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24 Elipse"/>
          <p:cNvSpPr/>
          <p:nvPr/>
        </p:nvSpPr>
        <p:spPr>
          <a:xfrm flipH="1">
            <a:off x="3570466" y="4033105"/>
            <a:ext cx="130859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50" name="49 Conector recto"/>
          <p:cNvCxnSpPr/>
          <p:nvPr/>
        </p:nvCxnSpPr>
        <p:spPr>
          <a:xfrm>
            <a:off x="2769335" y="4581128"/>
            <a:ext cx="0" cy="72008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50 Conector recto"/>
          <p:cNvCxnSpPr/>
          <p:nvPr/>
        </p:nvCxnSpPr>
        <p:spPr>
          <a:xfrm>
            <a:off x="4466634" y="4581128"/>
            <a:ext cx="0" cy="72008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51 Conector recto"/>
          <p:cNvCxnSpPr/>
          <p:nvPr/>
        </p:nvCxnSpPr>
        <p:spPr>
          <a:xfrm flipH="1">
            <a:off x="2965791" y="3609284"/>
            <a:ext cx="14762" cy="169192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55 Conector recto"/>
          <p:cNvCxnSpPr/>
          <p:nvPr/>
        </p:nvCxnSpPr>
        <p:spPr>
          <a:xfrm flipH="1">
            <a:off x="4127470" y="3645024"/>
            <a:ext cx="14762" cy="165618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59 Conector recto de flecha"/>
          <p:cNvCxnSpPr/>
          <p:nvPr/>
        </p:nvCxnSpPr>
        <p:spPr>
          <a:xfrm>
            <a:off x="2769335" y="4689140"/>
            <a:ext cx="1697299" cy="0"/>
          </a:xfrm>
          <a:prstGeom prst="straightConnector1">
            <a:avLst/>
          </a:prstGeom>
          <a:ln w="22225">
            <a:solidFill>
              <a:srgbClr val="7030A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61 Conector recto de flecha"/>
          <p:cNvCxnSpPr/>
          <p:nvPr/>
        </p:nvCxnSpPr>
        <p:spPr>
          <a:xfrm>
            <a:off x="2915504" y="3548294"/>
            <a:ext cx="1372885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78 CuadroTexto"/>
          <p:cNvSpPr txBox="1"/>
          <p:nvPr/>
        </p:nvSpPr>
        <p:spPr>
          <a:xfrm>
            <a:off x="1331640" y="3933056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P</a:t>
            </a:r>
            <a:r>
              <a:rPr lang="es-ES_tradnl" baseline="30000" dirty="0">
                <a:solidFill>
                  <a:srgbClr val="FF0000"/>
                </a:solidFill>
              </a:rPr>
              <a:t>*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80" name="79 CuadroTexto"/>
          <p:cNvSpPr txBox="1"/>
          <p:nvPr/>
        </p:nvSpPr>
        <p:spPr>
          <a:xfrm>
            <a:off x="1324887" y="4396462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7030A0"/>
                </a:solidFill>
              </a:rPr>
              <a:t>P</a:t>
            </a:r>
            <a:r>
              <a:rPr lang="es-ES_tradnl" baseline="30000" dirty="0">
                <a:solidFill>
                  <a:srgbClr val="7030A0"/>
                </a:solidFill>
              </a:rPr>
              <a:t>1</a:t>
            </a:r>
            <a:endParaRPr lang="es-ES" dirty="0">
              <a:solidFill>
                <a:srgbClr val="7030A0"/>
              </a:solidFill>
            </a:endParaRPr>
          </a:p>
        </p:txBody>
      </p:sp>
      <p:sp>
        <p:nvSpPr>
          <p:cNvPr id="81" name="80 CuadroTexto"/>
          <p:cNvSpPr txBox="1"/>
          <p:nvPr/>
        </p:nvSpPr>
        <p:spPr>
          <a:xfrm>
            <a:off x="1331639" y="3494288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accent6"/>
                </a:solidFill>
              </a:rPr>
              <a:t>P</a:t>
            </a:r>
            <a:r>
              <a:rPr lang="es-ES_tradnl" baseline="30000" dirty="0">
                <a:solidFill>
                  <a:schemeClr val="accent6"/>
                </a:solidFill>
              </a:rPr>
              <a:t>2</a:t>
            </a:r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82" name="81 CuadroTexto"/>
          <p:cNvSpPr txBox="1"/>
          <p:nvPr/>
        </p:nvSpPr>
        <p:spPr>
          <a:xfrm>
            <a:off x="4297126" y="5364162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7030A0"/>
                </a:solidFill>
              </a:rPr>
              <a:t>C</a:t>
            </a:r>
            <a:r>
              <a:rPr lang="es-ES_tradnl" baseline="30000" dirty="0">
                <a:solidFill>
                  <a:srgbClr val="7030A0"/>
                </a:solidFill>
              </a:rPr>
              <a:t>1</a:t>
            </a:r>
            <a:endParaRPr lang="es-ES" dirty="0">
              <a:solidFill>
                <a:srgbClr val="7030A0"/>
              </a:solidFill>
            </a:endParaRPr>
          </a:p>
        </p:txBody>
      </p:sp>
      <p:sp>
        <p:nvSpPr>
          <p:cNvPr id="83" name="82 CuadroTexto"/>
          <p:cNvSpPr txBox="1"/>
          <p:nvPr/>
        </p:nvSpPr>
        <p:spPr>
          <a:xfrm>
            <a:off x="3898614" y="5364162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accent6"/>
                </a:solidFill>
              </a:rPr>
              <a:t>C</a:t>
            </a:r>
            <a:r>
              <a:rPr lang="es-ES_tradnl" baseline="30000" dirty="0">
                <a:solidFill>
                  <a:schemeClr val="accent6"/>
                </a:solidFill>
              </a:rPr>
              <a:t>2</a:t>
            </a:r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84" name="83 CuadroTexto"/>
          <p:cNvSpPr txBox="1"/>
          <p:nvPr/>
        </p:nvSpPr>
        <p:spPr>
          <a:xfrm>
            <a:off x="2810014" y="5352563"/>
            <a:ext cx="509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chemeClr val="accent6"/>
                </a:solidFill>
              </a:rPr>
              <a:t>C</a:t>
            </a:r>
            <a:r>
              <a:rPr lang="es-ES_tradnl" baseline="30000" dirty="0">
                <a:solidFill>
                  <a:schemeClr val="accent6"/>
                </a:solidFill>
              </a:rPr>
              <a:t>2</a:t>
            </a:r>
            <a:endParaRPr lang="es-ES" dirty="0">
              <a:solidFill>
                <a:schemeClr val="accent6"/>
              </a:solidFill>
            </a:endParaRPr>
          </a:p>
        </p:txBody>
      </p:sp>
      <p:sp>
        <p:nvSpPr>
          <p:cNvPr id="85" name="84 CuadroTexto"/>
          <p:cNvSpPr txBox="1"/>
          <p:nvPr/>
        </p:nvSpPr>
        <p:spPr>
          <a:xfrm>
            <a:off x="3402048" y="5364162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C</a:t>
            </a:r>
            <a:r>
              <a:rPr lang="es-ES_tradnl" baseline="30000" dirty="0">
                <a:solidFill>
                  <a:srgbClr val="FF0000"/>
                </a:solidFill>
              </a:rPr>
              <a:t>*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86" name="85 CuadroTexto"/>
          <p:cNvSpPr txBox="1"/>
          <p:nvPr/>
        </p:nvSpPr>
        <p:spPr>
          <a:xfrm>
            <a:off x="2533098" y="5352563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>
                <a:solidFill>
                  <a:srgbClr val="7030A0"/>
                </a:solidFill>
              </a:rPr>
              <a:t>C</a:t>
            </a:r>
            <a:r>
              <a:rPr lang="es-ES_tradnl" baseline="30000" dirty="0">
                <a:solidFill>
                  <a:srgbClr val="7030A0"/>
                </a:solidFill>
              </a:rPr>
              <a:t>1</a:t>
            </a:r>
            <a:endParaRPr lang="es-ES" dirty="0">
              <a:solidFill>
                <a:srgbClr val="7030A0"/>
              </a:solidFill>
            </a:endParaRPr>
          </a:p>
        </p:txBody>
      </p:sp>
      <p:sp>
        <p:nvSpPr>
          <p:cNvPr id="87" name="86 CuadroTexto"/>
          <p:cNvSpPr txBox="1"/>
          <p:nvPr/>
        </p:nvSpPr>
        <p:spPr>
          <a:xfrm>
            <a:off x="3874521" y="3892406"/>
            <a:ext cx="2329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rgbClr val="FF0000"/>
                </a:solidFill>
              </a:rPr>
              <a:t>Equilibrio de Mercado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88" name="87 CuadroTexto"/>
          <p:cNvSpPr txBox="1"/>
          <p:nvPr/>
        </p:nvSpPr>
        <p:spPr>
          <a:xfrm>
            <a:off x="4827162" y="2767137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rgbClr val="00B050"/>
                </a:solidFill>
              </a:rPr>
              <a:t>O</a:t>
            </a:r>
            <a:endParaRPr lang="es-ES" b="1" dirty="0">
              <a:solidFill>
                <a:srgbClr val="00B050"/>
              </a:solidFill>
            </a:endParaRPr>
          </a:p>
        </p:txBody>
      </p:sp>
      <p:sp>
        <p:nvSpPr>
          <p:cNvPr id="89" name="88 CuadroTexto"/>
          <p:cNvSpPr txBox="1"/>
          <p:nvPr/>
        </p:nvSpPr>
        <p:spPr>
          <a:xfrm>
            <a:off x="5063398" y="4669802"/>
            <a:ext cx="47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b="1" dirty="0">
                <a:solidFill>
                  <a:schemeClr val="accent1"/>
                </a:solidFill>
              </a:rPr>
              <a:t>D</a:t>
            </a:r>
            <a:endParaRPr lang="es-ES" b="1" dirty="0">
              <a:solidFill>
                <a:schemeClr val="accent1"/>
              </a:solidFill>
            </a:endParaRPr>
          </a:p>
        </p:txBody>
      </p:sp>
      <p:sp>
        <p:nvSpPr>
          <p:cNvPr id="91" name="90 CuadroTexto"/>
          <p:cNvSpPr txBox="1"/>
          <p:nvPr/>
        </p:nvSpPr>
        <p:spPr>
          <a:xfrm>
            <a:off x="2813829" y="3155734"/>
            <a:ext cx="16559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chemeClr val="accent6"/>
                </a:solidFill>
              </a:rPr>
              <a:t>Exceso de Oferta</a:t>
            </a:r>
            <a:endParaRPr lang="es-ES" sz="1600" dirty="0">
              <a:solidFill>
                <a:schemeClr val="accent6"/>
              </a:solidFill>
            </a:endParaRPr>
          </a:p>
        </p:txBody>
      </p:sp>
      <p:sp>
        <p:nvSpPr>
          <p:cNvPr id="92" name="91 CuadroTexto"/>
          <p:cNvSpPr txBox="1"/>
          <p:nvPr/>
        </p:nvSpPr>
        <p:spPr>
          <a:xfrm>
            <a:off x="2694935" y="4700580"/>
            <a:ext cx="18866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7030A0"/>
                </a:solidFill>
              </a:rPr>
              <a:t>Exceso de Demanda</a:t>
            </a:r>
            <a:endParaRPr lang="es-ES" sz="1600" dirty="0">
              <a:solidFill>
                <a:srgbClr val="7030A0"/>
              </a:solidFill>
            </a:endParaRPr>
          </a:p>
        </p:txBody>
      </p:sp>
      <p:sp>
        <p:nvSpPr>
          <p:cNvPr id="93" name="92 CuadroTexto"/>
          <p:cNvSpPr txBox="1"/>
          <p:nvPr/>
        </p:nvSpPr>
        <p:spPr>
          <a:xfrm>
            <a:off x="1437322" y="1595731"/>
            <a:ext cx="796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Precio</a:t>
            </a:r>
            <a:endParaRPr lang="es-ES" sz="1600" dirty="0"/>
          </a:p>
        </p:txBody>
      </p:sp>
      <p:sp>
        <p:nvSpPr>
          <p:cNvPr id="94" name="93 CuadroTexto"/>
          <p:cNvSpPr txBox="1"/>
          <p:nvPr/>
        </p:nvSpPr>
        <p:spPr>
          <a:xfrm>
            <a:off x="6575127" y="5131931"/>
            <a:ext cx="9326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Cantidad</a:t>
            </a:r>
            <a:endParaRPr lang="es-ES" sz="1600" dirty="0"/>
          </a:p>
        </p:txBody>
      </p:sp>
      <p:sp>
        <p:nvSpPr>
          <p:cNvPr id="95" name="94 CuadroTexto"/>
          <p:cNvSpPr txBox="1"/>
          <p:nvPr/>
        </p:nvSpPr>
        <p:spPr>
          <a:xfrm>
            <a:off x="3021850" y="699868"/>
            <a:ext cx="5810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¿Cuándo un </a:t>
            </a:r>
            <a:r>
              <a:rPr lang="es-ES_tradnl" b="1" i="1" dirty="0"/>
              <a:t>mercado</a:t>
            </a:r>
            <a:r>
              <a:rPr lang="es-ES_tradnl" dirty="0"/>
              <a:t> está en </a:t>
            </a:r>
            <a:r>
              <a:rPr lang="es-ES_tradnl" b="1" i="1" dirty="0"/>
              <a:t>equilibrio</a:t>
            </a:r>
            <a:r>
              <a:rPr lang="es-ES_tradnl" dirty="0"/>
              <a:t>?</a:t>
            </a:r>
          </a:p>
          <a:p>
            <a:endParaRPr lang="es-ES_tradnl" dirty="0"/>
          </a:p>
          <a:p>
            <a:pPr algn="just"/>
            <a:r>
              <a:rPr lang="es-ES_tradnl" dirty="0"/>
              <a:t>Cuando la </a:t>
            </a:r>
            <a:r>
              <a:rPr lang="es-ES_tradnl" b="1" dirty="0">
                <a:solidFill>
                  <a:srgbClr val="0070C0"/>
                </a:solidFill>
              </a:rPr>
              <a:t>cantidad</a:t>
            </a:r>
            <a:r>
              <a:rPr lang="es-ES_tradnl" dirty="0"/>
              <a:t> que están dispuestos a </a:t>
            </a:r>
            <a:r>
              <a:rPr lang="es-ES_tradnl" b="1" dirty="0">
                <a:solidFill>
                  <a:srgbClr val="0070C0"/>
                </a:solidFill>
              </a:rPr>
              <a:t>adquirir</a:t>
            </a:r>
            <a:r>
              <a:rPr lang="es-ES_tradnl" b="1" dirty="0"/>
              <a:t> </a:t>
            </a:r>
            <a:r>
              <a:rPr lang="es-ES_tradnl" dirty="0"/>
              <a:t>los </a:t>
            </a:r>
            <a:r>
              <a:rPr lang="es-ES_tradnl" b="1" dirty="0">
                <a:solidFill>
                  <a:srgbClr val="0070C0"/>
                </a:solidFill>
              </a:rPr>
              <a:t>compradores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b="1" dirty="0">
                <a:solidFill>
                  <a:srgbClr val="0070C0"/>
                </a:solidFill>
              </a:rPr>
              <a:t>coincide</a:t>
            </a:r>
            <a:r>
              <a:rPr lang="es-ES_tradnl" dirty="0">
                <a:solidFill>
                  <a:srgbClr val="0070C0"/>
                </a:solidFill>
              </a:rPr>
              <a:t> </a:t>
            </a:r>
            <a:r>
              <a:rPr lang="es-ES_tradnl" dirty="0"/>
              <a:t>con la </a:t>
            </a:r>
            <a:r>
              <a:rPr lang="es-ES_tradnl" b="1" dirty="0">
                <a:solidFill>
                  <a:srgbClr val="00B050"/>
                </a:solidFill>
              </a:rPr>
              <a:t>cantidad</a:t>
            </a:r>
            <a:r>
              <a:rPr lang="es-ES_tradnl" dirty="0"/>
              <a:t> que están dispuestos a vender los </a:t>
            </a:r>
            <a:r>
              <a:rPr lang="es-ES_tradnl" b="1" dirty="0">
                <a:solidFill>
                  <a:srgbClr val="00B050"/>
                </a:solidFill>
              </a:rPr>
              <a:t>vendedores</a:t>
            </a:r>
            <a:r>
              <a:rPr lang="es-ES_tradnl" dirty="0"/>
              <a:t> a un </a:t>
            </a:r>
            <a:r>
              <a:rPr lang="es-ES_tradnl" b="1" dirty="0">
                <a:solidFill>
                  <a:srgbClr val="00B050"/>
                </a:solidFill>
              </a:rPr>
              <a:t>precio determinado</a:t>
            </a:r>
            <a:r>
              <a:rPr lang="es-ES_tradnl" dirty="0"/>
              <a:t>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9027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CBA754-81FB-B577-755C-8E1FF02F6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129" y="903842"/>
            <a:ext cx="8229600" cy="51894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1900" b="1" u="sng" dirty="0">
                <a:solidFill>
                  <a:srgbClr val="0070C0"/>
                </a:solidFill>
              </a:rPr>
              <a:t>Actividad 02.01:</a:t>
            </a:r>
            <a:r>
              <a:rPr lang="es-ES_tradnl" sz="1900" b="1" dirty="0">
                <a:solidFill>
                  <a:srgbClr val="0070C0"/>
                </a:solidFill>
              </a:rPr>
              <a:t> </a:t>
            </a:r>
            <a:r>
              <a:rPr lang="es-ES" sz="1900" b="1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El mercado de patatas en la comarca de la Limia está compuesto por los siguientes datos que tienen los agricultores a partir de las ventas de años pasados en toneladas, son los siguientes:</a:t>
            </a:r>
            <a:r>
              <a:rPr lang="es-ES" sz="1900" dirty="0">
                <a:effectLst/>
              </a:rPr>
              <a:t> </a:t>
            </a:r>
          </a:p>
          <a:p>
            <a:pPr marL="0" indent="0" algn="just">
              <a:buNone/>
            </a:pPr>
            <a:endParaRPr lang="es-ES" sz="1900" dirty="0"/>
          </a:p>
          <a:p>
            <a:pPr marL="0" indent="0" algn="just">
              <a:buNone/>
            </a:pPr>
            <a:endParaRPr lang="es-ES" sz="1900" dirty="0"/>
          </a:p>
          <a:p>
            <a:pPr marL="0" indent="0" algn="just">
              <a:buNone/>
            </a:pPr>
            <a:endParaRPr lang="es-ES" sz="1900" dirty="0"/>
          </a:p>
          <a:p>
            <a:pPr marL="0" indent="0" algn="just">
              <a:buNone/>
            </a:pPr>
            <a:endParaRPr lang="es-ES" sz="1900" dirty="0"/>
          </a:p>
          <a:p>
            <a:pPr marL="0" indent="0" algn="just">
              <a:buNone/>
            </a:pPr>
            <a:endParaRPr lang="es-ES" sz="1900" dirty="0"/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endParaRPr lang="es-ES" sz="1900" dirty="0">
              <a:effectLst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9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Calcula el punto de equilibrio</a:t>
            </a:r>
            <a:endParaRPr lang="es-ES" sz="19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9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Representa gráficamente las curvas de oferta y demanda indicando el precio y la cantidad de equilibrio, donde la oferta es igual a la demanda.</a:t>
            </a:r>
            <a:endParaRPr lang="es-ES" sz="1900" dirty="0">
              <a:effectLst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es-ES" sz="1900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Dibuja qué sucedería si el precio fuese de 0,25 €/kg o de 0,45 €/kg. Indica las cantidades que se demandarían y que se ofrecerían, así como los excesos de demanda y de oferta.</a:t>
            </a:r>
            <a:endParaRPr lang="es-ES" sz="1900" dirty="0">
              <a:effectLst/>
              <a:ea typeface="Times New Roman" panose="02020603050405020304" pitchFamily="18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54BC18C-E919-F4D8-2FEA-5BDB6EB0D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828823"/>
              </p:ext>
            </p:extLst>
          </p:nvPr>
        </p:nvGraphicFramePr>
        <p:xfrm>
          <a:off x="2555776" y="1916832"/>
          <a:ext cx="3672408" cy="20162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6513">
                  <a:extLst>
                    <a:ext uri="{9D8B030D-6E8A-4147-A177-3AD203B41FA5}">
                      <a16:colId xmlns:a16="http://schemas.microsoft.com/office/drawing/2014/main" val="567101662"/>
                    </a:ext>
                  </a:extLst>
                </a:gridCol>
                <a:gridCol w="1150568">
                  <a:extLst>
                    <a:ext uri="{9D8B030D-6E8A-4147-A177-3AD203B41FA5}">
                      <a16:colId xmlns:a16="http://schemas.microsoft.com/office/drawing/2014/main" val="683868615"/>
                    </a:ext>
                  </a:extLst>
                </a:gridCol>
                <a:gridCol w="1375327">
                  <a:extLst>
                    <a:ext uri="{9D8B030D-6E8A-4147-A177-3AD203B41FA5}">
                      <a16:colId xmlns:a16="http://schemas.microsoft.com/office/drawing/2014/main" val="1761623929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/>
                        </a:rPr>
                        <a:t>Precio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>
                          <a:effectLst/>
                        </a:rPr>
                        <a:t>Cantidad demanda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effectLst/>
                        </a:rPr>
                        <a:t>Cantidad ofrecida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5332590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0,25 €/kg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70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10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3587999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0,30 €/kg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50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30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000630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0,35 €/kg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40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40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66109053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0,40 €/kg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30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50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0029614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0,45 €/kg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>
                          <a:effectLst/>
                        </a:rPr>
                        <a:t>10</a:t>
                      </a:r>
                      <a:endParaRPr lang="es-E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s-ES" sz="1200" dirty="0">
                          <a:effectLst/>
                        </a:rPr>
                        <a:t>70</a:t>
                      </a:r>
                      <a:endParaRPr lang="es-E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66449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138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427472-AE32-0BB3-7965-B4051DB95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352582"/>
            <a:ext cx="8229600" cy="541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800" dirty="0"/>
              <a:t>1. Punto de equilibrio: la cantidad demandada coincide con la ofrecida.</a:t>
            </a:r>
          </a:p>
        </p:txBody>
      </p:sp>
      <p:cxnSp>
        <p:nvCxnSpPr>
          <p:cNvPr id="6" name="4 Conector recto de flecha">
            <a:extLst>
              <a:ext uri="{FF2B5EF4-FFF2-40B4-BE49-F238E27FC236}">
                <a16:creationId xmlns:a16="http://schemas.microsoft.com/office/drawing/2014/main" id="{D1DDB922-BDEF-DEA9-6F88-E029BEB8B659}"/>
              </a:ext>
            </a:extLst>
          </p:cNvPr>
          <p:cNvCxnSpPr/>
          <p:nvPr/>
        </p:nvCxnSpPr>
        <p:spPr>
          <a:xfrm flipV="1">
            <a:off x="1835696" y="1988840"/>
            <a:ext cx="0" cy="33123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>
            <a:extLst>
              <a:ext uri="{FF2B5EF4-FFF2-40B4-BE49-F238E27FC236}">
                <a16:creationId xmlns:a16="http://schemas.microsoft.com/office/drawing/2014/main" id="{24FEB49F-DBEA-7EC0-9D66-68F736454934}"/>
              </a:ext>
            </a:extLst>
          </p:cNvPr>
          <p:cNvCxnSpPr/>
          <p:nvPr/>
        </p:nvCxnSpPr>
        <p:spPr>
          <a:xfrm>
            <a:off x="1835696" y="5301208"/>
            <a:ext cx="45835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13 Conector recto">
            <a:extLst>
              <a:ext uri="{FF2B5EF4-FFF2-40B4-BE49-F238E27FC236}">
                <a16:creationId xmlns:a16="http://schemas.microsoft.com/office/drawing/2014/main" id="{50E6BDA6-CFF4-34CE-35AE-A87E957AE948}"/>
              </a:ext>
            </a:extLst>
          </p:cNvPr>
          <p:cNvCxnSpPr/>
          <p:nvPr/>
        </p:nvCxnSpPr>
        <p:spPr>
          <a:xfrm flipH="1">
            <a:off x="1835696" y="4087111"/>
            <a:ext cx="18002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11 Conector recto">
            <a:extLst>
              <a:ext uri="{FF2B5EF4-FFF2-40B4-BE49-F238E27FC236}">
                <a16:creationId xmlns:a16="http://schemas.microsoft.com/office/drawing/2014/main" id="{6DFE9A8D-40AC-7997-C497-7E6EF8C84BE3}"/>
              </a:ext>
            </a:extLst>
          </p:cNvPr>
          <p:cNvCxnSpPr/>
          <p:nvPr/>
        </p:nvCxnSpPr>
        <p:spPr>
          <a:xfrm>
            <a:off x="3635896" y="4077072"/>
            <a:ext cx="0" cy="122413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889073-0AF7-1A5E-233B-C9A3096035FD}"/>
              </a:ext>
            </a:extLst>
          </p:cNvPr>
          <p:cNvSpPr txBox="1"/>
          <p:nvPr/>
        </p:nvSpPr>
        <p:spPr>
          <a:xfrm>
            <a:off x="1115616" y="3902445"/>
            <a:ext cx="838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0,35€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0A23EF3-0602-1ED2-B745-9BF526E711F0}"/>
              </a:ext>
            </a:extLst>
          </p:cNvPr>
          <p:cNvSpPr txBox="1"/>
          <p:nvPr/>
        </p:nvSpPr>
        <p:spPr>
          <a:xfrm>
            <a:off x="3284984" y="5301208"/>
            <a:ext cx="701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40 Kg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6" name="41 Arco">
            <a:extLst>
              <a:ext uri="{FF2B5EF4-FFF2-40B4-BE49-F238E27FC236}">
                <a16:creationId xmlns:a16="http://schemas.microsoft.com/office/drawing/2014/main" id="{3AC20EF3-FAFB-C9BE-F731-0FE082EE1D48}"/>
              </a:ext>
            </a:extLst>
          </p:cNvPr>
          <p:cNvSpPr/>
          <p:nvPr/>
        </p:nvSpPr>
        <p:spPr>
          <a:xfrm rot="1745724" flipH="1" flipV="1">
            <a:off x="2125498" y="2612190"/>
            <a:ext cx="4688634" cy="1872208"/>
          </a:xfrm>
          <a:prstGeom prst="arc">
            <a:avLst>
              <a:gd name="adj1" fmla="val 12689195"/>
              <a:gd name="adj2" fmla="val 20926505"/>
            </a:avLst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43 Arco">
            <a:extLst>
              <a:ext uri="{FF2B5EF4-FFF2-40B4-BE49-F238E27FC236}">
                <a16:creationId xmlns:a16="http://schemas.microsoft.com/office/drawing/2014/main" id="{86E4785A-88C9-3B21-156A-73BF0E07183C}"/>
              </a:ext>
            </a:extLst>
          </p:cNvPr>
          <p:cNvSpPr/>
          <p:nvPr/>
        </p:nvSpPr>
        <p:spPr>
          <a:xfrm rot="19294275" flipH="1" flipV="1">
            <a:off x="975372" y="2167588"/>
            <a:ext cx="4688634" cy="1937763"/>
          </a:xfrm>
          <a:prstGeom prst="arc">
            <a:avLst>
              <a:gd name="adj1" fmla="val 12947785"/>
              <a:gd name="adj2" fmla="val 20563855"/>
            </a:avLst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24 Elipse">
            <a:extLst>
              <a:ext uri="{FF2B5EF4-FFF2-40B4-BE49-F238E27FC236}">
                <a16:creationId xmlns:a16="http://schemas.microsoft.com/office/drawing/2014/main" id="{A624C887-AF0A-EE9E-B4F4-476490BB6C17}"/>
              </a:ext>
            </a:extLst>
          </p:cNvPr>
          <p:cNvSpPr/>
          <p:nvPr/>
        </p:nvSpPr>
        <p:spPr>
          <a:xfrm flipH="1">
            <a:off x="3570466" y="4033105"/>
            <a:ext cx="130859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915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3D68-955C-9B6F-AD88-DBA2391EB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D6E257-D48C-D6F7-5293-47AA95AB8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7740"/>
            <a:ext cx="8229600" cy="805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800" dirty="0"/>
              <a:t>2. Precio 0,25€: se produce una situación de exceso de demanda; hay más cantidad demandada que ofrecida.</a:t>
            </a:r>
          </a:p>
        </p:txBody>
      </p:sp>
      <p:cxnSp>
        <p:nvCxnSpPr>
          <p:cNvPr id="6" name="4 Conector recto de flecha">
            <a:extLst>
              <a:ext uri="{FF2B5EF4-FFF2-40B4-BE49-F238E27FC236}">
                <a16:creationId xmlns:a16="http://schemas.microsoft.com/office/drawing/2014/main" id="{8FEA87C2-ED69-3B93-F014-E3E28083AD1B}"/>
              </a:ext>
            </a:extLst>
          </p:cNvPr>
          <p:cNvCxnSpPr/>
          <p:nvPr/>
        </p:nvCxnSpPr>
        <p:spPr>
          <a:xfrm flipV="1">
            <a:off x="1835696" y="1988840"/>
            <a:ext cx="0" cy="33123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>
            <a:extLst>
              <a:ext uri="{FF2B5EF4-FFF2-40B4-BE49-F238E27FC236}">
                <a16:creationId xmlns:a16="http://schemas.microsoft.com/office/drawing/2014/main" id="{6D3477C8-8FB2-0B1D-7F15-8DCA155AB23F}"/>
              </a:ext>
            </a:extLst>
          </p:cNvPr>
          <p:cNvCxnSpPr/>
          <p:nvPr/>
        </p:nvCxnSpPr>
        <p:spPr>
          <a:xfrm>
            <a:off x="1835696" y="5301208"/>
            <a:ext cx="45835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13 Conector recto">
            <a:extLst>
              <a:ext uri="{FF2B5EF4-FFF2-40B4-BE49-F238E27FC236}">
                <a16:creationId xmlns:a16="http://schemas.microsoft.com/office/drawing/2014/main" id="{F3C07302-51B7-72CB-CD41-08F28AB50E6A}"/>
              </a:ext>
            </a:extLst>
          </p:cNvPr>
          <p:cNvCxnSpPr/>
          <p:nvPr/>
        </p:nvCxnSpPr>
        <p:spPr>
          <a:xfrm flipH="1">
            <a:off x="1835696" y="4087111"/>
            <a:ext cx="18002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11 Conector recto">
            <a:extLst>
              <a:ext uri="{FF2B5EF4-FFF2-40B4-BE49-F238E27FC236}">
                <a16:creationId xmlns:a16="http://schemas.microsoft.com/office/drawing/2014/main" id="{A6E94DC9-6446-D106-45A6-936FB77B4CF5}"/>
              </a:ext>
            </a:extLst>
          </p:cNvPr>
          <p:cNvCxnSpPr/>
          <p:nvPr/>
        </p:nvCxnSpPr>
        <p:spPr>
          <a:xfrm>
            <a:off x="3635896" y="4077072"/>
            <a:ext cx="0" cy="122413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B9A6A87-443A-23BF-BF39-E1C9C2D88C71}"/>
              </a:ext>
            </a:extLst>
          </p:cNvPr>
          <p:cNvSpPr txBox="1"/>
          <p:nvPr/>
        </p:nvSpPr>
        <p:spPr>
          <a:xfrm>
            <a:off x="1115616" y="3902445"/>
            <a:ext cx="838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0,35€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D06D12D-30DC-99E9-3E7D-62A52693240A}"/>
              </a:ext>
            </a:extLst>
          </p:cNvPr>
          <p:cNvSpPr txBox="1"/>
          <p:nvPr/>
        </p:nvSpPr>
        <p:spPr>
          <a:xfrm>
            <a:off x="3284984" y="5301208"/>
            <a:ext cx="701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40 Kg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6" name="41 Arco">
            <a:extLst>
              <a:ext uri="{FF2B5EF4-FFF2-40B4-BE49-F238E27FC236}">
                <a16:creationId xmlns:a16="http://schemas.microsoft.com/office/drawing/2014/main" id="{D6A35FE5-5B3E-D4E5-0C76-EFE0BD92D211}"/>
              </a:ext>
            </a:extLst>
          </p:cNvPr>
          <p:cNvSpPr/>
          <p:nvPr/>
        </p:nvSpPr>
        <p:spPr>
          <a:xfrm rot="1745724" flipH="1" flipV="1">
            <a:off x="2125498" y="2612190"/>
            <a:ext cx="4688634" cy="1872208"/>
          </a:xfrm>
          <a:prstGeom prst="arc">
            <a:avLst>
              <a:gd name="adj1" fmla="val 12689195"/>
              <a:gd name="adj2" fmla="val 20926505"/>
            </a:avLst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43 Arco">
            <a:extLst>
              <a:ext uri="{FF2B5EF4-FFF2-40B4-BE49-F238E27FC236}">
                <a16:creationId xmlns:a16="http://schemas.microsoft.com/office/drawing/2014/main" id="{1996E2C9-0B75-39E2-1A39-505F40034BF6}"/>
              </a:ext>
            </a:extLst>
          </p:cNvPr>
          <p:cNvSpPr/>
          <p:nvPr/>
        </p:nvSpPr>
        <p:spPr>
          <a:xfrm rot="19294275" flipH="1" flipV="1">
            <a:off x="975372" y="2167588"/>
            <a:ext cx="4688634" cy="1937763"/>
          </a:xfrm>
          <a:prstGeom prst="arc">
            <a:avLst>
              <a:gd name="adj1" fmla="val 12947785"/>
              <a:gd name="adj2" fmla="val 20563855"/>
            </a:avLst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24 Elipse">
            <a:extLst>
              <a:ext uri="{FF2B5EF4-FFF2-40B4-BE49-F238E27FC236}">
                <a16:creationId xmlns:a16="http://schemas.microsoft.com/office/drawing/2014/main" id="{4AA2AF37-3C08-2B06-7273-402F75D66B08}"/>
              </a:ext>
            </a:extLst>
          </p:cNvPr>
          <p:cNvSpPr/>
          <p:nvPr/>
        </p:nvSpPr>
        <p:spPr>
          <a:xfrm flipH="1">
            <a:off x="3570466" y="4033105"/>
            <a:ext cx="130859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831D9BC-43ED-9C9A-4029-E59B9A52CD34}"/>
              </a:ext>
            </a:extLst>
          </p:cNvPr>
          <p:cNvSpPr txBox="1"/>
          <p:nvPr/>
        </p:nvSpPr>
        <p:spPr>
          <a:xfrm>
            <a:off x="1062501" y="4395834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7030A0"/>
                </a:solidFill>
              </a:rPr>
              <a:t>0,25 €</a:t>
            </a:r>
            <a:endParaRPr lang="es-ES" dirty="0">
              <a:solidFill>
                <a:srgbClr val="7030A0"/>
              </a:solidFill>
            </a:endParaRPr>
          </a:p>
        </p:txBody>
      </p:sp>
      <p:cxnSp>
        <p:nvCxnSpPr>
          <p:cNvPr id="13" name="15 Conector recto">
            <a:extLst>
              <a:ext uri="{FF2B5EF4-FFF2-40B4-BE49-F238E27FC236}">
                <a16:creationId xmlns:a16="http://schemas.microsoft.com/office/drawing/2014/main" id="{078AEB1F-65FC-E040-1329-E89CEB8DC43E}"/>
              </a:ext>
            </a:extLst>
          </p:cNvPr>
          <p:cNvCxnSpPr/>
          <p:nvPr/>
        </p:nvCxnSpPr>
        <p:spPr>
          <a:xfrm>
            <a:off x="1812860" y="4581128"/>
            <a:ext cx="2653774" cy="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49 Conector recto">
            <a:extLst>
              <a:ext uri="{FF2B5EF4-FFF2-40B4-BE49-F238E27FC236}">
                <a16:creationId xmlns:a16="http://schemas.microsoft.com/office/drawing/2014/main" id="{4C66A197-DF7F-7A26-A7ED-3058287E1753}"/>
              </a:ext>
            </a:extLst>
          </p:cNvPr>
          <p:cNvCxnSpPr/>
          <p:nvPr/>
        </p:nvCxnSpPr>
        <p:spPr>
          <a:xfrm>
            <a:off x="2769335" y="4581128"/>
            <a:ext cx="0" cy="72008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50 Conector recto">
            <a:extLst>
              <a:ext uri="{FF2B5EF4-FFF2-40B4-BE49-F238E27FC236}">
                <a16:creationId xmlns:a16="http://schemas.microsoft.com/office/drawing/2014/main" id="{21E79FB4-F7A9-B7AF-231C-3CB629608928}"/>
              </a:ext>
            </a:extLst>
          </p:cNvPr>
          <p:cNvCxnSpPr/>
          <p:nvPr/>
        </p:nvCxnSpPr>
        <p:spPr>
          <a:xfrm>
            <a:off x="4466634" y="4581128"/>
            <a:ext cx="0" cy="720080"/>
          </a:xfrm>
          <a:prstGeom prst="line">
            <a:avLst/>
          </a:prstGeom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D846392-A955-C969-3A4A-72E0FFA449C6}"/>
              </a:ext>
            </a:extLst>
          </p:cNvPr>
          <p:cNvSpPr txBox="1"/>
          <p:nvPr/>
        </p:nvSpPr>
        <p:spPr>
          <a:xfrm>
            <a:off x="4185084" y="5322195"/>
            <a:ext cx="773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7030A0"/>
                </a:solidFill>
              </a:rPr>
              <a:t>70 Kg</a:t>
            </a:r>
            <a:endParaRPr lang="es-ES" dirty="0">
              <a:solidFill>
                <a:srgbClr val="7030A0"/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4A0C62A-008E-652B-2C9F-F4ADA351E1F5}"/>
              </a:ext>
            </a:extLst>
          </p:cNvPr>
          <p:cNvSpPr txBox="1"/>
          <p:nvPr/>
        </p:nvSpPr>
        <p:spPr>
          <a:xfrm>
            <a:off x="2347646" y="5321568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7030A0"/>
                </a:solidFill>
              </a:rPr>
              <a:t>10 Kg</a:t>
            </a:r>
            <a:endParaRPr lang="es-E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39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45591-A2BC-3907-7AC1-98365863D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7EA150-85C4-2CBF-9E0A-566A0CF77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87740"/>
            <a:ext cx="8229600" cy="805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800" dirty="0"/>
              <a:t>2. </a:t>
            </a:r>
            <a:r>
              <a:rPr lang="es-ES_tradnl" sz="1800"/>
              <a:t>Precio 0,45</a:t>
            </a:r>
            <a:r>
              <a:rPr lang="es-ES_tradnl" sz="1800" dirty="0"/>
              <a:t>€: se produce una situación de exceso de demanda; hay más cantidad demandada que ofrecida.</a:t>
            </a:r>
          </a:p>
        </p:txBody>
      </p:sp>
      <p:cxnSp>
        <p:nvCxnSpPr>
          <p:cNvPr id="6" name="4 Conector recto de flecha">
            <a:extLst>
              <a:ext uri="{FF2B5EF4-FFF2-40B4-BE49-F238E27FC236}">
                <a16:creationId xmlns:a16="http://schemas.microsoft.com/office/drawing/2014/main" id="{96CB53B0-D41B-7C35-0A7C-8299AA923553}"/>
              </a:ext>
            </a:extLst>
          </p:cNvPr>
          <p:cNvCxnSpPr/>
          <p:nvPr/>
        </p:nvCxnSpPr>
        <p:spPr>
          <a:xfrm flipV="1">
            <a:off x="1835696" y="1988840"/>
            <a:ext cx="0" cy="331236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>
            <a:extLst>
              <a:ext uri="{FF2B5EF4-FFF2-40B4-BE49-F238E27FC236}">
                <a16:creationId xmlns:a16="http://schemas.microsoft.com/office/drawing/2014/main" id="{B3D535BE-9CA9-BC89-D69C-5F18C59488DC}"/>
              </a:ext>
            </a:extLst>
          </p:cNvPr>
          <p:cNvCxnSpPr/>
          <p:nvPr/>
        </p:nvCxnSpPr>
        <p:spPr>
          <a:xfrm>
            <a:off x="1835696" y="5301208"/>
            <a:ext cx="45835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13 Conector recto">
            <a:extLst>
              <a:ext uri="{FF2B5EF4-FFF2-40B4-BE49-F238E27FC236}">
                <a16:creationId xmlns:a16="http://schemas.microsoft.com/office/drawing/2014/main" id="{EE620BA0-71A5-ECD0-A668-18830625BCC2}"/>
              </a:ext>
            </a:extLst>
          </p:cNvPr>
          <p:cNvCxnSpPr/>
          <p:nvPr/>
        </p:nvCxnSpPr>
        <p:spPr>
          <a:xfrm flipH="1">
            <a:off x="1835696" y="4087111"/>
            <a:ext cx="18002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11 Conector recto">
            <a:extLst>
              <a:ext uri="{FF2B5EF4-FFF2-40B4-BE49-F238E27FC236}">
                <a16:creationId xmlns:a16="http://schemas.microsoft.com/office/drawing/2014/main" id="{1D3DCEB3-1BE6-F619-9C6D-B923F74AD429}"/>
              </a:ext>
            </a:extLst>
          </p:cNvPr>
          <p:cNvCxnSpPr/>
          <p:nvPr/>
        </p:nvCxnSpPr>
        <p:spPr>
          <a:xfrm>
            <a:off x="3635896" y="4077072"/>
            <a:ext cx="0" cy="122413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EDD7B7-9E35-C178-3A95-1A2681A3A746}"/>
              </a:ext>
            </a:extLst>
          </p:cNvPr>
          <p:cNvSpPr txBox="1"/>
          <p:nvPr/>
        </p:nvSpPr>
        <p:spPr>
          <a:xfrm>
            <a:off x="1115616" y="3902445"/>
            <a:ext cx="838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0,35€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6BDE432-1E30-7D4F-EEBB-88A3A5CB5328}"/>
              </a:ext>
            </a:extLst>
          </p:cNvPr>
          <p:cNvSpPr txBox="1"/>
          <p:nvPr/>
        </p:nvSpPr>
        <p:spPr>
          <a:xfrm>
            <a:off x="3284984" y="5301208"/>
            <a:ext cx="701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rgbClr val="FF0000"/>
                </a:solidFill>
              </a:rPr>
              <a:t>40 Kg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6" name="41 Arco">
            <a:extLst>
              <a:ext uri="{FF2B5EF4-FFF2-40B4-BE49-F238E27FC236}">
                <a16:creationId xmlns:a16="http://schemas.microsoft.com/office/drawing/2014/main" id="{E141D106-1519-3A5D-3A1F-8CC53406AC42}"/>
              </a:ext>
            </a:extLst>
          </p:cNvPr>
          <p:cNvSpPr/>
          <p:nvPr/>
        </p:nvSpPr>
        <p:spPr>
          <a:xfrm rot="1745724" flipH="1" flipV="1">
            <a:off x="2125498" y="2612190"/>
            <a:ext cx="4688634" cy="1872208"/>
          </a:xfrm>
          <a:prstGeom prst="arc">
            <a:avLst>
              <a:gd name="adj1" fmla="val 12689195"/>
              <a:gd name="adj2" fmla="val 20926505"/>
            </a:avLst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43 Arco">
            <a:extLst>
              <a:ext uri="{FF2B5EF4-FFF2-40B4-BE49-F238E27FC236}">
                <a16:creationId xmlns:a16="http://schemas.microsoft.com/office/drawing/2014/main" id="{4BA5730A-FCB9-9A4D-DFEC-ACDE78308417}"/>
              </a:ext>
            </a:extLst>
          </p:cNvPr>
          <p:cNvSpPr/>
          <p:nvPr/>
        </p:nvSpPr>
        <p:spPr>
          <a:xfrm rot="19294275" flipH="1" flipV="1">
            <a:off x="975372" y="2167588"/>
            <a:ext cx="4688634" cy="1937763"/>
          </a:xfrm>
          <a:prstGeom prst="arc">
            <a:avLst>
              <a:gd name="adj1" fmla="val 12947785"/>
              <a:gd name="adj2" fmla="val 20563855"/>
            </a:avLst>
          </a:prstGeom>
          <a:ln w="508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24 Elipse">
            <a:extLst>
              <a:ext uri="{FF2B5EF4-FFF2-40B4-BE49-F238E27FC236}">
                <a16:creationId xmlns:a16="http://schemas.microsoft.com/office/drawing/2014/main" id="{B0F3DFC4-D732-15C6-C9AB-236FAC766CB5}"/>
              </a:ext>
            </a:extLst>
          </p:cNvPr>
          <p:cNvSpPr/>
          <p:nvPr/>
        </p:nvSpPr>
        <p:spPr>
          <a:xfrm flipH="1">
            <a:off x="3570466" y="4033105"/>
            <a:ext cx="130859" cy="108012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A16ABFD-D2C8-6829-A42A-A58A71674566}"/>
              </a:ext>
            </a:extLst>
          </p:cNvPr>
          <p:cNvSpPr txBox="1"/>
          <p:nvPr/>
        </p:nvSpPr>
        <p:spPr>
          <a:xfrm>
            <a:off x="1050187" y="3512755"/>
            <a:ext cx="7978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0,45 €</a:t>
            </a:r>
            <a:endParaRPr lang="es-E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2B043CD-0556-7436-9F56-7BBEB6338C90}"/>
              </a:ext>
            </a:extLst>
          </p:cNvPr>
          <p:cNvSpPr txBox="1"/>
          <p:nvPr/>
        </p:nvSpPr>
        <p:spPr>
          <a:xfrm>
            <a:off x="4185084" y="5322195"/>
            <a:ext cx="773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70 Kg</a:t>
            </a:r>
            <a:endParaRPr lang="es-E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E546A9C-4B15-2AA5-D860-2E2103350D80}"/>
              </a:ext>
            </a:extLst>
          </p:cNvPr>
          <p:cNvSpPr txBox="1"/>
          <p:nvPr/>
        </p:nvSpPr>
        <p:spPr>
          <a:xfrm>
            <a:off x="2347646" y="5321568"/>
            <a:ext cx="838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solidFill>
                  <a:schemeClr val="accent6">
                    <a:lumMod val="75000"/>
                  </a:schemeClr>
                </a:solidFill>
              </a:rPr>
              <a:t>10 Kg</a:t>
            </a:r>
            <a:endParaRPr lang="es-E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0" name="44 Conector recto">
            <a:extLst>
              <a:ext uri="{FF2B5EF4-FFF2-40B4-BE49-F238E27FC236}">
                <a16:creationId xmlns:a16="http://schemas.microsoft.com/office/drawing/2014/main" id="{16A88E76-FF43-EED3-ADCF-EC0AB64AF9C7}"/>
              </a:ext>
            </a:extLst>
          </p:cNvPr>
          <p:cNvCxnSpPr/>
          <p:nvPr/>
        </p:nvCxnSpPr>
        <p:spPr>
          <a:xfrm flipV="1">
            <a:off x="1804113" y="3645024"/>
            <a:ext cx="2484276" cy="776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51 Conector recto">
            <a:extLst>
              <a:ext uri="{FF2B5EF4-FFF2-40B4-BE49-F238E27FC236}">
                <a16:creationId xmlns:a16="http://schemas.microsoft.com/office/drawing/2014/main" id="{B75B6E2A-F7BB-D10B-4456-42120D16342F}"/>
              </a:ext>
            </a:extLst>
          </p:cNvPr>
          <p:cNvCxnSpPr/>
          <p:nvPr/>
        </p:nvCxnSpPr>
        <p:spPr>
          <a:xfrm flipH="1">
            <a:off x="2965791" y="3609284"/>
            <a:ext cx="14762" cy="169192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55 Conector recto">
            <a:extLst>
              <a:ext uri="{FF2B5EF4-FFF2-40B4-BE49-F238E27FC236}">
                <a16:creationId xmlns:a16="http://schemas.microsoft.com/office/drawing/2014/main" id="{7732251B-C3BB-8F21-B5F1-0304FA609C2E}"/>
              </a:ext>
            </a:extLst>
          </p:cNvPr>
          <p:cNvCxnSpPr/>
          <p:nvPr/>
        </p:nvCxnSpPr>
        <p:spPr>
          <a:xfrm flipH="1">
            <a:off x="4127470" y="3645024"/>
            <a:ext cx="14762" cy="1656184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291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21D0D-B40A-F221-CC83-E356916C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1 Título">
            <a:extLst>
              <a:ext uri="{FF2B5EF4-FFF2-40B4-BE49-F238E27FC236}">
                <a16:creationId xmlns:a16="http://schemas.microsoft.com/office/drawing/2014/main" id="{7B2D76B7-78E1-E187-3B2E-C41D999E8293}"/>
              </a:ext>
            </a:extLst>
          </p:cNvPr>
          <p:cNvSpPr txBox="1">
            <a:spLocks/>
          </p:cNvSpPr>
          <p:nvPr/>
        </p:nvSpPr>
        <p:spPr>
          <a:xfrm>
            <a:off x="148256" y="42626"/>
            <a:ext cx="8229600" cy="5780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b="1" dirty="0"/>
              <a:t>2. Tipos de mercado</a:t>
            </a:r>
          </a:p>
        </p:txBody>
      </p:sp>
      <p:sp>
        <p:nvSpPr>
          <p:cNvPr id="9" name="8 Rectángulo redondeado">
            <a:extLst>
              <a:ext uri="{FF2B5EF4-FFF2-40B4-BE49-F238E27FC236}">
                <a16:creationId xmlns:a16="http://schemas.microsoft.com/office/drawing/2014/main" id="{57767DFE-BD5B-D571-D7C7-3B6BDE44002C}"/>
              </a:ext>
            </a:extLst>
          </p:cNvPr>
          <p:cNvSpPr/>
          <p:nvPr/>
        </p:nvSpPr>
        <p:spPr>
          <a:xfrm>
            <a:off x="173185" y="993017"/>
            <a:ext cx="2773342" cy="536346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2.1. Monopolio</a:t>
            </a:r>
            <a:endPara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11 Flecha derecha">
            <a:extLst>
              <a:ext uri="{FF2B5EF4-FFF2-40B4-BE49-F238E27FC236}">
                <a16:creationId xmlns:a16="http://schemas.microsoft.com/office/drawing/2014/main" id="{3005129C-6DAA-D74D-1497-95C557D74850}"/>
              </a:ext>
            </a:extLst>
          </p:cNvPr>
          <p:cNvSpPr/>
          <p:nvPr/>
        </p:nvSpPr>
        <p:spPr>
          <a:xfrm>
            <a:off x="3087577" y="1165293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12 CuadroTexto">
            <a:extLst>
              <a:ext uri="{FF2B5EF4-FFF2-40B4-BE49-F238E27FC236}">
                <a16:creationId xmlns:a16="http://schemas.microsoft.com/office/drawing/2014/main" id="{6686BC5F-2BD2-8715-20EC-B34BF822EC1F}"/>
              </a:ext>
            </a:extLst>
          </p:cNvPr>
          <p:cNvSpPr txBox="1"/>
          <p:nvPr/>
        </p:nvSpPr>
        <p:spPr>
          <a:xfrm>
            <a:off x="3656785" y="914375"/>
            <a:ext cx="54785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Sólo existe </a:t>
            </a:r>
            <a:r>
              <a:rPr lang="es-ES_tradnl" sz="1600" b="1" dirty="0"/>
              <a:t>una empresa </a:t>
            </a:r>
            <a:r>
              <a:rPr lang="es-ES_tradnl" sz="1600" dirty="0"/>
              <a:t>que ofrece ese producto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Establece </a:t>
            </a:r>
            <a:r>
              <a:rPr lang="es-ES_tradnl" sz="1600" b="1" dirty="0"/>
              <a:t>condiciones</a:t>
            </a:r>
            <a:r>
              <a:rPr lang="es-ES_tradnl" sz="1600" dirty="0"/>
              <a:t> en las que se va a vender en el mercado.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b="1" dirty="0"/>
              <a:t>Están  prohibidos por ley</a:t>
            </a:r>
            <a:r>
              <a:rPr lang="es-ES_tradnl" sz="1600" dirty="0"/>
              <a:t>, aunque algunas empresas pueden acercarse a un monopolio (</a:t>
            </a:r>
            <a:r>
              <a:rPr lang="es-ES_tradnl" sz="1600" dirty="0" err="1"/>
              <a:t>ej</a:t>
            </a:r>
            <a:r>
              <a:rPr lang="es-ES_tradnl" sz="1600" dirty="0"/>
              <a:t>: empresas de servicios públicos)</a:t>
            </a:r>
            <a:endParaRPr lang="es-ES" sz="1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FB4FF3C-7853-9D85-726B-689DB5E91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84" y="2852936"/>
            <a:ext cx="2276543" cy="9129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0" descr="https://www.talentiasummit.com/wp-content/uploads/2020/11/VIAQUA.jpg">
            <a:extLst>
              <a:ext uri="{FF2B5EF4-FFF2-40B4-BE49-F238E27FC236}">
                <a16:creationId xmlns:a16="http://schemas.microsoft.com/office/drawing/2014/main" id="{8194FE02-8FD3-F136-03EC-4825F623E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942" y="3702610"/>
            <a:ext cx="2118469" cy="124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8" descr="Javier Mariscal rediseña el logotipo de Aena">
            <a:extLst>
              <a:ext uri="{FF2B5EF4-FFF2-40B4-BE49-F238E27FC236}">
                <a16:creationId xmlns:a16="http://schemas.microsoft.com/office/drawing/2014/main" id="{745E0B2F-0640-3FC0-A1FE-CD5BA726F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009" y="2708920"/>
            <a:ext cx="2267471" cy="17969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2AC6649-DEF9-1B80-A301-88037E88E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011" y="4373966"/>
            <a:ext cx="2292575" cy="1670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80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C74A-A858-5AF6-EBBC-5B6EE239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Rectángulo redondeado">
            <a:extLst>
              <a:ext uri="{FF2B5EF4-FFF2-40B4-BE49-F238E27FC236}">
                <a16:creationId xmlns:a16="http://schemas.microsoft.com/office/drawing/2014/main" id="{EE60AD74-F642-8349-4DFD-547D867A5F06}"/>
              </a:ext>
            </a:extLst>
          </p:cNvPr>
          <p:cNvSpPr/>
          <p:nvPr/>
        </p:nvSpPr>
        <p:spPr>
          <a:xfrm>
            <a:off x="266427" y="852995"/>
            <a:ext cx="1641278" cy="77770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2.2 Oligopolio</a:t>
            </a:r>
            <a:endPara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15 Flecha derecha">
            <a:extLst>
              <a:ext uri="{FF2B5EF4-FFF2-40B4-BE49-F238E27FC236}">
                <a16:creationId xmlns:a16="http://schemas.microsoft.com/office/drawing/2014/main" id="{5301220D-12C7-D871-B0BA-7CADC74524BE}"/>
              </a:ext>
            </a:extLst>
          </p:cNvPr>
          <p:cNvSpPr/>
          <p:nvPr/>
        </p:nvSpPr>
        <p:spPr>
          <a:xfrm>
            <a:off x="2057057" y="1145950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18 CuadroTexto">
            <a:extLst>
              <a:ext uri="{FF2B5EF4-FFF2-40B4-BE49-F238E27FC236}">
                <a16:creationId xmlns:a16="http://schemas.microsoft.com/office/drawing/2014/main" id="{90B514FF-0E84-E6B4-843C-B13244AD803D}"/>
              </a:ext>
            </a:extLst>
          </p:cNvPr>
          <p:cNvSpPr txBox="1"/>
          <p:nvPr/>
        </p:nvSpPr>
        <p:spPr>
          <a:xfrm>
            <a:off x="2561113" y="771922"/>
            <a:ext cx="660121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b="1" dirty="0"/>
              <a:t>Pocas</a:t>
            </a:r>
            <a:r>
              <a:rPr lang="es-ES_tradnl" dirty="0"/>
              <a:t> empresas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Requieren grandes cantidades de inversión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Clases de oligopolio: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u="sng" dirty="0"/>
              <a:t>Oligopolio con pacto </a:t>
            </a:r>
            <a:r>
              <a:rPr lang="es-ES_tradnl" sz="1600" dirty="0"/>
              <a:t>(empresas pactan precios y condiciones, lo cual encarece el precio de cara al consumidor). </a:t>
            </a:r>
            <a:r>
              <a:rPr lang="es-ES_tradnl" sz="1600" dirty="0" err="1"/>
              <a:t>Ej</a:t>
            </a:r>
            <a:r>
              <a:rPr lang="es-ES_tradnl" sz="1600" dirty="0"/>
              <a:t>: gasolineras</a:t>
            </a:r>
          </a:p>
          <a:p>
            <a:pPr marL="742950" lvl="1" indent="-285750">
              <a:buFont typeface="Arial" charset="0"/>
              <a:buChar char="•"/>
            </a:pPr>
            <a:r>
              <a:rPr lang="es-ES_tradnl" sz="1600" u="sng" dirty="0"/>
              <a:t>Oligopolio sin pacto </a:t>
            </a:r>
            <a:r>
              <a:rPr lang="es-ES_tradnl" sz="1600" dirty="0"/>
              <a:t>(guerra de precios), las empresas compiten entre ellas para quedarse con la mayor cuota de mercado. </a:t>
            </a:r>
            <a:r>
              <a:rPr lang="es-ES_tradnl" sz="1600" dirty="0" err="1"/>
              <a:t>Ej</a:t>
            </a:r>
            <a:r>
              <a:rPr lang="es-ES_tradnl" sz="1600" dirty="0"/>
              <a:t>: telefonía </a:t>
            </a:r>
            <a:r>
              <a:rPr lang="es-ES_tradnl" sz="1600" dirty="0" err="1"/>
              <a:t>movil</a:t>
            </a:r>
            <a:endParaRPr lang="es-ES" sz="1600" dirty="0"/>
          </a:p>
        </p:txBody>
      </p:sp>
      <p:pic>
        <p:nvPicPr>
          <p:cNvPr id="6" name="Imagen 5" descr="Recorte de pantalla">
            <a:extLst>
              <a:ext uri="{FF2B5EF4-FFF2-40B4-BE49-F238E27FC236}">
                <a16:creationId xmlns:a16="http://schemas.microsoft.com/office/drawing/2014/main" id="{D9C51422-0517-A6C4-B78F-7BEEB2F92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" y="2928992"/>
            <a:ext cx="4754303" cy="37765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EBC541E-5AF7-4FF8-65E1-369063445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0810" y="3551449"/>
            <a:ext cx="3827461" cy="25346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77585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43F67-4474-5C7F-5E07-1274D063A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Rectángulo redondeado">
            <a:extLst>
              <a:ext uri="{FF2B5EF4-FFF2-40B4-BE49-F238E27FC236}">
                <a16:creationId xmlns:a16="http://schemas.microsoft.com/office/drawing/2014/main" id="{C8D2EDD7-1AFD-043D-7C2F-396AE6222D96}"/>
              </a:ext>
            </a:extLst>
          </p:cNvPr>
          <p:cNvSpPr/>
          <p:nvPr/>
        </p:nvSpPr>
        <p:spPr>
          <a:xfrm rot="21600000">
            <a:off x="148256" y="718654"/>
            <a:ext cx="2732579" cy="6219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2.3. Competencia perfecta</a:t>
            </a:r>
            <a:endPara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16 CuadroTexto">
            <a:extLst>
              <a:ext uri="{FF2B5EF4-FFF2-40B4-BE49-F238E27FC236}">
                <a16:creationId xmlns:a16="http://schemas.microsoft.com/office/drawing/2014/main" id="{D4E9C3A2-5B93-A271-A6A0-0DEAA565FCC3}"/>
              </a:ext>
            </a:extLst>
          </p:cNvPr>
          <p:cNvSpPr txBox="1"/>
          <p:nvPr/>
        </p:nvSpPr>
        <p:spPr>
          <a:xfrm>
            <a:off x="3747926" y="695591"/>
            <a:ext cx="46239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Muchas empresas que ofrecen el </a:t>
            </a:r>
            <a:r>
              <a:rPr lang="es-ES_tradnl" sz="1600" b="1" dirty="0"/>
              <a:t>mismo producto </a:t>
            </a:r>
            <a:r>
              <a:rPr lang="es-ES_tradnl" sz="1600" dirty="0"/>
              <a:t>o uno muy homogéneo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El precio viene dado por el mercado: empresas </a:t>
            </a:r>
            <a:r>
              <a:rPr lang="es-ES_tradnl" sz="1600" b="1" dirty="0"/>
              <a:t>precio-aceptantes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b="1" dirty="0"/>
              <a:t>No existen barreras </a:t>
            </a:r>
            <a:r>
              <a:rPr lang="es-ES_tradnl" sz="1600" dirty="0"/>
              <a:t>de entrada ni de salida.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sz="1600" dirty="0"/>
              <a:t>Los consumidores </a:t>
            </a:r>
            <a:r>
              <a:rPr lang="es-ES_tradnl" sz="1600" b="1" dirty="0"/>
              <a:t>no</a:t>
            </a:r>
            <a:r>
              <a:rPr lang="es-ES_tradnl" sz="1600" dirty="0"/>
              <a:t> tienen toda la </a:t>
            </a:r>
            <a:r>
              <a:rPr lang="es-ES_tradnl" sz="1600" b="1" dirty="0"/>
              <a:t>información</a:t>
            </a:r>
            <a:endParaRPr lang="es-ES" sz="1400" b="1" dirty="0"/>
          </a:p>
        </p:txBody>
      </p:sp>
      <p:sp>
        <p:nvSpPr>
          <p:cNvPr id="18" name="17 Flecha derecha">
            <a:extLst>
              <a:ext uri="{FF2B5EF4-FFF2-40B4-BE49-F238E27FC236}">
                <a16:creationId xmlns:a16="http://schemas.microsoft.com/office/drawing/2014/main" id="{E98F737B-A73A-6590-0519-72B5CE102F02}"/>
              </a:ext>
            </a:extLst>
          </p:cNvPr>
          <p:cNvSpPr/>
          <p:nvPr/>
        </p:nvSpPr>
        <p:spPr>
          <a:xfrm>
            <a:off x="2963652" y="979789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A46048-E614-7E01-1BE2-92E98BEDD086}"/>
              </a:ext>
            </a:extLst>
          </p:cNvPr>
          <p:cNvSpPr/>
          <p:nvPr/>
        </p:nvSpPr>
        <p:spPr>
          <a:xfrm>
            <a:off x="509158" y="2340154"/>
            <a:ext cx="8212865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_tradnl" sz="1600" dirty="0"/>
              <a:t>Es un modelo </a:t>
            </a:r>
            <a:r>
              <a:rPr lang="es-ES_tradnl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más teórico que real</a:t>
            </a:r>
            <a:r>
              <a:rPr lang="es-ES_tradnl" sz="1600" dirty="0"/>
              <a:t>, puesto que los consumidores valoran más aspectos que el precio (atención al cliente, cercanía de la tienda,…  </a:t>
            </a:r>
            <a:endParaRPr lang="es-ES" sz="16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639D68-AA5D-3F97-E6DC-31D8982357DB}"/>
              </a:ext>
            </a:extLst>
          </p:cNvPr>
          <p:cNvSpPr txBox="1"/>
          <p:nvPr/>
        </p:nvSpPr>
        <p:spPr>
          <a:xfrm>
            <a:off x="1514545" y="3890471"/>
            <a:ext cx="2454494" cy="11695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_tradnl" dirty="0"/>
              <a:t>Mercados en </a:t>
            </a:r>
          </a:p>
          <a:p>
            <a:r>
              <a:rPr lang="es-ES_tradnl" dirty="0"/>
              <a:t>competencia perfecta:</a:t>
            </a:r>
          </a:p>
          <a:p>
            <a:endParaRPr lang="es-ES_tradnl" dirty="0"/>
          </a:p>
          <a:p>
            <a:pPr algn="r"/>
            <a:r>
              <a:rPr lang="es-ES_tradnl" sz="1600" i="1" dirty="0"/>
              <a:t>Productos agrícolas</a:t>
            </a:r>
            <a:endParaRPr lang="es-ES" sz="1600" i="1" dirty="0"/>
          </a:p>
        </p:txBody>
      </p:sp>
      <p:pic>
        <p:nvPicPr>
          <p:cNvPr id="5" name="Picture 2" descr="competencia perfecta ejemplos">
            <a:extLst>
              <a:ext uri="{FF2B5EF4-FFF2-40B4-BE49-F238E27FC236}">
                <a16:creationId xmlns:a16="http://schemas.microsoft.com/office/drawing/2014/main" id="{534893F6-B45A-EB5A-1EE0-8F9D52F67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540" y="3312029"/>
            <a:ext cx="4304404" cy="2421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215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CuadroTexto"/>
          <p:cNvSpPr txBox="1"/>
          <p:nvPr/>
        </p:nvSpPr>
        <p:spPr>
          <a:xfrm>
            <a:off x="4185155" y="671268"/>
            <a:ext cx="47681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charset="0"/>
              <a:buChar char="•"/>
            </a:pPr>
            <a:r>
              <a:rPr lang="es-ES_tradnl" dirty="0"/>
              <a:t>Es una situación de </a:t>
            </a:r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competencia</a:t>
            </a:r>
            <a:r>
              <a:rPr lang="es-ES_tradnl" dirty="0"/>
              <a:t> ya que existen muchas empresas, pero buscan </a:t>
            </a:r>
            <a:r>
              <a:rPr lang="es-ES_tradn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diferenciar su producto </a:t>
            </a:r>
            <a:r>
              <a:rPr lang="es-ES_tradnl" dirty="0"/>
              <a:t>(calidad / marca)</a:t>
            </a:r>
          </a:p>
          <a:p>
            <a:pPr marL="285750" indent="-285750" algn="just">
              <a:buFont typeface="Arial" charset="0"/>
              <a:buChar char="•"/>
            </a:pPr>
            <a:r>
              <a:rPr lang="es-ES_tradnl" dirty="0"/>
              <a:t>Al ser percibido como un producto único la empresa tiene margen de maniobra para poder subir precios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/>
              <a:t>Las empresas en este mercado lo que tratan es de pasar de competencia perfecta </a:t>
            </a:r>
            <a:r>
              <a:rPr lang="es-ES_tradnl" dirty="0">
                <a:sym typeface="Wingdings" panose="05000000000000000000" pitchFamily="2" charset="2"/>
              </a:rPr>
              <a:t> competencia perfecta monopolística (buscan diferenciarse y mantener el precio)</a:t>
            </a:r>
          </a:p>
          <a:p>
            <a:pPr marL="285750" indent="-285750">
              <a:buFont typeface="Arial" charset="0"/>
              <a:buChar char="•"/>
            </a:pPr>
            <a:r>
              <a:rPr lang="es-ES_tradnl" dirty="0">
                <a:sym typeface="Wingdings" panose="05000000000000000000" pitchFamily="2" charset="2"/>
              </a:rPr>
              <a:t>La mayoría de los mercados se incluirían en este tipo de competencia</a:t>
            </a:r>
            <a:endParaRPr lang="es-ES" sz="1600" dirty="0"/>
          </a:p>
        </p:txBody>
      </p:sp>
      <p:sp>
        <p:nvSpPr>
          <p:cNvPr id="20" name="19 Flecha derecha"/>
          <p:cNvSpPr/>
          <p:nvPr/>
        </p:nvSpPr>
        <p:spPr>
          <a:xfrm>
            <a:off x="3622493" y="988953"/>
            <a:ext cx="504056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20 Rectángulo redondeado"/>
          <p:cNvSpPr/>
          <p:nvPr/>
        </p:nvSpPr>
        <p:spPr>
          <a:xfrm>
            <a:off x="190652" y="671268"/>
            <a:ext cx="3373236" cy="661720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2.4. Competencia monopolística</a:t>
            </a:r>
            <a:endParaRPr lang="es-E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Los mejores perfumes para hombre de toda la historia | GQ">
            <a:extLst>
              <a:ext uri="{FF2B5EF4-FFF2-40B4-BE49-F238E27FC236}">
                <a16:creationId xmlns:a16="http://schemas.microsoft.com/office/drawing/2014/main" id="{56273A0F-12FC-F4A0-F4E2-E297C019D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70" y="1607614"/>
            <a:ext cx="3780860" cy="2126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os 10 perfumes franceses de mujer que mejor huelen (ordenados de más caros  a más baratos)">
            <a:extLst>
              <a:ext uri="{FF2B5EF4-FFF2-40B4-BE49-F238E27FC236}">
                <a16:creationId xmlns:a16="http://schemas.microsoft.com/office/drawing/2014/main" id="{EE97BAC2-F04B-B88D-4D24-898A0D218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412" y="3861427"/>
            <a:ext cx="2271428" cy="2271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onoce las ventajas de comprar ropa de marca original | Sopotey">
            <a:extLst>
              <a:ext uri="{FF2B5EF4-FFF2-40B4-BE49-F238E27FC236}">
                <a16:creationId xmlns:a16="http://schemas.microsoft.com/office/drawing/2014/main" id="{5DED7CC9-08D2-E5F4-4A8D-FF0AABD44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2493" y="4200994"/>
            <a:ext cx="3151358" cy="1853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755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A3BAA2-434C-9C7A-D78C-3BB4ABF98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s-ES_tradnl" sz="1800" dirty="0"/>
              <a:t>Para que nuestro proyecto sea viable no podemos plantearnos venderle a </a:t>
            </a:r>
            <a:r>
              <a:rPr lang="es-ES_tradnl" sz="1800" b="1" dirty="0"/>
              <a:t>todo el mundo todos los productos</a:t>
            </a:r>
            <a:r>
              <a:rPr lang="es-ES_tradnl" sz="1800" dirty="0"/>
              <a:t>, debemos </a:t>
            </a:r>
            <a:r>
              <a:rPr lang="es-ES_tradnl" sz="1800" b="1" u="sng" dirty="0"/>
              <a:t>especializarnos y centrarnos </a:t>
            </a:r>
            <a:r>
              <a:rPr lang="es-ES_tradnl" sz="1800" dirty="0"/>
              <a:t>en algunos clientes y </a:t>
            </a:r>
            <a:r>
              <a:rPr lang="es-ES_tradnl" sz="1800" dirty="0">
                <a:ln w="0"/>
              </a:rPr>
              <a:t>algunos</a:t>
            </a:r>
            <a:r>
              <a:rPr lang="es-ES_tradnl" sz="1800" dirty="0"/>
              <a:t> productos, para ofrecerles a esos tipos de clientes el producto concreto que necesitan.</a:t>
            </a:r>
            <a:endParaRPr lang="es-ES" sz="1800" dirty="0"/>
          </a:p>
          <a:p>
            <a:pPr marL="0" indent="0" algn="ctr">
              <a:buNone/>
            </a:pPr>
            <a:r>
              <a:rPr lang="es-ES_tradnl" sz="1800" dirty="0"/>
              <a:t>¿Cómo nos especializamos? </a:t>
            </a:r>
            <a:r>
              <a:rPr lang="es-ES_tradnl" sz="1800" u="sng" dirty="0"/>
              <a:t>Segmentando el Mercado </a:t>
            </a:r>
            <a:endParaRPr lang="es-ES" sz="1800" u="sng" dirty="0"/>
          </a:p>
          <a:p>
            <a:pPr marL="0" indent="0">
              <a:buNone/>
            </a:pPr>
            <a:endParaRPr lang="es-ES_tradn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4CCEC4-31DD-EFC2-E1CA-D894CB8EC601}"/>
              </a:ext>
            </a:extLst>
          </p:cNvPr>
          <p:cNvSpPr txBox="1"/>
          <p:nvPr/>
        </p:nvSpPr>
        <p:spPr>
          <a:xfrm>
            <a:off x="179512" y="0"/>
            <a:ext cx="7128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_tradnl" sz="3600" b="1" dirty="0"/>
              <a:t>3. La segmentación del mercado</a:t>
            </a:r>
          </a:p>
        </p:txBody>
      </p:sp>
      <p:sp>
        <p:nvSpPr>
          <p:cNvPr id="8" name="44 CuadroTexto">
            <a:extLst>
              <a:ext uri="{FF2B5EF4-FFF2-40B4-BE49-F238E27FC236}">
                <a16:creationId xmlns:a16="http://schemas.microsoft.com/office/drawing/2014/main" id="{F668610A-7FC4-CFAB-0EC9-6979C440667D}"/>
              </a:ext>
            </a:extLst>
          </p:cNvPr>
          <p:cNvSpPr txBox="1"/>
          <p:nvPr/>
        </p:nvSpPr>
        <p:spPr>
          <a:xfrm>
            <a:off x="972513" y="2576970"/>
            <a:ext cx="7198974" cy="646331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es-ES_tradnl" u="sng" dirty="0">
                <a:solidFill>
                  <a:schemeClr val="tx1"/>
                </a:solidFill>
              </a:rPr>
              <a:t>Segmentar el Mercado</a:t>
            </a:r>
            <a:r>
              <a:rPr lang="es-ES_tradnl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s-ES_tradnl" dirty="0">
                <a:solidFill>
                  <a:schemeClr val="tx1"/>
                </a:solidFill>
              </a:rPr>
              <a:t>Dividir el mercado en tipos de clientes Segmento = grupo de clientes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F743F1F-96A4-802B-D3CB-F4A23CBF5E86}"/>
              </a:ext>
            </a:extLst>
          </p:cNvPr>
          <p:cNvSpPr/>
          <p:nvPr/>
        </p:nvSpPr>
        <p:spPr>
          <a:xfrm>
            <a:off x="2864591" y="3641657"/>
            <a:ext cx="2980944" cy="369332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s-ES_tradnl" dirty="0">
                <a:ln w="0"/>
                <a:solidFill>
                  <a:schemeClr val="tx1"/>
                </a:solidFill>
              </a:rPr>
              <a:t>Segmento = grupo de clientes</a:t>
            </a:r>
            <a:endParaRPr lang="es-ES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DD102C5-5072-B801-39E2-66B124D440A9}"/>
              </a:ext>
            </a:extLst>
          </p:cNvPr>
          <p:cNvSpPr/>
          <p:nvPr/>
        </p:nvSpPr>
        <p:spPr>
          <a:xfrm>
            <a:off x="494350" y="4426547"/>
            <a:ext cx="8192450" cy="646331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_tradnl" b="1" dirty="0">
                <a:solidFill>
                  <a:sysClr val="windowText" lastClr="000000"/>
                </a:solidFill>
              </a:rPr>
              <a:t>¿Qué debemos hacer una vez que hemos segmentado el mercado?: </a:t>
            </a:r>
            <a:r>
              <a:rPr lang="es-ES_tradnl" dirty="0">
                <a:solidFill>
                  <a:sysClr val="windowText" lastClr="000000"/>
                </a:solidFill>
              </a:rPr>
              <a:t>ajustarnos a las necesidades y gustos de cada grupo (segmento)</a:t>
            </a:r>
          </a:p>
        </p:txBody>
      </p:sp>
    </p:spTree>
    <p:extLst>
      <p:ext uri="{BB962C8B-B14F-4D97-AF65-F5344CB8AC3E}">
        <p14:creationId xmlns:p14="http://schemas.microsoft.com/office/powerpoint/2010/main" val="2749169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68B2A-D7F5-704B-5103-7D783188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>
            <a:extLst>
              <a:ext uri="{FF2B5EF4-FFF2-40B4-BE49-F238E27FC236}">
                <a16:creationId xmlns:a16="http://schemas.microsoft.com/office/drawing/2014/main" id="{2C8627EB-B956-2C4C-0005-85CBBBD1BE3A}"/>
              </a:ext>
            </a:extLst>
          </p:cNvPr>
          <p:cNvSpPr txBox="1"/>
          <p:nvPr/>
        </p:nvSpPr>
        <p:spPr>
          <a:xfrm>
            <a:off x="539552" y="963709"/>
            <a:ext cx="7862697" cy="493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_tradnl" sz="2000" b="1" u="sng" dirty="0"/>
              <a:t>Ejemplo</a:t>
            </a:r>
            <a:r>
              <a:rPr lang="es-ES_tradnl" sz="2000" b="1" dirty="0"/>
              <a:t>: mercado de compradores de coches</a:t>
            </a:r>
          </a:p>
          <a:p>
            <a:pPr algn="just">
              <a:lnSpc>
                <a:spcPct val="200000"/>
              </a:lnSpc>
            </a:pPr>
            <a:r>
              <a:rPr lang="es-ES_tradnl" sz="2000" b="1" i="1" dirty="0"/>
              <a:t>¿Qué tipo/modelo de coche comprarán los siguientes segmentos de clientes?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Jóvenes con renta media		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Jóvenes con renta alta 		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Familias con varios hijos 		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Mayor de 45 años con renta alta 	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Empresario que maneja gran cantidad de Kg 		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66213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313D-BA6F-B518-EE1F-A38AB5AC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uadroTexto">
            <a:extLst>
              <a:ext uri="{FF2B5EF4-FFF2-40B4-BE49-F238E27FC236}">
                <a16:creationId xmlns:a16="http://schemas.microsoft.com/office/drawing/2014/main" id="{7965FE6C-11EC-4167-62F2-411BC23C06D9}"/>
              </a:ext>
            </a:extLst>
          </p:cNvPr>
          <p:cNvSpPr txBox="1"/>
          <p:nvPr/>
        </p:nvSpPr>
        <p:spPr>
          <a:xfrm>
            <a:off x="476821" y="1189617"/>
            <a:ext cx="7862697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s-ES_tradnl" sz="2000" b="1" u="sng" dirty="0"/>
              <a:t>Ejemplo mercado de compradores de coches: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Jóvenes con renta media   </a:t>
            </a:r>
            <a:r>
              <a:rPr lang="es-ES_tradnl" sz="2000" dirty="0">
                <a:sym typeface="Wingdings" panose="05000000000000000000" pitchFamily="2" charset="2"/>
              </a:rPr>
              <a:t> Utilitario </a:t>
            </a:r>
            <a:r>
              <a:rPr lang="es-ES_tradnl" sz="2000" dirty="0"/>
              <a:t>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Jóvenes con renta alta  </a:t>
            </a:r>
            <a:r>
              <a:rPr lang="es-ES_tradnl" sz="2000" dirty="0">
                <a:sym typeface="Wingdings" panose="05000000000000000000" pitchFamily="2" charset="2"/>
              </a:rPr>
              <a:t> Deportivo </a:t>
            </a:r>
            <a:r>
              <a:rPr lang="es-ES_tradnl" sz="2000" dirty="0"/>
              <a:t>	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Familias con varios hijos  </a:t>
            </a:r>
            <a:r>
              <a:rPr lang="es-ES_tradnl" sz="2000" dirty="0">
                <a:sym typeface="Wingdings" panose="05000000000000000000" pitchFamily="2" charset="2"/>
              </a:rPr>
              <a:t> Monovolumen </a:t>
            </a:r>
            <a:r>
              <a:rPr lang="es-ES_tradnl" sz="2000" dirty="0"/>
              <a:t>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Mayor de 45 años con renta alta  </a:t>
            </a:r>
            <a:r>
              <a:rPr lang="es-ES_tradnl" sz="2000" dirty="0">
                <a:sym typeface="Wingdings" panose="05000000000000000000" pitchFamily="2" charset="2"/>
              </a:rPr>
              <a:t> Berlina de alta gama</a:t>
            </a:r>
            <a:r>
              <a:rPr lang="es-ES_tradnl" sz="2000" dirty="0"/>
              <a:t>		</a:t>
            </a:r>
          </a:p>
          <a:p>
            <a:pPr marL="285750" indent="-285750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s-ES_tradnl" sz="2000" dirty="0"/>
              <a:t>Empresario que maneja gran cantidad de Kg </a:t>
            </a:r>
            <a:r>
              <a:rPr lang="es-ES_tradnl" sz="2000" dirty="0">
                <a:sym typeface="Wingdings" panose="05000000000000000000" pitchFamily="2" charset="2"/>
              </a:rPr>
              <a:t>  Furgoneta</a:t>
            </a:r>
            <a:r>
              <a:rPr lang="es-ES_tradnl" sz="2000" dirty="0"/>
              <a:t>	</a:t>
            </a:r>
            <a:endParaRPr lang="es-ES_tradnl" dirty="0"/>
          </a:p>
        </p:txBody>
      </p:sp>
      <p:pic>
        <p:nvPicPr>
          <p:cNvPr id="2" name="Picture 2" descr="Seat Ibiza 2022: Precios, Ofertas y Descuentos">
            <a:extLst>
              <a:ext uri="{FF2B5EF4-FFF2-40B4-BE49-F238E27FC236}">
                <a16:creationId xmlns:a16="http://schemas.microsoft.com/office/drawing/2014/main" id="{449ECA62-C9CD-3AC5-A426-3A118EB5EF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2" t="25135" r="8933" b="14361"/>
          <a:stretch/>
        </p:blipFill>
        <p:spPr bwMode="auto">
          <a:xfrm>
            <a:off x="5674550" y="1445507"/>
            <a:ext cx="1749619" cy="91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545C90C-5C55-2B86-CE2B-52318DE978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087" y="2353054"/>
            <a:ext cx="1446340" cy="82079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227FF06-D7A4-BD64-39E3-D6E11569A9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8" t="12496" r="4103" b="8266"/>
          <a:stretch/>
        </p:blipFill>
        <p:spPr>
          <a:xfrm>
            <a:off x="6176427" y="2875005"/>
            <a:ext cx="1749619" cy="8916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A72F4A4-ED4E-B0AE-C452-31887BDB0B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37" y="3765681"/>
            <a:ext cx="2220247" cy="7811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EA2C24E-101A-F392-4FED-0F4924E0B0E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682" y="4584787"/>
            <a:ext cx="1749619" cy="91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24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23 Diagrama"/>
          <p:cNvGraphicFramePr/>
          <p:nvPr>
            <p:extLst>
              <p:ext uri="{D42A27DB-BD31-4B8C-83A1-F6EECF244321}">
                <p14:modId xmlns:p14="http://schemas.microsoft.com/office/powerpoint/2010/main" val="3812855480"/>
              </p:ext>
            </p:extLst>
          </p:nvPr>
        </p:nvGraphicFramePr>
        <p:xfrm>
          <a:off x="499917" y="1812375"/>
          <a:ext cx="8352928" cy="4608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09B2BD72-A3CC-A457-FA8F-2F23447D1AAE}"/>
              </a:ext>
            </a:extLst>
          </p:cNvPr>
          <p:cNvSpPr txBox="1"/>
          <p:nvPr/>
        </p:nvSpPr>
        <p:spPr>
          <a:xfrm>
            <a:off x="255771" y="437114"/>
            <a:ext cx="4263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/>
              <a:t>A) Cómo segmentar el mercado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5D005F-BBF9-6C71-C58B-005F3777C65C}"/>
              </a:ext>
            </a:extLst>
          </p:cNvPr>
          <p:cNvSpPr txBox="1"/>
          <p:nvPr/>
        </p:nvSpPr>
        <p:spPr>
          <a:xfrm>
            <a:off x="255771" y="893912"/>
            <a:ext cx="8601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dirty="0"/>
              <a:t>Debemos pensar qué </a:t>
            </a:r>
            <a:r>
              <a:rPr lang="es-ES_tradnl" u="sng" dirty="0"/>
              <a:t>clientes</a:t>
            </a:r>
            <a:r>
              <a:rPr lang="es-ES_tradnl" dirty="0"/>
              <a:t> necesitan o compran el producto. En el primer caso son clientes potenciales y en el segundo clientes. Luego tenemos que </a:t>
            </a:r>
            <a:r>
              <a:rPr lang="es-ES_tradnl" u="sng" dirty="0"/>
              <a:t>escoger un criterio</a:t>
            </a:r>
            <a:r>
              <a:rPr lang="es-ES_tradnl" dirty="0"/>
              <a:t> para poder </a:t>
            </a:r>
            <a:r>
              <a:rPr lang="es-ES_tradnl" u="sng" dirty="0"/>
              <a:t>segmentar</a:t>
            </a:r>
            <a:r>
              <a:rPr lang="es-ES_tradnl" dirty="0"/>
              <a:t> a los clientes.</a:t>
            </a:r>
          </a:p>
        </p:txBody>
      </p:sp>
    </p:spTree>
    <p:extLst>
      <p:ext uri="{BB962C8B-B14F-4D97-AF65-F5344CB8AC3E}">
        <p14:creationId xmlns:p14="http://schemas.microsoft.com/office/powerpoint/2010/main" val="32151575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0DF0-723C-92F9-B454-B01AF6FB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1874D79-10DE-C04D-7DFD-15310E4B32B2}"/>
              </a:ext>
            </a:extLst>
          </p:cNvPr>
          <p:cNvSpPr txBox="1"/>
          <p:nvPr/>
        </p:nvSpPr>
        <p:spPr>
          <a:xfrm>
            <a:off x="359873" y="701880"/>
            <a:ext cx="789114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b="1" dirty="0"/>
              <a:t>Vamos a profundizar en 2 segmentos de mercado: la generación Y o </a:t>
            </a:r>
            <a:r>
              <a:rPr lang="es-ES" b="1" dirty="0" err="1"/>
              <a:t>millenials</a:t>
            </a:r>
            <a:r>
              <a:rPr lang="es-ES" b="1" dirty="0"/>
              <a:t> y la generación Z o </a:t>
            </a:r>
            <a:r>
              <a:rPr lang="es-ES" b="1" dirty="0" err="1"/>
              <a:t>centenials</a:t>
            </a:r>
            <a:r>
              <a:rPr lang="es-ES" b="1" dirty="0"/>
              <a:t>.</a:t>
            </a:r>
          </a:p>
          <a:p>
            <a:pPr algn="just"/>
            <a:endParaRPr lang="es-ES" b="1" dirty="0"/>
          </a:p>
          <a:p>
            <a:pPr marL="342900" indent="-342900" algn="just">
              <a:buAutoNum type="alphaLcParenR"/>
            </a:pPr>
            <a:r>
              <a:rPr lang="es-ES" b="1" dirty="0">
                <a:solidFill>
                  <a:schemeClr val="tx1"/>
                </a:solidFill>
              </a:rPr>
              <a:t>Visualiza el siguiente video e indica 3 diferencias entre la generación Y y la generación Z:</a:t>
            </a:r>
          </a:p>
          <a:p>
            <a:pPr algn="just"/>
            <a:r>
              <a:rPr lang="es-ES" dirty="0">
                <a:solidFill>
                  <a:srgbClr val="FF0000"/>
                </a:solidFill>
              </a:rPr>
              <a:t>Vídeo 1: </a:t>
            </a:r>
            <a:r>
              <a:rPr lang="es-ES" dirty="0">
                <a:solidFill>
                  <a:srgbClr val="FF0000"/>
                </a:solidFill>
                <a:hlinkClick r:id="rId2"/>
              </a:rPr>
              <a:t>Generación Z</a:t>
            </a:r>
            <a:endParaRPr lang="es-ES" dirty="0">
              <a:solidFill>
                <a:srgbClr val="FF0000"/>
              </a:solidFill>
            </a:endParaRPr>
          </a:p>
          <a:p>
            <a:pPr algn="just"/>
            <a:endParaRPr lang="es-ES" dirty="0">
              <a:solidFill>
                <a:srgbClr val="FF0000"/>
              </a:solidFill>
            </a:endParaRPr>
          </a:p>
          <a:p>
            <a:pPr lvl="1"/>
            <a:r>
              <a:rPr lang="gl-ES" b="1" u="sng" dirty="0" err="1">
                <a:solidFill>
                  <a:sysClr val="windowText" lastClr="000000"/>
                </a:solidFill>
              </a:rPr>
              <a:t>Ejemplos</a:t>
            </a:r>
            <a:r>
              <a:rPr lang="gl-ES" b="1" u="sng" dirty="0">
                <a:solidFill>
                  <a:sysClr val="windowText" lastClr="000000"/>
                </a:solidFill>
              </a:rPr>
              <a:t> de diferencias que aparecen en el </a:t>
            </a:r>
            <a:r>
              <a:rPr lang="gl-ES" b="1" u="sng" dirty="0" err="1">
                <a:solidFill>
                  <a:sysClr val="windowText" lastClr="000000"/>
                </a:solidFill>
              </a:rPr>
              <a:t>video</a:t>
            </a:r>
            <a:r>
              <a:rPr lang="gl-ES" b="1" u="sng" dirty="0">
                <a:solidFill>
                  <a:sysClr val="windowText" lastClr="000000"/>
                </a:solidFill>
              </a:rPr>
              <a:t>:</a:t>
            </a:r>
          </a:p>
          <a:p>
            <a:pPr marL="546100" lvl="1"/>
            <a:r>
              <a:rPr lang="gl-ES" i="1" dirty="0">
                <a:solidFill>
                  <a:sysClr val="windowText" lastClr="000000"/>
                </a:solidFill>
              </a:rPr>
              <a:t>1.- Celebridades </a:t>
            </a:r>
            <a:r>
              <a:rPr lang="gl-ES" i="1" dirty="0" err="1">
                <a:solidFill>
                  <a:sysClr val="windowText" lastClr="000000"/>
                </a:solidFill>
              </a:rPr>
              <a:t>vs</a:t>
            </a:r>
            <a:r>
              <a:rPr lang="gl-ES" i="1" dirty="0">
                <a:solidFill>
                  <a:sysClr val="windowText" lastClr="000000"/>
                </a:solidFill>
              </a:rPr>
              <a:t> </a:t>
            </a:r>
            <a:r>
              <a:rPr lang="gl-ES" i="1" dirty="0" err="1">
                <a:solidFill>
                  <a:sysClr val="windowText" lastClr="000000"/>
                </a:solidFill>
              </a:rPr>
              <a:t>youtubers</a:t>
            </a:r>
            <a:endParaRPr lang="gl-ES" i="1" dirty="0">
              <a:solidFill>
                <a:sysClr val="windowText" lastClr="000000"/>
              </a:solidFill>
            </a:endParaRPr>
          </a:p>
          <a:p>
            <a:pPr marL="546100" lvl="1"/>
            <a:r>
              <a:rPr lang="gl-ES" i="1" dirty="0">
                <a:solidFill>
                  <a:sysClr val="windowText" lastClr="000000"/>
                </a:solidFill>
              </a:rPr>
              <a:t>2.- Marcas famosas </a:t>
            </a:r>
            <a:r>
              <a:rPr lang="gl-ES" i="1" dirty="0" err="1">
                <a:solidFill>
                  <a:sysClr val="windowText" lastClr="000000"/>
                </a:solidFill>
              </a:rPr>
              <a:t>vs</a:t>
            </a:r>
            <a:r>
              <a:rPr lang="gl-ES" i="1" dirty="0">
                <a:solidFill>
                  <a:sysClr val="windowText" lastClr="000000"/>
                </a:solidFill>
              </a:rPr>
              <a:t> mi propio estilo (</a:t>
            </a:r>
            <a:r>
              <a:rPr lang="gl-ES" i="1" dirty="0" err="1">
                <a:solidFill>
                  <a:sysClr val="windowText" lastClr="000000"/>
                </a:solidFill>
              </a:rPr>
              <a:t>fidelidad</a:t>
            </a:r>
            <a:r>
              <a:rPr lang="gl-ES" i="1" dirty="0">
                <a:solidFill>
                  <a:sysClr val="windowText" lastClr="000000"/>
                </a:solidFill>
              </a:rPr>
              <a:t> a la marca </a:t>
            </a:r>
            <a:r>
              <a:rPr lang="gl-ES" i="1" dirty="0" err="1">
                <a:solidFill>
                  <a:sysClr val="windowText" lastClr="000000"/>
                </a:solidFill>
              </a:rPr>
              <a:t>vs</a:t>
            </a:r>
            <a:r>
              <a:rPr lang="gl-ES" i="1" dirty="0">
                <a:solidFill>
                  <a:sysClr val="windowText" lastClr="000000"/>
                </a:solidFill>
              </a:rPr>
              <a:t> dos o tres marcas)</a:t>
            </a:r>
          </a:p>
          <a:p>
            <a:pPr marL="546100" lvl="1"/>
            <a:r>
              <a:rPr lang="gl-ES" i="1" dirty="0">
                <a:solidFill>
                  <a:sysClr val="windowText" lastClr="000000"/>
                </a:solidFill>
              </a:rPr>
              <a:t>3.- Compras online </a:t>
            </a:r>
            <a:r>
              <a:rPr lang="gl-ES" i="1" dirty="0" err="1">
                <a:solidFill>
                  <a:sysClr val="windowText" lastClr="000000"/>
                </a:solidFill>
              </a:rPr>
              <a:t>vs</a:t>
            </a:r>
            <a:r>
              <a:rPr lang="gl-ES" i="1" dirty="0">
                <a:solidFill>
                  <a:sysClr val="windowText" lastClr="000000"/>
                </a:solidFill>
              </a:rPr>
              <a:t> compras </a:t>
            </a:r>
            <a:r>
              <a:rPr lang="gl-ES" i="1" dirty="0" err="1">
                <a:solidFill>
                  <a:sysClr val="windowText" lastClr="000000"/>
                </a:solidFill>
              </a:rPr>
              <a:t>offline</a:t>
            </a:r>
            <a:endParaRPr lang="gl-ES" i="1" dirty="0">
              <a:solidFill>
                <a:sysClr val="windowText" lastClr="000000"/>
              </a:solidFill>
            </a:endParaRPr>
          </a:p>
          <a:p>
            <a:pPr marL="546100" lvl="1"/>
            <a:r>
              <a:rPr lang="gl-ES" i="1" dirty="0">
                <a:solidFill>
                  <a:sysClr val="windowText" lastClr="000000"/>
                </a:solidFill>
              </a:rPr>
              <a:t>4.- </a:t>
            </a:r>
            <a:r>
              <a:rPr lang="gl-ES" i="1" dirty="0" err="1">
                <a:solidFill>
                  <a:sysClr val="windowText" lastClr="000000"/>
                </a:solidFill>
              </a:rPr>
              <a:t>Precio</a:t>
            </a:r>
            <a:r>
              <a:rPr lang="gl-ES" i="1" dirty="0">
                <a:solidFill>
                  <a:sysClr val="windowText" lastClr="000000"/>
                </a:solidFill>
              </a:rPr>
              <a:t> </a:t>
            </a:r>
            <a:r>
              <a:rPr lang="gl-ES" i="1" dirty="0" err="1">
                <a:solidFill>
                  <a:sysClr val="windowText" lastClr="000000"/>
                </a:solidFill>
              </a:rPr>
              <a:t>y</a:t>
            </a:r>
            <a:r>
              <a:rPr lang="gl-ES" i="1" dirty="0">
                <a:solidFill>
                  <a:sysClr val="windowText" lastClr="000000"/>
                </a:solidFill>
              </a:rPr>
              <a:t> </a:t>
            </a:r>
            <a:r>
              <a:rPr lang="gl-ES" i="1" dirty="0" err="1">
                <a:solidFill>
                  <a:sysClr val="windowText" lastClr="000000"/>
                </a:solidFill>
              </a:rPr>
              <a:t>calidad</a:t>
            </a:r>
            <a:r>
              <a:rPr lang="gl-ES" i="1" dirty="0">
                <a:solidFill>
                  <a:sysClr val="windowText" lastClr="000000"/>
                </a:solidFill>
              </a:rPr>
              <a:t> </a:t>
            </a:r>
            <a:r>
              <a:rPr lang="gl-ES" i="1" dirty="0" err="1">
                <a:solidFill>
                  <a:sysClr val="windowText" lastClr="000000"/>
                </a:solidFill>
              </a:rPr>
              <a:t>vs</a:t>
            </a:r>
            <a:r>
              <a:rPr lang="gl-ES" i="1" dirty="0">
                <a:solidFill>
                  <a:sysClr val="windowText" lastClr="000000"/>
                </a:solidFill>
              </a:rPr>
              <a:t> </a:t>
            </a:r>
            <a:r>
              <a:rPr lang="gl-ES" i="1" dirty="0" err="1">
                <a:solidFill>
                  <a:sysClr val="windowText" lastClr="000000"/>
                </a:solidFill>
              </a:rPr>
              <a:t>primera</a:t>
            </a:r>
            <a:r>
              <a:rPr lang="gl-ES" i="1" dirty="0">
                <a:solidFill>
                  <a:sysClr val="windowText" lastClr="000000"/>
                </a:solidFill>
              </a:rPr>
              <a:t> impresión</a:t>
            </a:r>
          </a:p>
          <a:p>
            <a:pPr marL="546100" lvl="1"/>
            <a:r>
              <a:rPr lang="gl-ES" i="1" dirty="0">
                <a:solidFill>
                  <a:sysClr val="windowText" lastClr="000000"/>
                </a:solidFill>
              </a:rPr>
              <a:t>5.- </a:t>
            </a:r>
            <a:r>
              <a:rPr lang="gl-ES" i="1" dirty="0" err="1">
                <a:solidFill>
                  <a:sysClr val="windowText" lastClr="000000"/>
                </a:solidFill>
              </a:rPr>
              <a:t>Poco</a:t>
            </a:r>
            <a:r>
              <a:rPr lang="gl-ES" i="1" dirty="0">
                <a:solidFill>
                  <a:sysClr val="windowText" lastClr="000000"/>
                </a:solidFill>
              </a:rPr>
              <a:t> valor social </a:t>
            </a:r>
            <a:r>
              <a:rPr lang="gl-ES" i="1" dirty="0" err="1">
                <a:solidFill>
                  <a:sysClr val="windowText" lastClr="000000"/>
                </a:solidFill>
              </a:rPr>
              <a:t>vs</a:t>
            </a:r>
            <a:r>
              <a:rPr lang="gl-ES" i="1" dirty="0">
                <a:solidFill>
                  <a:sysClr val="windowText" lastClr="000000"/>
                </a:solidFill>
              </a:rPr>
              <a:t> mucho valor social</a:t>
            </a:r>
            <a:endParaRPr lang="es-ES" dirty="0">
              <a:solidFill>
                <a:srgbClr val="FF0000"/>
              </a:solidFill>
            </a:endParaRPr>
          </a:p>
          <a:p>
            <a:pPr algn="just"/>
            <a:endParaRPr lang="es-ES" dirty="0">
              <a:solidFill>
                <a:srgbClr val="FF0000"/>
              </a:solidFill>
            </a:endParaRPr>
          </a:p>
          <a:p>
            <a:pPr algn="just"/>
            <a:r>
              <a:rPr lang="es-ES" sz="1800" b="1" dirty="0">
                <a:solidFill>
                  <a:schemeClr val="tx1"/>
                </a:solidFill>
              </a:rPr>
              <a:t>b) Vamos a ver cómo compran estos segmentos y su relación con las marcas, para eso veremos el siguiente vídeo:</a:t>
            </a:r>
          </a:p>
          <a:p>
            <a:pPr algn="just"/>
            <a:r>
              <a:rPr lang="es-ES" dirty="0">
                <a:solidFill>
                  <a:srgbClr val="FF0000"/>
                </a:solidFill>
              </a:rPr>
              <a:t>Vídeo 3:</a:t>
            </a:r>
            <a:r>
              <a:rPr lang="es-ES" dirty="0"/>
              <a:t> </a:t>
            </a:r>
            <a:r>
              <a:rPr lang="es-ES" dirty="0">
                <a:hlinkClick r:id="rId3"/>
              </a:rPr>
              <a:t>Entendiendo Millenials y Generación Z</a:t>
            </a:r>
            <a:endParaRPr lang="es-ES" sz="1800" dirty="0">
              <a:solidFill>
                <a:schemeClr val="tx1"/>
              </a:solidFill>
            </a:endParaRPr>
          </a:p>
          <a:p>
            <a:pPr algn="just"/>
            <a:endParaRPr lang="es-E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387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F3E13EF-E678-68AC-1D36-7BE14F26BD85}"/>
              </a:ext>
            </a:extLst>
          </p:cNvPr>
          <p:cNvSpPr txBox="1"/>
          <p:nvPr/>
        </p:nvSpPr>
        <p:spPr>
          <a:xfrm>
            <a:off x="591999" y="1268760"/>
            <a:ext cx="7960001" cy="38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gl-ES" sz="2000" b="1" u="sng" dirty="0">
                <a:solidFill>
                  <a:schemeClr val="tx1"/>
                </a:solidFill>
              </a:rPr>
              <a:t>2. </a:t>
            </a:r>
            <a:r>
              <a:rPr lang="gl-ES" sz="2000" b="1" u="sng" dirty="0" err="1">
                <a:solidFill>
                  <a:schemeClr val="tx1"/>
                </a:solidFill>
              </a:rPr>
              <a:t>Estrategias</a:t>
            </a:r>
            <a:r>
              <a:rPr lang="gl-ES" sz="2000" b="1" u="sng" dirty="0">
                <a:solidFill>
                  <a:schemeClr val="tx1"/>
                </a:solidFill>
              </a:rPr>
              <a:t> de segmentación:</a:t>
            </a:r>
          </a:p>
          <a:p>
            <a:pPr algn="just">
              <a:lnSpc>
                <a:spcPct val="150000"/>
              </a:lnSpc>
            </a:pPr>
            <a:r>
              <a:rPr lang="gl-ES" sz="1800" dirty="0"/>
              <a:t>En función de si utilizamos o no la </a:t>
            </a:r>
            <a:r>
              <a:rPr lang="gl-ES" sz="1800" b="1" dirty="0" err="1"/>
              <a:t>misma</a:t>
            </a:r>
            <a:r>
              <a:rPr lang="gl-ES" sz="1800" b="1" dirty="0"/>
              <a:t> </a:t>
            </a:r>
            <a:r>
              <a:rPr lang="gl-ES" sz="1800" b="1" dirty="0" err="1"/>
              <a:t>estrategia</a:t>
            </a:r>
            <a:r>
              <a:rPr lang="gl-ES" sz="1800" b="1" dirty="0"/>
              <a:t> </a:t>
            </a:r>
            <a:r>
              <a:rPr lang="gl-ES" sz="1800" dirty="0"/>
              <a:t>para todos </a:t>
            </a:r>
            <a:r>
              <a:rPr lang="gl-ES" sz="1800" dirty="0" err="1"/>
              <a:t>nuestros</a:t>
            </a:r>
            <a:r>
              <a:rPr lang="gl-ES" sz="1800" dirty="0"/>
              <a:t> segmentos de mercado </a:t>
            </a:r>
            <a:r>
              <a:rPr lang="gl-ES" sz="1800" dirty="0" err="1"/>
              <a:t>tenemos</a:t>
            </a:r>
            <a:r>
              <a:rPr lang="gl-ES" sz="1800" dirty="0"/>
              <a:t> </a:t>
            </a:r>
            <a:r>
              <a:rPr lang="gl-ES" sz="1800" b="1" dirty="0"/>
              <a:t>3 posibles </a:t>
            </a:r>
            <a:r>
              <a:rPr lang="gl-ES" sz="1800" b="1" dirty="0" err="1"/>
              <a:t>estrategias</a:t>
            </a:r>
            <a:r>
              <a:rPr lang="gl-ES" sz="1800" dirty="0"/>
              <a:t>: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gl-ES" sz="1800" b="1" dirty="0" err="1"/>
              <a:t>Estrategia</a:t>
            </a:r>
            <a:r>
              <a:rPr lang="gl-ES" sz="1800" b="1" dirty="0"/>
              <a:t> diferenciada:</a:t>
            </a:r>
            <a:r>
              <a:rPr lang="gl-ES" sz="1800" dirty="0"/>
              <a:t> utilizar </a:t>
            </a:r>
            <a:r>
              <a:rPr lang="gl-ES" sz="1800" dirty="0" err="1"/>
              <a:t>estrategia</a:t>
            </a:r>
            <a:r>
              <a:rPr lang="gl-ES" sz="1800" dirty="0"/>
              <a:t> diferente para cada uno de los segmentos.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gl-ES" sz="1800" b="1" dirty="0" err="1"/>
              <a:t>Estrategia</a:t>
            </a:r>
            <a:r>
              <a:rPr lang="gl-ES" sz="1800" b="1" dirty="0"/>
              <a:t> concentrada: </a:t>
            </a:r>
            <a:r>
              <a:rPr lang="gl-ES" sz="1800" dirty="0"/>
              <a:t>nos centramos en un solo segmento de mercado </a:t>
            </a:r>
            <a:r>
              <a:rPr lang="gl-ES" sz="1800" dirty="0" err="1"/>
              <a:t>y</a:t>
            </a:r>
            <a:r>
              <a:rPr lang="gl-ES" sz="1800" dirty="0"/>
              <a:t> nos </a:t>
            </a:r>
            <a:r>
              <a:rPr lang="gl-ES" sz="1800" dirty="0" err="1"/>
              <a:t>olvidamos</a:t>
            </a:r>
            <a:r>
              <a:rPr lang="gl-ES" sz="1800" dirty="0"/>
              <a:t> del resto.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gl-ES" sz="1800" b="1" dirty="0" err="1"/>
              <a:t>Estrategia</a:t>
            </a:r>
            <a:r>
              <a:rPr lang="gl-ES" sz="1800" b="1" dirty="0"/>
              <a:t> indiferenciada: </a:t>
            </a:r>
            <a:r>
              <a:rPr lang="gl-ES" sz="1800" dirty="0"/>
              <a:t>usamos la </a:t>
            </a:r>
            <a:r>
              <a:rPr lang="gl-ES" sz="1800" dirty="0" err="1"/>
              <a:t>misma</a:t>
            </a:r>
            <a:r>
              <a:rPr lang="gl-ES" sz="1800" dirty="0"/>
              <a:t> </a:t>
            </a:r>
            <a:r>
              <a:rPr lang="gl-ES" sz="1800" dirty="0" err="1"/>
              <a:t>estrategia</a:t>
            </a:r>
            <a:r>
              <a:rPr lang="gl-ES" sz="1800" dirty="0"/>
              <a:t> para todos </a:t>
            </a:r>
            <a:r>
              <a:rPr lang="gl-ES" sz="1800" dirty="0" err="1"/>
              <a:t>nuestros</a:t>
            </a:r>
            <a:r>
              <a:rPr lang="gl-ES" sz="1800" dirty="0"/>
              <a:t> segmentos.</a:t>
            </a:r>
          </a:p>
        </p:txBody>
      </p:sp>
    </p:spTree>
    <p:extLst>
      <p:ext uri="{BB962C8B-B14F-4D97-AF65-F5344CB8AC3E}">
        <p14:creationId xmlns:p14="http://schemas.microsoft.com/office/powerpoint/2010/main" val="3721348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C0608-66A2-1024-7097-498F063C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44 CuadroTexto">
            <a:extLst>
              <a:ext uri="{FF2B5EF4-FFF2-40B4-BE49-F238E27FC236}">
                <a16:creationId xmlns:a16="http://schemas.microsoft.com/office/drawing/2014/main" id="{B0EAB595-1362-3879-87A0-85E68353CA98}"/>
              </a:ext>
            </a:extLst>
          </p:cNvPr>
          <p:cNvSpPr txBox="1"/>
          <p:nvPr/>
        </p:nvSpPr>
        <p:spPr>
          <a:xfrm>
            <a:off x="148256" y="541151"/>
            <a:ext cx="8456192" cy="10156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s-ES"/>
            </a:defPPr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just"/>
            <a:r>
              <a:rPr lang="es-ES_tradnl" sz="2400" dirty="0">
                <a:solidFill>
                  <a:schemeClr val="tx1"/>
                </a:solidFill>
              </a:rPr>
              <a:t>B) La curva de difusión de la innovación: </a:t>
            </a:r>
            <a:r>
              <a:rPr lang="es-ES_tradnl" b="0" dirty="0">
                <a:solidFill>
                  <a:schemeClr val="tx1"/>
                </a:solidFill>
              </a:rPr>
              <a:t>en el proceso de innovación tecnológica existen diferentes clientes según el grado de madurez de la innovación tecnológica</a:t>
            </a:r>
            <a:endParaRPr lang="es-ES" sz="2400" b="0" dirty="0">
              <a:solidFill>
                <a:schemeClr val="tx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B3FAD3-DF3F-6A97-232F-3D4F1337C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39" y="1476847"/>
            <a:ext cx="6480720" cy="4686156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BF801F25-D787-D935-E263-C6B83E017381}"/>
              </a:ext>
            </a:extLst>
          </p:cNvPr>
          <p:cNvGrpSpPr/>
          <p:nvPr/>
        </p:nvGrpSpPr>
        <p:grpSpPr>
          <a:xfrm>
            <a:off x="614546" y="3767199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DEBF024-FD9B-FD21-205B-491CA830A683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14" name="Elipse 4">
              <a:extLst>
                <a:ext uri="{FF2B5EF4-FFF2-40B4-BE49-F238E27FC236}">
                  <a16:creationId xmlns:a16="http://schemas.microsoft.com/office/drawing/2014/main" id="{998744FF-FBB8-94C4-E216-954F0194D866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Lo último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B5F1527-E19E-642B-8715-F644BDB50D72}"/>
              </a:ext>
            </a:extLst>
          </p:cNvPr>
          <p:cNvGrpSpPr/>
          <p:nvPr/>
        </p:nvGrpSpPr>
        <p:grpSpPr>
          <a:xfrm>
            <a:off x="2051720" y="2641482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9C4BAEB7-D8E4-FB9D-CF25-5957741D302B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17" name="Elipse 4">
              <a:extLst>
                <a:ext uri="{FF2B5EF4-FFF2-40B4-BE49-F238E27FC236}">
                  <a16:creationId xmlns:a16="http://schemas.microsoft.com/office/drawing/2014/main" id="{53E4906F-4806-65D0-F9D2-B0E1C9E6D280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Solucionar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problema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D4732AD2-F003-4B81-C64E-00F35BEBEAF2}"/>
              </a:ext>
            </a:extLst>
          </p:cNvPr>
          <p:cNvGrpSpPr/>
          <p:nvPr/>
        </p:nvGrpSpPr>
        <p:grpSpPr>
          <a:xfrm>
            <a:off x="3374177" y="3819925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8ACA1017-923D-2FC7-1F05-AD95FD0162A4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0" name="Elipse 4">
              <a:extLst>
                <a:ext uri="{FF2B5EF4-FFF2-40B4-BE49-F238E27FC236}">
                  <a16:creationId xmlns:a16="http://schemas.microsoft.com/office/drawing/2014/main" id="{56E6B68C-E748-5EB8-ADFE-227F0E5B73CA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Prácticos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457FD714-5F27-066F-6FC5-2DEB193DFB0E}"/>
              </a:ext>
            </a:extLst>
          </p:cNvPr>
          <p:cNvGrpSpPr/>
          <p:nvPr/>
        </p:nvGrpSpPr>
        <p:grpSpPr>
          <a:xfrm>
            <a:off x="4932040" y="3077344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27B3E01E-9203-CD6F-2F45-8BB8A2EB0EB3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3" name="Elipse 4">
              <a:extLst>
                <a:ext uri="{FF2B5EF4-FFF2-40B4-BE49-F238E27FC236}">
                  <a16:creationId xmlns:a16="http://schemas.microsoft.com/office/drawing/2014/main" id="{AC7F8188-3B27-54FC-C782-532602C1D185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Se quedan atrás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9BB90E37-ECC5-68AE-AC23-40ACEFE1B6E7}"/>
              </a:ext>
            </a:extLst>
          </p:cNvPr>
          <p:cNvGrpSpPr/>
          <p:nvPr/>
        </p:nvGrpSpPr>
        <p:grpSpPr>
          <a:xfrm>
            <a:off x="6575794" y="3612873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7583BB21-53B1-B57B-C8FD-99746B990357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6" name="Elipse 4">
              <a:extLst>
                <a:ext uri="{FF2B5EF4-FFF2-40B4-BE49-F238E27FC236}">
                  <a16:creationId xmlns:a16="http://schemas.microsoft.com/office/drawing/2014/main" id="{6B4CF904-44C8-E346-7A80-DF8F8B75011B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Ponen pegas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24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614-C7AF-04A5-8354-B6F4179F7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Recorte de pantalla">
            <a:extLst>
              <a:ext uri="{FF2B5EF4-FFF2-40B4-BE49-F238E27FC236}">
                <a16:creationId xmlns:a16="http://schemas.microsoft.com/office/drawing/2014/main" id="{AC609EFC-1177-0855-5CCD-6A975C752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88840"/>
            <a:ext cx="8496944" cy="463258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3F29EFD-635C-CBD0-59F1-5D572354292B}"/>
              </a:ext>
            </a:extLst>
          </p:cNvPr>
          <p:cNvSpPr txBox="1"/>
          <p:nvPr/>
        </p:nvSpPr>
        <p:spPr>
          <a:xfrm>
            <a:off x="208745" y="1057178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rgbClr val="0070C0"/>
                </a:solidFill>
              </a:rPr>
              <a:t>Actividad 02.04. </a:t>
            </a:r>
            <a:r>
              <a:rPr lang="es-ES_tradnl" b="1" dirty="0"/>
              <a:t>Indica en qué momento de la curva de la innovación se encuentran las siguientes tecnologías:</a:t>
            </a:r>
          </a:p>
        </p:txBody>
      </p:sp>
    </p:spTree>
    <p:extLst>
      <p:ext uri="{BB962C8B-B14F-4D97-AF65-F5344CB8AC3E}">
        <p14:creationId xmlns:p14="http://schemas.microsoft.com/office/powerpoint/2010/main" val="3325341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 Título"/>
          <p:cNvSpPr txBox="1">
            <a:spLocks/>
          </p:cNvSpPr>
          <p:nvPr/>
        </p:nvSpPr>
        <p:spPr>
          <a:xfrm>
            <a:off x="243906" y="116632"/>
            <a:ext cx="8424935" cy="40925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_tradnl" sz="4100" b="1" dirty="0"/>
              <a:t>4. El estudio de mercado</a:t>
            </a:r>
          </a:p>
        </p:txBody>
      </p:sp>
      <p:sp>
        <p:nvSpPr>
          <p:cNvPr id="2" name="Rectángulo 1"/>
          <p:cNvSpPr/>
          <p:nvPr/>
        </p:nvSpPr>
        <p:spPr>
          <a:xfrm>
            <a:off x="539552" y="1025036"/>
            <a:ext cx="2784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b="1" dirty="0"/>
              <a:t>¿Por qué es necesario?</a:t>
            </a:r>
            <a:endParaRPr lang="gl-ES" dirty="0"/>
          </a:p>
        </p:txBody>
      </p:sp>
      <p:sp>
        <p:nvSpPr>
          <p:cNvPr id="3" name="Rectángulo 2"/>
          <p:cNvSpPr/>
          <p:nvPr/>
        </p:nvSpPr>
        <p:spPr>
          <a:xfrm>
            <a:off x="539552" y="1536302"/>
            <a:ext cx="82537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Muchos negocios fracasan no porque su producto o servicios sea malo, sino porque </a:t>
            </a:r>
            <a:r>
              <a:rPr lang="es-ES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 tienen suficiente información sobre</a:t>
            </a:r>
            <a:r>
              <a:rPr lang="es-E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03945" y="2253600"/>
            <a:ext cx="8064896" cy="1701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/>
              <a:t>Como son los 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clientes</a:t>
            </a:r>
            <a:r>
              <a:rPr lang="es-ES" dirty="0"/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/>
              <a:t>Quién es y que ofrece la 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competencia</a:t>
            </a:r>
            <a:r>
              <a:rPr lang="es-ES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/>
              <a:t>Si hay otros 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productos/servicios sustitutivos </a:t>
            </a:r>
            <a:r>
              <a:rPr lang="es-ES" dirty="0"/>
              <a:t>del nuestro.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s-ES" dirty="0"/>
              <a:t>Quienes son los 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proveedores </a:t>
            </a:r>
            <a:r>
              <a:rPr lang="es-ES" dirty="0"/>
              <a:t>que necesitamos.</a:t>
            </a:r>
            <a:endParaRPr lang="gl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065" y="4026059"/>
            <a:ext cx="5544616" cy="21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87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Diagrama"/>
          <p:cNvGraphicFramePr/>
          <p:nvPr>
            <p:extLst>
              <p:ext uri="{D42A27DB-BD31-4B8C-83A1-F6EECF244321}">
                <p14:modId xmlns:p14="http://schemas.microsoft.com/office/powerpoint/2010/main" val="3354931803"/>
              </p:ext>
            </p:extLst>
          </p:nvPr>
        </p:nvGraphicFramePr>
        <p:xfrm>
          <a:off x="131472" y="1196752"/>
          <a:ext cx="8398247" cy="27363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21" name="Grupo 20">
            <a:extLst>
              <a:ext uri="{FF2B5EF4-FFF2-40B4-BE49-F238E27FC236}">
                <a16:creationId xmlns:a16="http://schemas.microsoft.com/office/drawing/2014/main" id="{F51BD234-A257-402B-B6E6-7DE790A6CCD6}"/>
              </a:ext>
            </a:extLst>
          </p:cNvPr>
          <p:cNvGrpSpPr/>
          <p:nvPr/>
        </p:nvGrpSpPr>
        <p:grpSpPr>
          <a:xfrm>
            <a:off x="611560" y="4365104"/>
            <a:ext cx="2762617" cy="1130421"/>
            <a:chOff x="3307521" y="0"/>
            <a:chExt cx="1908313" cy="549997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80D03EB0-ACC1-46F5-8E68-2C47CAEEF11F}"/>
                </a:ext>
              </a:extLst>
            </p:cNvPr>
            <p:cNvSpPr/>
            <p:nvPr/>
          </p:nvSpPr>
          <p:spPr>
            <a:xfrm>
              <a:off x="3307521" y="0"/>
              <a:ext cx="1908313" cy="54999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6" name="Rectángulo: esquinas redondeadas 4">
              <a:extLst>
                <a:ext uri="{FF2B5EF4-FFF2-40B4-BE49-F238E27FC236}">
                  <a16:creationId xmlns:a16="http://schemas.microsoft.com/office/drawing/2014/main" id="{7ECB85EE-1FA0-4FD2-A9E0-A445D3C4A5E0}"/>
                </a:ext>
              </a:extLst>
            </p:cNvPr>
            <p:cNvSpPr txBox="1"/>
            <p:nvPr/>
          </p:nvSpPr>
          <p:spPr>
            <a:xfrm>
              <a:off x="3334370" y="26849"/>
              <a:ext cx="1854615" cy="496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2100" dirty="0"/>
                <a:t>ENTREVISTA </a:t>
              </a:r>
            </a:p>
            <a:p>
              <a:pPr marL="0" lvl="0" indent="0" algn="ctr" defTabSz="9334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2100" kern="1200" dirty="0"/>
                <a:t>DE PROBLEMA</a:t>
              </a:r>
              <a:endParaRPr lang="es-ES" sz="2100" kern="1200" dirty="0"/>
            </a:p>
          </p:txBody>
        </p:sp>
      </p:grpSp>
      <p:sp>
        <p:nvSpPr>
          <p:cNvPr id="27" name="22 CuadroTexto">
            <a:extLst>
              <a:ext uri="{FF2B5EF4-FFF2-40B4-BE49-F238E27FC236}">
                <a16:creationId xmlns:a16="http://schemas.microsoft.com/office/drawing/2014/main" id="{18CFE0FF-4A5A-4EA7-94D8-D98B8BDDE6F3}"/>
              </a:ext>
            </a:extLst>
          </p:cNvPr>
          <p:cNvSpPr txBox="1"/>
          <p:nvPr/>
        </p:nvSpPr>
        <p:spPr>
          <a:xfrm>
            <a:off x="4309883" y="4314078"/>
            <a:ext cx="3505791" cy="1200329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dirty="0"/>
              <a:t>Saber si lo que queremos ofrecer realmente está solucionando </a:t>
            </a:r>
          </a:p>
          <a:p>
            <a:pPr algn="ctr"/>
            <a:r>
              <a:rPr lang="es-ES_tradnl" dirty="0"/>
              <a:t>un problema de nuestros clientes </a:t>
            </a:r>
          </a:p>
          <a:p>
            <a:pPr algn="ctr"/>
            <a:r>
              <a:rPr lang="es-ES_tradnl" dirty="0"/>
              <a:t>¡O no!</a:t>
            </a:r>
            <a:endParaRPr lang="es-ES" dirty="0"/>
          </a:p>
        </p:txBody>
      </p:sp>
      <p:sp>
        <p:nvSpPr>
          <p:cNvPr id="35" name="11 Flecha derecha">
            <a:extLst>
              <a:ext uri="{FF2B5EF4-FFF2-40B4-BE49-F238E27FC236}">
                <a16:creationId xmlns:a16="http://schemas.microsoft.com/office/drawing/2014/main" id="{B9E70A1D-B25B-4450-A167-E4644E175E08}"/>
              </a:ext>
            </a:extLst>
          </p:cNvPr>
          <p:cNvSpPr/>
          <p:nvPr/>
        </p:nvSpPr>
        <p:spPr>
          <a:xfrm>
            <a:off x="3413046" y="4805234"/>
            <a:ext cx="713503" cy="191794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8975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CuadroTexto">
            <a:hlinkClick r:id="rId2" action="ppaction://hlinksldjump"/>
          </p:cNvPr>
          <p:cNvSpPr txBox="1"/>
          <p:nvPr/>
        </p:nvSpPr>
        <p:spPr>
          <a:xfrm>
            <a:off x="3215680" y="6165304"/>
            <a:ext cx="1317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b="1" dirty="0">
                <a:solidFill>
                  <a:schemeClr val="tx2"/>
                </a:solidFill>
              </a:rPr>
              <a:t>Contenidos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18" name="17 Imagen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66529">
            <a:off x="3000944" y="6277629"/>
            <a:ext cx="287793" cy="361618"/>
          </a:xfrm>
          <a:prstGeom prst="rect">
            <a:avLst/>
          </a:prstGeom>
        </p:spPr>
      </p:pic>
      <p:sp>
        <p:nvSpPr>
          <p:cNvPr id="10" name="9 CuadroTexto"/>
          <p:cNvSpPr txBox="1"/>
          <p:nvPr/>
        </p:nvSpPr>
        <p:spPr>
          <a:xfrm>
            <a:off x="230095" y="1044864"/>
            <a:ext cx="5133993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A) Análisis de nuestro cliente objetivo o “target”</a:t>
            </a:r>
            <a:endParaRPr lang="es-ES" b="1" dirty="0"/>
          </a:p>
        </p:txBody>
      </p:sp>
      <p:sp>
        <p:nvSpPr>
          <p:cNvPr id="12" name="11 CuadroTexto"/>
          <p:cNvSpPr txBox="1"/>
          <p:nvPr/>
        </p:nvSpPr>
        <p:spPr>
          <a:xfrm>
            <a:off x="230096" y="1531977"/>
            <a:ext cx="8888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/>
              <a:t>Conocer al cliente y los aspectos influyentes en su compra </a:t>
            </a:r>
            <a:r>
              <a:rPr lang="es-ES_tradnl" sz="1600" dirty="0">
                <a:sym typeface="Wingdings" panose="05000000000000000000" pitchFamily="2" charset="2"/>
              </a:rPr>
              <a:t> permite ofrecerle el producto que necesita</a:t>
            </a:r>
            <a:endParaRPr lang="es-ES" sz="16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509158" y="1916083"/>
            <a:ext cx="2206898" cy="1200329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Datos básicos</a:t>
            </a:r>
          </a:p>
          <a:p>
            <a:pPr algn="ctr"/>
            <a:r>
              <a:rPr lang="es-ES_tradnl" dirty="0"/>
              <a:t>(edad, sexo, nacionalidad, estado civil…)</a:t>
            </a:r>
            <a:endParaRPr lang="es-ES" dirty="0"/>
          </a:p>
        </p:txBody>
      </p:sp>
      <p:sp>
        <p:nvSpPr>
          <p:cNvPr id="22" name="21 CuadroTexto"/>
          <p:cNvSpPr txBox="1"/>
          <p:nvPr/>
        </p:nvSpPr>
        <p:spPr>
          <a:xfrm>
            <a:off x="3947035" y="3556252"/>
            <a:ext cx="4447927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¿Por qué lo compra?</a:t>
            </a:r>
          </a:p>
          <a:p>
            <a:pPr algn="ctr"/>
            <a:r>
              <a:rPr lang="es-ES_tradnl" dirty="0"/>
              <a:t>(precio, seguridad, marca, costumbre, experiencia, modas, imitación, impulso,…)</a:t>
            </a:r>
            <a:endParaRPr lang="es-ES" dirty="0"/>
          </a:p>
        </p:txBody>
      </p:sp>
      <p:sp>
        <p:nvSpPr>
          <p:cNvPr id="23" name="22 CuadroTexto"/>
          <p:cNvSpPr txBox="1"/>
          <p:nvPr/>
        </p:nvSpPr>
        <p:spPr>
          <a:xfrm>
            <a:off x="509158" y="3376036"/>
            <a:ext cx="2617700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Hábitos de compra</a:t>
            </a:r>
          </a:p>
          <a:p>
            <a:pPr algn="ctr"/>
            <a:r>
              <a:rPr lang="es-ES_tradnl" dirty="0"/>
              <a:t>(Quién compra, dónde, cuándo, cuánto,…)</a:t>
            </a:r>
            <a:endParaRPr lang="es-ES" dirty="0"/>
          </a:p>
        </p:txBody>
      </p:sp>
      <p:sp>
        <p:nvSpPr>
          <p:cNvPr id="24" name="23 CuadroTexto"/>
          <p:cNvSpPr txBox="1"/>
          <p:nvPr/>
        </p:nvSpPr>
        <p:spPr>
          <a:xfrm>
            <a:off x="3429914" y="2026585"/>
            <a:ext cx="2206898" cy="923330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Datos económicos</a:t>
            </a:r>
          </a:p>
          <a:p>
            <a:pPr algn="ctr"/>
            <a:r>
              <a:rPr lang="es-ES_tradnl" dirty="0"/>
              <a:t>(Renta, disposición a pagar…)</a:t>
            </a:r>
            <a:endParaRPr lang="es-ES" dirty="0"/>
          </a:p>
        </p:txBody>
      </p:sp>
      <p:sp>
        <p:nvSpPr>
          <p:cNvPr id="25" name="24 CuadroTexto"/>
          <p:cNvSpPr txBox="1"/>
          <p:nvPr/>
        </p:nvSpPr>
        <p:spPr>
          <a:xfrm>
            <a:off x="6170999" y="1899152"/>
            <a:ext cx="2206898" cy="1477328"/>
          </a:xfrm>
          <a:prstGeom prst="rect">
            <a:avLst/>
          </a:prstGeom>
          <a:noFill/>
          <a:ln w="254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_tradnl" b="1" dirty="0"/>
              <a:t>Gustos y preferencias </a:t>
            </a:r>
            <a:r>
              <a:rPr lang="es-ES_tradnl" dirty="0"/>
              <a:t>(que le gusta del producto, como preferiría que fuera, </a:t>
            </a:r>
            <a:r>
              <a:rPr lang="es-ES_tradnl" dirty="0" err="1"/>
              <a:t>etc</a:t>
            </a:r>
            <a:r>
              <a:rPr lang="es-ES_tradnl" dirty="0"/>
              <a:t>)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1AB36C83-5432-40D1-8FD5-B1599E9656E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00" t="47207" r="66165" b="31495"/>
          <a:stretch/>
        </p:blipFill>
        <p:spPr>
          <a:xfrm>
            <a:off x="444540" y="4721570"/>
            <a:ext cx="5400600" cy="1944784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 rot="5400000">
            <a:off x="1655477" y="4346103"/>
            <a:ext cx="3250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b="1" dirty="0">
                <a:sym typeface="Wingdings" panose="05000000000000000000" pitchFamily="2" charset="2"/>
              </a:rPr>
              <a:t>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075749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DF6D80F-D478-405C-8D85-3697BDC13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87" y="2214599"/>
            <a:ext cx="7485269" cy="3553674"/>
          </a:xfrm>
        </p:spPr>
      </p:pic>
      <p:sp>
        <p:nvSpPr>
          <p:cNvPr id="9" name="9 CuadroTexto">
            <a:extLst>
              <a:ext uri="{FF2B5EF4-FFF2-40B4-BE49-F238E27FC236}">
                <a16:creationId xmlns:a16="http://schemas.microsoft.com/office/drawing/2014/main" id="{A426316E-5208-4B3A-AE95-C605D232E4E1}"/>
              </a:ext>
            </a:extLst>
          </p:cNvPr>
          <p:cNvSpPr txBox="1"/>
          <p:nvPr/>
        </p:nvSpPr>
        <p:spPr>
          <a:xfrm>
            <a:off x="188398" y="277462"/>
            <a:ext cx="5040560" cy="3693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s-ES_tradnl" b="1" dirty="0"/>
              <a:t>B) Lienzo de propuesta de valor y </a:t>
            </a:r>
            <a:r>
              <a:rPr lang="es-ES_tradnl" b="1" dirty="0" err="1"/>
              <a:t>Early</a:t>
            </a:r>
            <a:r>
              <a:rPr lang="es-ES_tradnl" b="1" dirty="0"/>
              <a:t> </a:t>
            </a:r>
            <a:r>
              <a:rPr lang="es-ES_tradnl" b="1" dirty="0" err="1"/>
              <a:t>Adopters</a:t>
            </a:r>
            <a:endParaRPr lang="es-ES" b="1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585420-4B6F-4F2C-995E-27809620F52B}"/>
              </a:ext>
            </a:extLst>
          </p:cNvPr>
          <p:cNvGrpSpPr/>
          <p:nvPr/>
        </p:nvGrpSpPr>
        <p:grpSpPr>
          <a:xfrm>
            <a:off x="6657617" y="1769934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095B3B81-C17F-4BC7-A269-6A08C4765154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12" name="Elipse 4">
              <a:extLst>
                <a:ext uri="{FF2B5EF4-FFF2-40B4-BE49-F238E27FC236}">
                  <a16:creationId xmlns:a16="http://schemas.microsoft.com/office/drawing/2014/main" id="{43787642-233D-4D77-92AD-86F327AD7517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Qué</a:t>
              </a:r>
              <a:r>
                <a:rPr lang="es-ES_tradnl" sz="1100" b="1" dirty="0">
                  <a:solidFill>
                    <a:schemeClr val="tx2"/>
                  </a:solidFill>
                </a:rPr>
                <a:t> busca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CAB4F34-474B-4A16-A501-20023E9A5C4F}"/>
              </a:ext>
            </a:extLst>
          </p:cNvPr>
          <p:cNvGrpSpPr/>
          <p:nvPr/>
        </p:nvGrpSpPr>
        <p:grpSpPr>
          <a:xfrm>
            <a:off x="7763136" y="2829212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DD1604E0-E0F9-402A-BF90-8D4854078C7B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15" name="Elipse 4">
              <a:extLst>
                <a:ext uri="{FF2B5EF4-FFF2-40B4-BE49-F238E27FC236}">
                  <a16:creationId xmlns:a16="http://schemas.microsoft.com/office/drawing/2014/main" id="{6E936F99-3FEF-453C-81AA-2E88498B77FA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Qué hace ahora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2506926-B0D4-4E2F-B64B-BD4AF23013FF}"/>
              </a:ext>
            </a:extLst>
          </p:cNvPr>
          <p:cNvGrpSpPr/>
          <p:nvPr/>
        </p:nvGrpSpPr>
        <p:grpSpPr>
          <a:xfrm>
            <a:off x="7521596" y="4797152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C59B39E8-0FE9-4CEF-9649-3F5D469CF128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18" name="Elipse 4">
              <a:extLst>
                <a:ext uri="{FF2B5EF4-FFF2-40B4-BE49-F238E27FC236}">
                  <a16:creationId xmlns:a16="http://schemas.microsoft.com/office/drawing/2014/main" id="{6D7E7840-5860-435E-801B-3326C1ECE84D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Que tiene el cliente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85FCCBC-B951-4202-BB49-058B132C90F2}"/>
              </a:ext>
            </a:extLst>
          </p:cNvPr>
          <p:cNvGrpSpPr/>
          <p:nvPr/>
        </p:nvGrpSpPr>
        <p:grpSpPr>
          <a:xfrm>
            <a:off x="2041819" y="1717208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688E93D7-2CA3-4C94-86ED-43539CF26A23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1" name="Elipse 4">
              <a:extLst>
                <a:ext uri="{FF2B5EF4-FFF2-40B4-BE49-F238E27FC236}">
                  <a16:creationId xmlns:a16="http://schemas.microsoft.com/office/drawing/2014/main" id="{8524E559-E81B-4305-A62A-0A3ABA01EA87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Describir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productos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54DDFA8-1C2A-4594-85BB-8FE7C0102BF9}"/>
              </a:ext>
            </a:extLst>
          </p:cNvPr>
          <p:cNvGrpSpPr/>
          <p:nvPr/>
        </p:nvGrpSpPr>
        <p:grpSpPr>
          <a:xfrm>
            <a:off x="4170580" y="1740541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7567B6E-DA72-4624-A05F-2D59326877BE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4" name="Elipse 4">
              <a:extLst>
                <a:ext uri="{FF2B5EF4-FFF2-40B4-BE49-F238E27FC236}">
                  <a16:creationId xmlns:a16="http://schemas.microsoft.com/office/drawing/2014/main" id="{0F1C757F-452A-44AE-9B4C-F1785ACDC1C8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Obtendrá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el cliente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65906507-BE79-4292-920B-99D1B65B8607}"/>
              </a:ext>
            </a:extLst>
          </p:cNvPr>
          <p:cNvGrpSpPr/>
          <p:nvPr/>
        </p:nvGrpSpPr>
        <p:grpSpPr>
          <a:xfrm>
            <a:off x="1763688" y="5393930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076F5A75-FF4F-43AE-AA08-1CF9DC30A197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27" name="Elipse 4">
              <a:extLst>
                <a:ext uri="{FF2B5EF4-FFF2-40B4-BE49-F238E27FC236}">
                  <a16:creationId xmlns:a16="http://schemas.microsoft.com/office/drawing/2014/main" id="{F4E98F9B-1099-48EF-8466-6E63211919A9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Posibles</a:t>
              </a:r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dirty="0">
                  <a:solidFill>
                    <a:schemeClr val="tx2"/>
                  </a:solidFill>
                </a:rPr>
                <a:t>soluciones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912ECEA-F6E0-4AEA-95B3-7BEA3ABE349A}"/>
              </a:ext>
            </a:extLst>
          </p:cNvPr>
          <p:cNvGrpSpPr/>
          <p:nvPr/>
        </p:nvGrpSpPr>
        <p:grpSpPr>
          <a:xfrm>
            <a:off x="15913" y="2455609"/>
            <a:ext cx="1035594" cy="360039"/>
            <a:chOff x="1524338" y="72017"/>
            <a:chExt cx="2198064" cy="509369"/>
          </a:xfrm>
          <a:scene3d>
            <a:camera prst="orthographicFront">
              <a:rot lat="0" lon="0" rev="0"/>
            </a:camera>
            <a:lightRig rig="contrasting" dir="t">
              <a:rot lat="0" lon="0" rev="1200000"/>
            </a:lightRig>
          </a:scene3d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68C3F569-34C9-4572-A8D8-614BD45CA6FA}"/>
                </a:ext>
              </a:extLst>
            </p:cNvPr>
            <p:cNvSpPr/>
            <p:nvPr/>
          </p:nvSpPr>
          <p:spPr>
            <a:xfrm>
              <a:off x="1524338" y="72017"/>
              <a:ext cx="2198064" cy="509369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sp3d contourW="12700" prstMaterial="clear">
              <a:bevelT w="177800" h="254000"/>
              <a:bevelB w="1524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/>
            <a:lstStyle/>
            <a:p>
              <a:endParaRPr lang="es-ES_tradnl"/>
            </a:p>
          </p:txBody>
        </p:sp>
        <p:sp>
          <p:nvSpPr>
            <p:cNvPr id="30" name="Elipse 4">
              <a:extLst>
                <a:ext uri="{FF2B5EF4-FFF2-40B4-BE49-F238E27FC236}">
                  <a16:creationId xmlns:a16="http://schemas.microsoft.com/office/drawing/2014/main" id="{25302F74-2CF9-4588-863A-8E78EDCC72BA}"/>
                </a:ext>
              </a:extLst>
            </p:cNvPr>
            <p:cNvSpPr txBox="1"/>
            <p:nvPr/>
          </p:nvSpPr>
          <p:spPr>
            <a:xfrm>
              <a:off x="1846237" y="146612"/>
              <a:ext cx="1554266" cy="36017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25400" tIns="25400" rIns="25400" bIns="254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s-ES_tradnl" sz="1100" b="1" kern="1200" dirty="0">
                  <a:solidFill>
                    <a:schemeClr val="tx2"/>
                  </a:solidFill>
                </a:rPr>
                <a:t>Y valida</a:t>
              </a:r>
              <a:endParaRPr lang="es-ES" sz="1100" b="1" kern="1200" dirty="0">
                <a:solidFill>
                  <a:schemeClr val="tx2"/>
                </a:solidFill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ECD9069F-8498-31BE-E646-9D6AD612F2DD}"/>
              </a:ext>
            </a:extLst>
          </p:cNvPr>
          <p:cNvSpPr txBox="1"/>
          <p:nvPr/>
        </p:nvSpPr>
        <p:spPr>
          <a:xfrm>
            <a:off x="395536" y="980728"/>
            <a:ext cx="81616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Una vez conocemos a nuestros </a:t>
            </a:r>
            <a:r>
              <a:rPr lang="es-ES_tradnl" dirty="0" err="1"/>
              <a:t>early</a:t>
            </a:r>
            <a:r>
              <a:rPr lang="es-ES_tradnl" dirty="0"/>
              <a:t> </a:t>
            </a:r>
            <a:r>
              <a:rPr lang="es-ES_tradnl" dirty="0" err="1"/>
              <a:t>adopters</a:t>
            </a:r>
            <a:r>
              <a:rPr lang="es-ES_tradnl" dirty="0"/>
              <a:t>, es importante realizar el </a:t>
            </a:r>
            <a:r>
              <a:rPr lang="es-ES_tradnl" b="1" dirty="0"/>
              <a:t>Lienzo de la propuesta de valor. Dicho lienzo se compone de 7 bloques: </a:t>
            </a:r>
          </a:p>
        </p:txBody>
      </p:sp>
    </p:spTree>
    <p:extLst>
      <p:ext uri="{BB962C8B-B14F-4D97-AF65-F5344CB8AC3E}">
        <p14:creationId xmlns:p14="http://schemas.microsoft.com/office/powerpoint/2010/main" val="1974004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11 CuadroTexto"/>
          <p:cNvSpPr txBox="1"/>
          <p:nvPr/>
        </p:nvSpPr>
        <p:spPr>
          <a:xfrm>
            <a:off x="524146" y="1801908"/>
            <a:ext cx="8305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dirty="0"/>
              <a:t>En el círculo del centro se describe </a:t>
            </a:r>
            <a:r>
              <a:rPr lang="es-ES_tradnl" sz="1600" b="1" dirty="0"/>
              <a:t>cómo es este segmento de mercado </a:t>
            </a:r>
            <a:r>
              <a:rPr lang="es-ES_tradnl" sz="1600" dirty="0"/>
              <a:t>y qué características les definen: datos básicos, económicos, sus gustos y preferencias </a:t>
            </a:r>
            <a:endParaRPr lang="es-ES" sz="1600" dirty="0"/>
          </a:p>
        </p:txBody>
      </p:sp>
      <p:sp>
        <p:nvSpPr>
          <p:cNvPr id="35" name="11 CuadroTexto"/>
          <p:cNvSpPr txBox="1"/>
          <p:nvPr/>
        </p:nvSpPr>
        <p:spPr>
          <a:xfrm>
            <a:off x="559318" y="1413881"/>
            <a:ext cx="8305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b="1" u="sng" dirty="0"/>
              <a:t>Paso 1:</a:t>
            </a:r>
            <a:r>
              <a:rPr lang="es-ES_tradnl" sz="1600" b="1" dirty="0"/>
              <a:t> Describe a tu </a:t>
            </a:r>
            <a:r>
              <a:rPr lang="es-ES_tradnl" sz="1600" b="1" dirty="0" err="1"/>
              <a:t>Early</a:t>
            </a:r>
            <a:r>
              <a:rPr lang="es-ES_tradnl" sz="1600" b="1" dirty="0"/>
              <a:t> </a:t>
            </a:r>
            <a:r>
              <a:rPr lang="es-ES_tradnl" sz="1600" b="1" dirty="0" err="1"/>
              <a:t>Adopters</a:t>
            </a:r>
            <a:endParaRPr lang="es-ES" sz="1600" b="1" dirty="0"/>
          </a:p>
        </p:txBody>
      </p:sp>
      <p:sp>
        <p:nvSpPr>
          <p:cNvPr id="36" name="11 CuadroTexto"/>
          <p:cNvSpPr txBox="1"/>
          <p:nvPr/>
        </p:nvSpPr>
        <p:spPr>
          <a:xfrm>
            <a:off x="563964" y="2752290"/>
            <a:ext cx="8305735" cy="33855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sz="1600" b="1" u="sng" dirty="0">
                <a:solidFill>
                  <a:schemeClr val="tx1"/>
                </a:solidFill>
              </a:rPr>
              <a:t>Paso 2:</a:t>
            </a:r>
            <a:r>
              <a:rPr lang="es-ES_tradnl" sz="1600" b="1" dirty="0">
                <a:solidFill>
                  <a:schemeClr val="tx1"/>
                </a:solidFill>
              </a:rPr>
              <a:t> Empatiza con tus clientes</a:t>
            </a:r>
            <a:endParaRPr lang="es-ES" sz="1600" b="1" dirty="0">
              <a:solidFill>
                <a:schemeClr val="tx1"/>
              </a:solidFill>
            </a:endParaRPr>
          </a:p>
        </p:txBody>
      </p:sp>
      <p:sp>
        <p:nvSpPr>
          <p:cNvPr id="37" name="11 CuadroTexto"/>
          <p:cNvSpPr txBox="1"/>
          <p:nvPr/>
        </p:nvSpPr>
        <p:spPr>
          <a:xfrm>
            <a:off x="523048" y="3137845"/>
            <a:ext cx="830683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b="1" u="sng" dirty="0"/>
              <a:t>1. Los objetivos y necesidades</a:t>
            </a:r>
            <a:r>
              <a:rPr lang="es-ES_tradnl" sz="1600" b="1" dirty="0"/>
              <a:t>:</a:t>
            </a:r>
          </a:p>
          <a:p>
            <a:pPr algn="just"/>
            <a:r>
              <a:rPr lang="es-ES_tradnl" sz="1400" dirty="0"/>
              <a:t>Qué trata de conseguir, qué aspiraciones tiene y qué necesidades le motivan, es decir, ¿Qué busca al comprar un producto/servicio similar al nuestro?. </a:t>
            </a:r>
          </a:p>
          <a:p>
            <a:pPr algn="just"/>
            <a:r>
              <a:rPr lang="es-ES_tradnl" sz="1400" dirty="0"/>
              <a:t>Ejemplo en un gimnasio: perder peso, estar más en forma, conocer personas, preparar oposiciones, …</a:t>
            </a:r>
          </a:p>
          <a:p>
            <a:r>
              <a:rPr lang="es-ES_tradnl" sz="1600" b="1" u="sng" dirty="0"/>
              <a:t>2. Las acciones</a:t>
            </a:r>
            <a:r>
              <a:rPr lang="es-ES_tradnl" sz="1600" b="1" dirty="0"/>
              <a:t>:</a:t>
            </a:r>
          </a:p>
          <a:p>
            <a:pPr algn="just"/>
            <a:r>
              <a:rPr lang="es-ES_tradnl" sz="1400" dirty="0"/>
              <a:t>¿Qué está haciendo actualmente para conseguir los objetivos anteriores? ¿Cómo satisface esa necesidad?. Ejemplo: hace running por su cuenta, sigue un </a:t>
            </a:r>
            <a:r>
              <a:rPr lang="es-ES_tradnl" sz="1400" dirty="0" err="1"/>
              <a:t>youtuber</a:t>
            </a:r>
            <a:r>
              <a:rPr lang="es-ES_tradnl" sz="1400" dirty="0"/>
              <a:t>, hace senderismo,…</a:t>
            </a:r>
          </a:p>
          <a:p>
            <a:r>
              <a:rPr lang="es-ES_tradnl" sz="1600" b="1" u="sng" dirty="0"/>
              <a:t>3. Los problemas:</a:t>
            </a:r>
          </a:p>
          <a:p>
            <a:pPr algn="just"/>
            <a:r>
              <a:rPr lang="es-ES_tradnl" sz="1400" dirty="0"/>
              <a:t>¿Qué problemas encuentra o sufre el cliente con las soluciones que está utilizando? Ordena los problemas de más importantes a menos. Ejemplo: no tiene tiempo de acudir al gimnasio, le gustaría tener un monitor personal, …</a:t>
            </a:r>
          </a:p>
          <a:p>
            <a:pPr algn="just"/>
            <a:endParaRPr lang="es-ES_tradnl" sz="1400" dirty="0"/>
          </a:p>
        </p:txBody>
      </p:sp>
    </p:spTree>
    <p:extLst>
      <p:ext uri="{BB962C8B-B14F-4D97-AF65-F5344CB8AC3E}">
        <p14:creationId xmlns:p14="http://schemas.microsoft.com/office/powerpoint/2010/main" val="19011714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11 CuadroTexto"/>
          <p:cNvSpPr txBox="1"/>
          <p:nvPr/>
        </p:nvSpPr>
        <p:spPr>
          <a:xfrm>
            <a:off x="482060" y="859753"/>
            <a:ext cx="8253735" cy="33855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_tradnl" sz="1600" b="1" u="sng" dirty="0"/>
              <a:t>Paso 3:</a:t>
            </a:r>
            <a:r>
              <a:rPr lang="es-ES_tradnl" sz="1600" b="1" dirty="0"/>
              <a:t> Diseña la Propuesta de Valor</a:t>
            </a:r>
            <a:endParaRPr lang="es-ES" sz="1600" b="1" dirty="0"/>
          </a:p>
        </p:txBody>
      </p:sp>
      <p:sp>
        <p:nvSpPr>
          <p:cNvPr id="37" name="11 CuadroTexto"/>
          <p:cNvSpPr txBox="1"/>
          <p:nvPr/>
        </p:nvSpPr>
        <p:spPr>
          <a:xfrm>
            <a:off x="502435" y="1244846"/>
            <a:ext cx="820210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b="1" u="sng" dirty="0"/>
              <a:t>4. Las soluciones potenciales:</a:t>
            </a:r>
          </a:p>
          <a:p>
            <a:pPr algn="just"/>
            <a:r>
              <a:rPr lang="es-ES_tradnl" sz="1400" dirty="0"/>
              <a:t>Realizar un listado de las posibles soluciones que resuelvan o disminuyan los problemas que tienen los clientes y ordenarlas por la gravedad de problemas que solucionan. De esta forma las soluciones van emparejadas con los problemas reales,… Ejemplo: horario flexible, descuentos el primer año, monitor personal cada X personas, refuerzo con clases on-line,…</a:t>
            </a:r>
          </a:p>
          <a:p>
            <a:r>
              <a:rPr lang="es-ES_tradnl" sz="1600" b="1" u="sng" dirty="0"/>
              <a:t>5. Los beneficios:</a:t>
            </a:r>
          </a:p>
          <a:p>
            <a:pPr algn="just"/>
            <a:r>
              <a:rPr lang="es-ES_tradnl" sz="1400" dirty="0"/>
              <a:t>De las soluciones salen los beneficios que obtienen los clientes: ¿por qué motivos paga el cliente ese producto/servicio que va a comprarme? ¿Qué va a obtener? Ejemplo: flexibilizar el tiempo, mejora del precio, atención personalizada,…</a:t>
            </a:r>
          </a:p>
          <a:p>
            <a:r>
              <a:rPr lang="es-ES_tradnl" sz="1600" b="1" u="sng" dirty="0"/>
              <a:t>6. Los productos o servicios:</a:t>
            </a:r>
          </a:p>
          <a:p>
            <a:pPr algn="just"/>
            <a:r>
              <a:rPr lang="es-ES_tradnl" sz="1400" dirty="0"/>
              <a:t>Describir los productos/servicios a ofrecer a partir de todo el estudio anterior. De esta manera </a:t>
            </a:r>
            <a:r>
              <a:rPr lang="es-ES_tradnl" sz="1400" b="1" dirty="0"/>
              <a:t>los productos/servicios son una consecuencia de lo que necesita el cliente. </a:t>
            </a:r>
            <a:r>
              <a:rPr lang="es-ES_tradnl" sz="1400" dirty="0"/>
              <a:t>Ejemplo: </a:t>
            </a:r>
            <a:r>
              <a:rPr lang="es-ES_tradnl" sz="1400" u="sng" dirty="0"/>
              <a:t>horarios desde las 6:00 de la mañana, descuentos del 30% el primer año, el monitor realizará un seguimiento semanal de cada cliente.</a:t>
            </a:r>
          </a:p>
          <a:p>
            <a:pPr algn="just"/>
            <a:endParaRPr lang="es-ES_tradnl" sz="1400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06631" y="4492261"/>
            <a:ext cx="8293487" cy="338554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_tradnl" sz="1600" b="1" u="sng" dirty="0">
                <a:ln w="0"/>
                <a:solidFill>
                  <a:schemeClr val="tx1"/>
                </a:solidFill>
              </a:rPr>
              <a:t>Paso 4:</a:t>
            </a:r>
            <a:r>
              <a:rPr lang="es-ES_tradnl" sz="1600" b="1" dirty="0">
                <a:ln w="0"/>
                <a:solidFill>
                  <a:schemeClr val="tx1"/>
                </a:solidFill>
              </a:rPr>
              <a:t> Sal del edificio y entrevista</a:t>
            </a:r>
            <a:endParaRPr lang="es-ES" sz="1600" b="1" dirty="0">
              <a:ln w="0"/>
              <a:solidFill>
                <a:schemeClr val="tx1"/>
              </a:solidFill>
            </a:endParaRPr>
          </a:p>
        </p:txBody>
      </p:sp>
      <p:sp>
        <p:nvSpPr>
          <p:cNvPr id="13" name="11 CuadroTexto"/>
          <p:cNvSpPr txBox="1"/>
          <p:nvPr/>
        </p:nvSpPr>
        <p:spPr>
          <a:xfrm>
            <a:off x="410293" y="4838674"/>
            <a:ext cx="83255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_tradnl" sz="1600" b="1" dirty="0"/>
              <a:t>Piensa en 5-10 personas </a:t>
            </a:r>
            <a:r>
              <a:rPr lang="es-ES_tradnl" sz="1600" dirty="0"/>
              <a:t>que podrían encajar en el perfil de </a:t>
            </a:r>
            <a:r>
              <a:rPr lang="es-ES_tradnl" sz="1600" dirty="0" err="1"/>
              <a:t>early-adopter</a:t>
            </a:r>
            <a:r>
              <a:rPr lang="es-ES_tradnl" sz="1600" dirty="0"/>
              <a:t> para tu idea y que puedas entrevistar en una semana.</a:t>
            </a:r>
          </a:p>
          <a:p>
            <a:endParaRPr lang="es-ES_tradnl" sz="1600" dirty="0"/>
          </a:p>
          <a:p>
            <a:pPr algn="just"/>
            <a:r>
              <a:rPr lang="es-ES_tradnl" sz="1600" dirty="0"/>
              <a:t>El </a:t>
            </a:r>
            <a:r>
              <a:rPr lang="es-ES_tradnl" sz="1600" b="1" dirty="0"/>
              <a:t>objetivo</a:t>
            </a:r>
            <a:r>
              <a:rPr lang="es-ES_tradnl" sz="1600" dirty="0"/>
              <a:t> es sencillo, se trata de comprobar si lo que nosotros pensamos de los clientes es cierto o bien estamos equivocados y es más bien una apreciación personal nuestra. 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452311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Office 2013 - Tema de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1744</TotalTime>
  <Words>2059</Words>
  <Application>Microsoft Macintosh PowerPoint</Application>
  <PresentationFormat>Presentación en pantalla (4:3)</PresentationFormat>
  <Paragraphs>250</Paragraphs>
  <Slides>28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Times New Roman</vt:lpstr>
      <vt:lpstr>Wingdings</vt:lpstr>
      <vt:lpstr>Office 2013 - Tema de 2022</vt:lpstr>
      <vt:lpstr>Presentación de PowerPoint</vt:lpstr>
      <vt:lpstr>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TONI</dc:creator>
  <cp:lastModifiedBy>Ana Suárez Pérez</cp:lastModifiedBy>
  <cp:revision>249</cp:revision>
  <dcterms:created xsi:type="dcterms:W3CDTF">2013-09-12T06:29:10Z</dcterms:created>
  <dcterms:modified xsi:type="dcterms:W3CDTF">2025-10-06T11:25:42Z</dcterms:modified>
</cp:coreProperties>
</file>