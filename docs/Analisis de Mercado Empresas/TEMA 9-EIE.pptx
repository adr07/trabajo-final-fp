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92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94" r:id="rId6"/>
    <p:sldId id="295" r:id="rId7"/>
    <p:sldId id="292" r:id="rId8"/>
    <p:sldId id="296" r:id="rId9"/>
    <p:sldId id="274" r:id="rId10"/>
    <p:sldId id="297" r:id="rId11"/>
    <p:sldId id="283" r:id="rId12"/>
    <p:sldId id="301" r:id="rId13"/>
    <p:sldId id="298" r:id="rId14"/>
    <p:sldId id="299" r:id="rId15"/>
    <p:sldId id="300" r:id="rId16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71" autoAdjust="0"/>
    <p:restoredTop sz="94650"/>
  </p:normalViewPr>
  <p:slideViewPr>
    <p:cSldViewPr>
      <p:cViewPr varScale="1">
        <p:scale>
          <a:sx n="84" d="100"/>
          <a:sy n="84" d="100"/>
        </p:scale>
        <p:origin x="1530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64606D-EFF1-4F9B-84F3-FEB66F2C04E6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20DA1774-2F10-431F-B4D1-B14E6B555DEA}">
      <dgm:prSet phldrT="[Texto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s-ES_tradnl" sz="1800" b="1" dirty="0">
              <a:solidFill>
                <a:schemeClr val="tx1"/>
              </a:solidFill>
            </a:rPr>
            <a:t>Balance</a:t>
          </a:r>
          <a:endParaRPr lang="es-ES" sz="1800" b="1" dirty="0">
            <a:solidFill>
              <a:schemeClr val="tx1"/>
            </a:solidFill>
          </a:endParaRPr>
        </a:p>
      </dgm:t>
    </dgm:pt>
    <dgm:pt modelId="{DE2424A6-93DA-463A-BB34-2DD13E2EDD3A}" type="parTrans" cxnId="{D77A7430-DE24-4390-823C-A2ECAE94B3F6}">
      <dgm:prSet/>
      <dgm:spPr/>
      <dgm:t>
        <a:bodyPr/>
        <a:lstStyle/>
        <a:p>
          <a:endParaRPr lang="es-ES" sz="1800"/>
        </a:p>
      </dgm:t>
    </dgm:pt>
    <dgm:pt modelId="{76449FB5-EE42-442D-ADF0-D728F412228F}" type="sibTrans" cxnId="{D77A7430-DE24-4390-823C-A2ECAE94B3F6}">
      <dgm:prSet/>
      <dgm:spPr/>
      <dgm:t>
        <a:bodyPr/>
        <a:lstStyle/>
        <a:p>
          <a:endParaRPr lang="es-ES" sz="1800"/>
        </a:p>
      </dgm:t>
    </dgm:pt>
    <dgm:pt modelId="{52AB2401-5F6F-42C1-BFCC-54A4DC714AFC}">
      <dgm:prSet phldrT="[Texto]" custT="1"/>
      <dgm:spPr/>
      <dgm:t>
        <a:bodyPr/>
        <a:lstStyle/>
        <a:p>
          <a:pPr algn="just">
            <a:buNone/>
          </a:pPr>
          <a:r>
            <a:rPr lang="es-ES_tradnl" sz="1800" dirty="0">
              <a:solidFill>
                <a:schemeClr val="tx1"/>
              </a:solidFill>
            </a:rPr>
            <a:t>Estado contable que refleja la situación del patrimonio de la empresa en un día concreto (fotografía instantánea del patrimonio)</a:t>
          </a:r>
          <a:endParaRPr lang="es-ES" sz="1800" dirty="0">
            <a:solidFill>
              <a:schemeClr val="tx1"/>
            </a:solidFill>
          </a:endParaRPr>
        </a:p>
      </dgm:t>
    </dgm:pt>
    <dgm:pt modelId="{730EE574-F3C4-4EF5-9EF2-74440E22DCEE}" type="parTrans" cxnId="{CE2E2A1E-853F-42FD-9F8D-44B84295CBAB}">
      <dgm:prSet/>
      <dgm:spPr/>
      <dgm:t>
        <a:bodyPr/>
        <a:lstStyle/>
        <a:p>
          <a:endParaRPr lang="es-ES" sz="1800"/>
        </a:p>
      </dgm:t>
    </dgm:pt>
    <dgm:pt modelId="{2731C732-76C9-45B3-9723-78C19835D549}" type="sibTrans" cxnId="{CE2E2A1E-853F-42FD-9F8D-44B84295CBAB}">
      <dgm:prSet/>
      <dgm:spPr/>
      <dgm:t>
        <a:bodyPr/>
        <a:lstStyle/>
        <a:p>
          <a:endParaRPr lang="es-ES" sz="1800"/>
        </a:p>
      </dgm:t>
    </dgm:pt>
    <dgm:pt modelId="{62376258-4861-4522-8A4A-E0E6926503C1}" type="pres">
      <dgm:prSet presAssocID="{D764606D-EFF1-4F9B-84F3-FEB66F2C04E6}" presName="Name0" presStyleCnt="0">
        <dgm:presLayoutVars>
          <dgm:dir/>
          <dgm:animLvl val="lvl"/>
          <dgm:resizeHandles/>
        </dgm:presLayoutVars>
      </dgm:prSet>
      <dgm:spPr/>
    </dgm:pt>
    <dgm:pt modelId="{FCBE8121-FE7D-4624-A9A6-DE53AD21F7C8}" type="pres">
      <dgm:prSet presAssocID="{20DA1774-2F10-431F-B4D1-B14E6B555DEA}" presName="linNode" presStyleCnt="0"/>
      <dgm:spPr/>
    </dgm:pt>
    <dgm:pt modelId="{88AB60C0-10F5-4527-809B-607DCDDAE206}" type="pres">
      <dgm:prSet presAssocID="{20DA1774-2F10-431F-B4D1-B14E6B555DEA}" presName="parentShp" presStyleLbl="node1" presStyleIdx="0" presStyleCnt="1" custScaleX="57221" custScaleY="62100" custLinFactNeighborX="-2346" custLinFactNeighborY="-4003">
        <dgm:presLayoutVars>
          <dgm:bulletEnabled val="1"/>
        </dgm:presLayoutVars>
      </dgm:prSet>
      <dgm:spPr/>
    </dgm:pt>
    <dgm:pt modelId="{8100E588-D3FA-47D6-8621-29A5E8C7A1A9}" type="pres">
      <dgm:prSet presAssocID="{20DA1774-2F10-431F-B4D1-B14E6B555DEA}" presName="childShp" presStyleLbl="bgAccFollowNode1" presStyleIdx="0" presStyleCnt="1" custScaleX="128507" custScaleY="100098">
        <dgm:presLayoutVars>
          <dgm:bulletEnabled val="1"/>
        </dgm:presLayoutVars>
      </dgm:prSet>
      <dgm:spPr/>
    </dgm:pt>
  </dgm:ptLst>
  <dgm:cxnLst>
    <dgm:cxn modelId="{CE2E2A1E-853F-42FD-9F8D-44B84295CBAB}" srcId="{20DA1774-2F10-431F-B4D1-B14E6B555DEA}" destId="{52AB2401-5F6F-42C1-BFCC-54A4DC714AFC}" srcOrd="0" destOrd="0" parTransId="{730EE574-F3C4-4EF5-9EF2-74440E22DCEE}" sibTransId="{2731C732-76C9-45B3-9723-78C19835D549}"/>
    <dgm:cxn modelId="{D77A7430-DE24-4390-823C-A2ECAE94B3F6}" srcId="{D764606D-EFF1-4F9B-84F3-FEB66F2C04E6}" destId="{20DA1774-2F10-431F-B4D1-B14E6B555DEA}" srcOrd="0" destOrd="0" parTransId="{DE2424A6-93DA-463A-BB34-2DD13E2EDD3A}" sibTransId="{76449FB5-EE42-442D-ADF0-D728F412228F}"/>
    <dgm:cxn modelId="{80E44166-F008-4E9D-82FE-BC7A79E419B6}" type="presOf" srcId="{20DA1774-2F10-431F-B4D1-B14E6B555DEA}" destId="{88AB60C0-10F5-4527-809B-607DCDDAE206}" srcOrd="0" destOrd="0" presId="urn:microsoft.com/office/officeart/2005/8/layout/vList6"/>
    <dgm:cxn modelId="{B072747D-A8A9-467E-A6B6-1428119EF25C}" type="presOf" srcId="{52AB2401-5F6F-42C1-BFCC-54A4DC714AFC}" destId="{8100E588-D3FA-47D6-8621-29A5E8C7A1A9}" srcOrd="0" destOrd="0" presId="urn:microsoft.com/office/officeart/2005/8/layout/vList6"/>
    <dgm:cxn modelId="{A1C76AD0-71EE-43E0-8BD1-A6E4DF1A4900}" type="presOf" srcId="{D764606D-EFF1-4F9B-84F3-FEB66F2C04E6}" destId="{62376258-4861-4522-8A4A-E0E6926503C1}" srcOrd="0" destOrd="0" presId="urn:microsoft.com/office/officeart/2005/8/layout/vList6"/>
    <dgm:cxn modelId="{76838C18-645C-4996-A0A4-77489C78A90A}" type="presParOf" srcId="{62376258-4861-4522-8A4A-E0E6926503C1}" destId="{FCBE8121-FE7D-4624-A9A6-DE53AD21F7C8}" srcOrd="0" destOrd="0" presId="urn:microsoft.com/office/officeart/2005/8/layout/vList6"/>
    <dgm:cxn modelId="{E6C05DA2-860C-4070-A13C-2A46996BB07E}" type="presParOf" srcId="{FCBE8121-FE7D-4624-A9A6-DE53AD21F7C8}" destId="{88AB60C0-10F5-4527-809B-607DCDDAE206}" srcOrd="0" destOrd="0" presId="urn:microsoft.com/office/officeart/2005/8/layout/vList6"/>
    <dgm:cxn modelId="{DCB06C9A-D936-43C7-9D03-131DBEE58DBC}" type="presParOf" srcId="{FCBE8121-FE7D-4624-A9A6-DE53AD21F7C8}" destId="{8100E588-D3FA-47D6-8621-29A5E8C7A1A9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4D50D9-4E9D-48DD-ABD7-A56E45E0C429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3E423FE2-945F-46DC-91D5-9535A337C523}">
      <dgm:prSet phldrT="[Texto]" custT="1"/>
      <dgm:spPr/>
      <dgm:t>
        <a:bodyPr/>
        <a:lstStyle/>
        <a:p>
          <a:r>
            <a:rPr lang="es-ES_tradnl" sz="3600" b="1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rPr>
            <a:t>Activo no corriente</a:t>
          </a:r>
        </a:p>
        <a:p>
          <a:r>
            <a:rPr lang="es-ES_tradnl" sz="2000" b="1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rPr>
            <a:t>Bienes de inversión que estarán en la empresa </a:t>
          </a:r>
          <a:r>
            <a:rPr lang="es-ES_tradnl" sz="2000" b="1" i="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rPr>
            <a:t>más</a:t>
          </a:r>
          <a:r>
            <a:rPr lang="es-ES_tradnl" sz="2000" b="1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rPr>
            <a:t> de 1 año</a:t>
          </a:r>
          <a:endParaRPr lang="es-ES" sz="2000" b="1" i="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anose="020B0606020202030204" pitchFamily="34" charset="0"/>
          </a:endParaRPr>
        </a:p>
      </dgm:t>
    </dgm:pt>
    <dgm:pt modelId="{818A68EC-2199-4487-A354-E154A222F9C6}" type="parTrans" cxnId="{31FEBA46-17AE-4392-92A5-E82B9BF1EFD6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3613C62B-0C86-4215-9866-B7C78213237E}" type="sibTrans" cxnId="{31FEBA46-17AE-4392-92A5-E82B9BF1EFD6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2DC8AF70-3D89-4396-BDCD-F8744E6D8E35}">
      <dgm:prSet phldrT="[Texto]" custT="1"/>
      <dgm:spPr/>
      <dgm:t>
        <a:bodyPr/>
        <a:lstStyle/>
        <a:p>
          <a:r>
            <a:rPr lang="es-ES_tradnl" sz="1800" dirty="0">
              <a:latin typeface="Arial Narrow" panose="020B0606020202030204" pitchFamily="34" charset="0"/>
            </a:rPr>
            <a:t>Terrenos</a:t>
          </a:r>
          <a:endParaRPr lang="es-ES" sz="1800" dirty="0">
            <a:latin typeface="Arial Narrow" panose="020B0606020202030204" pitchFamily="34" charset="0"/>
          </a:endParaRPr>
        </a:p>
      </dgm:t>
    </dgm:pt>
    <dgm:pt modelId="{58703499-56FD-4121-BC45-314CBE1AEAA4}" type="parTrans" cxnId="{272CD81A-C712-401A-AA5D-B8A68B4A1A1C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B97128C8-7A0F-4AEA-816E-953D0C5FA98F}" type="sibTrans" cxnId="{272CD81A-C712-401A-AA5D-B8A68B4A1A1C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521C609F-BFF9-4BAB-9A8B-B01845A5ECB1}">
      <dgm:prSet phldrT="[Texto]" custT="1"/>
      <dgm:spPr/>
      <dgm:t>
        <a:bodyPr/>
        <a:lstStyle/>
        <a:p>
          <a:r>
            <a:rPr lang="es-ES_tradnl" sz="20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rPr>
            <a:t>Existencias</a:t>
          </a:r>
          <a:endParaRPr lang="es-ES" sz="2000" b="1" i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anose="020B0606020202030204" pitchFamily="34" charset="0"/>
          </a:endParaRPr>
        </a:p>
      </dgm:t>
    </dgm:pt>
    <dgm:pt modelId="{877632FB-29C4-4F60-9D66-64796905E8A6}" type="parTrans" cxnId="{4012FD24-9379-4C5D-8A27-2DD64B57B115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6250DF59-14BF-4AB9-AE2B-920DD1B26508}" type="sibTrans" cxnId="{4012FD24-9379-4C5D-8A27-2DD64B57B115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D0FE8E64-E639-4597-833C-48344A9FBF13}">
      <dgm:prSet phldrT="[Texto]" custT="1"/>
      <dgm:spPr/>
      <dgm:t>
        <a:bodyPr/>
        <a:lstStyle/>
        <a:p>
          <a:r>
            <a:rPr lang="es-ES_tradnl" sz="1800" dirty="0">
              <a:latin typeface="Arial Narrow" panose="020B0606020202030204" pitchFamily="34" charset="0"/>
            </a:rPr>
            <a:t>Mercaderías</a:t>
          </a:r>
          <a:endParaRPr lang="es-ES" sz="1800" dirty="0">
            <a:latin typeface="Arial Narrow" panose="020B0606020202030204" pitchFamily="34" charset="0"/>
          </a:endParaRPr>
        </a:p>
      </dgm:t>
    </dgm:pt>
    <dgm:pt modelId="{4B3275A0-B53D-412D-A0F1-A1F43D71B370}" type="parTrans" cxnId="{9A53D66C-EF83-47C1-943B-E0C509189EFF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34E85088-9883-43B6-966A-E2957282F214}" type="sibTrans" cxnId="{9A53D66C-EF83-47C1-943B-E0C509189EFF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DB127F86-9876-40F2-9A0A-BBF4C50AD57C}">
      <dgm:prSet phldrT="[Texto]" custT="1"/>
      <dgm:spPr/>
      <dgm:t>
        <a:bodyPr/>
        <a:lstStyle/>
        <a:p>
          <a:r>
            <a:rPr lang="es-ES_tradnl" sz="20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rPr>
            <a:t>Realizable</a:t>
          </a:r>
          <a:endParaRPr lang="es-ES" sz="2000" b="1" i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anose="020B0606020202030204" pitchFamily="34" charset="0"/>
          </a:endParaRPr>
        </a:p>
      </dgm:t>
    </dgm:pt>
    <dgm:pt modelId="{DDBA128D-74D6-46AA-8C2B-E1E9660C728C}" type="parTrans" cxnId="{470F0ACE-A3AD-4A14-BCD5-CA7CCF27FBA7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3CCAB35C-8413-44CC-A38F-9A3E36BA4277}" type="sibTrans" cxnId="{470F0ACE-A3AD-4A14-BCD5-CA7CCF27FBA7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414945D7-D3E2-4E55-B081-E7FC3B11D71F}">
      <dgm:prSet phldrT="[Texto]" custT="1"/>
      <dgm:spPr/>
      <dgm:t>
        <a:bodyPr/>
        <a:lstStyle/>
        <a:p>
          <a:r>
            <a:rPr lang="es-ES_tradnl" sz="1800" dirty="0">
              <a:latin typeface="Arial Narrow" panose="020B0606020202030204" pitchFamily="34" charset="0"/>
            </a:rPr>
            <a:t>Clientes (deudas de clientes)</a:t>
          </a:r>
          <a:endParaRPr lang="es-ES" sz="1800" dirty="0">
            <a:latin typeface="Arial Narrow" panose="020B0606020202030204" pitchFamily="34" charset="0"/>
          </a:endParaRPr>
        </a:p>
      </dgm:t>
    </dgm:pt>
    <dgm:pt modelId="{8FE74879-88C9-4AD9-92A1-A59AB7BB758B}" type="parTrans" cxnId="{9B7EF29E-8AD1-498C-A0D9-E33BB4267C65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CED8A845-2BC4-4496-92CA-5E4F6548055C}" type="sibTrans" cxnId="{9B7EF29E-8AD1-498C-A0D9-E33BB4267C65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93AA0169-0C69-4651-BB2F-13F60AD5C457}">
      <dgm:prSet phldrT="[Texto]" custT="1"/>
      <dgm:spPr/>
      <dgm:t>
        <a:bodyPr/>
        <a:lstStyle/>
        <a:p>
          <a:r>
            <a:rPr lang="es-ES_tradnl" sz="1800" dirty="0">
              <a:latin typeface="Arial Narrow" panose="020B0606020202030204" pitchFamily="34" charset="0"/>
            </a:rPr>
            <a:t>Construcciones</a:t>
          </a:r>
          <a:endParaRPr lang="es-ES" sz="1800" dirty="0">
            <a:latin typeface="Arial Narrow" panose="020B0606020202030204" pitchFamily="34" charset="0"/>
          </a:endParaRPr>
        </a:p>
      </dgm:t>
    </dgm:pt>
    <dgm:pt modelId="{09BFCBD6-64D9-468C-A225-27CB3FD7C1F9}" type="parTrans" cxnId="{6D64910C-EFBF-4479-8CAE-A89B4ACDCEFB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D331DFD4-FB05-47CC-8336-8DCFC162AA5A}" type="sibTrans" cxnId="{6D64910C-EFBF-4479-8CAE-A89B4ACDCEFB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F9EDBC0A-C3D1-4750-AF6F-4EF501FBD1AE}">
      <dgm:prSet phldrT="[Texto]" custT="1"/>
      <dgm:spPr/>
      <dgm:t>
        <a:bodyPr/>
        <a:lstStyle/>
        <a:p>
          <a:r>
            <a:rPr lang="es-ES_tradnl" sz="1800" dirty="0">
              <a:latin typeface="Arial Narrow" panose="020B0606020202030204" pitchFamily="34" charset="0"/>
            </a:rPr>
            <a:t>Maquinaria</a:t>
          </a:r>
          <a:endParaRPr lang="es-ES" sz="1800" dirty="0">
            <a:latin typeface="Arial Narrow" panose="020B0606020202030204" pitchFamily="34" charset="0"/>
          </a:endParaRPr>
        </a:p>
      </dgm:t>
    </dgm:pt>
    <dgm:pt modelId="{5E116048-419C-4F21-86AA-52CACD56D67A}" type="parTrans" cxnId="{0EE310ED-FE8D-4192-A0B0-7BC42E7AF2C1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1025FB2B-27A5-41C4-9954-65A05D0D9A86}" type="sibTrans" cxnId="{0EE310ED-FE8D-4192-A0B0-7BC42E7AF2C1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A7A4E197-C1CE-422F-B363-29081FEABB00}">
      <dgm:prSet phldrT="[Texto]" custT="1"/>
      <dgm:spPr/>
      <dgm:t>
        <a:bodyPr/>
        <a:lstStyle/>
        <a:p>
          <a:r>
            <a:rPr lang="es-ES_tradnl" sz="1800" dirty="0">
              <a:latin typeface="Arial Narrow" panose="020B0606020202030204" pitchFamily="34" charset="0"/>
            </a:rPr>
            <a:t>Utillaje (herramientas y útiles que duran más de 1 año)</a:t>
          </a:r>
          <a:endParaRPr lang="es-ES" sz="1800" dirty="0">
            <a:latin typeface="Arial Narrow" panose="020B0606020202030204" pitchFamily="34" charset="0"/>
          </a:endParaRPr>
        </a:p>
      </dgm:t>
    </dgm:pt>
    <dgm:pt modelId="{8A42D15E-D0BD-4960-BA0A-415D8FA918E3}" type="parTrans" cxnId="{EE559225-B48D-41F0-8185-911A0F8068A7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E438A04A-22A2-4A9C-A029-012FA084B961}" type="sibTrans" cxnId="{EE559225-B48D-41F0-8185-911A0F8068A7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866B5135-FECB-43CA-88A6-73748C7BBD1B}">
      <dgm:prSet phldrT="[Texto]" custT="1"/>
      <dgm:spPr/>
      <dgm:t>
        <a:bodyPr/>
        <a:lstStyle/>
        <a:p>
          <a:r>
            <a:rPr lang="es-ES_tradnl" sz="1800" dirty="0">
              <a:latin typeface="Arial Narrow" panose="020B0606020202030204" pitchFamily="34" charset="0"/>
            </a:rPr>
            <a:t>Mobiliario</a:t>
          </a:r>
          <a:endParaRPr lang="es-ES" sz="1800" dirty="0">
            <a:latin typeface="Arial Narrow" panose="020B0606020202030204" pitchFamily="34" charset="0"/>
          </a:endParaRPr>
        </a:p>
      </dgm:t>
    </dgm:pt>
    <dgm:pt modelId="{CB5E635D-F25D-4E17-9A1E-559E32647819}" type="parTrans" cxnId="{8AF47CA3-8684-4011-A620-9747990423AD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01AE0349-AC96-4A81-BEEB-3896438D4DC5}" type="sibTrans" cxnId="{8AF47CA3-8684-4011-A620-9747990423AD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A4190434-CB27-47DA-AD7D-466F72E6B0C7}">
      <dgm:prSet phldrT="[Texto]" custT="1"/>
      <dgm:spPr/>
      <dgm:t>
        <a:bodyPr/>
        <a:lstStyle/>
        <a:p>
          <a:r>
            <a:rPr lang="es-ES_tradnl" sz="1800" dirty="0">
              <a:latin typeface="Arial Narrow" panose="020B0606020202030204" pitchFamily="34" charset="0"/>
            </a:rPr>
            <a:t>Equipos para proceso de información</a:t>
          </a:r>
          <a:endParaRPr lang="es-ES" sz="1800" dirty="0">
            <a:latin typeface="Arial Narrow" panose="020B0606020202030204" pitchFamily="34" charset="0"/>
          </a:endParaRPr>
        </a:p>
      </dgm:t>
    </dgm:pt>
    <dgm:pt modelId="{2411C4E1-1601-4ED5-96C8-F15D99DDC32D}" type="parTrans" cxnId="{E6C44FF4-395A-43A2-94A3-5F8090766CB5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B08F70F6-C3B2-4D73-AB35-7BA27D6D459C}" type="sibTrans" cxnId="{E6C44FF4-395A-43A2-94A3-5F8090766CB5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9DD5DA04-940C-4BA2-9AE8-192A0CCCBF0A}">
      <dgm:prSet phldrT="[Texto]" custT="1"/>
      <dgm:spPr/>
      <dgm:t>
        <a:bodyPr/>
        <a:lstStyle/>
        <a:p>
          <a:r>
            <a:rPr lang="es-ES_tradnl" sz="1800" dirty="0">
              <a:latin typeface="Arial Narrow" panose="020B0606020202030204" pitchFamily="34" charset="0"/>
            </a:rPr>
            <a:t>Aplicaciones informáticas</a:t>
          </a:r>
          <a:endParaRPr lang="es-ES" sz="1800" dirty="0">
            <a:latin typeface="Arial Narrow" panose="020B0606020202030204" pitchFamily="34" charset="0"/>
          </a:endParaRPr>
        </a:p>
      </dgm:t>
    </dgm:pt>
    <dgm:pt modelId="{AFEDDD08-8558-4321-9770-6440D70A0F11}" type="parTrans" cxnId="{7AA6A98D-0158-4E70-B5E5-81A34008AD31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48380A7F-6EC0-47A5-8C47-0A8F8ECA902C}" type="sibTrans" cxnId="{7AA6A98D-0158-4E70-B5E5-81A34008AD31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26D73038-F541-4C4B-9A8F-32A8C910EFBB}">
      <dgm:prSet phldrT="[Texto]" custT="1"/>
      <dgm:spPr/>
      <dgm:t>
        <a:bodyPr/>
        <a:lstStyle/>
        <a:p>
          <a:r>
            <a:rPr lang="es-ES_tradnl" sz="1800" dirty="0">
              <a:latin typeface="Arial Narrow" panose="020B0606020202030204" pitchFamily="34" charset="0"/>
            </a:rPr>
            <a:t>Patentes y marcas</a:t>
          </a:r>
          <a:endParaRPr lang="es-ES" sz="1800" dirty="0">
            <a:latin typeface="Arial Narrow" panose="020B0606020202030204" pitchFamily="34" charset="0"/>
          </a:endParaRPr>
        </a:p>
      </dgm:t>
    </dgm:pt>
    <dgm:pt modelId="{E16F97F8-138E-47E7-A9B0-087D465D3C50}" type="parTrans" cxnId="{FC02AC4C-2DC8-4930-B31E-02AB85CDCFC1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AC201ADE-3D78-4956-86D2-DB6E62B0ED60}" type="sibTrans" cxnId="{FC02AC4C-2DC8-4930-B31E-02AB85CDCFC1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839B7C55-3AE7-4C45-9BBB-C6EBE3C1E7FC}">
      <dgm:prSet phldrT="[Texto]" custT="1"/>
      <dgm:spPr/>
      <dgm:t>
        <a:bodyPr/>
        <a:lstStyle/>
        <a:p>
          <a:r>
            <a:rPr lang="es-ES_tradnl" sz="1800" dirty="0">
              <a:latin typeface="Arial Narrow" panose="020B0606020202030204" pitchFamily="34" charset="0"/>
            </a:rPr>
            <a:t>Materias primas, envases</a:t>
          </a:r>
          <a:endParaRPr lang="es-ES" sz="1800" dirty="0">
            <a:latin typeface="Arial Narrow" panose="020B0606020202030204" pitchFamily="34" charset="0"/>
          </a:endParaRPr>
        </a:p>
      </dgm:t>
    </dgm:pt>
    <dgm:pt modelId="{6034727D-EA23-4BC9-BD32-4855D9FBE052}" type="parTrans" cxnId="{117FF50B-68AE-44D4-86E8-714582FF627E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E56F9FBF-6828-4D37-B923-7FFDF71655A5}" type="sibTrans" cxnId="{117FF50B-68AE-44D4-86E8-714582FF627E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929BE707-A4F6-4F97-A1AD-CF79396468DC}">
      <dgm:prSet phldrT="[Texto]" custT="1"/>
      <dgm:spPr/>
      <dgm:t>
        <a:bodyPr/>
        <a:lstStyle/>
        <a:p>
          <a:r>
            <a:rPr lang="es-ES_tradnl" sz="1800" dirty="0">
              <a:latin typeface="Arial Narrow" panose="020B0606020202030204" pitchFamily="34" charset="0"/>
            </a:rPr>
            <a:t>Otros deudores</a:t>
          </a:r>
          <a:endParaRPr lang="es-ES" sz="1800" dirty="0">
            <a:latin typeface="Arial Narrow" panose="020B0606020202030204" pitchFamily="34" charset="0"/>
          </a:endParaRPr>
        </a:p>
      </dgm:t>
    </dgm:pt>
    <dgm:pt modelId="{6FCCFBEB-3F6C-480A-B30A-CC6536E0FE6C}" type="parTrans" cxnId="{9E58E7C3-FCD2-4D89-9192-27B2EC6AE7FE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09FF73C9-0D45-4A11-AA7B-5A4BBEAC7658}" type="sibTrans" cxnId="{9E58E7C3-FCD2-4D89-9192-27B2EC6AE7FE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DBBE732F-1755-4838-94EB-F23730B06738}">
      <dgm:prSet phldrT="[Texto]" custT="1"/>
      <dgm:spPr/>
      <dgm:t>
        <a:bodyPr/>
        <a:lstStyle/>
        <a:p>
          <a:r>
            <a:rPr lang="es-ES_tradnl" sz="20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rPr>
            <a:t>Disponible</a:t>
          </a:r>
          <a:endParaRPr lang="es-ES" sz="2000" b="1" i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anose="020B0606020202030204" pitchFamily="34" charset="0"/>
          </a:endParaRPr>
        </a:p>
      </dgm:t>
    </dgm:pt>
    <dgm:pt modelId="{23A98C55-7C03-4269-8592-058C96B4A26F}" type="parTrans" cxnId="{F8AFB12A-4297-4FB5-B20B-1D2E34DCE5E8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225B5881-DA2E-46A3-8969-15F0837E4A63}" type="sibTrans" cxnId="{F8AFB12A-4297-4FB5-B20B-1D2E34DCE5E8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18A021A6-66DF-40D0-BC2B-6078F290CB72}">
      <dgm:prSet phldrT="[Texto]" custT="1"/>
      <dgm:spPr/>
      <dgm:t>
        <a:bodyPr/>
        <a:lstStyle/>
        <a:p>
          <a:r>
            <a:rPr lang="es-ES_tradnl" sz="1800" dirty="0">
              <a:latin typeface="Arial Narrow" panose="020B0606020202030204" pitchFamily="34" charset="0"/>
            </a:rPr>
            <a:t>Bancos</a:t>
          </a:r>
          <a:endParaRPr lang="es-ES" sz="1800" dirty="0">
            <a:latin typeface="Arial Narrow" panose="020B0606020202030204" pitchFamily="34" charset="0"/>
          </a:endParaRPr>
        </a:p>
      </dgm:t>
    </dgm:pt>
    <dgm:pt modelId="{6344F360-7373-4116-9ECD-26380340631F}" type="parTrans" cxnId="{E582F0BD-A9B9-400F-9DE7-51D3C5917206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B9780714-1E81-4E1D-95B3-7F34FABAD6C2}" type="sibTrans" cxnId="{E582F0BD-A9B9-400F-9DE7-51D3C5917206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1B02B676-77D6-44E9-B9ED-A2D900C6C5F9}">
      <dgm:prSet phldrT="[Texto]" custT="1"/>
      <dgm:spPr/>
      <dgm:t>
        <a:bodyPr/>
        <a:lstStyle/>
        <a:p>
          <a:r>
            <a:rPr lang="es-ES_tradnl" sz="1800" dirty="0">
              <a:latin typeface="Arial Narrow" panose="020B0606020202030204" pitchFamily="34" charset="0"/>
            </a:rPr>
            <a:t>Caja</a:t>
          </a:r>
          <a:endParaRPr lang="es-ES" sz="1800" dirty="0">
            <a:latin typeface="Arial Narrow" panose="020B0606020202030204" pitchFamily="34" charset="0"/>
          </a:endParaRPr>
        </a:p>
      </dgm:t>
    </dgm:pt>
    <dgm:pt modelId="{864E70B3-3C9A-410B-91DF-FC7709487E19}" type="parTrans" cxnId="{ABB950BE-98D9-4FEC-B118-936F0C20198A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174374D6-504F-41C2-B780-EBC6358B0EA7}" type="sibTrans" cxnId="{ABB950BE-98D9-4FEC-B118-936F0C20198A}">
      <dgm:prSet/>
      <dgm:spPr/>
      <dgm:t>
        <a:bodyPr/>
        <a:lstStyle/>
        <a:p>
          <a:endParaRPr lang="es-ES" sz="1800">
            <a:latin typeface="Arial Narrow" panose="020B0606020202030204" pitchFamily="34" charset="0"/>
          </a:endParaRPr>
        </a:p>
      </dgm:t>
    </dgm:pt>
    <dgm:pt modelId="{9B7237CE-9944-4D3D-B08F-88EACC6C0491}">
      <dgm:prSet phldrT="[Texto]" custT="1"/>
      <dgm:spPr/>
      <dgm:t>
        <a:bodyPr/>
        <a:lstStyle/>
        <a:p>
          <a:r>
            <a:rPr lang="es-ES_tradnl" sz="1800" dirty="0">
              <a:latin typeface="Arial Narrow" panose="020B0606020202030204" pitchFamily="34" charset="0"/>
            </a:rPr>
            <a:t>Deudas de Hacienda (</a:t>
          </a:r>
          <a:r>
            <a:rPr lang="es-ES_tradnl" sz="1800" b="1" dirty="0">
              <a:latin typeface="Arial Narrow" panose="020B0606020202030204" pitchFamily="34" charset="0"/>
            </a:rPr>
            <a:t>IVA soportado</a:t>
          </a:r>
          <a:r>
            <a:rPr lang="es-ES_tradnl" sz="1800" dirty="0">
              <a:latin typeface="Arial Narrow" panose="020B0606020202030204" pitchFamily="34" charset="0"/>
            </a:rPr>
            <a:t>)</a:t>
          </a:r>
          <a:endParaRPr lang="es-ES" sz="1800" dirty="0">
            <a:latin typeface="Arial Narrow" panose="020B0606020202030204" pitchFamily="34" charset="0"/>
          </a:endParaRPr>
        </a:p>
      </dgm:t>
    </dgm:pt>
    <dgm:pt modelId="{34EFC957-4130-4812-9C4C-C1745A2C79EE}" type="parTrans" cxnId="{E4995B71-DC35-4172-98BE-187B7149C56B}">
      <dgm:prSet/>
      <dgm:spPr/>
      <dgm:t>
        <a:bodyPr/>
        <a:lstStyle/>
        <a:p>
          <a:endParaRPr lang="es-ES"/>
        </a:p>
      </dgm:t>
    </dgm:pt>
    <dgm:pt modelId="{E38CCCE2-2455-41EB-B620-FE40261FFD50}" type="sibTrans" cxnId="{E4995B71-DC35-4172-98BE-187B7149C56B}">
      <dgm:prSet/>
      <dgm:spPr/>
      <dgm:t>
        <a:bodyPr/>
        <a:lstStyle/>
        <a:p>
          <a:endParaRPr lang="es-ES"/>
        </a:p>
      </dgm:t>
    </dgm:pt>
    <dgm:pt modelId="{8D586382-CA2E-49A4-A2FD-7076FC495AA9}" type="pres">
      <dgm:prSet presAssocID="{FB4D50D9-4E9D-48DD-ABD7-A56E45E0C429}" presName="Name0" presStyleCnt="0">
        <dgm:presLayoutVars>
          <dgm:dir/>
          <dgm:animLvl val="lvl"/>
          <dgm:resizeHandles val="exact"/>
        </dgm:presLayoutVars>
      </dgm:prSet>
      <dgm:spPr/>
    </dgm:pt>
    <dgm:pt modelId="{3D69EB10-5017-4CA8-88D3-EC1F38D88172}" type="pres">
      <dgm:prSet presAssocID="{3E423FE2-945F-46DC-91D5-9535A337C523}" presName="linNode" presStyleCnt="0"/>
      <dgm:spPr/>
    </dgm:pt>
    <dgm:pt modelId="{6F3CBE12-8328-4E7D-ADCE-14DD97D7B7AD}" type="pres">
      <dgm:prSet presAssocID="{3E423FE2-945F-46DC-91D5-9535A337C523}" presName="parentText" presStyleLbl="node1" presStyleIdx="0" presStyleCnt="4" custScaleY="156686" custLinFactNeighborX="-76" custLinFactNeighborY="2857">
        <dgm:presLayoutVars>
          <dgm:chMax val="1"/>
          <dgm:bulletEnabled val="1"/>
        </dgm:presLayoutVars>
      </dgm:prSet>
      <dgm:spPr/>
    </dgm:pt>
    <dgm:pt modelId="{6A387CB2-6B32-4C77-9019-0107308524A6}" type="pres">
      <dgm:prSet presAssocID="{3E423FE2-945F-46DC-91D5-9535A337C523}" presName="descendantText" presStyleLbl="alignAccFollowNode1" presStyleIdx="0" presStyleCnt="4" custScaleY="179724">
        <dgm:presLayoutVars>
          <dgm:bulletEnabled val="1"/>
        </dgm:presLayoutVars>
      </dgm:prSet>
      <dgm:spPr/>
    </dgm:pt>
    <dgm:pt modelId="{6BA87750-910E-4C7E-B6E8-4A6A9CF2045A}" type="pres">
      <dgm:prSet presAssocID="{3613C62B-0C86-4215-9866-B7C78213237E}" presName="sp" presStyleCnt="0"/>
      <dgm:spPr/>
    </dgm:pt>
    <dgm:pt modelId="{69B95FE2-2738-4EFE-9BD7-71A940224F64}" type="pres">
      <dgm:prSet presAssocID="{521C609F-BFF9-4BAB-9A8B-B01845A5ECB1}" presName="linNode" presStyleCnt="0"/>
      <dgm:spPr/>
    </dgm:pt>
    <dgm:pt modelId="{37D587AC-68B4-4A14-9293-01C41AA6C0EB}" type="pres">
      <dgm:prSet presAssocID="{521C609F-BFF9-4BAB-9A8B-B01845A5ECB1}" presName="parentText" presStyleLbl="node1" presStyleIdx="1" presStyleCnt="4" custScaleX="65959" custScaleY="52348" custLinFactNeighborX="57537" custLinFactNeighborY="278">
        <dgm:presLayoutVars>
          <dgm:chMax val="1"/>
          <dgm:bulletEnabled val="1"/>
        </dgm:presLayoutVars>
      </dgm:prSet>
      <dgm:spPr/>
    </dgm:pt>
    <dgm:pt modelId="{5DC03900-2073-47BB-9CC5-1F022AC333B4}" type="pres">
      <dgm:prSet presAssocID="{521C609F-BFF9-4BAB-9A8B-B01845A5ECB1}" presName="descendantText" presStyleLbl="alignAccFollowNode1" presStyleIdx="1" presStyleCnt="4" custScaleX="59981" custScaleY="54855" custLinFactX="2640" custLinFactNeighborX="100000" custLinFactNeighborY="895">
        <dgm:presLayoutVars>
          <dgm:bulletEnabled val="1"/>
        </dgm:presLayoutVars>
      </dgm:prSet>
      <dgm:spPr/>
    </dgm:pt>
    <dgm:pt modelId="{6F0D7CDA-DEC2-4019-9DB1-D9A90323C9BD}" type="pres">
      <dgm:prSet presAssocID="{6250DF59-14BF-4AB9-AE2B-920DD1B26508}" presName="sp" presStyleCnt="0"/>
      <dgm:spPr/>
    </dgm:pt>
    <dgm:pt modelId="{7DCF47D6-F37F-4118-8786-9C560C2239AB}" type="pres">
      <dgm:prSet presAssocID="{DB127F86-9876-40F2-9A0A-BBF4C50AD57C}" presName="linNode" presStyleCnt="0"/>
      <dgm:spPr/>
    </dgm:pt>
    <dgm:pt modelId="{416F3A45-AF62-4645-A6E8-465938D74534}" type="pres">
      <dgm:prSet presAssocID="{DB127F86-9876-40F2-9A0A-BBF4C50AD57C}" presName="parentText" presStyleLbl="node1" presStyleIdx="2" presStyleCnt="4" custScaleX="64338" custScaleY="59459" custLinFactNeighborX="57655" custLinFactNeighborY="-4909">
        <dgm:presLayoutVars>
          <dgm:chMax val="1"/>
          <dgm:bulletEnabled val="1"/>
        </dgm:presLayoutVars>
      </dgm:prSet>
      <dgm:spPr/>
    </dgm:pt>
    <dgm:pt modelId="{CBE4783F-3A4E-4194-A021-0E90372B7597}" type="pres">
      <dgm:prSet presAssocID="{DB127F86-9876-40F2-9A0A-BBF4C50AD57C}" presName="descendantText" presStyleLbl="alignAccFollowNode1" presStyleIdx="2" presStyleCnt="4" custScaleX="59981" custScaleY="81096" custLinFactX="4828" custLinFactNeighborX="100000" custLinFactNeighborY="57">
        <dgm:presLayoutVars>
          <dgm:bulletEnabled val="1"/>
        </dgm:presLayoutVars>
      </dgm:prSet>
      <dgm:spPr/>
    </dgm:pt>
    <dgm:pt modelId="{42BFAAFA-2592-4DA7-9AE2-22656FA603E6}" type="pres">
      <dgm:prSet presAssocID="{3CCAB35C-8413-44CC-A38F-9A3E36BA4277}" presName="sp" presStyleCnt="0"/>
      <dgm:spPr/>
    </dgm:pt>
    <dgm:pt modelId="{AA4031FF-A964-4CE8-82EB-2022B5F05141}" type="pres">
      <dgm:prSet presAssocID="{DBBE732F-1755-4838-94EB-F23730B06738}" presName="linNode" presStyleCnt="0"/>
      <dgm:spPr/>
    </dgm:pt>
    <dgm:pt modelId="{A9F3B02F-539C-41BD-A893-1F5AED1E44A1}" type="pres">
      <dgm:prSet presAssocID="{DBBE732F-1755-4838-94EB-F23730B06738}" presName="parentText" presStyleLbl="node1" presStyleIdx="3" presStyleCnt="4" custScaleX="68876" custScaleY="49125" custLinFactNeighborX="56649" custLinFactNeighborY="1686">
        <dgm:presLayoutVars>
          <dgm:chMax val="1"/>
          <dgm:bulletEnabled val="1"/>
        </dgm:presLayoutVars>
      </dgm:prSet>
      <dgm:spPr/>
    </dgm:pt>
    <dgm:pt modelId="{8AACD723-F79C-49FC-BDEC-8E133A2DC216}" type="pres">
      <dgm:prSet presAssocID="{DBBE732F-1755-4838-94EB-F23730B06738}" presName="descendantText" presStyleLbl="alignAccFollowNode1" presStyleIdx="3" presStyleCnt="4" custScaleX="59457" custScaleY="54827" custLinFactX="923" custLinFactNeighborX="100000" custLinFactNeighborY="-1183">
        <dgm:presLayoutVars>
          <dgm:bulletEnabled val="1"/>
        </dgm:presLayoutVars>
      </dgm:prSet>
      <dgm:spPr/>
    </dgm:pt>
  </dgm:ptLst>
  <dgm:cxnLst>
    <dgm:cxn modelId="{117FF50B-68AE-44D4-86E8-714582FF627E}" srcId="{521C609F-BFF9-4BAB-9A8B-B01845A5ECB1}" destId="{839B7C55-3AE7-4C45-9BBB-C6EBE3C1E7FC}" srcOrd="1" destOrd="0" parTransId="{6034727D-EA23-4BC9-BD32-4855D9FBE052}" sibTransId="{E56F9FBF-6828-4D37-B923-7FFDF71655A5}"/>
    <dgm:cxn modelId="{6D64910C-EFBF-4479-8CAE-A89B4ACDCEFB}" srcId="{3E423FE2-945F-46DC-91D5-9535A337C523}" destId="{93AA0169-0C69-4651-BB2F-13F60AD5C457}" srcOrd="1" destOrd="0" parTransId="{09BFCBD6-64D9-468C-A225-27CB3FD7C1F9}" sibTransId="{D331DFD4-FB05-47CC-8336-8DCFC162AA5A}"/>
    <dgm:cxn modelId="{18D0F010-EF15-4BAE-B7C4-FB7F4433E524}" type="presOf" srcId="{93AA0169-0C69-4651-BB2F-13F60AD5C457}" destId="{6A387CB2-6B32-4C77-9019-0107308524A6}" srcOrd="0" destOrd="1" presId="urn:microsoft.com/office/officeart/2005/8/layout/vList5"/>
    <dgm:cxn modelId="{DD361713-1C94-4DF6-8C28-8302D4DD4BC2}" type="presOf" srcId="{FB4D50D9-4E9D-48DD-ABD7-A56E45E0C429}" destId="{8D586382-CA2E-49A4-A2FD-7076FC495AA9}" srcOrd="0" destOrd="0" presId="urn:microsoft.com/office/officeart/2005/8/layout/vList5"/>
    <dgm:cxn modelId="{E7C5741A-FCDE-43EA-83C1-B5AFB13A3D2E}" type="presOf" srcId="{2DC8AF70-3D89-4396-BDCD-F8744E6D8E35}" destId="{6A387CB2-6B32-4C77-9019-0107308524A6}" srcOrd="0" destOrd="0" presId="urn:microsoft.com/office/officeart/2005/8/layout/vList5"/>
    <dgm:cxn modelId="{272CD81A-C712-401A-AA5D-B8A68B4A1A1C}" srcId="{3E423FE2-945F-46DC-91D5-9535A337C523}" destId="{2DC8AF70-3D89-4396-BDCD-F8744E6D8E35}" srcOrd="0" destOrd="0" parTransId="{58703499-56FD-4121-BC45-314CBE1AEAA4}" sibTransId="{B97128C8-7A0F-4AEA-816E-953D0C5FA98F}"/>
    <dgm:cxn modelId="{4012FD24-9379-4C5D-8A27-2DD64B57B115}" srcId="{FB4D50D9-4E9D-48DD-ABD7-A56E45E0C429}" destId="{521C609F-BFF9-4BAB-9A8B-B01845A5ECB1}" srcOrd="1" destOrd="0" parTransId="{877632FB-29C4-4F60-9D66-64796905E8A6}" sibTransId="{6250DF59-14BF-4AB9-AE2B-920DD1B26508}"/>
    <dgm:cxn modelId="{EE559225-B48D-41F0-8185-911A0F8068A7}" srcId="{3E423FE2-945F-46DC-91D5-9535A337C523}" destId="{A7A4E197-C1CE-422F-B363-29081FEABB00}" srcOrd="3" destOrd="0" parTransId="{8A42D15E-D0BD-4960-BA0A-415D8FA918E3}" sibTransId="{E438A04A-22A2-4A9C-A029-012FA084B961}"/>
    <dgm:cxn modelId="{BF45CC29-7150-4666-A9C1-6A861AFD3378}" type="presOf" srcId="{18A021A6-66DF-40D0-BC2B-6078F290CB72}" destId="{8AACD723-F79C-49FC-BDEC-8E133A2DC216}" srcOrd="0" destOrd="0" presId="urn:microsoft.com/office/officeart/2005/8/layout/vList5"/>
    <dgm:cxn modelId="{F8AFB12A-4297-4FB5-B20B-1D2E34DCE5E8}" srcId="{FB4D50D9-4E9D-48DD-ABD7-A56E45E0C429}" destId="{DBBE732F-1755-4838-94EB-F23730B06738}" srcOrd="3" destOrd="0" parTransId="{23A98C55-7C03-4269-8592-058C96B4A26F}" sibTransId="{225B5881-DA2E-46A3-8969-15F0837E4A63}"/>
    <dgm:cxn modelId="{B2457F2E-DC6A-4ACC-8155-AC85248FBB96}" type="presOf" srcId="{DB127F86-9876-40F2-9A0A-BBF4C50AD57C}" destId="{416F3A45-AF62-4645-A6E8-465938D74534}" srcOrd="0" destOrd="0" presId="urn:microsoft.com/office/officeart/2005/8/layout/vList5"/>
    <dgm:cxn modelId="{57290832-1DE8-4F07-BD5A-F5478DF322AD}" type="presOf" srcId="{9DD5DA04-940C-4BA2-9AE8-192A0CCCBF0A}" destId="{6A387CB2-6B32-4C77-9019-0107308524A6}" srcOrd="0" destOrd="6" presId="urn:microsoft.com/office/officeart/2005/8/layout/vList5"/>
    <dgm:cxn modelId="{25A6185D-EB1C-4DBE-8EBF-56C74083CA8C}" type="presOf" srcId="{26D73038-F541-4C4B-9A8F-32A8C910EFBB}" destId="{6A387CB2-6B32-4C77-9019-0107308524A6}" srcOrd="0" destOrd="7" presId="urn:microsoft.com/office/officeart/2005/8/layout/vList5"/>
    <dgm:cxn modelId="{0AE78E44-FA6D-4760-B895-3A70D5A78CEA}" type="presOf" srcId="{866B5135-FECB-43CA-88A6-73748C7BBD1B}" destId="{6A387CB2-6B32-4C77-9019-0107308524A6}" srcOrd="0" destOrd="4" presId="urn:microsoft.com/office/officeart/2005/8/layout/vList5"/>
    <dgm:cxn modelId="{31FEBA46-17AE-4392-92A5-E82B9BF1EFD6}" srcId="{FB4D50D9-4E9D-48DD-ABD7-A56E45E0C429}" destId="{3E423FE2-945F-46DC-91D5-9535A337C523}" srcOrd="0" destOrd="0" parTransId="{818A68EC-2199-4487-A354-E154A222F9C6}" sibTransId="{3613C62B-0C86-4215-9866-B7C78213237E}"/>
    <dgm:cxn modelId="{FC02AC4C-2DC8-4930-B31E-02AB85CDCFC1}" srcId="{3E423FE2-945F-46DC-91D5-9535A337C523}" destId="{26D73038-F541-4C4B-9A8F-32A8C910EFBB}" srcOrd="7" destOrd="0" parTransId="{E16F97F8-138E-47E7-A9B0-087D465D3C50}" sibTransId="{AC201ADE-3D78-4956-86D2-DB6E62B0ED60}"/>
    <dgm:cxn modelId="{9A53D66C-EF83-47C1-943B-E0C509189EFF}" srcId="{521C609F-BFF9-4BAB-9A8B-B01845A5ECB1}" destId="{D0FE8E64-E639-4597-833C-48344A9FBF13}" srcOrd="0" destOrd="0" parTransId="{4B3275A0-B53D-412D-A0F1-A1F43D71B370}" sibTransId="{34E85088-9883-43B6-966A-E2957282F214}"/>
    <dgm:cxn modelId="{6BC7614D-668D-4ECC-9E59-F5F48D301088}" type="presOf" srcId="{414945D7-D3E2-4E55-B081-E7FC3B11D71F}" destId="{CBE4783F-3A4E-4194-A021-0E90372B7597}" srcOrd="0" destOrd="0" presId="urn:microsoft.com/office/officeart/2005/8/layout/vList5"/>
    <dgm:cxn modelId="{E4995B71-DC35-4172-98BE-187B7149C56B}" srcId="{DB127F86-9876-40F2-9A0A-BBF4C50AD57C}" destId="{9B7237CE-9944-4D3D-B08F-88EACC6C0491}" srcOrd="1" destOrd="0" parTransId="{34EFC957-4130-4812-9C4C-C1745A2C79EE}" sibTransId="{E38CCCE2-2455-41EB-B620-FE40261FFD50}"/>
    <dgm:cxn modelId="{9FA9E077-D0D8-4D1A-A723-AE58EAF17DA0}" type="presOf" srcId="{F9EDBC0A-C3D1-4750-AF6F-4EF501FBD1AE}" destId="{6A387CB2-6B32-4C77-9019-0107308524A6}" srcOrd="0" destOrd="2" presId="urn:microsoft.com/office/officeart/2005/8/layout/vList5"/>
    <dgm:cxn modelId="{414D3588-70A4-4D70-9D48-2912C773901D}" type="presOf" srcId="{1B02B676-77D6-44E9-B9ED-A2D900C6C5F9}" destId="{8AACD723-F79C-49FC-BDEC-8E133A2DC216}" srcOrd="0" destOrd="1" presId="urn:microsoft.com/office/officeart/2005/8/layout/vList5"/>
    <dgm:cxn modelId="{7C375388-1386-405D-AA47-D6976A0299BA}" type="presOf" srcId="{A7A4E197-C1CE-422F-B363-29081FEABB00}" destId="{6A387CB2-6B32-4C77-9019-0107308524A6}" srcOrd="0" destOrd="3" presId="urn:microsoft.com/office/officeart/2005/8/layout/vList5"/>
    <dgm:cxn modelId="{7AA6A98D-0158-4E70-B5E5-81A34008AD31}" srcId="{3E423FE2-945F-46DC-91D5-9535A337C523}" destId="{9DD5DA04-940C-4BA2-9AE8-192A0CCCBF0A}" srcOrd="6" destOrd="0" parTransId="{AFEDDD08-8558-4321-9770-6440D70A0F11}" sibTransId="{48380A7F-6EC0-47A5-8C47-0A8F8ECA902C}"/>
    <dgm:cxn modelId="{E004BC97-F98E-42FE-A241-9C06EA5B85E7}" type="presOf" srcId="{D0FE8E64-E639-4597-833C-48344A9FBF13}" destId="{5DC03900-2073-47BB-9CC5-1F022AC333B4}" srcOrd="0" destOrd="0" presId="urn:microsoft.com/office/officeart/2005/8/layout/vList5"/>
    <dgm:cxn modelId="{9B7EF29E-8AD1-498C-A0D9-E33BB4267C65}" srcId="{DB127F86-9876-40F2-9A0A-BBF4C50AD57C}" destId="{414945D7-D3E2-4E55-B081-E7FC3B11D71F}" srcOrd="0" destOrd="0" parTransId="{8FE74879-88C9-4AD9-92A1-A59AB7BB758B}" sibTransId="{CED8A845-2BC4-4496-92CA-5E4F6548055C}"/>
    <dgm:cxn modelId="{8AF47CA3-8684-4011-A620-9747990423AD}" srcId="{3E423FE2-945F-46DC-91D5-9535A337C523}" destId="{866B5135-FECB-43CA-88A6-73748C7BBD1B}" srcOrd="4" destOrd="0" parTransId="{CB5E635D-F25D-4E17-9A1E-559E32647819}" sibTransId="{01AE0349-AC96-4A81-BEEB-3896438D4DC5}"/>
    <dgm:cxn modelId="{A379BFA8-AC68-4C50-9A77-443C8743D173}" type="presOf" srcId="{839B7C55-3AE7-4C45-9BBB-C6EBE3C1E7FC}" destId="{5DC03900-2073-47BB-9CC5-1F022AC333B4}" srcOrd="0" destOrd="1" presId="urn:microsoft.com/office/officeart/2005/8/layout/vList5"/>
    <dgm:cxn modelId="{9C6DA8BA-6B3E-40F8-A328-5DFD962DAAB9}" type="presOf" srcId="{3E423FE2-945F-46DC-91D5-9535A337C523}" destId="{6F3CBE12-8328-4E7D-ADCE-14DD97D7B7AD}" srcOrd="0" destOrd="0" presId="urn:microsoft.com/office/officeart/2005/8/layout/vList5"/>
    <dgm:cxn modelId="{64BD78BD-6A24-4DD6-8C0B-68E3D62CD953}" type="presOf" srcId="{521C609F-BFF9-4BAB-9A8B-B01845A5ECB1}" destId="{37D587AC-68B4-4A14-9293-01C41AA6C0EB}" srcOrd="0" destOrd="0" presId="urn:microsoft.com/office/officeart/2005/8/layout/vList5"/>
    <dgm:cxn modelId="{E582F0BD-A9B9-400F-9DE7-51D3C5917206}" srcId="{DBBE732F-1755-4838-94EB-F23730B06738}" destId="{18A021A6-66DF-40D0-BC2B-6078F290CB72}" srcOrd="0" destOrd="0" parTransId="{6344F360-7373-4116-9ECD-26380340631F}" sibTransId="{B9780714-1E81-4E1D-95B3-7F34FABAD6C2}"/>
    <dgm:cxn modelId="{ABB950BE-98D9-4FEC-B118-936F0C20198A}" srcId="{DBBE732F-1755-4838-94EB-F23730B06738}" destId="{1B02B676-77D6-44E9-B9ED-A2D900C6C5F9}" srcOrd="1" destOrd="0" parTransId="{864E70B3-3C9A-410B-91DF-FC7709487E19}" sibTransId="{174374D6-504F-41C2-B780-EBC6358B0EA7}"/>
    <dgm:cxn modelId="{3219CAC3-2714-4014-8E98-64F396970F84}" type="presOf" srcId="{9B7237CE-9944-4D3D-B08F-88EACC6C0491}" destId="{CBE4783F-3A4E-4194-A021-0E90372B7597}" srcOrd="0" destOrd="1" presId="urn:microsoft.com/office/officeart/2005/8/layout/vList5"/>
    <dgm:cxn modelId="{9E58E7C3-FCD2-4D89-9192-27B2EC6AE7FE}" srcId="{DB127F86-9876-40F2-9A0A-BBF4C50AD57C}" destId="{929BE707-A4F6-4F97-A1AD-CF79396468DC}" srcOrd="2" destOrd="0" parTransId="{6FCCFBEB-3F6C-480A-B30A-CC6536E0FE6C}" sibTransId="{09FF73C9-0D45-4A11-AA7B-5A4BBEAC7658}"/>
    <dgm:cxn modelId="{470F0ACE-A3AD-4A14-BCD5-CA7CCF27FBA7}" srcId="{FB4D50D9-4E9D-48DD-ABD7-A56E45E0C429}" destId="{DB127F86-9876-40F2-9A0A-BBF4C50AD57C}" srcOrd="2" destOrd="0" parTransId="{DDBA128D-74D6-46AA-8C2B-E1E9660C728C}" sibTransId="{3CCAB35C-8413-44CC-A38F-9A3E36BA4277}"/>
    <dgm:cxn modelId="{DD4FE8DD-E79E-41B4-BC01-07706F423FF2}" type="presOf" srcId="{DBBE732F-1755-4838-94EB-F23730B06738}" destId="{A9F3B02F-539C-41BD-A893-1F5AED1E44A1}" srcOrd="0" destOrd="0" presId="urn:microsoft.com/office/officeart/2005/8/layout/vList5"/>
    <dgm:cxn modelId="{583FB1EA-3CB2-41FD-84C1-1D71D6F727AF}" type="presOf" srcId="{A4190434-CB27-47DA-AD7D-466F72E6B0C7}" destId="{6A387CB2-6B32-4C77-9019-0107308524A6}" srcOrd="0" destOrd="5" presId="urn:microsoft.com/office/officeart/2005/8/layout/vList5"/>
    <dgm:cxn modelId="{D97F37EB-A1D3-4B91-A6A0-1FF400E72F09}" type="presOf" srcId="{929BE707-A4F6-4F97-A1AD-CF79396468DC}" destId="{CBE4783F-3A4E-4194-A021-0E90372B7597}" srcOrd="0" destOrd="2" presId="urn:microsoft.com/office/officeart/2005/8/layout/vList5"/>
    <dgm:cxn modelId="{0EE310ED-FE8D-4192-A0B0-7BC42E7AF2C1}" srcId="{3E423FE2-945F-46DC-91D5-9535A337C523}" destId="{F9EDBC0A-C3D1-4750-AF6F-4EF501FBD1AE}" srcOrd="2" destOrd="0" parTransId="{5E116048-419C-4F21-86AA-52CACD56D67A}" sibTransId="{1025FB2B-27A5-41C4-9954-65A05D0D9A86}"/>
    <dgm:cxn modelId="{E6C44FF4-395A-43A2-94A3-5F8090766CB5}" srcId="{3E423FE2-945F-46DC-91D5-9535A337C523}" destId="{A4190434-CB27-47DA-AD7D-466F72E6B0C7}" srcOrd="5" destOrd="0" parTransId="{2411C4E1-1601-4ED5-96C8-F15D99DDC32D}" sibTransId="{B08F70F6-C3B2-4D73-AB35-7BA27D6D459C}"/>
    <dgm:cxn modelId="{35573D77-3B16-40DD-BD4E-2728137C92D9}" type="presParOf" srcId="{8D586382-CA2E-49A4-A2FD-7076FC495AA9}" destId="{3D69EB10-5017-4CA8-88D3-EC1F38D88172}" srcOrd="0" destOrd="0" presId="urn:microsoft.com/office/officeart/2005/8/layout/vList5"/>
    <dgm:cxn modelId="{EB3974EA-3227-4877-BC9F-5C8511F158C2}" type="presParOf" srcId="{3D69EB10-5017-4CA8-88D3-EC1F38D88172}" destId="{6F3CBE12-8328-4E7D-ADCE-14DD97D7B7AD}" srcOrd="0" destOrd="0" presId="urn:microsoft.com/office/officeart/2005/8/layout/vList5"/>
    <dgm:cxn modelId="{505B199F-BA48-4D5D-860D-A90EE074C3C3}" type="presParOf" srcId="{3D69EB10-5017-4CA8-88D3-EC1F38D88172}" destId="{6A387CB2-6B32-4C77-9019-0107308524A6}" srcOrd="1" destOrd="0" presId="urn:microsoft.com/office/officeart/2005/8/layout/vList5"/>
    <dgm:cxn modelId="{D82AC999-47C9-4EFD-95D4-00A5077CFEAA}" type="presParOf" srcId="{8D586382-CA2E-49A4-A2FD-7076FC495AA9}" destId="{6BA87750-910E-4C7E-B6E8-4A6A9CF2045A}" srcOrd="1" destOrd="0" presId="urn:microsoft.com/office/officeart/2005/8/layout/vList5"/>
    <dgm:cxn modelId="{AEB181F1-A90F-47D5-90D2-08448DB40469}" type="presParOf" srcId="{8D586382-CA2E-49A4-A2FD-7076FC495AA9}" destId="{69B95FE2-2738-4EFE-9BD7-71A940224F64}" srcOrd="2" destOrd="0" presId="urn:microsoft.com/office/officeart/2005/8/layout/vList5"/>
    <dgm:cxn modelId="{1C0762B6-9043-4A30-9568-A5196130982D}" type="presParOf" srcId="{69B95FE2-2738-4EFE-9BD7-71A940224F64}" destId="{37D587AC-68B4-4A14-9293-01C41AA6C0EB}" srcOrd="0" destOrd="0" presId="urn:microsoft.com/office/officeart/2005/8/layout/vList5"/>
    <dgm:cxn modelId="{C10B92D9-F4A2-45A4-8ADA-FEE72BA4AE0F}" type="presParOf" srcId="{69B95FE2-2738-4EFE-9BD7-71A940224F64}" destId="{5DC03900-2073-47BB-9CC5-1F022AC333B4}" srcOrd="1" destOrd="0" presId="urn:microsoft.com/office/officeart/2005/8/layout/vList5"/>
    <dgm:cxn modelId="{B05DF510-D4EF-4D09-970F-0FF903424551}" type="presParOf" srcId="{8D586382-CA2E-49A4-A2FD-7076FC495AA9}" destId="{6F0D7CDA-DEC2-4019-9DB1-D9A90323C9BD}" srcOrd="3" destOrd="0" presId="urn:microsoft.com/office/officeart/2005/8/layout/vList5"/>
    <dgm:cxn modelId="{DAD95295-0275-40BE-82B5-7016C53A539F}" type="presParOf" srcId="{8D586382-CA2E-49A4-A2FD-7076FC495AA9}" destId="{7DCF47D6-F37F-4118-8786-9C560C2239AB}" srcOrd="4" destOrd="0" presId="urn:microsoft.com/office/officeart/2005/8/layout/vList5"/>
    <dgm:cxn modelId="{ED53FEE2-2840-4CFB-9F13-5A74062A239F}" type="presParOf" srcId="{7DCF47D6-F37F-4118-8786-9C560C2239AB}" destId="{416F3A45-AF62-4645-A6E8-465938D74534}" srcOrd="0" destOrd="0" presId="urn:microsoft.com/office/officeart/2005/8/layout/vList5"/>
    <dgm:cxn modelId="{A0D219D3-A246-4E14-A84A-D8F6151821D7}" type="presParOf" srcId="{7DCF47D6-F37F-4118-8786-9C560C2239AB}" destId="{CBE4783F-3A4E-4194-A021-0E90372B7597}" srcOrd="1" destOrd="0" presId="urn:microsoft.com/office/officeart/2005/8/layout/vList5"/>
    <dgm:cxn modelId="{5C44BFC9-A96C-4DBE-B211-CBA3EF389357}" type="presParOf" srcId="{8D586382-CA2E-49A4-A2FD-7076FC495AA9}" destId="{42BFAAFA-2592-4DA7-9AE2-22656FA603E6}" srcOrd="5" destOrd="0" presId="urn:microsoft.com/office/officeart/2005/8/layout/vList5"/>
    <dgm:cxn modelId="{29B37CDE-B1EE-4882-8092-995B899C7B15}" type="presParOf" srcId="{8D586382-CA2E-49A4-A2FD-7076FC495AA9}" destId="{AA4031FF-A964-4CE8-82EB-2022B5F05141}" srcOrd="6" destOrd="0" presId="urn:microsoft.com/office/officeart/2005/8/layout/vList5"/>
    <dgm:cxn modelId="{F45A747D-B088-47CE-A7D8-119CD97CD65C}" type="presParOf" srcId="{AA4031FF-A964-4CE8-82EB-2022B5F05141}" destId="{A9F3B02F-539C-41BD-A893-1F5AED1E44A1}" srcOrd="0" destOrd="0" presId="urn:microsoft.com/office/officeart/2005/8/layout/vList5"/>
    <dgm:cxn modelId="{DCBD80B2-8EE5-41DA-A99F-22066F5A5F15}" type="presParOf" srcId="{AA4031FF-A964-4CE8-82EB-2022B5F05141}" destId="{8AACD723-F79C-49FC-BDEC-8E133A2DC21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B4D50D9-4E9D-48DD-ABD7-A56E45E0C429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3E423FE2-945F-46DC-91D5-9535A337C523}">
      <dgm:prSet phldrT="[Texto]" custT="1"/>
      <dgm:spPr/>
      <dgm:t>
        <a:bodyPr/>
        <a:lstStyle/>
        <a:p>
          <a:r>
            <a:rPr lang="es-ES_tradnl" sz="20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rPr>
            <a:t>Pasivo no corriente</a:t>
          </a:r>
        </a:p>
        <a:p>
          <a:r>
            <a:rPr lang="es-ES_tradnl" sz="14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rPr>
            <a:t>Mas de 1 en devolver</a:t>
          </a:r>
          <a:endParaRPr lang="es-ES" sz="1400" b="0" i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n-lt"/>
          </a:endParaRPr>
        </a:p>
      </dgm:t>
    </dgm:pt>
    <dgm:pt modelId="{818A68EC-2199-4487-A354-E154A222F9C6}" type="parTrans" cxnId="{31FEBA46-17AE-4392-92A5-E82B9BF1EFD6}">
      <dgm:prSet/>
      <dgm:spPr/>
      <dgm:t>
        <a:bodyPr/>
        <a:lstStyle/>
        <a:p>
          <a:endParaRPr lang="es-ES" sz="1800"/>
        </a:p>
      </dgm:t>
    </dgm:pt>
    <dgm:pt modelId="{3613C62B-0C86-4215-9866-B7C78213237E}" type="sibTrans" cxnId="{31FEBA46-17AE-4392-92A5-E82B9BF1EFD6}">
      <dgm:prSet/>
      <dgm:spPr/>
      <dgm:t>
        <a:bodyPr/>
        <a:lstStyle/>
        <a:p>
          <a:endParaRPr lang="es-ES" sz="1800"/>
        </a:p>
      </dgm:t>
    </dgm:pt>
    <dgm:pt modelId="{2DC8AF70-3D89-4396-BDCD-F8744E6D8E35}">
      <dgm:prSet phldrT="[Texto]" custT="1"/>
      <dgm:spPr/>
      <dgm:t>
        <a:bodyPr/>
        <a:lstStyle/>
        <a:p>
          <a:r>
            <a:rPr lang="es-ES_tradnl" sz="1400" dirty="0">
              <a:latin typeface="+mn-lt"/>
            </a:rPr>
            <a:t>Préstamos a largo plazo</a:t>
          </a:r>
          <a:endParaRPr lang="es-ES" sz="1400" dirty="0">
            <a:latin typeface="+mn-lt"/>
          </a:endParaRPr>
        </a:p>
      </dgm:t>
    </dgm:pt>
    <dgm:pt modelId="{58703499-56FD-4121-BC45-314CBE1AEAA4}" type="parTrans" cxnId="{272CD81A-C712-401A-AA5D-B8A68B4A1A1C}">
      <dgm:prSet/>
      <dgm:spPr/>
      <dgm:t>
        <a:bodyPr/>
        <a:lstStyle/>
        <a:p>
          <a:endParaRPr lang="es-ES" sz="1800"/>
        </a:p>
      </dgm:t>
    </dgm:pt>
    <dgm:pt modelId="{B97128C8-7A0F-4AEA-816E-953D0C5FA98F}" type="sibTrans" cxnId="{272CD81A-C712-401A-AA5D-B8A68B4A1A1C}">
      <dgm:prSet/>
      <dgm:spPr/>
      <dgm:t>
        <a:bodyPr/>
        <a:lstStyle/>
        <a:p>
          <a:endParaRPr lang="es-ES" sz="1800"/>
        </a:p>
      </dgm:t>
    </dgm:pt>
    <dgm:pt modelId="{521C609F-BFF9-4BAB-9A8B-B01845A5ECB1}">
      <dgm:prSet phldrT="[Texto]" custT="1"/>
      <dgm:spPr/>
      <dgm:t>
        <a:bodyPr/>
        <a:lstStyle/>
        <a:p>
          <a:pPr marL="0"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rPr>
            <a:t>Pasivo corriente</a:t>
          </a:r>
        </a:p>
        <a:p>
          <a:pPr marL="0"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0" i="1" kern="1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rPr>
            <a:t>Se paga en menos de 1 año</a:t>
          </a:r>
          <a:endParaRPr lang="es-ES" sz="1400" b="0" i="1" kern="1200" dirty="0">
            <a:solidFill>
              <a:prstClr val="white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n-lt"/>
            <a:ea typeface="+mn-ea"/>
            <a:cs typeface="+mn-cs"/>
          </a:endParaRPr>
        </a:p>
      </dgm:t>
    </dgm:pt>
    <dgm:pt modelId="{877632FB-29C4-4F60-9D66-64796905E8A6}" type="parTrans" cxnId="{4012FD24-9379-4C5D-8A27-2DD64B57B115}">
      <dgm:prSet/>
      <dgm:spPr/>
      <dgm:t>
        <a:bodyPr/>
        <a:lstStyle/>
        <a:p>
          <a:endParaRPr lang="es-ES" sz="1800"/>
        </a:p>
      </dgm:t>
    </dgm:pt>
    <dgm:pt modelId="{6250DF59-14BF-4AB9-AE2B-920DD1B26508}" type="sibTrans" cxnId="{4012FD24-9379-4C5D-8A27-2DD64B57B115}">
      <dgm:prSet/>
      <dgm:spPr/>
      <dgm:t>
        <a:bodyPr/>
        <a:lstStyle/>
        <a:p>
          <a:endParaRPr lang="es-ES" sz="1800"/>
        </a:p>
      </dgm:t>
    </dgm:pt>
    <dgm:pt modelId="{D0FE8E64-E639-4597-833C-48344A9FBF13}">
      <dgm:prSet phldrT="[Texto]" custT="1"/>
      <dgm:spPr/>
      <dgm:t>
        <a:bodyPr/>
        <a:lstStyle/>
        <a:p>
          <a:r>
            <a:rPr lang="es-ES_tradnl" sz="1400" dirty="0">
              <a:latin typeface="+mn-lt"/>
            </a:rPr>
            <a:t>Préstamos y créditos bancarios a c/p</a:t>
          </a:r>
          <a:endParaRPr lang="es-ES" sz="1400" dirty="0">
            <a:latin typeface="+mn-lt"/>
          </a:endParaRPr>
        </a:p>
      </dgm:t>
    </dgm:pt>
    <dgm:pt modelId="{4B3275A0-B53D-412D-A0F1-A1F43D71B370}" type="parTrans" cxnId="{9A53D66C-EF83-47C1-943B-E0C509189EFF}">
      <dgm:prSet/>
      <dgm:spPr/>
      <dgm:t>
        <a:bodyPr/>
        <a:lstStyle/>
        <a:p>
          <a:endParaRPr lang="es-ES" sz="1800"/>
        </a:p>
      </dgm:t>
    </dgm:pt>
    <dgm:pt modelId="{34E85088-9883-43B6-966A-E2957282F214}" type="sibTrans" cxnId="{9A53D66C-EF83-47C1-943B-E0C509189EFF}">
      <dgm:prSet/>
      <dgm:spPr/>
      <dgm:t>
        <a:bodyPr/>
        <a:lstStyle/>
        <a:p>
          <a:endParaRPr lang="es-ES" sz="1800"/>
        </a:p>
      </dgm:t>
    </dgm:pt>
    <dgm:pt modelId="{7AE4D3D0-412C-4ED7-ADD3-D55E49CD5FEB}">
      <dgm:prSet phldrT="[Texto]" custT="1"/>
      <dgm:spPr/>
      <dgm:t>
        <a:bodyPr/>
        <a:lstStyle/>
        <a:p>
          <a:r>
            <a:rPr lang="es-ES_tradnl" sz="1400" dirty="0">
              <a:latin typeface="+mn-lt"/>
            </a:rPr>
            <a:t>Proveedores (deudas con los proveedores)</a:t>
          </a:r>
          <a:endParaRPr lang="es-ES" sz="1400" dirty="0">
            <a:latin typeface="+mn-lt"/>
          </a:endParaRPr>
        </a:p>
      </dgm:t>
    </dgm:pt>
    <dgm:pt modelId="{0E859660-F28D-4162-9917-D582EB43A51F}" type="parTrans" cxnId="{D14C208C-7019-47EB-B87A-793A32057D38}">
      <dgm:prSet/>
      <dgm:spPr/>
      <dgm:t>
        <a:bodyPr/>
        <a:lstStyle/>
        <a:p>
          <a:endParaRPr lang="es-ES"/>
        </a:p>
      </dgm:t>
    </dgm:pt>
    <dgm:pt modelId="{FD323FC1-F157-4FE7-B5CA-4DFDBFE4888D}" type="sibTrans" cxnId="{D14C208C-7019-47EB-B87A-793A32057D38}">
      <dgm:prSet/>
      <dgm:spPr/>
      <dgm:t>
        <a:bodyPr/>
        <a:lstStyle/>
        <a:p>
          <a:endParaRPr lang="es-ES"/>
        </a:p>
      </dgm:t>
    </dgm:pt>
    <dgm:pt modelId="{F7D17C7E-65F7-4F05-92C4-7C188319D68A}">
      <dgm:prSet phldrT="[Texto]" custT="1"/>
      <dgm:spPr/>
      <dgm:t>
        <a:bodyPr/>
        <a:lstStyle/>
        <a:p>
          <a:r>
            <a:rPr lang="es-ES_tradnl" sz="1400" dirty="0">
              <a:latin typeface="+mn-lt"/>
            </a:rPr>
            <a:t>Acreedores (deudas que tiene la empresa con potras empresas)</a:t>
          </a:r>
          <a:endParaRPr lang="es-ES" sz="1400" dirty="0">
            <a:latin typeface="+mn-lt"/>
          </a:endParaRPr>
        </a:p>
      </dgm:t>
    </dgm:pt>
    <dgm:pt modelId="{0C41A04A-4EEC-45A7-AD57-2F5AFB4464EB}" type="parTrans" cxnId="{71EBA0E5-E9B2-472A-82D9-19189EDA19E4}">
      <dgm:prSet/>
      <dgm:spPr/>
      <dgm:t>
        <a:bodyPr/>
        <a:lstStyle/>
        <a:p>
          <a:endParaRPr lang="es-ES"/>
        </a:p>
      </dgm:t>
    </dgm:pt>
    <dgm:pt modelId="{36C3B391-E4CD-4767-98F0-C494C6C97EB3}" type="sibTrans" cxnId="{71EBA0E5-E9B2-472A-82D9-19189EDA19E4}">
      <dgm:prSet/>
      <dgm:spPr/>
      <dgm:t>
        <a:bodyPr/>
        <a:lstStyle/>
        <a:p>
          <a:endParaRPr lang="es-ES"/>
        </a:p>
      </dgm:t>
    </dgm:pt>
    <dgm:pt modelId="{3312229E-5527-4491-B2D9-52BB1D02B661}">
      <dgm:prSet phldrT="[Texto]" custT="1"/>
      <dgm:spPr/>
      <dgm:t>
        <a:bodyPr/>
        <a:lstStyle/>
        <a:p>
          <a:r>
            <a:rPr lang="es-ES_tradnl" sz="1400" dirty="0">
              <a:latin typeface="+mn-lt"/>
            </a:rPr>
            <a:t>Deudas con Hacienda: IVA repercutido y retenciones de IRPF</a:t>
          </a:r>
          <a:endParaRPr lang="es-ES" sz="1400" dirty="0">
            <a:latin typeface="+mn-lt"/>
          </a:endParaRPr>
        </a:p>
      </dgm:t>
    </dgm:pt>
    <dgm:pt modelId="{6C884A6B-5488-4609-8AF7-0926D5FB3C72}" type="parTrans" cxnId="{2C917664-64E3-4C54-B72E-4671DDF5DF37}">
      <dgm:prSet/>
      <dgm:spPr/>
      <dgm:t>
        <a:bodyPr/>
        <a:lstStyle/>
        <a:p>
          <a:endParaRPr lang="es-ES"/>
        </a:p>
      </dgm:t>
    </dgm:pt>
    <dgm:pt modelId="{82828E77-5BA5-4A7F-8710-4DBE14CD4F58}" type="sibTrans" cxnId="{2C917664-64E3-4C54-B72E-4671DDF5DF37}">
      <dgm:prSet/>
      <dgm:spPr/>
      <dgm:t>
        <a:bodyPr/>
        <a:lstStyle/>
        <a:p>
          <a:endParaRPr lang="es-ES"/>
        </a:p>
      </dgm:t>
    </dgm:pt>
    <dgm:pt modelId="{FBED1E4F-58DA-4BFF-9452-D0524BEE35D9}">
      <dgm:prSet phldrT="[Texto]" custT="1"/>
      <dgm:spPr/>
      <dgm:t>
        <a:bodyPr/>
        <a:lstStyle/>
        <a:p>
          <a:r>
            <a:rPr lang="es-ES_tradnl" sz="1400" dirty="0">
              <a:latin typeface="+mn-lt"/>
            </a:rPr>
            <a:t>Deudas con la Seguridad Social</a:t>
          </a:r>
          <a:endParaRPr lang="es-ES" sz="1400" dirty="0">
            <a:latin typeface="+mn-lt"/>
          </a:endParaRPr>
        </a:p>
      </dgm:t>
    </dgm:pt>
    <dgm:pt modelId="{8F3EE631-CF1C-45DC-BFE8-AD86C5830C6D}" type="parTrans" cxnId="{FA100A95-39ED-48E5-8BF5-584AC2B2074B}">
      <dgm:prSet/>
      <dgm:spPr/>
      <dgm:t>
        <a:bodyPr/>
        <a:lstStyle/>
        <a:p>
          <a:endParaRPr lang="es-ES"/>
        </a:p>
      </dgm:t>
    </dgm:pt>
    <dgm:pt modelId="{994561FD-64E6-4BF6-876E-597A2112F6CB}" type="sibTrans" cxnId="{FA100A95-39ED-48E5-8BF5-584AC2B2074B}">
      <dgm:prSet/>
      <dgm:spPr/>
      <dgm:t>
        <a:bodyPr/>
        <a:lstStyle/>
        <a:p>
          <a:endParaRPr lang="es-ES"/>
        </a:p>
      </dgm:t>
    </dgm:pt>
    <dgm:pt modelId="{7AB3229D-D67A-43B5-A126-00CA4AF9514A}">
      <dgm:prSet phldrT="[Texto]" custT="1"/>
      <dgm:spPr/>
      <dgm:t>
        <a:bodyPr/>
        <a:lstStyle/>
        <a:p>
          <a:r>
            <a:rPr lang="es-ES" sz="1400" dirty="0">
              <a:latin typeface="+mn-lt"/>
            </a:rPr>
            <a:t>Créditos a largo plazo</a:t>
          </a:r>
        </a:p>
      </dgm:t>
    </dgm:pt>
    <dgm:pt modelId="{AA35B5B9-F54D-4BFF-8FEB-A15B11084364}" type="parTrans" cxnId="{F211F97D-9E66-4458-A2ED-026803E2E8AF}">
      <dgm:prSet/>
      <dgm:spPr/>
      <dgm:t>
        <a:bodyPr/>
        <a:lstStyle/>
        <a:p>
          <a:endParaRPr lang="es-ES"/>
        </a:p>
      </dgm:t>
    </dgm:pt>
    <dgm:pt modelId="{739E10B7-4C55-44A4-8241-8B890C363E03}" type="sibTrans" cxnId="{F211F97D-9E66-4458-A2ED-026803E2E8AF}">
      <dgm:prSet/>
      <dgm:spPr/>
      <dgm:t>
        <a:bodyPr/>
        <a:lstStyle/>
        <a:p>
          <a:endParaRPr lang="es-ES"/>
        </a:p>
      </dgm:t>
    </dgm:pt>
    <dgm:pt modelId="{8D586382-CA2E-49A4-A2FD-7076FC495AA9}" type="pres">
      <dgm:prSet presAssocID="{FB4D50D9-4E9D-48DD-ABD7-A56E45E0C429}" presName="Name0" presStyleCnt="0">
        <dgm:presLayoutVars>
          <dgm:dir/>
          <dgm:animLvl val="lvl"/>
          <dgm:resizeHandles val="exact"/>
        </dgm:presLayoutVars>
      </dgm:prSet>
      <dgm:spPr/>
    </dgm:pt>
    <dgm:pt modelId="{3D69EB10-5017-4CA8-88D3-EC1F38D88172}" type="pres">
      <dgm:prSet presAssocID="{3E423FE2-945F-46DC-91D5-9535A337C523}" presName="linNode" presStyleCnt="0"/>
      <dgm:spPr/>
    </dgm:pt>
    <dgm:pt modelId="{6F3CBE12-8328-4E7D-ADCE-14DD97D7B7AD}" type="pres">
      <dgm:prSet presAssocID="{3E423FE2-945F-46DC-91D5-9535A337C523}" presName="parentText" presStyleLbl="node1" presStyleIdx="0" presStyleCnt="2" custScaleY="21712" custLinFactNeighborY="2512">
        <dgm:presLayoutVars>
          <dgm:chMax val="1"/>
          <dgm:bulletEnabled val="1"/>
        </dgm:presLayoutVars>
      </dgm:prSet>
      <dgm:spPr/>
    </dgm:pt>
    <dgm:pt modelId="{6A387CB2-6B32-4C77-9019-0107308524A6}" type="pres">
      <dgm:prSet presAssocID="{3E423FE2-945F-46DC-91D5-9535A337C523}" presName="descendantText" presStyleLbl="alignAccFollowNode1" presStyleIdx="0" presStyleCnt="2" custScaleY="22297" custLinFactNeighborY="5561">
        <dgm:presLayoutVars>
          <dgm:bulletEnabled val="1"/>
        </dgm:presLayoutVars>
      </dgm:prSet>
      <dgm:spPr/>
    </dgm:pt>
    <dgm:pt modelId="{6BA87750-910E-4C7E-B6E8-4A6A9CF2045A}" type="pres">
      <dgm:prSet presAssocID="{3613C62B-0C86-4215-9866-B7C78213237E}" presName="sp" presStyleCnt="0"/>
      <dgm:spPr/>
    </dgm:pt>
    <dgm:pt modelId="{69B95FE2-2738-4EFE-9BD7-71A940224F64}" type="pres">
      <dgm:prSet presAssocID="{521C609F-BFF9-4BAB-9A8B-B01845A5ECB1}" presName="linNode" presStyleCnt="0"/>
      <dgm:spPr/>
    </dgm:pt>
    <dgm:pt modelId="{37D587AC-68B4-4A14-9293-01C41AA6C0EB}" type="pres">
      <dgm:prSet presAssocID="{521C609F-BFF9-4BAB-9A8B-B01845A5ECB1}" presName="parentText" presStyleLbl="node1" presStyleIdx="1" presStyleCnt="2" custScaleY="43845">
        <dgm:presLayoutVars>
          <dgm:chMax val="1"/>
          <dgm:bulletEnabled val="1"/>
        </dgm:presLayoutVars>
      </dgm:prSet>
      <dgm:spPr/>
    </dgm:pt>
    <dgm:pt modelId="{5DC03900-2073-47BB-9CC5-1F022AC333B4}" type="pres">
      <dgm:prSet presAssocID="{521C609F-BFF9-4BAB-9A8B-B01845A5ECB1}" presName="descendantText" presStyleLbl="alignAccFollowNode1" presStyleIdx="1" presStyleCnt="2" custScaleY="63373">
        <dgm:presLayoutVars>
          <dgm:bulletEnabled val="1"/>
        </dgm:presLayoutVars>
      </dgm:prSet>
      <dgm:spPr/>
    </dgm:pt>
  </dgm:ptLst>
  <dgm:cxnLst>
    <dgm:cxn modelId="{18369608-D01D-4476-A14D-BC85BCFA6772}" type="presOf" srcId="{2DC8AF70-3D89-4396-BDCD-F8744E6D8E35}" destId="{6A387CB2-6B32-4C77-9019-0107308524A6}" srcOrd="0" destOrd="0" presId="urn:microsoft.com/office/officeart/2005/8/layout/vList5"/>
    <dgm:cxn modelId="{7373090C-EA7E-4C60-A8B7-8D86D44DBF2E}" type="presOf" srcId="{7AE4D3D0-412C-4ED7-ADD3-D55E49CD5FEB}" destId="{5DC03900-2073-47BB-9CC5-1F022AC333B4}" srcOrd="0" destOrd="1" presId="urn:microsoft.com/office/officeart/2005/8/layout/vList5"/>
    <dgm:cxn modelId="{272CD81A-C712-401A-AA5D-B8A68B4A1A1C}" srcId="{3E423FE2-945F-46DC-91D5-9535A337C523}" destId="{2DC8AF70-3D89-4396-BDCD-F8744E6D8E35}" srcOrd="0" destOrd="0" parTransId="{58703499-56FD-4121-BC45-314CBE1AEAA4}" sibTransId="{B97128C8-7A0F-4AEA-816E-953D0C5FA98F}"/>
    <dgm:cxn modelId="{4012FD24-9379-4C5D-8A27-2DD64B57B115}" srcId="{FB4D50D9-4E9D-48DD-ABD7-A56E45E0C429}" destId="{521C609F-BFF9-4BAB-9A8B-B01845A5ECB1}" srcOrd="1" destOrd="0" parTransId="{877632FB-29C4-4F60-9D66-64796905E8A6}" sibTransId="{6250DF59-14BF-4AB9-AE2B-920DD1B26508}"/>
    <dgm:cxn modelId="{8DB00341-4D69-4465-BF38-0778FA256DB3}" type="presOf" srcId="{7AB3229D-D67A-43B5-A126-00CA4AF9514A}" destId="{6A387CB2-6B32-4C77-9019-0107308524A6}" srcOrd="0" destOrd="1" presId="urn:microsoft.com/office/officeart/2005/8/layout/vList5"/>
    <dgm:cxn modelId="{0CEC5C61-FA7D-4AA7-9FE2-B38E33A5E9E3}" type="presOf" srcId="{F7D17C7E-65F7-4F05-92C4-7C188319D68A}" destId="{5DC03900-2073-47BB-9CC5-1F022AC333B4}" srcOrd="0" destOrd="2" presId="urn:microsoft.com/office/officeart/2005/8/layout/vList5"/>
    <dgm:cxn modelId="{2C917664-64E3-4C54-B72E-4671DDF5DF37}" srcId="{521C609F-BFF9-4BAB-9A8B-B01845A5ECB1}" destId="{3312229E-5527-4491-B2D9-52BB1D02B661}" srcOrd="3" destOrd="0" parTransId="{6C884A6B-5488-4609-8AF7-0926D5FB3C72}" sibTransId="{82828E77-5BA5-4A7F-8710-4DBE14CD4F58}"/>
    <dgm:cxn modelId="{31FEBA46-17AE-4392-92A5-E82B9BF1EFD6}" srcId="{FB4D50D9-4E9D-48DD-ABD7-A56E45E0C429}" destId="{3E423FE2-945F-46DC-91D5-9535A337C523}" srcOrd="0" destOrd="0" parTransId="{818A68EC-2199-4487-A354-E154A222F9C6}" sibTransId="{3613C62B-0C86-4215-9866-B7C78213237E}"/>
    <dgm:cxn modelId="{80638F48-60C9-4B07-A486-4C73A88E88D9}" type="presOf" srcId="{3E423FE2-945F-46DC-91D5-9535A337C523}" destId="{6F3CBE12-8328-4E7D-ADCE-14DD97D7B7AD}" srcOrd="0" destOrd="0" presId="urn:microsoft.com/office/officeart/2005/8/layout/vList5"/>
    <dgm:cxn modelId="{A6CF3C49-11BD-4589-BF9F-927B7B988584}" type="presOf" srcId="{FBED1E4F-58DA-4BFF-9452-D0524BEE35D9}" destId="{5DC03900-2073-47BB-9CC5-1F022AC333B4}" srcOrd="0" destOrd="4" presId="urn:microsoft.com/office/officeart/2005/8/layout/vList5"/>
    <dgm:cxn modelId="{9A53D66C-EF83-47C1-943B-E0C509189EFF}" srcId="{521C609F-BFF9-4BAB-9A8B-B01845A5ECB1}" destId="{D0FE8E64-E639-4597-833C-48344A9FBF13}" srcOrd="0" destOrd="0" parTransId="{4B3275A0-B53D-412D-A0F1-A1F43D71B370}" sibTransId="{34E85088-9883-43B6-966A-E2957282F214}"/>
    <dgm:cxn modelId="{AF12B14D-D01F-4ABD-9A2F-68C3E3F5BCDC}" type="presOf" srcId="{FB4D50D9-4E9D-48DD-ABD7-A56E45E0C429}" destId="{8D586382-CA2E-49A4-A2FD-7076FC495AA9}" srcOrd="0" destOrd="0" presId="urn:microsoft.com/office/officeart/2005/8/layout/vList5"/>
    <dgm:cxn modelId="{F211F97D-9E66-4458-A2ED-026803E2E8AF}" srcId="{3E423FE2-945F-46DC-91D5-9535A337C523}" destId="{7AB3229D-D67A-43B5-A126-00CA4AF9514A}" srcOrd="1" destOrd="0" parTransId="{AA35B5B9-F54D-4BFF-8FEB-A15B11084364}" sibTransId="{739E10B7-4C55-44A4-8241-8B890C363E03}"/>
    <dgm:cxn modelId="{D14C208C-7019-47EB-B87A-793A32057D38}" srcId="{521C609F-BFF9-4BAB-9A8B-B01845A5ECB1}" destId="{7AE4D3D0-412C-4ED7-ADD3-D55E49CD5FEB}" srcOrd="1" destOrd="0" parTransId="{0E859660-F28D-4162-9917-D582EB43A51F}" sibTransId="{FD323FC1-F157-4FE7-B5CA-4DFDBFE4888D}"/>
    <dgm:cxn modelId="{FA100A95-39ED-48E5-8BF5-584AC2B2074B}" srcId="{521C609F-BFF9-4BAB-9A8B-B01845A5ECB1}" destId="{FBED1E4F-58DA-4BFF-9452-D0524BEE35D9}" srcOrd="4" destOrd="0" parTransId="{8F3EE631-CF1C-45DC-BFE8-AD86C5830C6D}" sibTransId="{994561FD-64E6-4BF6-876E-597A2112F6CB}"/>
    <dgm:cxn modelId="{ABB95BB2-BAEC-49C1-A559-D988A7F34305}" type="presOf" srcId="{3312229E-5527-4491-B2D9-52BB1D02B661}" destId="{5DC03900-2073-47BB-9CC5-1F022AC333B4}" srcOrd="0" destOrd="3" presId="urn:microsoft.com/office/officeart/2005/8/layout/vList5"/>
    <dgm:cxn modelId="{28DDF2C8-CFD0-4E51-ACE1-7D98FFD532EC}" type="presOf" srcId="{521C609F-BFF9-4BAB-9A8B-B01845A5ECB1}" destId="{37D587AC-68B4-4A14-9293-01C41AA6C0EB}" srcOrd="0" destOrd="0" presId="urn:microsoft.com/office/officeart/2005/8/layout/vList5"/>
    <dgm:cxn modelId="{71EBA0E5-E9B2-472A-82D9-19189EDA19E4}" srcId="{521C609F-BFF9-4BAB-9A8B-B01845A5ECB1}" destId="{F7D17C7E-65F7-4F05-92C4-7C188319D68A}" srcOrd="2" destOrd="0" parTransId="{0C41A04A-4EEC-45A7-AD57-2F5AFB4464EB}" sibTransId="{36C3B391-E4CD-4767-98F0-C494C6C97EB3}"/>
    <dgm:cxn modelId="{A4B119F3-FB65-4CDA-BF16-A5943226D9DC}" type="presOf" srcId="{D0FE8E64-E639-4597-833C-48344A9FBF13}" destId="{5DC03900-2073-47BB-9CC5-1F022AC333B4}" srcOrd="0" destOrd="0" presId="urn:microsoft.com/office/officeart/2005/8/layout/vList5"/>
    <dgm:cxn modelId="{05666ED3-0E44-4160-84B1-12A3FCADBB38}" type="presParOf" srcId="{8D586382-CA2E-49A4-A2FD-7076FC495AA9}" destId="{3D69EB10-5017-4CA8-88D3-EC1F38D88172}" srcOrd="0" destOrd="0" presId="urn:microsoft.com/office/officeart/2005/8/layout/vList5"/>
    <dgm:cxn modelId="{F8E269CA-1927-4006-AA47-578A1540FD68}" type="presParOf" srcId="{3D69EB10-5017-4CA8-88D3-EC1F38D88172}" destId="{6F3CBE12-8328-4E7D-ADCE-14DD97D7B7AD}" srcOrd="0" destOrd="0" presId="urn:microsoft.com/office/officeart/2005/8/layout/vList5"/>
    <dgm:cxn modelId="{0A281E63-1597-4011-AFEB-AF874CD45673}" type="presParOf" srcId="{3D69EB10-5017-4CA8-88D3-EC1F38D88172}" destId="{6A387CB2-6B32-4C77-9019-0107308524A6}" srcOrd="1" destOrd="0" presId="urn:microsoft.com/office/officeart/2005/8/layout/vList5"/>
    <dgm:cxn modelId="{44A24DED-C710-450E-B1E0-E923313D9ACD}" type="presParOf" srcId="{8D586382-CA2E-49A4-A2FD-7076FC495AA9}" destId="{6BA87750-910E-4C7E-B6E8-4A6A9CF2045A}" srcOrd="1" destOrd="0" presId="urn:microsoft.com/office/officeart/2005/8/layout/vList5"/>
    <dgm:cxn modelId="{A3B95F2C-99A3-49B5-B157-1C7095AD8523}" type="presParOf" srcId="{8D586382-CA2E-49A4-A2FD-7076FC495AA9}" destId="{69B95FE2-2738-4EFE-9BD7-71A940224F64}" srcOrd="2" destOrd="0" presId="urn:microsoft.com/office/officeart/2005/8/layout/vList5"/>
    <dgm:cxn modelId="{7AC56DAE-970E-4342-8C08-B28B5431F3FF}" type="presParOf" srcId="{69B95FE2-2738-4EFE-9BD7-71A940224F64}" destId="{37D587AC-68B4-4A14-9293-01C41AA6C0EB}" srcOrd="0" destOrd="0" presId="urn:microsoft.com/office/officeart/2005/8/layout/vList5"/>
    <dgm:cxn modelId="{9D2CA6D1-775D-477E-B883-D184F81ACDB8}" type="presParOf" srcId="{69B95FE2-2738-4EFE-9BD7-71A940224F64}" destId="{5DC03900-2073-47BB-9CC5-1F022AC333B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B4D50D9-4E9D-48DD-ABD7-A56E45E0C429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3E423FE2-945F-46DC-91D5-9535A337C523}">
      <dgm:prSet phldrT="[Texto]" custT="1"/>
      <dgm:spPr/>
      <dgm:t>
        <a:bodyPr/>
        <a:lstStyle/>
        <a:p>
          <a:r>
            <a:rPr lang="es-ES_tradnl" sz="20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rPr>
            <a:t>Patrimonio neto</a:t>
          </a:r>
          <a:endParaRPr lang="es-ES" sz="2000" b="1" i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n-lt"/>
          </a:endParaRPr>
        </a:p>
      </dgm:t>
    </dgm:pt>
    <dgm:pt modelId="{818A68EC-2199-4487-A354-E154A222F9C6}" type="parTrans" cxnId="{31FEBA46-17AE-4392-92A5-E82B9BF1EFD6}">
      <dgm:prSet/>
      <dgm:spPr/>
      <dgm:t>
        <a:bodyPr/>
        <a:lstStyle/>
        <a:p>
          <a:endParaRPr lang="es-ES" sz="1800"/>
        </a:p>
      </dgm:t>
    </dgm:pt>
    <dgm:pt modelId="{3613C62B-0C86-4215-9866-B7C78213237E}" type="sibTrans" cxnId="{31FEBA46-17AE-4392-92A5-E82B9BF1EFD6}">
      <dgm:prSet/>
      <dgm:spPr/>
      <dgm:t>
        <a:bodyPr/>
        <a:lstStyle/>
        <a:p>
          <a:endParaRPr lang="es-ES" sz="1800"/>
        </a:p>
      </dgm:t>
    </dgm:pt>
    <dgm:pt modelId="{2DC8AF70-3D89-4396-BDCD-F8744E6D8E35}">
      <dgm:prSet phldrT="[Texto]" custT="1"/>
      <dgm:spPr/>
      <dgm:t>
        <a:bodyPr/>
        <a:lstStyle/>
        <a:p>
          <a:r>
            <a:rPr lang="es-ES_tradnl" sz="1800" dirty="0">
              <a:latin typeface="+mn-lt"/>
            </a:rPr>
            <a:t>Capital (aportado por los socios)</a:t>
          </a:r>
          <a:endParaRPr lang="es-ES" sz="1800" dirty="0">
            <a:latin typeface="+mn-lt"/>
          </a:endParaRPr>
        </a:p>
      </dgm:t>
    </dgm:pt>
    <dgm:pt modelId="{58703499-56FD-4121-BC45-314CBE1AEAA4}" type="parTrans" cxnId="{272CD81A-C712-401A-AA5D-B8A68B4A1A1C}">
      <dgm:prSet/>
      <dgm:spPr/>
      <dgm:t>
        <a:bodyPr/>
        <a:lstStyle/>
        <a:p>
          <a:endParaRPr lang="es-ES" sz="1800"/>
        </a:p>
      </dgm:t>
    </dgm:pt>
    <dgm:pt modelId="{B97128C8-7A0F-4AEA-816E-953D0C5FA98F}" type="sibTrans" cxnId="{272CD81A-C712-401A-AA5D-B8A68B4A1A1C}">
      <dgm:prSet/>
      <dgm:spPr/>
      <dgm:t>
        <a:bodyPr/>
        <a:lstStyle/>
        <a:p>
          <a:endParaRPr lang="es-ES" sz="1800"/>
        </a:p>
      </dgm:t>
    </dgm:pt>
    <dgm:pt modelId="{E3CB7228-CACC-4FB5-8C38-8F76028D0268}">
      <dgm:prSet phldrT="[Texto]" custT="1"/>
      <dgm:spPr/>
      <dgm:t>
        <a:bodyPr/>
        <a:lstStyle/>
        <a:p>
          <a:r>
            <a:rPr lang="es-ES_tradnl" sz="1800" dirty="0">
              <a:latin typeface="+mn-lt"/>
            </a:rPr>
            <a:t>Reservas (parte del </a:t>
          </a:r>
          <a:r>
            <a:rPr lang="es-ES_tradnl" sz="1800" dirty="0" err="1">
              <a:latin typeface="+mn-lt"/>
            </a:rPr>
            <a:t>Bº</a:t>
          </a:r>
          <a:r>
            <a:rPr lang="es-ES_tradnl" sz="1800" dirty="0">
              <a:latin typeface="+mn-lt"/>
            </a:rPr>
            <a:t> no repartida)</a:t>
          </a:r>
          <a:endParaRPr lang="es-ES" sz="1800" dirty="0">
            <a:latin typeface="+mn-lt"/>
          </a:endParaRPr>
        </a:p>
      </dgm:t>
    </dgm:pt>
    <dgm:pt modelId="{2B6E4525-E036-4D13-A1AC-ABB0317B3618}" type="parTrans" cxnId="{CE39191F-9E1D-4380-A30F-B0BE4C0AFA76}">
      <dgm:prSet/>
      <dgm:spPr/>
      <dgm:t>
        <a:bodyPr/>
        <a:lstStyle/>
        <a:p>
          <a:endParaRPr lang="es-ES"/>
        </a:p>
      </dgm:t>
    </dgm:pt>
    <dgm:pt modelId="{54429EB5-FB1A-4EEC-AC15-77D7084090DC}" type="sibTrans" cxnId="{CE39191F-9E1D-4380-A30F-B0BE4C0AFA76}">
      <dgm:prSet/>
      <dgm:spPr/>
      <dgm:t>
        <a:bodyPr/>
        <a:lstStyle/>
        <a:p>
          <a:endParaRPr lang="es-ES"/>
        </a:p>
      </dgm:t>
    </dgm:pt>
    <dgm:pt modelId="{CF579ED3-B503-40C0-BA03-CD557D654711}">
      <dgm:prSet phldrT="[Texto]" custT="1"/>
      <dgm:spPr/>
      <dgm:t>
        <a:bodyPr/>
        <a:lstStyle/>
        <a:p>
          <a:r>
            <a:rPr lang="es-ES_tradnl" sz="1800" dirty="0">
              <a:latin typeface="+mn-lt"/>
            </a:rPr>
            <a:t>Resultados del ejercicio (beneficios o pérdidas pendientes de repartir)</a:t>
          </a:r>
          <a:endParaRPr lang="es-ES" sz="1800" dirty="0">
            <a:latin typeface="+mn-lt"/>
          </a:endParaRPr>
        </a:p>
      </dgm:t>
    </dgm:pt>
    <dgm:pt modelId="{A2725CA6-79B6-49AC-B946-557139F74911}" type="parTrans" cxnId="{00CBC634-C02F-4057-94DE-FC5939A9B8FB}">
      <dgm:prSet/>
      <dgm:spPr/>
      <dgm:t>
        <a:bodyPr/>
        <a:lstStyle/>
        <a:p>
          <a:endParaRPr lang="es-ES"/>
        </a:p>
      </dgm:t>
    </dgm:pt>
    <dgm:pt modelId="{D80C7906-2020-4E80-A846-AEA72A206BAF}" type="sibTrans" cxnId="{00CBC634-C02F-4057-94DE-FC5939A9B8FB}">
      <dgm:prSet/>
      <dgm:spPr/>
      <dgm:t>
        <a:bodyPr/>
        <a:lstStyle/>
        <a:p>
          <a:endParaRPr lang="es-ES"/>
        </a:p>
      </dgm:t>
    </dgm:pt>
    <dgm:pt modelId="{8D586382-CA2E-49A4-A2FD-7076FC495AA9}" type="pres">
      <dgm:prSet presAssocID="{FB4D50D9-4E9D-48DD-ABD7-A56E45E0C429}" presName="Name0" presStyleCnt="0">
        <dgm:presLayoutVars>
          <dgm:dir/>
          <dgm:animLvl val="lvl"/>
          <dgm:resizeHandles val="exact"/>
        </dgm:presLayoutVars>
      </dgm:prSet>
      <dgm:spPr/>
    </dgm:pt>
    <dgm:pt modelId="{3D69EB10-5017-4CA8-88D3-EC1F38D88172}" type="pres">
      <dgm:prSet presAssocID="{3E423FE2-945F-46DC-91D5-9535A337C523}" presName="linNode" presStyleCnt="0"/>
      <dgm:spPr/>
    </dgm:pt>
    <dgm:pt modelId="{6F3CBE12-8328-4E7D-ADCE-14DD97D7B7AD}" type="pres">
      <dgm:prSet presAssocID="{3E423FE2-945F-46DC-91D5-9535A337C523}" presName="parentText" presStyleLbl="node1" presStyleIdx="0" presStyleCnt="1" custScaleY="65713">
        <dgm:presLayoutVars>
          <dgm:chMax val="1"/>
          <dgm:bulletEnabled val="1"/>
        </dgm:presLayoutVars>
      </dgm:prSet>
      <dgm:spPr/>
    </dgm:pt>
    <dgm:pt modelId="{6A387CB2-6B32-4C77-9019-0107308524A6}" type="pres">
      <dgm:prSet presAssocID="{3E423FE2-945F-46DC-91D5-9535A337C523}" presName="descendantText" presStyleLbl="alignAccFollowNode1" presStyleIdx="0" presStyleCnt="1" custScaleY="75959">
        <dgm:presLayoutVars>
          <dgm:bulletEnabled val="1"/>
        </dgm:presLayoutVars>
      </dgm:prSet>
      <dgm:spPr/>
    </dgm:pt>
  </dgm:ptLst>
  <dgm:cxnLst>
    <dgm:cxn modelId="{1FB1F914-098C-4F92-8DF5-65918C93B984}" type="presOf" srcId="{2DC8AF70-3D89-4396-BDCD-F8744E6D8E35}" destId="{6A387CB2-6B32-4C77-9019-0107308524A6}" srcOrd="0" destOrd="0" presId="urn:microsoft.com/office/officeart/2005/8/layout/vList5"/>
    <dgm:cxn modelId="{CE17461A-AD80-45D6-A4EE-7EE1E9BCC0DB}" type="presOf" srcId="{3E423FE2-945F-46DC-91D5-9535A337C523}" destId="{6F3CBE12-8328-4E7D-ADCE-14DD97D7B7AD}" srcOrd="0" destOrd="0" presId="urn:microsoft.com/office/officeart/2005/8/layout/vList5"/>
    <dgm:cxn modelId="{272CD81A-C712-401A-AA5D-B8A68B4A1A1C}" srcId="{3E423FE2-945F-46DC-91D5-9535A337C523}" destId="{2DC8AF70-3D89-4396-BDCD-F8744E6D8E35}" srcOrd="0" destOrd="0" parTransId="{58703499-56FD-4121-BC45-314CBE1AEAA4}" sibTransId="{B97128C8-7A0F-4AEA-816E-953D0C5FA98F}"/>
    <dgm:cxn modelId="{CE39191F-9E1D-4380-A30F-B0BE4C0AFA76}" srcId="{3E423FE2-945F-46DC-91D5-9535A337C523}" destId="{E3CB7228-CACC-4FB5-8C38-8F76028D0268}" srcOrd="1" destOrd="0" parTransId="{2B6E4525-E036-4D13-A1AC-ABB0317B3618}" sibTransId="{54429EB5-FB1A-4EEC-AC15-77D7084090DC}"/>
    <dgm:cxn modelId="{00CBC634-C02F-4057-94DE-FC5939A9B8FB}" srcId="{3E423FE2-945F-46DC-91D5-9535A337C523}" destId="{CF579ED3-B503-40C0-BA03-CD557D654711}" srcOrd="2" destOrd="0" parTransId="{A2725CA6-79B6-49AC-B946-557139F74911}" sibTransId="{D80C7906-2020-4E80-A846-AEA72A206BAF}"/>
    <dgm:cxn modelId="{31FEBA46-17AE-4392-92A5-E82B9BF1EFD6}" srcId="{FB4D50D9-4E9D-48DD-ABD7-A56E45E0C429}" destId="{3E423FE2-945F-46DC-91D5-9535A337C523}" srcOrd="0" destOrd="0" parTransId="{818A68EC-2199-4487-A354-E154A222F9C6}" sibTransId="{3613C62B-0C86-4215-9866-B7C78213237E}"/>
    <dgm:cxn modelId="{4A97F56D-A8E3-47B3-BC66-1F593156D91F}" type="presOf" srcId="{E3CB7228-CACC-4FB5-8C38-8F76028D0268}" destId="{6A387CB2-6B32-4C77-9019-0107308524A6}" srcOrd="0" destOrd="1" presId="urn:microsoft.com/office/officeart/2005/8/layout/vList5"/>
    <dgm:cxn modelId="{25858CBB-CEB4-49FB-8ED1-76021A414147}" type="presOf" srcId="{FB4D50D9-4E9D-48DD-ABD7-A56E45E0C429}" destId="{8D586382-CA2E-49A4-A2FD-7076FC495AA9}" srcOrd="0" destOrd="0" presId="urn:microsoft.com/office/officeart/2005/8/layout/vList5"/>
    <dgm:cxn modelId="{F61E7AE8-4EF1-4DE5-8AC9-C1B0DABAA997}" type="presOf" srcId="{CF579ED3-B503-40C0-BA03-CD557D654711}" destId="{6A387CB2-6B32-4C77-9019-0107308524A6}" srcOrd="0" destOrd="2" presId="urn:microsoft.com/office/officeart/2005/8/layout/vList5"/>
    <dgm:cxn modelId="{B0BE91A1-14E1-464E-94C4-8E2CAC94E925}" type="presParOf" srcId="{8D586382-CA2E-49A4-A2FD-7076FC495AA9}" destId="{3D69EB10-5017-4CA8-88D3-EC1F38D88172}" srcOrd="0" destOrd="0" presId="urn:microsoft.com/office/officeart/2005/8/layout/vList5"/>
    <dgm:cxn modelId="{B39A6889-6128-41F9-A656-12ADC9C68A71}" type="presParOf" srcId="{3D69EB10-5017-4CA8-88D3-EC1F38D88172}" destId="{6F3CBE12-8328-4E7D-ADCE-14DD97D7B7AD}" srcOrd="0" destOrd="0" presId="urn:microsoft.com/office/officeart/2005/8/layout/vList5"/>
    <dgm:cxn modelId="{F96AFE01-11AC-4157-A343-D361ADE6E658}" type="presParOf" srcId="{3D69EB10-5017-4CA8-88D3-EC1F38D88172}" destId="{6A387CB2-6B32-4C77-9019-0107308524A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00E588-D3FA-47D6-8621-29A5E8C7A1A9}">
      <dsp:nvSpPr>
        <dsp:cNvPr id="0" name=""/>
        <dsp:cNvSpPr/>
      </dsp:nvSpPr>
      <dsp:spPr>
        <a:xfrm>
          <a:off x="2039897" y="369"/>
          <a:ext cx="6856057" cy="75681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t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_tradnl" sz="1800" kern="1200" dirty="0">
              <a:solidFill>
                <a:schemeClr val="tx1"/>
              </a:solidFill>
            </a:rPr>
            <a:t>Estado contable que refleja la situación del patrimonio de la empresa en un día concreto (fotografía instantánea del patrimonio)</a:t>
          </a:r>
          <a:endParaRPr lang="es-ES" sz="1800" kern="1200" dirty="0">
            <a:solidFill>
              <a:schemeClr val="tx1"/>
            </a:solidFill>
          </a:endParaRPr>
        </a:p>
      </dsp:txBody>
      <dsp:txXfrm>
        <a:off x="2039897" y="94971"/>
        <a:ext cx="6572251" cy="567612"/>
      </dsp:txXfrm>
    </dsp:sp>
    <dsp:sp modelId="{88AB60C0-10F5-4527-809B-607DCDDAE206}">
      <dsp:nvSpPr>
        <dsp:cNvPr id="0" name=""/>
        <dsp:cNvSpPr/>
      </dsp:nvSpPr>
      <dsp:spPr>
        <a:xfrm>
          <a:off x="0" y="113750"/>
          <a:ext cx="2035222" cy="469522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>
              <a:solidFill>
                <a:schemeClr val="tx1"/>
              </a:solidFill>
            </a:rPr>
            <a:t>Balance</a:t>
          </a:r>
          <a:endParaRPr lang="es-ES" sz="1800" b="1" kern="1200" dirty="0">
            <a:solidFill>
              <a:schemeClr val="tx1"/>
            </a:solidFill>
          </a:endParaRPr>
        </a:p>
      </dsp:txBody>
      <dsp:txXfrm>
        <a:off x="22920" y="136670"/>
        <a:ext cx="1989382" cy="4236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387CB2-6B32-4C77-9019-0107308524A6}">
      <dsp:nvSpPr>
        <dsp:cNvPr id="0" name=""/>
        <dsp:cNvSpPr/>
      </dsp:nvSpPr>
      <dsp:spPr>
        <a:xfrm rot="5400000">
          <a:off x="4907736" y="-1631622"/>
          <a:ext cx="2171503" cy="563687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>
              <a:latin typeface="Arial Narrow" panose="020B0606020202030204" pitchFamily="34" charset="0"/>
            </a:rPr>
            <a:t>Terrenos</a:t>
          </a:r>
          <a:endParaRPr lang="es-ES" sz="1800" kern="1200" dirty="0">
            <a:latin typeface="Arial Narrow" panose="020B0606020202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>
              <a:latin typeface="Arial Narrow" panose="020B0606020202030204" pitchFamily="34" charset="0"/>
            </a:rPr>
            <a:t>Construcciones</a:t>
          </a:r>
          <a:endParaRPr lang="es-ES" sz="1800" kern="1200" dirty="0">
            <a:latin typeface="Arial Narrow" panose="020B0606020202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>
              <a:latin typeface="Arial Narrow" panose="020B0606020202030204" pitchFamily="34" charset="0"/>
            </a:rPr>
            <a:t>Maquinaria</a:t>
          </a:r>
          <a:endParaRPr lang="es-ES" sz="1800" kern="1200" dirty="0">
            <a:latin typeface="Arial Narrow" panose="020B0606020202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>
              <a:latin typeface="Arial Narrow" panose="020B0606020202030204" pitchFamily="34" charset="0"/>
            </a:rPr>
            <a:t>Utillaje (herramientas y útiles que duran más de 1 año)</a:t>
          </a:r>
          <a:endParaRPr lang="es-ES" sz="1800" kern="1200" dirty="0">
            <a:latin typeface="Arial Narrow" panose="020B0606020202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>
              <a:latin typeface="Arial Narrow" panose="020B0606020202030204" pitchFamily="34" charset="0"/>
            </a:rPr>
            <a:t>Mobiliario</a:t>
          </a:r>
          <a:endParaRPr lang="es-ES" sz="1800" kern="1200" dirty="0">
            <a:latin typeface="Arial Narrow" panose="020B0606020202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>
              <a:latin typeface="Arial Narrow" panose="020B0606020202030204" pitchFamily="34" charset="0"/>
            </a:rPr>
            <a:t>Equipos para proceso de información</a:t>
          </a:r>
          <a:endParaRPr lang="es-ES" sz="1800" kern="1200" dirty="0">
            <a:latin typeface="Arial Narrow" panose="020B0606020202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>
              <a:latin typeface="Arial Narrow" panose="020B0606020202030204" pitchFamily="34" charset="0"/>
            </a:rPr>
            <a:t>Aplicaciones informáticas</a:t>
          </a:r>
          <a:endParaRPr lang="es-ES" sz="1800" kern="1200" dirty="0">
            <a:latin typeface="Arial Narrow" panose="020B0606020202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>
              <a:latin typeface="Arial Narrow" panose="020B0606020202030204" pitchFamily="34" charset="0"/>
            </a:rPr>
            <a:t>Patentes y marcas</a:t>
          </a:r>
          <a:endParaRPr lang="es-ES" sz="1800" kern="1200" dirty="0">
            <a:latin typeface="Arial Narrow" panose="020B0606020202030204" pitchFamily="34" charset="0"/>
          </a:endParaRPr>
        </a:p>
      </dsp:txBody>
      <dsp:txXfrm rot="-5400000">
        <a:off x="3175049" y="207069"/>
        <a:ext cx="5530874" cy="1959495"/>
      </dsp:txXfrm>
    </dsp:sp>
    <dsp:sp modelId="{6F3CBE12-8328-4E7D-ADCE-14DD97D7B7AD}">
      <dsp:nvSpPr>
        <dsp:cNvPr id="0" name=""/>
        <dsp:cNvSpPr/>
      </dsp:nvSpPr>
      <dsp:spPr>
        <a:xfrm>
          <a:off x="20" y="46748"/>
          <a:ext cx="3170744" cy="23664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3600" b="1" i="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rPr>
            <a:t>Activo no corriente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i="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rPr>
            <a:t>Bienes de inversión que estarán en la empresa </a:t>
          </a:r>
          <a:r>
            <a:rPr lang="es-ES_tradnl" sz="2000" b="1" i="0" u="sng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rPr>
            <a:t>más</a:t>
          </a:r>
          <a:r>
            <a:rPr lang="es-ES_tradnl" sz="2000" b="1" i="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rPr>
            <a:t> de 1 año</a:t>
          </a:r>
          <a:endParaRPr lang="es-ES" sz="2000" b="1" i="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anose="020B0606020202030204" pitchFamily="34" charset="0"/>
          </a:endParaRPr>
        </a:p>
      </dsp:txBody>
      <dsp:txXfrm>
        <a:off x="115540" y="162268"/>
        <a:ext cx="2939704" cy="2135395"/>
      </dsp:txXfrm>
    </dsp:sp>
    <dsp:sp modelId="{5DC03900-2073-47BB-9CC5-1F022AC333B4}">
      <dsp:nvSpPr>
        <dsp:cNvPr id="0" name=""/>
        <dsp:cNvSpPr/>
      </dsp:nvSpPr>
      <dsp:spPr>
        <a:xfrm rot="5400000">
          <a:off x="6781332" y="1159490"/>
          <a:ext cx="662782" cy="338436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>
              <a:latin typeface="Arial Narrow" panose="020B0606020202030204" pitchFamily="34" charset="0"/>
            </a:rPr>
            <a:t>Mercaderías</a:t>
          </a:r>
          <a:endParaRPr lang="es-ES" sz="1800" kern="1200" dirty="0">
            <a:latin typeface="Arial Narrow" panose="020B0606020202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>
              <a:latin typeface="Arial Narrow" panose="020B0606020202030204" pitchFamily="34" charset="0"/>
            </a:rPr>
            <a:t>Materias primas, envases</a:t>
          </a:r>
          <a:endParaRPr lang="es-ES" sz="1800" kern="1200" dirty="0">
            <a:latin typeface="Arial Narrow" panose="020B0606020202030204" pitchFamily="34" charset="0"/>
          </a:endParaRPr>
        </a:p>
      </dsp:txBody>
      <dsp:txXfrm rot="-5400000">
        <a:off x="5420543" y="2552633"/>
        <a:ext cx="3352007" cy="598074"/>
      </dsp:txXfrm>
    </dsp:sp>
    <dsp:sp modelId="{37D587AC-68B4-4A14-9293-01C41AA6C0EB}">
      <dsp:nvSpPr>
        <dsp:cNvPr id="0" name=""/>
        <dsp:cNvSpPr/>
      </dsp:nvSpPr>
      <dsp:spPr>
        <a:xfrm>
          <a:off x="3250765" y="2449748"/>
          <a:ext cx="2093435" cy="7906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rPr>
            <a:t>Existencias</a:t>
          </a:r>
          <a:endParaRPr lang="es-ES" sz="2000" b="1" i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anose="020B0606020202030204" pitchFamily="34" charset="0"/>
          </a:endParaRPr>
        </a:p>
      </dsp:txBody>
      <dsp:txXfrm>
        <a:off x="3289360" y="2488343"/>
        <a:ext cx="2016245" cy="713424"/>
      </dsp:txXfrm>
    </dsp:sp>
    <dsp:sp modelId="{CBE4783F-3A4E-4194-A021-0E90372B7597}">
      <dsp:nvSpPr>
        <dsp:cNvPr id="0" name=""/>
        <dsp:cNvSpPr/>
      </dsp:nvSpPr>
      <dsp:spPr>
        <a:xfrm rot="5400000">
          <a:off x="6634132" y="2110106"/>
          <a:ext cx="979837" cy="338436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>
              <a:latin typeface="Arial Narrow" panose="020B0606020202030204" pitchFamily="34" charset="0"/>
            </a:rPr>
            <a:t>Clientes (deudas de clientes)</a:t>
          </a:r>
          <a:endParaRPr lang="es-ES" sz="1800" kern="1200" dirty="0">
            <a:latin typeface="Arial Narrow" panose="020B0606020202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>
              <a:latin typeface="Arial Narrow" panose="020B0606020202030204" pitchFamily="34" charset="0"/>
            </a:rPr>
            <a:t>Deudas de Hacienda (</a:t>
          </a:r>
          <a:r>
            <a:rPr lang="es-ES_tradnl" sz="1800" b="1" kern="1200" dirty="0">
              <a:latin typeface="Arial Narrow" panose="020B0606020202030204" pitchFamily="34" charset="0"/>
            </a:rPr>
            <a:t>IVA soportado</a:t>
          </a:r>
          <a:r>
            <a:rPr lang="es-ES_tradnl" sz="1800" kern="1200" dirty="0">
              <a:latin typeface="Arial Narrow" panose="020B0606020202030204" pitchFamily="34" charset="0"/>
            </a:rPr>
            <a:t>)</a:t>
          </a:r>
          <a:endParaRPr lang="es-ES" sz="1800" kern="1200" dirty="0">
            <a:latin typeface="Arial Narrow" panose="020B0606020202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>
              <a:latin typeface="Arial Narrow" panose="020B0606020202030204" pitchFamily="34" charset="0"/>
            </a:rPr>
            <a:t>Otros deudores</a:t>
          </a:r>
          <a:endParaRPr lang="es-ES" sz="1800" kern="1200" dirty="0">
            <a:latin typeface="Arial Narrow" panose="020B0606020202030204" pitchFamily="34" charset="0"/>
          </a:endParaRPr>
        </a:p>
      </dsp:txBody>
      <dsp:txXfrm rot="-5400000">
        <a:off x="5431870" y="3360200"/>
        <a:ext cx="3336529" cy="884173"/>
      </dsp:txXfrm>
    </dsp:sp>
    <dsp:sp modelId="{416F3A45-AF62-4645-A6E8-465938D74534}">
      <dsp:nvSpPr>
        <dsp:cNvPr id="0" name=""/>
        <dsp:cNvSpPr/>
      </dsp:nvSpPr>
      <dsp:spPr>
        <a:xfrm>
          <a:off x="3257423" y="3278451"/>
          <a:ext cx="2041987" cy="89801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rPr>
            <a:t>Realizable</a:t>
          </a:r>
          <a:endParaRPr lang="es-ES" sz="2000" b="1" i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anose="020B0606020202030204" pitchFamily="34" charset="0"/>
          </a:endParaRPr>
        </a:p>
      </dsp:txBody>
      <dsp:txXfrm>
        <a:off x="3301260" y="3322288"/>
        <a:ext cx="1954313" cy="810337"/>
      </dsp:txXfrm>
    </dsp:sp>
    <dsp:sp modelId="{8AACD723-F79C-49FC-BDEC-8E133A2DC216}">
      <dsp:nvSpPr>
        <dsp:cNvPr id="0" name=""/>
        <dsp:cNvSpPr/>
      </dsp:nvSpPr>
      <dsp:spPr>
        <a:xfrm rot="5400000">
          <a:off x="6762419" y="3046309"/>
          <a:ext cx="662443" cy="335479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>
              <a:latin typeface="Arial Narrow" panose="020B0606020202030204" pitchFamily="34" charset="0"/>
            </a:rPr>
            <a:t>Bancos</a:t>
          </a:r>
          <a:endParaRPr lang="es-ES" sz="1800" kern="1200" dirty="0">
            <a:latin typeface="Arial Narrow" panose="020B0606020202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>
              <a:latin typeface="Arial Narrow" panose="020B0606020202030204" pitchFamily="34" charset="0"/>
            </a:rPr>
            <a:t>Caja</a:t>
          </a:r>
          <a:endParaRPr lang="es-ES" sz="1800" kern="1200" dirty="0">
            <a:latin typeface="Arial Narrow" panose="020B0606020202030204" pitchFamily="34" charset="0"/>
          </a:endParaRPr>
        </a:p>
      </dsp:txBody>
      <dsp:txXfrm rot="-5400000">
        <a:off x="5416244" y="4424822"/>
        <a:ext cx="3322456" cy="597767"/>
      </dsp:txXfrm>
    </dsp:sp>
    <dsp:sp modelId="{A9F3B02F-539C-41BD-A893-1F5AED1E44A1}">
      <dsp:nvSpPr>
        <dsp:cNvPr id="0" name=""/>
        <dsp:cNvSpPr/>
      </dsp:nvSpPr>
      <dsp:spPr>
        <a:xfrm>
          <a:off x="3200661" y="4370630"/>
          <a:ext cx="2186016" cy="7419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rPr>
            <a:t>Disponible</a:t>
          </a:r>
          <a:endParaRPr lang="es-ES" sz="2000" b="1" i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anose="020B0606020202030204" pitchFamily="34" charset="0"/>
          </a:endParaRPr>
        </a:p>
      </dsp:txBody>
      <dsp:txXfrm>
        <a:off x="3236879" y="4406848"/>
        <a:ext cx="2113580" cy="6695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387CB2-6B32-4C77-9019-0107308524A6}">
      <dsp:nvSpPr>
        <dsp:cNvPr id="0" name=""/>
        <dsp:cNvSpPr/>
      </dsp:nvSpPr>
      <dsp:spPr>
        <a:xfrm rot="5400000">
          <a:off x="4109544" y="-1107394"/>
          <a:ext cx="656660" cy="417682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400" kern="1200" dirty="0">
              <a:latin typeface="+mn-lt"/>
            </a:rPr>
            <a:t>Préstamos a largo plazo</a:t>
          </a:r>
          <a:endParaRPr lang="es-ES" sz="1400" kern="1200" dirty="0">
            <a:latin typeface="+mn-lt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>
              <a:latin typeface="+mn-lt"/>
            </a:rPr>
            <a:t>Créditos a largo plazo</a:t>
          </a:r>
        </a:p>
      </dsp:txBody>
      <dsp:txXfrm rot="-5400000">
        <a:off x="2349463" y="684742"/>
        <a:ext cx="4144768" cy="592550"/>
      </dsp:txXfrm>
    </dsp:sp>
    <dsp:sp modelId="{6F3CBE12-8328-4E7D-ADCE-14DD97D7B7AD}">
      <dsp:nvSpPr>
        <dsp:cNvPr id="0" name=""/>
        <dsp:cNvSpPr/>
      </dsp:nvSpPr>
      <dsp:spPr>
        <a:xfrm>
          <a:off x="0" y="510072"/>
          <a:ext cx="2349462" cy="7992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rPr>
            <a:t>Pasivo no corriente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0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rPr>
            <a:t>Mas de 1 en devolver</a:t>
          </a:r>
          <a:endParaRPr lang="es-ES" sz="1400" b="0" i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n-lt"/>
          </a:endParaRPr>
        </a:p>
      </dsp:txBody>
      <dsp:txXfrm>
        <a:off x="39018" y="549090"/>
        <a:ext cx="2271426" cy="721253"/>
      </dsp:txXfrm>
    </dsp:sp>
    <dsp:sp modelId="{5DC03900-2073-47BB-9CC5-1F022AC333B4}">
      <dsp:nvSpPr>
        <dsp:cNvPr id="0" name=""/>
        <dsp:cNvSpPr/>
      </dsp:nvSpPr>
      <dsp:spPr>
        <a:xfrm rot="5400000">
          <a:off x="3504687" y="245728"/>
          <a:ext cx="1866373" cy="417682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400" kern="1200" dirty="0">
              <a:latin typeface="+mn-lt"/>
            </a:rPr>
            <a:t>Préstamos y créditos bancarios a c/p</a:t>
          </a:r>
          <a:endParaRPr lang="es-ES" sz="1400" kern="1200" dirty="0">
            <a:latin typeface="+mn-lt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400" kern="1200" dirty="0">
              <a:latin typeface="+mn-lt"/>
            </a:rPr>
            <a:t>Proveedores (deudas con los proveedores)</a:t>
          </a:r>
          <a:endParaRPr lang="es-ES" sz="1400" kern="1200" dirty="0">
            <a:latin typeface="+mn-lt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400" kern="1200" dirty="0">
              <a:latin typeface="+mn-lt"/>
            </a:rPr>
            <a:t>Acreedores (deudas que tiene la empresa con potras empresas)</a:t>
          </a:r>
          <a:endParaRPr lang="es-ES" sz="1400" kern="1200" dirty="0">
            <a:latin typeface="+mn-lt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400" kern="1200" dirty="0">
              <a:latin typeface="+mn-lt"/>
            </a:rPr>
            <a:t>Deudas con Hacienda: IVA repercutido y retenciones de IRPF</a:t>
          </a:r>
          <a:endParaRPr lang="es-ES" sz="1400" kern="1200" dirty="0">
            <a:latin typeface="+mn-lt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400" kern="1200" dirty="0">
              <a:latin typeface="+mn-lt"/>
            </a:rPr>
            <a:t>Deudas con la Seguridad Social</a:t>
          </a:r>
          <a:endParaRPr lang="es-ES" sz="1400" kern="1200" dirty="0">
            <a:latin typeface="+mn-lt"/>
          </a:endParaRPr>
        </a:p>
      </dsp:txBody>
      <dsp:txXfrm rot="-5400000">
        <a:off x="2349463" y="1492062"/>
        <a:ext cx="4085714" cy="1684155"/>
      </dsp:txXfrm>
    </dsp:sp>
    <dsp:sp modelId="{37D587AC-68B4-4A14-9293-01C41AA6C0EB}">
      <dsp:nvSpPr>
        <dsp:cNvPr id="0" name=""/>
        <dsp:cNvSpPr/>
      </dsp:nvSpPr>
      <dsp:spPr>
        <a:xfrm>
          <a:off x="0" y="1527101"/>
          <a:ext cx="2349462" cy="16140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rPr>
            <a:t>Pasivo corriente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0" i="1" kern="1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rPr>
            <a:t>Se paga en menos de 1 año</a:t>
          </a:r>
          <a:endParaRPr lang="es-ES" sz="1400" b="0" i="1" kern="1200" dirty="0">
            <a:solidFill>
              <a:prstClr val="white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n-lt"/>
            <a:ea typeface="+mn-ea"/>
            <a:cs typeface="+mn-cs"/>
          </a:endParaRPr>
        </a:p>
      </dsp:txBody>
      <dsp:txXfrm>
        <a:off x="78793" y="1605894"/>
        <a:ext cx="2191876" cy="145649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387CB2-6B32-4C77-9019-0107308524A6}">
      <dsp:nvSpPr>
        <dsp:cNvPr id="0" name=""/>
        <dsp:cNvSpPr/>
      </dsp:nvSpPr>
      <dsp:spPr>
        <a:xfrm rot="5400000">
          <a:off x="3715419" y="-1057957"/>
          <a:ext cx="1173634" cy="404916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>
              <a:latin typeface="+mn-lt"/>
            </a:rPr>
            <a:t>Capital (aportado por los socios)</a:t>
          </a:r>
          <a:endParaRPr lang="es-ES" sz="1800" kern="1200" dirty="0">
            <a:latin typeface="+mn-lt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>
              <a:latin typeface="+mn-lt"/>
            </a:rPr>
            <a:t>Reservas (parte del </a:t>
          </a:r>
          <a:r>
            <a:rPr lang="es-ES_tradnl" sz="1800" kern="1200" dirty="0" err="1">
              <a:latin typeface="+mn-lt"/>
            </a:rPr>
            <a:t>Bº</a:t>
          </a:r>
          <a:r>
            <a:rPr lang="es-ES_tradnl" sz="1800" kern="1200" dirty="0">
              <a:latin typeface="+mn-lt"/>
            </a:rPr>
            <a:t> no repartida)</a:t>
          </a:r>
          <a:endParaRPr lang="es-ES" sz="1800" kern="1200" dirty="0">
            <a:latin typeface="+mn-lt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>
              <a:latin typeface="+mn-lt"/>
            </a:rPr>
            <a:t>Resultados del ejercicio (beneficios o pérdidas pendientes de repartir)</a:t>
          </a:r>
          <a:endParaRPr lang="es-ES" sz="1800" kern="1200" dirty="0">
            <a:latin typeface="+mn-lt"/>
          </a:endParaRPr>
        </a:p>
      </dsp:txBody>
      <dsp:txXfrm rot="-5400000">
        <a:off x="2277654" y="437100"/>
        <a:ext cx="3991872" cy="1059050"/>
      </dsp:txXfrm>
    </dsp:sp>
    <dsp:sp modelId="{6F3CBE12-8328-4E7D-ADCE-14DD97D7B7AD}">
      <dsp:nvSpPr>
        <dsp:cNvPr id="0" name=""/>
        <dsp:cNvSpPr/>
      </dsp:nvSpPr>
      <dsp:spPr>
        <a:xfrm>
          <a:off x="0" y="332046"/>
          <a:ext cx="2277654" cy="12691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rPr>
            <a:t>Patrimonio neto</a:t>
          </a:r>
          <a:endParaRPr lang="es-ES" sz="2000" b="1" i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n-lt"/>
          </a:endParaRPr>
        </a:p>
      </dsp:txBody>
      <dsp:txXfrm>
        <a:off x="61955" y="394001"/>
        <a:ext cx="2153744" cy="11452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E4E2B-65D4-4D33-83AE-A5EA535FE91A}" type="datetimeFigureOut">
              <a:rPr lang="es-ES" smtClean="0"/>
              <a:t>02/03/2026</a:t>
            </a:fld>
            <a:endParaRPr lang="es-ES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8CA4C-A49C-45E2-BE04-B4EF3838BE1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04342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8CA4C-A49C-45E2-BE04-B4EF3838BE13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73542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C3F976-64BC-4081-B7FB-50E7BF0B1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A4863B2-1FDB-4F1F-841C-9BBC2FD07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8AACDD-6FDF-4293-BE7A-186B003B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92216-3B5A-48B6-B9E5-989B0A558A73}" type="datetime1">
              <a:rPr lang="es-ES" smtClean="0"/>
              <a:t>02/03/2026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BD316-7FAC-4199-A711-269FF81D5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BA072C-3DF1-44A8-A000-2B808FA89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81575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03CAC1-9170-42C4-92EE-BA7353007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944C45-D8A4-4DBB-B6F2-02457A668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AB413D-6C4D-4E90-AC4E-D04DBE57E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B1F9B-BBA3-4244-91C2-6FFBAC6AFCA8}" type="datetime1">
              <a:rPr lang="es-ES" smtClean="0"/>
              <a:t>02/03/2026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E6AA3C-0A11-4993-9987-91CD990A8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3CB514-7254-43DE-A1DF-190DC5808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02534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F8B480-7EAB-4D54-B83B-A8BF0A071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DBF719-F678-4B83-B48A-5B9E41E11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F29199-2168-4BE4-94B7-E4701145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E45B-77F0-4D4E-AEE8-092E85ECDDBB}" type="datetime1">
              <a:rPr lang="es-ES" smtClean="0"/>
              <a:t>02/03/2026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F0A5C5-CF9A-4492-A521-D41411DC1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7CD897-9106-48A5-AD26-A86A6C940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83045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99B21D-9331-4CEE-8FC1-9444CFF8A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5275DE-EB86-4504-8145-B534ED9DD5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C5F18A-81C1-4263-99CA-BAA944966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0B0F8E8-CF27-44AE-984C-51E77799B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7913-E1AB-4C61-9FD2-6979062E8BFD}" type="datetime1">
              <a:rPr lang="es-ES" smtClean="0"/>
              <a:t>02/03/2026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4CE726-51BA-49FE-89EE-C8D4BA879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7A250A-C565-44EE-B0AD-F0A83E8AA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1873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F4D961-2A6F-43F8-B246-A5669561A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626A19-AF20-47AB-855B-41D6DA78C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5A62A89-7D55-42F2-A691-352F754B26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DC09E7C-879C-42E0-BDB3-7C413CAA25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48A0B2A-DEA9-48B2-B276-4BCEAE9750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FF5F7DC-C0ED-490D-AAEA-64967F81E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802F-1EBA-498A-BC2B-525F05C7CA10}" type="datetime1">
              <a:rPr lang="es-ES" smtClean="0"/>
              <a:t>02/03/2026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A3DB6FE-9246-4481-ABF3-E1B3F6CCB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73947C3-B091-4EF7-9026-5C3B289A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8415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6ADC5E-3842-4B9D-8BEF-0EF03E42C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61B7B78-156F-4B86-9B77-4E0AC7382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BE9AB-F773-4A1D-934E-2C3E337DFB10}" type="datetime1">
              <a:rPr lang="es-ES" smtClean="0"/>
              <a:t>02/03/2026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5F12F8E-A0F2-48BD-8D0B-7AB264751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8EA0928-47A2-47AC-B1DA-92AA51DAA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93019224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F079790-E5D7-4EDD-9E6A-51E51AD74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D479-0467-41FB-B559-0C59942C84FB}" type="datetime1">
              <a:rPr lang="es-ES" smtClean="0"/>
              <a:t>02/03/2026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14BA1E0-FF9C-4C53-81C7-6B52DC790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075DF4-210E-4A32-8332-6A84EFB17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53491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90EE01-261E-4711-9F60-AEF1F86A7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407870-0C5D-4256-BAB4-76E4086FE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6DA953B-FC19-4B76-B5D8-5D8FD1D96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4985BAA-B4B3-46A4-944B-F806CB83F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8193C-88BA-40D2-BEAD-3776E8A6F5B7}" type="datetime1">
              <a:rPr lang="es-ES" smtClean="0"/>
              <a:t>02/03/2026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A6D46CB-C18D-4B9F-8F76-46745EDCF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380AB6-32F9-421E-B4AB-5337E873C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98316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2030F6-491A-4FC1-BF35-A919F128A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231281-7109-4101-A309-5D19134F1E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1D38E15-2C81-4EBB-8BE9-90FAA218D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4F6575-326B-4555-84C1-114642750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AA35B-299A-4AC6-97C8-0624A440F61B}" type="datetime1">
              <a:rPr lang="es-ES" smtClean="0"/>
              <a:t>02/03/2026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B293354-CB24-42E5-9763-FBDD4FD04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72E0BDE-A54F-477D-88C7-42D50B104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97467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324023-A89A-4737-9060-2C70B88E0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67EE4DC-85AC-4B43-8E59-39061FE83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EDE65A-1B63-4D1F-A9AF-9559D1581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2CA2-690F-4F5A-BDDC-BD5487C11BED}" type="datetime1">
              <a:rPr lang="es-ES" smtClean="0"/>
              <a:t>02/03/2026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1A493C-73F9-4DB5-9376-1138940EB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F69AD2-72C2-4533-BB08-03A100C0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88266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2B59C5E-93D5-4E39-B397-FAA777CA8E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AD6E468-10FA-46C1-BEDE-16AEB510C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BC16BC-6083-4AA5-9FF3-B83A5680A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C64E-3D99-40ED-A0BE-213195A42E87}" type="datetime1">
              <a:rPr lang="es-ES" smtClean="0"/>
              <a:t>02/03/2026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DA6FC2-943D-403E-8895-BBFF07AA5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43375E-B8BE-4551-BE9A-0DC872279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79219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B3E3E0C-B94E-4C9F-94B9-8E7F575F9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39F935B-FB54-4F55-95F0-3C9EB88F0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DB0DA1-6663-4707-A221-ED093B8163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BE9AB-F773-4A1D-934E-2C3E337DFB10}" type="datetime1">
              <a:rPr lang="es-ES" smtClean="0"/>
              <a:t>02/03/2026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98A3DC-2EE3-4C46-BC05-DB7F9147C0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EEF786-0322-4352-A787-717A128CB0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85366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3" r:id="rId1"/>
    <p:sldLayoutId id="2147484094" r:id="rId2"/>
    <p:sldLayoutId id="2147484095" r:id="rId3"/>
    <p:sldLayoutId id="2147484096" r:id="rId4"/>
    <p:sldLayoutId id="2147484097" r:id="rId5"/>
    <p:sldLayoutId id="2147484098" r:id="rId6"/>
    <p:sldLayoutId id="2147484099" r:id="rId7"/>
    <p:sldLayoutId id="2147484100" r:id="rId8"/>
    <p:sldLayoutId id="2147484101" r:id="rId9"/>
    <p:sldLayoutId id="2147484102" r:id="rId10"/>
    <p:sldLayoutId id="2147484103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slide" Target="slide1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1.xml"/><Relationship Id="rId5" Type="http://schemas.openxmlformats.org/officeDocument/2006/relationships/image" Target="../media/image4.png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13" Type="http://schemas.microsoft.com/office/2007/relationships/diagramDrawing" Target="../diagrams/drawing4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3.xml"/><Relationship Id="rId12" Type="http://schemas.openxmlformats.org/officeDocument/2006/relationships/diagramColors" Target="../diagrams/colors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.xml"/><Relationship Id="rId11" Type="http://schemas.openxmlformats.org/officeDocument/2006/relationships/diagramQuickStyle" Target="../diagrams/quickStyle4.xml"/><Relationship Id="rId5" Type="http://schemas.openxmlformats.org/officeDocument/2006/relationships/diagramLayout" Target="../diagrams/layout3.xml"/><Relationship Id="rId10" Type="http://schemas.openxmlformats.org/officeDocument/2006/relationships/diagramLayout" Target="../diagrams/layout4.xml"/><Relationship Id="rId4" Type="http://schemas.openxmlformats.org/officeDocument/2006/relationships/diagramData" Target="../diagrams/data3.xml"/><Relationship Id="rId9" Type="http://schemas.openxmlformats.org/officeDocument/2006/relationships/diagramData" Target="../diagrams/data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2 Imagen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405972"/>
            <a:ext cx="6888244" cy="4239090"/>
          </a:xfrm>
          <a:prstGeom prst="rect">
            <a:avLst/>
          </a:prstGeom>
        </p:spPr>
      </p:pic>
      <p:pic>
        <p:nvPicPr>
          <p:cNvPr id="9" name="8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1212" y="243283"/>
            <a:ext cx="1362075" cy="638175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11" name="10 Imagen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1212" y="933058"/>
            <a:ext cx="1362075" cy="945829"/>
          </a:xfrm>
          <a:prstGeom prst="rect">
            <a:avLst/>
          </a:prstGeom>
        </p:spPr>
      </p:pic>
      <p:sp>
        <p:nvSpPr>
          <p:cNvPr id="14" name="13 CuadroTexto"/>
          <p:cNvSpPr txBox="1"/>
          <p:nvPr/>
        </p:nvSpPr>
        <p:spPr>
          <a:xfrm>
            <a:off x="429816" y="2420888"/>
            <a:ext cx="71665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5400" b="1" dirty="0">
                <a:solidFill>
                  <a:schemeClr val="accent2"/>
                </a:solidFill>
              </a:rPr>
              <a:t>Unidad 9            </a:t>
            </a:r>
          </a:p>
          <a:p>
            <a:r>
              <a:rPr lang="es-ES_tradnl" sz="5400" dirty="0">
                <a:solidFill>
                  <a:schemeClr val="accent2"/>
                </a:solidFill>
              </a:rPr>
              <a:t>Análisis Contable y Financiero</a:t>
            </a:r>
            <a:endParaRPr lang="es-ES" sz="5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905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4326" y="-3340"/>
            <a:ext cx="5937834" cy="696036"/>
          </a:xfrm>
        </p:spPr>
        <p:txBody>
          <a:bodyPr>
            <a:normAutofit/>
          </a:bodyPr>
          <a:lstStyle/>
          <a:p>
            <a:pPr algn="l"/>
            <a:r>
              <a:rPr lang="es-ES_tradnl" b="1" dirty="0">
                <a:latin typeface="+mn-lt"/>
              </a:rPr>
              <a:t>CONTENIDOS</a:t>
            </a:r>
            <a:endParaRPr lang="es-ES" b="1" dirty="0">
              <a:latin typeface="+mn-lt"/>
            </a:endParaRPr>
          </a:p>
        </p:txBody>
      </p:sp>
      <p:sp>
        <p:nvSpPr>
          <p:cNvPr id="5" name="4 Rectángulo">
            <a:hlinkClick r:id="rId2" action="ppaction://hlinksldjump" tooltip="click punto 1"/>
          </p:cNvPr>
          <p:cNvSpPr/>
          <p:nvPr/>
        </p:nvSpPr>
        <p:spPr>
          <a:xfrm>
            <a:off x="681173" y="1808472"/>
            <a:ext cx="69276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s-ES_tradnl" sz="2800" b="1" dirty="0">
                <a:solidFill>
                  <a:prstClr val="black"/>
                </a:solidFill>
              </a:rPr>
              <a:t>La contabilidad</a:t>
            </a:r>
          </a:p>
        </p:txBody>
      </p:sp>
      <p:sp>
        <p:nvSpPr>
          <p:cNvPr id="6" name="5 Rectángulo">
            <a:hlinkClick r:id="rId3" action="ppaction://hlinksldjump"/>
          </p:cNvPr>
          <p:cNvSpPr/>
          <p:nvPr/>
        </p:nvSpPr>
        <p:spPr>
          <a:xfrm>
            <a:off x="716275" y="3110701"/>
            <a:ext cx="77441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es-ES_tradnl" sz="2800" b="1" dirty="0">
                <a:solidFill>
                  <a:prstClr val="black"/>
                </a:solidFill>
              </a:rPr>
              <a:t>3.  La cuenta de resultados</a:t>
            </a:r>
          </a:p>
        </p:txBody>
      </p:sp>
      <p:sp>
        <p:nvSpPr>
          <p:cNvPr id="10" name="9 Rectángulo">
            <a:hlinkClick r:id="rId4" action="ppaction://hlinksldjump"/>
          </p:cNvPr>
          <p:cNvSpPr/>
          <p:nvPr/>
        </p:nvSpPr>
        <p:spPr>
          <a:xfrm>
            <a:off x="716276" y="2462629"/>
            <a:ext cx="69276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es-ES_tradnl" sz="2800" b="1" dirty="0">
                <a:solidFill>
                  <a:prstClr val="black"/>
                </a:solidFill>
              </a:rPr>
              <a:t>2.  El balance de situación</a:t>
            </a:r>
          </a:p>
        </p:txBody>
      </p:sp>
      <p:pic>
        <p:nvPicPr>
          <p:cNvPr id="15" name="14 Imagen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440201" y="2130022"/>
            <a:ext cx="351794" cy="442037"/>
          </a:xfrm>
          <a:prstGeom prst="rect">
            <a:avLst/>
          </a:prstGeom>
        </p:spPr>
      </p:pic>
      <p:sp>
        <p:nvSpPr>
          <p:cNvPr id="7" name="6 Rectángulo">
            <a:hlinkClick r:id="rId6" action="ppaction://hlinksldjump"/>
          </p:cNvPr>
          <p:cNvSpPr/>
          <p:nvPr/>
        </p:nvSpPr>
        <p:spPr>
          <a:xfrm>
            <a:off x="739939" y="3786321"/>
            <a:ext cx="77441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es-ES_tradnl" sz="2800" b="1" dirty="0">
                <a:solidFill>
                  <a:prstClr val="black"/>
                </a:solidFill>
              </a:rPr>
              <a:t>4.  El plan de tesorería</a:t>
            </a:r>
          </a:p>
        </p:txBody>
      </p:sp>
      <p:sp>
        <p:nvSpPr>
          <p:cNvPr id="8" name="7 Rectángulo">
            <a:hlinkClick r:id="rId7" action="ppaction://hlinksldjump"/>
          </p:cNvPr>
          <p:cNvSpPr/>
          <p:nvPr/>
        </p:nvSpPr>
        <p:spPr>
          <a:xfrm>
            <a:off x="739939" y="4351176"/>
            <a:ext cx="77441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es-ES_tradnl" sz="2800" b="1" dirty="0">
                <a:solidFill>
                  <a:prstClr val="black"/>
                </a:solidFill>
              </a:rPr>
              <a:t>5.  El análisis de balances</a:t>
            </a:r>
          </a:p>
        </p:txBody>
      </p:sp>
    </p:spTree>
    <p:extLst>
      <p:ext uri="{BB962C8B-B14F-4D97-AF65-F5344CB8AC3E}">
        <p14:creationId xmlns:p14="http://schemas.microsoft.com/office/powerpoint/2010/main" val="789345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1 Título"/>
          <p:cNvSpPr txBox="1">
            <a:spLocks/>
          </p:cNvSpPr>
          <p:nvPr/>
        </p:nvSpPr>
        <p:spPr>
          <a:xfrm>
            <a:off x="173589" y="1683"/>
            <a:ext cx="8229600" cy="691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>
              <a:buAutoNum type="arabicPeriod"/>
            </a:pPr>
            <a:r>
              <a:rPr lang="es-ES_tradnl" b="1" dirty="0">
                <a:latin typeface="+mn-lt"/>
              </a:rPr>
              <a:t>La contabilidad y las finanzas</a:t>
            </a:r>
          </a:p>
        </p:txBody>
      </p:sp>
      <p:sp>
        <p:nvSpPr>
          <p:cNvPr id="31" name="30 Rectángulo"/>
          <p:cNvSpPr/>
          <p:nvPr/>
        </p:nvSpPr>
        <p:spPr>
          <a:xfrm>
            <a:off x="173589" y="761311"/>
            <a:ext cx="87909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s-ES_tradnl" i="1" dirty="0">
                <a:solidFill>
                  <a:prstClr val="black"/>
                </a:solidFill>
              </a:rPr>
              <a:t>La contabilidad es una herramienta imprescindible para un emprendedor, así como </a:t>
            </a:r>
            <a:r>
              <a:rPr lang="es-ES_tradnl" i="1" dirty="0">
                <a:solidFill>
                  <a:prstClr val="black"/>
                </a:solidFill>
                <a:sym typeface="Wingdings" panose="05000000000000000000" pitchFamily="2" charset="2"/>
              </a:rPr>
              <a:t>una obligación de las sociedades y de algunos autónomos.</a:t>
            </a:r>
          </a:p>
        </p:txBody>
      </p:sp>
      <p:sp>
        <p:nvSpPr>
          <p:cNvPr id="34" name="33 Rectángulo"/>
          <p:cNvSpPr/>
          <p:nvPr/>
        </p:nvSpPr>
        <p:spPr>
          <a:xfrm>
            <a:off x="2615291" y="1595311"/>
            <a:ext cx="6252915" cy="2554545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ES_tradnl" sz="1600" dirty="0">
                <a:solidFill>
                  <a:prstClr val="black"/>
                </a:solidFill>
                <a:sym typeface="Wingdings" pitchFamily="2" charset="2"/>
              </a:rPr>
              <a:t>Se encarga de obtener información económica, tanto a nivel externo como interno: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ES_tradnl" sz="1600" b="1" dirty="0">
                <a:solidFill>
                  <a:prstClr val="black"/>
                </a:solidFill>
                <a:sym typeface="Wingdings" pitchFamily="2" charset="2"/>
              </a:rPr>
              <a:t>Contabilidad financiera</a:t>
            </a:r>
            <a:r>
              <a:rPr lang="es-ES_tradnl" sz="1600" dirty="0">
                <a:solidFill>
                  <a:prstClr val="black"/>
                </a:solidFill>
                <a:sym typeface="Wingdings" pitchFamily="2" charset="2"/>
              </a:rPr>
              <a:t>: recoge información sobre la relación económica de la empresa con el </a:t>
            </a:r>
            <a:r>
              <a:rPr lang="es-ES_tradnl" sz="1600" b="1" dirty="0">
                <a:solidFill>
                  <a:srgbClr val="FF0000"/>
                </a:solidFill>
                <a:sym typeface="Wingdings" pitchFamily="2" charset="2"/>
              </a:rPr>
              <a:t>exterior</a:t>
            </a:r>
            <a:r>
              <a:rPr lang="es-ES_tradnl" sz="1600" dirty="0">
                <a:solidFill>
                  <a:prstClr val="black"/>
                </a:solidFill>
                <a:sym typeface="Wingdings" pitchFamily="2" charset="2"/>
              </a:rPr>
              <a:t>, para elaborar el </a:t>
            </a:r>
            <a:r>
              <a:rPr lang="es-ES_tradnl" sz="1600" b="1" dirty="0">
                <a:solidFill>
                  <a:prstClr val="black"/>
                </a:solidFill>
                <a:sym typeface="Wingdings" pitchFamily="2" charset="2"/>
              </a:rPr>
              <a:t>balance de situación y la cuenta de resultados. </a:t>
            </a:r>
            <a:r>
              <a:rPr lang="es-ES_tradnl" sz="1600" dirty="0">
                <a:solidFill>
                  <a:prstClr val="black"/>
                </a:solidFill>
                <a:sym typeface="Wingdings" pitchFamily="2" charset="2"/>
              </a:rPr>
              <a:t>Se elabora según la normativa contable.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s-ES_tradnl" sz="1600" dirty="0">
              <a:solidFill>
                <a:prstClr val="black"/>
              </a:solidFill>
              <a:sym typeface="Wingdings" pitchFamily="2" charset="2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ES_tradnl" sz="1600" b="1" dirty="0">
                <a:solidFill>
                  <a:prstClr val="black"/>
                </a:solidFill>
                <a:sym typeface="Wingdings" pitchFamily="2" charset="2"/>
              </a:rPr>
              <a:t>Contabilidad de gestión</a:t>
            </a:r>
            <a:r>
              <a:rPr lang="es-ES_tradnl" sz="1600" dirty="0">
                <a:solidFill>
                  <a:prstClr val="black"/>
                </a:solidFill>
                <a:sym typeface="Wingdings" pitchFamily="2" charset="2"/>
              </a:rPr>
              <a:t>: recoge información del </a:t>
            </a:r>
            <a:r>
              <a:rPr lang="es-ES_tradnl" sz="1600" b="1" dirty="0">
                <a:solidFill>
                  <a:srgbClr val="FF0000"/>
                </a:solidFill>
                <a:sym typeface="Wingdings" pitchFamily="2" charset="2"/>
              </a:rPr>
              <a:t>interior</a:t>
            </a:r>
            <a:r>
              <a:rPr lang="es-ES_tradnl" sz="1600" dirty="0">
                <a:solidFill>
                  <a:prstClr val="black"/>
                </a:solidFill>
                <a:sym typeface="Wingdings" pitchFamily="2" charset="2"/>
              </a:rPr>
              <a:t> de la empresa sobre costes de cada producto y de cada departamento. Contabilidad </a:t>
            </a:r>
            <a:r>
              <a:rPr lang="es-ES_tradnl" sz="1600" b="1" dirty="0">
                <a:solidFill>
                  <a:prstClr val="black"/>
                </a:solidFill>
                <a:sym typeface="Wingdings" pitchFamily="2" charset="2"/>
              </a:rPr>
              <a:t>analítica o de costes. </a:t>
            </a:r>
            <a:r>
              <a:rPr lang="es-ES_tradnl" sz="1600" dirty="0">
                <a:solidFill>
                  <a:prstClr val="black"/>
                </a:solidFill>
                <a:sym typeface="Wingdings" pitchFamily="2" charset="2"/>
              </a:rPr>
              <a:t>Es voluntaria e interna.</a:t>
            </a:r>
            <a:endParaRPr lang="es-ES" sz="1600" dirty="0"/>
          </a:p>
        </p:txBody>
      </p:sp>
      <p:sp>
        <p:nvSpPr>
          <p:cNvPr id="38" name="37 Flecha derecha"/>
          <p:cNvSpPr/>
          <p:nvPr/>
        </p:nvSpPr>
        <p:spPr>
          <a:xfrm>
            <a:off x="1994363" y="2664585"/>
            <a:ext cx="495961" cy="185961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/>
          </a:p>
        </p:txBody>
      </p:sp>
      <p:sp>
        <p:nvSpPr>
          <p:cNvPr id="41" name="40 CuadroTexto"/>
          <p:cNvSpPr txBox="1"/>
          <p:nvPr/>
        </p:nvSpPr>
        <p:spPr>
          <a:xfrm>
            <a:off x="211517" y="2572899"/>
            <a:ext cx="1660584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solidFill>
                  <a:schemeClr val="tx1"/>
                </a:solidFill>
              </a:rPr>
              <a:t>Contabilidad</a:t>
            </a:r>
            <a:endParaRPr lang="es-ES" b="0" dirty="0">
              <a:solidFill>
                <a:schemeClr val="tx1"/>
              </a:solidFill>
            </a:endParaRPr>
          </a:p>
        </p:txBody>
      </p:sp>
      <p:sp>
        <p:nvSpPr>
          <p:cNvPr id="36" name="35 Rectángulo"/>
          <p:cNvSpPr/>
          <p:nvPr/>
        </p:nvSpPr>
        <p:spPr>
          <a:xfrm>
            <a:off x="2615290" y="4691960"/>
            <a:ext cx="6252915" cy="1077218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prstClr val="black"/>
                </a:solidFill>
                <a:sym typeface="Wingdings" pitchFamily="2" charset="2"/>
              </a:rPr>
              <a:t>Parte de la economía que se encarga </a:t>
            </a:r>
            <a:r>
              <a:rPr lang="es-ES_tradnl" sz="1600" b="1" dirty="0">
                <a:solidFill>
                  <a:prstClr val="black"/>
                </a:solidFill>
                <a:sym typeface="Wingdings" pitchFamily="2" charset="2"/>
              </a:rPr>
              <a:t>de tomar decisiones </a:t>
            </a:r>
            <a:r>
              <a:rPr lang="es-ES_tradnl" sz="1600" dirty="0">
                <a:solidFill>
                  <a:prstClr val="black"/>
                </a:solidFill>
                <a:sym typeface="Wingdings" pitchFamily="2" charset="2"/>
              </a:rPr>
              <a:t>sobre las  inversiones y fuentes de financiación más óptimas para la empresa.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prstClr val="black"/>
                </a:solidFill>
                <a:sym typeface="Wingdings" pitchFamily="2" charset="2"/>
              </a:rPr>
              <a:t>Objetivos: maximizar el resultado de la empresa, hacer frente a los compromisos de pagos…</a:t>
            </a:r>
            <a:endParaRPr lang="es-ES" sz="1600" dirty="0"/>
          </a:p>
        </p:txBody>
      </p:sp>
      <p:sp>
        <p:nvSpPr>
          <p:cNvPr id="40" name="39 Flecha derecha"/>
          <p:cNvSpPr/>
          <p:nvPr/>
        </p:nvSpPr>
        <p:spPr>
          <a:xfrm>
            <a:off x="1982903" y="5044608"/>
            <a:ext cx="495961" cy="185961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/>
          </a:p>
        </p:txBody>
      </p:sp>
      <p:sp>
        <p:nvSpPr>
          <p:cNvPr id="50" name="49 CuadroTexto"/>
          <p:cNvSpPr txBox="1"/>
          <p:nvPr/>
        </p:nvSpPr>
        <p:spPr>
          <a:xfrm>
            <a:off x="128382" y="4952923"/>
            <a:ext cx="1719466" cy="36933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solidFill>
                  <a:schemeClr val="tx1"/>
                </a:solidFill>
              </a:rPr>
              <a:t>Finanzas</a:t>
            </a:r>
            <a:endParaRPr lang="es-ES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366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1 Título"/>
          <p:cNvSpPr txBox="1">
            <a:spLocks/>
          </p:cNvSpPr>
          <p:nvPr/>
        </p:nvSpPr>
        <p:spPr>
          <a:xfrm>
            <a:off x="143416" y="32097"/>
            <a:ext cx="8229600" cy="691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b="1" dirty="0"/>
              <a:t>2. El balance de situación</a:t>
            </a:r>
          </a:p>
        </p:txBody>
      </p:sp>
      <p:graphicFrame>
        <p:nvGraphicFramePr>
          <p:cNvPr id="3" name="2 Diagrama"/>
          <p:cNvGraphicFramePr/>
          <p:nvPr>
            <p:extLst>
              <p:ext uri="{D42A27DB-BD31-4B8C-83A1-F6EECF244321}">
                <p14:modId xmlns:p14="http://schemas.microsoft.com/office/powerpoint/2010/main" val="1776139769"/>
              </p:ext>
            </p:extLst>
          </p:nvPr>
        </p:nvGraphicFramePr>
        <p:xfrm>
          <a:off x="122877" y="836549"/>
          <a:ext cx="8900630" cy="7575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8" name="37 CuadroTexto"/>
          <p:cNvSpPr txBox="1"/>
          <p:nvPr/>
        </p:nvSpPr>
        <p:spPr>
          <a:xfrm>
            <a:off x="1187624" y="3975694"/>
            <a:ext cx="2384414" cy="3385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Equilibrio del Balance</a:t>
            </a:r>
            <a:endParaRPr lang="es-ES" sz="1600" b="1" dirty="0">
              <a:solidFill>
                <a:schemeClr val="tx1"/>
              </a:solidFill>
            </a:endParaRPr>
          </a:p>
        </p:txBody>
      </p:sp>
      <p:sp>
        <p:nvSpPr>
          <p:cNvPr id="40" name="39 CuadroTexto"/>
          <p:cNvSpPr txBox="1"/>
          <p:nvPr/>
        </p:nvSpPr>
        <p:spPr>
          <a:xfrm>
            <a:off x="3707904" y="3963569"/>
            <a:ext cx="3456384" cy="3385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1600" b="1" dirty="0"/>
              <a:t>ACTIVO= PATRIMONIO NETO + PASIVO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1921586" y="4485678"/>
            <a:ext cx="2304257" cy="156966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s-ES_tradnl" sz="1600" b="1" dirty="0"/>
          </a:p>
          <a:p>
            <a:pPr algn="ctr"/>
            <a:endParaRPr lang="es-ES_tradnl" sz="1600" b="1" dirty="0"/>
          </a:p>
          <a:p>
            <a:pPr algn="ctr"/>
            <a:r>
              <a:rPr lang="es-ES_tradnl" sz="1600" b="1" dirty="0"/>
              <a:t>ACTIVO</a:t>
            </a:r>
          </a:p>
          <a:p>
            <a:pPr algn="ctr"/>
            <a:r>
              <a:rPr lang="es-ES_tradnl" sz="1600" dirty="0"/>
              <a:t>(bienes y derechos)</a:t>
            </a:r>
          </a:p>
          <a:p>
            <a:pPr algn="ctr"/>
            <a:endParaRPr lang="es-ES_tradnl" sz="800" dirty="0"/>
          </a:p>
          <a:p>
            <a:pPr algn="ctr"/>
            <a:endParaRPr lang="es-ES_tradnl" sz="1600" dirty="0"/>
          </a:p>
          <a:p>
            <a:pPr algn="ctr"/>
            <a:endParaRPr lang="es-ES" sz="800" dirty="0"/>
          </a:p>
        </p:txBody>
      </p:sp>
      <p:sp>
        <p:nvSpPr>
          <p:cNvPr id="41" name="40 CuadroTexto"/>
          <p:cNvSpPr txBox="1"/>
          <p:nvPr/>
        </p:nvSpPr>
        <p:spPr>
          <a:xfrm>
            <a:off x="4572000" y="4480972"/>
            <a:ext cx="2304257" cy="83099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600" b="1" dirty="0"/>
              <a:t>PATRIMONIO NETO</a:t>
            </a:r>
          </a:p>
          <a:p>
            <a:pPr algn="ctr"/>
            <a:r>
              <a:rPr lang="es-ES_tradnl" sz="1600" dirty="0"/>
              <a:t>(Valor contable real de la empresa)</a:t>
            </a:r>
            <a:endParaRPr lang="es-ES" sz="1600" dirty="0"/>
          </a:p>
        </p:txBody>
      </p:sp>
      <p:sp>
        <p:nvSpPr>
          <p:cNvPr id="42" name="41 CuadroTexto"/>
          <p:cNvSpPr txBox="1"/>
          <p:nvPr/>
        </p:nvSpPr>
        <p:spPr>
          <a:xfrm>
            <a:off x="4572000" y="5347452"/>
            <a:ext cx="2304257" cy="70788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1600" b="1" dirty="0"/>
              <a:t>PASIVO</a:t>
            </a:r>
          </a:p>
          <a:p>
            <a:pPr algn="ctr"/>
            <a:r>
              <a:rPr lang="es-ES_tradnl" sz="1600" dirty="0"/>
              <a:t>(deudas)</a:t>
            </a:r>
          </a:p>
          <a:p>
            <a:pPr algn="ctr"/>
            <a:endParaRPr lang="es-ES" sz="8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69916-865D-D3C7-5CCB-BD9EF5EE6B1D}"/>
              </a:ext>
            </a:extLst>
          </p:cNvPr>
          <p:cNvSpPr txBox="1"/>
          <p:nvPr/>
        </p:nvSpPr>
        <p:spPr>
          <a:xfrm>
            <a:off x="143416" y="1665938"/>
            <a:ext cx="8677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/>
              <a:t>¿Qué es el patrimonio? Son los b</a:t>
            </a:r>
            <a:r>
              <a:rPr lang="es-ES_tradnl" sz="1800" dirty="0"/>
              <a:t>ienes, derechos y obligaciones o deudas que posee una empresa. Tienes 3 partes:</a:t>
            </a:r>
            <a:endParaRPr lang="es-ES" sz="1800" dirty="0"/>
          </a:p>
          <a:p>
            <a:endParaRPr lang="es-ES_tradnl" dirty="0"/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7C5F323D-FD3D-E1D9-B499-765960467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282357"/>
              </p:ext>
            </p:extLst>
          </p:nvPr>
        </p:nvGraphicFramePr>
        <p:xfrm>
          <a:off x="1524000" y="2280457"/>
          <a:ext cx="6096000" cy="1495438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718485">
                  <a:extLst>
                    <a:ext uri="{9D8B030D-6E8A-4147-A177-3AD203B41FA5}">
                      <a16:colId xmlns:a16="http://schemas.microsoft.com/office/drawing/2014/main" val="3444752519"/>
                    </a:ext>
                  </a:extLst>
                </a:gridCol>
                <a:gridCol w="4377515">
                  <a:extLst>
                    <a:ext uri="{9D8B030D-6E8A-4147-A177-3AD203B41FA5}">
                      <a16:colId xmlns:a16="http://schemas.microsoft.com/office/drawing/2014/main" val="9195596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ES_tradnl" sz="1600" b="1" dirty="0"/>
                        <a:t>Activo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0" dirty="0"/>
                        <a:t>Bienes y derechos que posee una empresa</a:t>
                      </a:r>
                      <a:endParaRPr lang="es-ES" sz="1600" b="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647509"/>
                  </a:ext>
                </a:extLst>
              </a:tr>
              <a:tr h="337198">
                <a:tc>
                  <a:txBody>
                    <a:bodyPr/>
                    <a:lstStyle/>
                    <a:p>
                      <a:r>
                        <a:rPr lang="es-ES_tradnl" sz="1600" b="1" dirty="0"/>
                        <a:t>Pasivo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1600" b="0" dirty="0"/>
                        <a:t>Deudas de la empresa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408660"/>
                  </a:ext>
                </a:extLst>
              </a:tr>
              <a:tr h="665159">
                <a:tc>
                  <a:txBody>
                    <a:bodyPr/>
                    <a:lstStyle/>
                    <a:p>
                      <a:r>
                        <a:rPr lang="es-ES_tradnl" sz="1600" b="1" dirty="0"/>
                        <a:t>Patrimonio Neto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1600" b="0" dirty="0"/>
                        <a:t>Diferencia entre el activo y el pasivo. </a:t>
                      </a:r>
                    </a:p>
                    <a:p>
                      <a:r>
                        <a:rPr lang="es-ES_tradnl" sz="1600" b="0" dirty="0"/>
                        <a:t>Valor contable de lo que vale realmente una empresa</a:t>
                      </a:r>
                      <a:endParaRPr lang="es-ES" sz="1600" b="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27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9027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Diagrama"/>
          <p:cNvGraphicFramePr/>
          <p:nvPr>
            <p:extLst>
              <p:ext uri="{D42A27DB-BD31-4B8C-83A1-F6EECF244321}">
                <p14:modId xmlns:p14="http://schemas.microsoft.com/office/powerpoint/2010/main" val="1078590214"/>
              </p:ext>
            </p:extLst>
          </p:nvPr>
        </p:nvGraphicFramePr>
        <p:xfrm>
          <a:off x="163884" y="872716"/>
          <a:ext cx="8816232" cy="5112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A55CB098-2EE0-4E86-B5AB-E091F12CDC2F}"/>
              </a:ext>
            </a:extLst>
          </p:cNvPr>
          <p:cNvSpPr/>
          <p:nvPr/>
        </p:nvSpPr>
        <p:spPr>
          <a:xfrm>
            <a:off x="185224" y="3429000"/>
            <a:ext cx="3111972" cy="24482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s-ES_tradnl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Activo corriente</a:t>
            </a:r>
          </a:p>
          <a:p>
            <a:pPr lvl="0" algn="ctr"/>
            <a:r>
              <a:rPr lang="es-ES_tradn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Estarán en la empresa </a:t>
            </a:r>
            <a:r>
              <a:rPr lang="es-ES_tradnl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menos</a:t>
            </a:r>
            <a:r>
              <a:rPr lang="es-ES_tradn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 de 1 año</a:t>
            </a: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  <a:p>
            <a:pPr algn="ctr"/>
            <a:endParaRPr lang="es-ES" dirty="0"/>
          </a:p>
        </p:txBody>
      </p:sp>
      <p:sp>
        <p:nvSpPr>
          <p:cNvPr id="9" name="1 Título">
            <a:extLst>
              <a:ext uri="{FF2B5EF4-FFF2-40B4-BE49-F238E27FC236}">
                <a16:creationId xmlns:a16="http://schemas.microsoft.com/office/drawing/2014/main" id="{F3A56BC4-7E19-48CA-9733-C5AD238AF471}"/>
              </a:ext>
            </a:extLst>
          </p:cNvPr>
          <p:cNvSpPr txBox="1">
            <a:spLocks/>
          </p:cNvSpPr>
          <p:nvPr/>
        </p:nvSpPr>
        <p:spPr>
          <a:xfrm>
            <a:off x="326505" y="54637"/>
            <a:ext cx="8811339" cy="691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b="1" dirty="0">
                <a:latin typeface="+mn-lt"/>
              </a:rPr>
              <a:t>2.1. Activo</a:t>
            </a:r>
          </a:p>
        </p:txBody>
      </p:sp>
    </p:spTree>
    <p:extLst>
      <p:ext uri="{BB962C8B-B14F-4D97-AF65-F5344CB8AC3E}">
        <p14:creationId xmlns:p14="http://schemas.microsoft.com/office/powerpoint/2010/main" val="3053134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>
            <a:hlinkClick r:id="rId2" action="ppaction://hlinksldjump"/>
          </p:cNvPr>
          <p:cNvSpPr txBox="1"/>
          <p:nvPr/>
        </p:nvSpPr>
        <p:spPr>
          <a:xfrm>
            <a:off x="3930428" y="6281678"/>
            <a:ext cx="128314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ES_tradnl" b="1" dirty="0"/>
              <a:t>Actividades</a:t>
            </a:r>
            <a:endParaRPr lang="es-ES" b="1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586931" y="6307020"/>
            <a:ext cx="287793" cy="361618"/>
          </a:xfrm>
          <a:prstGeom prst="rect">
            <a:avLst/>
          </a:prstGeom>
        </p:spPr>
      </p:pic>
      <p:graphicFrame>
        <p:nvGraphicFramePr>
          <p:cNvPr id="10" name="9 Diagrama"/>
          <p:cNvGraphicFramePr/>
          <p:nvPr>
            <p:extLst>
              <p:ext uri="{D42A27DB-BD31-4B8C-83A1-F6EECF244321}">
                <p14:modId xmlns:p14="http://schemas.microsoft.com/office/powerpoint/2010/main" val="606344030"/>
              </p:ext>
            </p:extLst>
          </p:nvPr>
        </p:nvGraphicFramePr>
        <p:xfrm>
          <a:off x="2195736" y="2728592"/>
          <a:ext cx="6526286" cy="36849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1 CuadroTexto"/>
          <p:cNvSpPr txBox="1"/>
          <p:nvPr/>
        </p:nvSpPr>
        <p:spPr>
          <a:xfrm>
            <a:off x="124080" y="3429000"/>
            <a:ext cx="1979712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Fuentes de financiación externas</a:t>
            </a:r>
            <a:endParaRPr lang="es-ES" b="1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8E85A89-3FAF-477A-B401-981CA7391533}"/>
              </a:ext>
            </a:extLst>
          </p:cNvPr>
          <p:cNvSpPr/>
          <p:nvPr/>
        </p:nvSpPr>
        <p:spPr>
          <a:xfrm>
            <a:off x="107504" y="31496"/>
            <a:ext cx="597246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3600" b="1" dirty="0"/>
              <a:t>2.2. Patrimonio Neto y Pasivo</a:t>
            </a:r>
            <a:endParaRPr lang="es-ES" sz="3600" dirty="0"/>
          </a:p>
        </p:txBody>
      </p:sp>
      <p:graphicFrame>
        <p:nvGraphicFramePr>
          <p:cNvPr id="15" name="25 Diagrama">
            <a:extLst>
              <a:ext uri="{FF2B5EF4-FFF2-40B4-BE49-F238E27FC236}">
                <a16:creationId xmlns:a16="http://schemas.microsoft.com/office/drawing/2014/main" id="{0D03163C-2407-4829-9FB8-ECE52ED906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7738133"/>
              </p:ext>
            </p:extLst>
          </p:nvPr>
        </p:nvGraphicFramePr>
        <p:xfrm>
          <a:off x="2295469" y="661500"/>
          <a:ext cx="6326819" cy="1933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16" name="30 CuadroTexto">
            <a:extLst>
              <a:ext uri="{FF2B5EF4-FFF2-40B4-BE49-F238E27FC236}">
                <a16:creationId xmlns:a16="http://schemas.microsoft.com/office/drawing/2014/main" id="{500A599F-ADB3-4873-878A-472007F8943F}"/>
              </a:ext>
            </a:extLst>
          </p:cNvPr>
          <p:cNvSpPr txBox="1"/>
          <p:nvPr/>
        </p:nvSpPr>
        <p:spPr>
          <a:xfrm>
            <a:off x="124079" y="1166460"/>
            <a:ext cx="1979711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Fuentes de financiación propias</a:t>
            </a:r>
            <a:endParaRPr lang="es-ES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8DA2B43-0A3C-4B9E-8043-AF0A494AE8EF}"/>
              </a:ext>
            </a:extLst>
          </p:cNvPr>
          <p:cNvSpPr txBox="1"/>
          <p:nvPr/>
        </p:nvSpPr>
        <p:spPr>
          <a:xfrm>
            <a:off x="1113934" y="2250202"/>
            <a:ext cx="71670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dirty="0"/>
              <a:t>* Las amortizaciones se anotan debajo de cada activo disminuyendo su valor</a:t>
            </a:r>
          </a:p>
        </p:txBody>
      </p:sp>
    </p:spTree>
    <p:extLst>
      <p:ext uri="{BB962C8B-B14F-4D97-AF65-F5344CB8AC3E}">
        <p14:creationId xmlns:p14="http://schemas.microsoft.com/office/powerpoint/2010/main" val="347586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arcador de contenido 8" descr="Tabla&#10;&#10;Descripción generada automáticamente">
            <a:extLst>
              <a:ext uri="{FF2B5EF4-FFF2-40B4-BE49-F238E27FC236}">
                <a16:creationId xmlns:a16="http://schemas.microsoft.com/office/drawing/2014/main" id="{6500FD8F-555E-F9AD-4E6F-6FD0D3AB61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24" b="3581"/>
          <a:stretch/>
        </p:blipFill>
        <p:spPr>
          <a:xfrm>
            <a:off x="938986" y="2456908"/>
            <a:ext cx="6977995" cy="3719406"/>
          </a:xfr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D1D1958-14FF-D1D4-5E7F-5AF93E6FF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7</a:t>
            </a:fld>
            <a:endParaRPr lang="es-ES" dirty="0"/>
          </a:p>
        </p:txBody>
      </p:sp>
      <p:pic>
        <p:nvPicPr>
          <p:cNvPr id="2" name="Marcador de contenido 8" descr="Tabla&#10;&#10;Descripción generada automáticamente">
            <a:extLst>
              <a:ext uri="{FF2B5EF4-FFF2-40B4-BE49-F238E27FC236}">
                <a16:creationId xmlns:a16="http://schemas.microsoft.com/office/drawing/2014/main" id="{A2E506CE-C8A6-DC8D-D269-3457977E7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12" r="2099" b="64647"/>
          <a:stretch/>
        </p:blipFill>
        <p:spPr>
          <a:xfrm>
            <a:off x="1187624" y="1124744"/>
            <a:ext cx="6480720" cy="11521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ACD46D6-9C27-8DB0-0F29-7B10C1E4283F}"/>
              </a:ext>
            </a:extLst>
          </p:cNvPr>
          <p:cNvSpPr txBox="1"/>
          <p:nvPr/>
        </p:nvSpPr>
        <p:spPr>
          <a:xfrm>
            <a:off x="611560" y="368333"/>
            <a:ext cx="7632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i="1" dirty="0"/>
              <a:t>EJEMPLO: la empresa Lámparas SL tiene la siguiente información contable. Haz el balance de situación </a:t>
            </a:r>
          </a:p>
        </p:txBody>
      </p:sp>
    </p:spTree>
    <p:extLst>
      <p:ext uri="{BB962C8B-B14F-4D97-AF65-F5344CB8AC3E}">
        <p14:creationId xmlns:p14="http://schemas.microsoft.com/office/powerpoint/2010/main" val="3263634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 Título">
            <a:extLst>
              <a:ext uri="{FF2B5EF4-FFF2-40B4-BE49-F238E27FC236}">
                <a16:creationId xmlns:a16="http://schemas.microsoft.com/office/drawing/2014/main" id="{4B9DF758-5CA3-4CDB-9985-B964A92D5C2E}"/>
              </a:ext>
            </a:extLst>
          </p:cNvPr>
          <p:cNvSpPr txBox="1">
            <a:spLocks/>
          </p:cNvSpPr>
          <p:nvPr/>
        </p:nvSpPr>
        <p:spPr>
          <a:xfrm>
            <a:off x="166330" y="29591"/>
            <a:ext cx="8811339" cy="691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b="1" dirty="0">
                <a:latin typeface="+mn-lt"/>
              </a:rPr>
              <a:t>3. La cuenta de resultado  (</a:t>
            </a:r>
            <a:r>
              <a:rPr lang="es-ES_tradnl" b="1" dirty="0" err="1">
                <a:latin typeface="+mn-lt"/>
              </a:rPr>
              <a:t>PyG</a:t>
            </a:r>
            <a:r>
              <a:rPr lang="es-ES_tradnl" b="1" dirty="0">
                <a:latin typeface="+mn-lt"/>
              </a:rPr>
              <a:t>)</a:t>
            </a:r>
          </a:p>
        </p:txBody>
      </p:sp>
      <p:sp>
        <p:nvSpPr>
          <p:cNvPr id="12" name="1 CuadroTexto">
            <a:extLst>
              <a:ext uri="{FF2B5EF4-FFF2-40B4-BE49-F238E27FC236}">
                <a16:creationId xmlns:a16="http://schemas.microsoft.com/office/drawing/2014/main" id="{0940E950-77C2-4A39-A8A9-24A6B86FA119}"/>
              </a:ext>
            </a:extLst>
          </p:cNvPr>
          <p:cNvSpPr txBox="1"/>
          <p:nvPr/>
        </p:nvSpPr>
        <p:spPr>
          <a:xfrm>
            <a:off x="543585" y="1326822"/>
            <a:ext cx="8056828" cy="42043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_tradnl" dirty="0"/>
              <a:t>Recoge todos los ingresos y gastos que ha tenido la empresa a lo largo del año (beneficio o pérdidas). Figura en el patrimonio neto de la empresa</a:t>
            </a:r>
            <a:r>
              <a:rPr lang="es-ES_tradnl" dirty="0">
                <a:sym typeface="Wingdings" panose="05000000000000000000" pitchFamily="2" charset="2"/>
              </a:rPr>
              <a:t> (NO solo gasto – ingresos)</a:t>
            </a:r>
          </a:p>
          <a:p>
            <a:pPr algn="ctr">
              <a:lnSpc>
                <a:spcPct val="150000"/>
              </a:lnSpc>
            </a:pPr>
            <a:endParaRPr lang="es-ES_tradnl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anose="05000000000000000000" pitchFamily="2" charset="2"/>
            </a:endParaRPr>
          </a:p>
          <a:p>
            <a:pPr algn="ctr">
              <a:lnSpc>
                <a:spcPct val="150000"/>
              </a:lnSpc>
            </a:pPr>
            <a:r>
              <a:rPr lang="es-ES_tradnl" b="1" dirty="0">
                <a:sym typeface="Wingdings" panose="05000000000000000000" pitchFamily="2" charset="2"/>
              </a:rPr>
              <a:t>Estructura de la cuenta de pérdidas y ganancias</a:t>
            </a:r>
            <a:r>
              <a:rPr lang="es-ES_tradnl" dirty="0">
                <a:sym typeface="Wingdings" panose="05000000000000000000" pitchFamily="2" charset="2"/>
              </a:rPr>
              <a:t>: </a:t>
            </a:r>
          </a:p>
          <a:p>
            <a:pPr algn="just">
              <a:lnSpc>
                <a:spcPct val="150000"/>
              </a:lnSpc>
            </a:pPr>
            <a:r>
              <a:rPr lang="es-ES_tradnl" b="1" dirty="0">
                <a:sym typeface="Wingdings" panose="05000000000000000000" pitchFamily="2" charset="2"/>
              </a:rPr>
              <a:t>1º) </a:t>
            </a:r>
            <a:r>
              <a:rPr lang="es-ES_tradnl" dirty="0">
                <a:sym typeface="Wingdings" panose="05000000000000000000" pitchFamily="2" charset="2"/>
              </a:rPr>
              <a:t>Separar los gastos e ingresos que pertenecen a la </a:t>
            </a:r>
            <a:r>
              <a:rPr lang="es-ES_tradn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explotación</a:t>
            </a:r>
            <a:r>
              <a:rPr lang="es-ES_tradnl" dirty="0">
                <a:sym typeface="Wingdings" panose="05000000000000000000" pitchFamily="2" charset="2"/>
              </a:rPr>
              <a:t> del negocio, de aquellos que son gastos e ingresos </a:t>
            </a:r>
            <a:r>
              <a:rPr lang="es-ES_tradn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financieros.</a:t>
            </a:r>
          </a:p>
          <a:p>
            <a:pPr algn="just">
              <a:lnSpc>
                <a:spcPct val="150000"/>
              </a:lnSpc>
            </a:pPr>
            <a:r>
              <a:rPr lang="es-ES_tradnl" b="1" dirty="0">
                <a:sym typeface="Wingdings" panose="05000000000000000000" pitchFamily="2" charset="2"/>
              </a:rPr>
              <a:t>2º)</a:t>
            </a:r>
            <a:r>
              <a:rPr lang="es-ES_tradnl" dirty="0">
                <a:sym typeface="Wingdings" panose="05000000000000000000" pitchFamily="2" charset="2"/>
              </a:rPr>
              <a:t> Sumar ambos y dará resultado antes de impuestos.</a:t>
            </a:r>
          </a:p>
          <a:p>
            <a:pPr algn="just">
              <a:lnSpc>
                <a:spcPct val="150000"/>
              </a:lnSpc>
            </a:pPr>
            <a:r>
              <a:rPr lang="es-ES_tradnl" b="1" dirty="0">
                <a:sym typeface="Wingdings" panose="05000000000000000000" pitchFamily="2" charset="2"/>
              </a:rPr>
              <a:t>3º)</a:t>
            </a:r>
            <a:r>
              <a:rPr lang="es-ES_tradnl" dirty="0">
                <a:sym typeface="Wingdings" panose="05000000000000000000" pitchFamily="2" charset="2"/>
              </a:rPr>
              <a:t> Calculamos los impuestos (Impuestos de Sociedades o IRPF) y se le restan.</a:t>
            </a:r>
          </a:p>
          <a:p>
            <a:pPr algn="just">
              <a:lnSpc>
                <a:spcPct val="150000"/>
              </a:lnSpc>
            </a:pPr>
            <a:r>
              <a:rPr lang="es-ES_tradnl" b="1" dirty="0">
                <a:sym typeface="Wingdings" panose="05000000000000000000" pitchFamily="2" charset="2"/>
              </a:rPr>
              <a:t>4º) </a:t>
            </a:r>
            <a:r>
              <a:rPr lang="es-ES_tradnl" dirty="0">
                <a:sym typeface="Wingdings" panose="05000000000000000000" pitchFamily="2" charset="2"/>
              </a:rPr>
              <a:t>El importe de la resta será el resultado del ejercicio.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77087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099186"/>
              </p:ext>
            </p:extLst>
          </p:nvPr>
        </p:nvGraphicFramePr>
        <p:xfrm>
          <a:off x="611560" y="548680"/>
          <a:ext cx="7920880" cy="5494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9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0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674">
                <a:tc>
                  <a:txBody>
                    <a:bodyPr/>
                    <a:lstStyle/>
                    <a:p>
                      <a:pPr algn="l"/>
                      <a:r>
                        <a:rPr lang="es-ES_tradnl" sz="1600" b="1" dirty="0">
                          <a:solidFill>
                            <a:schemeClr val="tx1"/>
                          </a:solidFill>
                        </a:rPr>
                        <a:t>1. Ingresos de explotación</a:t>
                      </a:r>
                      <a:endParaRPr lang="es-E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_tradnl" sz="1600" b="0" dirty="0">
                          <a:solidFill>
                            <a:schemeClr val="tx1"/>
                          </a:solidFill>
                        </a:rPr>
                        <a:t>Ventas de mercaderías </a:t>
                      </a:r>
                    </a:p>
                    <a:p>
                      <a:pPr algn="l"/>
                      <a:r>
                        <a:rPr lang="es-ES_tradnl" sz="1600" b="0" dirty="0">
                          <a:solidFill>
                            <a:schemeClr val="tx1"/>
                          </a:solidFill>
                        </a:rPr>
                        <a:t>Ingresos por servicios prestados</a:t>
                      </a:r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5181">
                <a:tc>
                  <a:txBody>
                    <a:bodyPr/>
                    <a:lstStyle/>
                    <a:p>
                      <a:pPr algn="l"/>
                      <a:r>
                        <a:rPr lang="es-ES_tradnl" sz="1600" b="1" dirty="0">
                          <a:solidFill>
                            <a:schemeClr val="tx1"/>
                          </a:solidFill>
                        </a:rPr>
                        <a:t>2. Gastos de explotación</a:t>
                      </a:r>
                      <a:endParaRPr lang="es-E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_tradnl" sz="1600" b="0" dirty="0">
                          <a:solidFill>
                            <a:schemeClr val="tx1"/>
                          </a:solidFill>
                        </a:rPr>
                        <a:t>Compras de mercaderías y materiales / consumo de mercaderías y materiales / Alquileres/ Nóminas</a:t>
                      </a: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 (Ser. Social y cuota autónomos) / Servicios Profesionales / Publicidad/ Seguros/ Suministros/ Reparaciones/ Transportes/ Tributos/ Material de oficina/ Amortizaciones / Gastos excepcionales</a:t>
                      </a:r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109">
                <a:tc>
                  <a:txBody>
                    <a:bodyPr/>
                    <a:lstStyle/>
                    <a:p>
                      <a:pPr marL="342900" indent="-342900" algn="l">
                        <a:buAutoNum type="alphaUcPeriod"/>
                      </a:pPr>
                      <a:r>
                        <a:rPr lang="es-ES_tradnl" sz="1600" b="1" dirty="0">
                          <a:solidFill>
                            <a:schemeClr val="tx1"/>
                          </a:solidFill>
                        </a:rPr>
                        <a:t>Resultado de explotación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s-ES_tradnl" sz="1600" b="1" dirty="0">
                          <a:solidFill>
                            <a:schemeClr val="tx1"/>
                          </a:solidFill>
                        </a:rPr>
                        <a:t>(1-2)</a:t>
                      </a:r>
                      <a:endParaRPr lang="es-E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_tradnl" sz="1600" b="0" dirty="0">
                          <a:solidFill>
                            <a:schemeClr val="tx1"/>
                          </a:solidFill>
                        </a:rPr>
                        <a:t>Ingresos menos</a:t>
                      </a: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 gastos de explotación</a:t>
                      </a:r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109">
                <a:tc>
                  <a:txBody>
                    <a:bodyPr/>
                    <a:lstStyle/>
                    <a:p>
                      <a:pPr algn="l"/>
                      <a:r>
                        <a:rPr lang="es-ES_tradnl" sz="1600" b="1" dirty="0">
                          <a:solidFill>
                            <a:schemeClr val="tx1"/>
                          </a:solidFill>
                        </a:rPr>
                        <a:t>3. Ingresos financieros</a:t>
                      </a:r>
                      <a:endParaRPr lang="es-E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_tradnl" sz="1600" b="0" dirty="0">
                          <a:solidFill>
                            <a:schemeClr val="tx1"/>
                          </a:solidFill>
                        </a:rPr>
                        <a:t>Intereses de cuentas bancarias</a:t>
                      </a:r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109">
                <a:tc>
                  <a:txBody>
                    <a:bodyPr/>
                    <a:lstStyle/>
                    <a:p>
                      <a:pPr algn="l"/>
                      <a:r>
                        <a:rPr lang="es-ES_tradnl" sz="1600" b="1" dirty="0">
                          <a:solidFill>
                            <a:schemeClr val="tx1"/>
                          </a:solidFill>
                        </a:rPr>
                        <a:t>4. Gastos financieros</a:t>
                      </a:r>
                      <a:endParaRPr lang="es-E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_tradnl" sz="1600" b="0" dirty="0">
                          <a:solidFill>
                            <a:schemeClr val="tx1"/>
                          </a:solidFill>
                        </a:rPr>
                        <a:t>Intereses de préstamos</a:t>
                      </a: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  concedidos / comisiones bancarias</a:t>
                      </a:r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5109">
                <a:tc>
                  <a:txBody>
                    <a:bodyPr/>
                    <a:lstStyle/>
                    <a:p>
                      <a:pPr algn="l"/>
                      <a:r>
                        <a:rPr lang="es-ES_tradnl" sz="1600" b="1" dirty="0">
                          <a:solidFill>
                            <a:schemeClr val="tx1"/>
                          </a:solidFill>
                        </a:rPr>
                        <a:t>B. Resultado</a:t>
                      </a:r>
                      <a:r>
                        <a:rPr lang="es-ES_tradnl" sz="1600" b="1" baseline="0" dirty="0">
                          <a:solidFill>
                            <a:schemeClr val="tx1"/>
                          </a:solidFill>
                        </a:rPr>
                        <a:t> financiero (3-4)</a:t>
                      </a:r>
                      <a:endParaRPr lang="es-E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_tradnl" sz="1600" b="0" dirty="0">
                          <a:solidFill>
                            <a:schemeClr val="tx1"/>
                          </a:solidFill>
                        </a:rPr>
                        <a:t>Ingresos</a:t>
                      </a: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 menos gastos financieros</a:t>
                      </a:r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5109">
                <a:tc>
                  <a:txBody>
                    <a:bodyPr/>
                    <a:lstStyle/>
                    <a:p>
                      <a:pPr algn="l"/>
                      <a:r>
                        <a:rPr lang="es-ES_tradnl" sz="1600" b="1" dirty="0">
                          <a:solidFill>
                            <a:schemeClr val="tx1"/>
                          </a:solidFill>
                        </a:rPr>
                        <a:t>C. Resultado antes de impuestos (A+B)</a:t>
                      </a:r>
                      <a:endParaRPr lang="es-E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_tradnl" sz="1600" b="0" dirty="0">
                          <a:solidFill>
                            <a:schemeClr val="tx1"/>
                          </a:solidFill>
                        </a:rPr>
                        <a:t>Se suman el resultado de explotación</a:t>
                      </a:r>
                      <a:r>
                        <a:rPr lang="es-ES_tradnl" sz="1600" b="0" baseline="0" dirty="0">
                          <a:solidFill>
                            <a:schemeClr val="tx1"/>
                          </a:solidFill>
                        </a:rPr>
                        <a:t> y el financiero</a:t>
                      </a:r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674">
                <a:tc>
                  <a:txBody>
                    <a:bodyPr/>
                    <a:lstStyle/>
                    <a:p>
                      <a:pPr algn="l"/>
                      <a:r>
                        <a:rPr lang="es-ES_tradnl" sz="1600" b="1" dirty="0">
                          <a:solidFill>
                            <a:schemeClr val="tx1"/>
                          </a:solidFill>
                        </a:rPr>
                        <a:t>D. Resultado del ejercicio</a:t>
                      </a:r>
                      <a:endParaRPr lang="es-E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_tradnl" sz="1600" b="0" dirty="0">
                          <a:solidFill>
                            <a:schemeClr val="tx1"/>
                          </a:solidFill>
                        </a:rPr>
                        <a:t>Se calcula el IRPF o Impuesto de Sociedades y se resta </a:t>
                      </a:r>
                      <a:endParaRPr lang="es-ES" sz="16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5 CuadroTexto">
            <a:hlinkClick r:id="rId2" action="ppaction://hlinksldjump"/>
            <a:extLst>
              <a:ext uri="{FF2B5EF4-FFF2-40B4-BE49-F238E27FC236}">
                <a16:creationId xmlns:a16="http://schemas.microsoft.com/office/drawing/2014/main" id="{14ED69DE-A611-41D9-9AF4-7F045BC57122}"/>
              </a:ext>
            </a:extLst>
          </p:cNvPr>
          <p:cNvSpPr txBox="1"/>
          <p:nvPr/>
        </p:nvSpPr>
        <p:spPr>
          <a:xfrm>
            <a:off x="3930428" y="6124654"/>
            <a:ext cx="128314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ES_tradnl" b="1" dirty="0"/>
              <a:t>Actividades</a:t>
            </a:r>
            <a:endParaRPr lang="es-ES" b="1" dirty="0"/>
          </a:p>
        </p:txBody>
      </p:sp>
      <p:pic>
        <p:nvPicPr>
          <p:cNvPr id="6" name="7 Imagen">
            <a:extLst>
              <a:ext uri="{FF2B5EF4-FFF2-40B4-BE49-F238E27FC236}">
                <a16:creationId xmlns:a16="http://schemas.microsoft.com/office/drawing/2014/main" id="{791DCDE2-A4BC-4472-B849-C9726151DB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586931" y="6307020"/>
            <a:ext cx="287793" cy="36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749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>
            <a:extLst>
              <a:ext uri="{FF2B5EF4-FFF2-40B4-BE49-F238E27FC236}">
                <a16:creationId xmlns:a16="http://schemas.microsoft.com/office/drawing/2014/main" id="{1B0BC156-D8F0-441B-BBF2-8A6D9EEDD39E}"/>
              </a:ext>
            </a:extLst>
          </p:cNvPr>
          <p:cNvSpPr txBox="1">
            <a:spLocks/>
          </p:cNvSpPr>
          <p:nvPr/>
        </p:nvSpPr>
        <p:spPr>
          <a:xfrm>
            <a:off x="166330" y="113"/>
            <a:ext cx="8811339" cy="691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b="1" dirty="0">
                <a:latin typeface="+mn-lt"/>
              </a:rPr>
              <a:t>4. Plan de tesorería</a:t>
            </a:r>
          </a:p>
        </p:txBody>
      </p:sp>
      <p:sp>
        <p:nvSpPr>
          <p:cNvPr id="9" name="3 CuadroTexto">
            <a:extLst>
              <a:ext uri="{FF2B5EF4-FFF2-40B4-BE49-F238E27FC236}">
                <a16:creationId xmlns:a16="http://schemas.microsoft.com/office/drawing/2014/main" id="{34D1F1F8-365B-40A6-9ABE-7E63C494FBBB}"/>
              </a:ext>
            </a:extLst>
          </p:cNvPr>
          <p:cNvSpPr txBox="1"/>
          <p:nvPr/>
        </p:nvSpPr>
        <p:spPr>
          <a:xfrm>
            <a:off x="406047" y="1859339"/>
            <a:ext cx="8331904" cy="31393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dirty="0"/>
              <a:t>Herramienta para prevenir que la empresa se quede sin fondos para hacer frente a los pagos, es decir, </a:t>
            </a:r>
            <a:r>
              <a:rPr lang="es-ES_tradnl" b="1" dirty="0"/>
              <a:t>disponer de efectivo </a:t>
            </a:r>
            <a:r>
              <a:rPr lang="es-ES_tradnl" dirty="0"/>
              <a:t>para poder atender los vencimientos.</a:t>
            </a:r>
          </a:p>
          <a:p>
            <a:pPr algn="just"/>
            <a:endParaRPr lang="es-ES_tradnl" dirty="0"/>
          </a:p>
          <a:p>
            <a:pPr marL="285750" indent="-285750" algn="just">
              <a:buFont typeface="Wingdings"/>
              <a:buChar char="à"/>
            </a:pPr>
            <a:r>
              <a:rPr lang="es-ES_tradnl" dirty="0">
                <a:sym typeface="Wingdings" panose="05000000000000000000" pitchFamily="2" charset="2"/>
              </a:rPr>
              <a:t>Por ejemplo, si se presentan </a:t>
            </a:r>
            <a:r>
              <a:rPr lang="es-ES_tradnl" b="1" dirty="0">
                <a:sym typeface="Wingdings" panose="05000000000000000000" pitchFamily="2" charset="2"/>
              </a:rPr>
              <a:t>problemas de liquidez</a:t>
            </a:r>
            <a:r>
              <a:rPr lang="es-ES_tradnl" dirty="0">
                <a:sym typeface="Wingdings" panose="05000000000000000000" pitchFamily="2" charset="2"/>
              </a:rPr>
              <a:t> (no tener dinero por la diferencia entre los flujos de entrada y salida de dinero), como lo podemos solucionar  recurrir a la financiación externa de un préstamo o línea de crédito urgente.</a:t>
            </a:r>
          </a:p>
          <a:p>
            <a:pPr algn="just"/>
            <a:endParaRPr lang="es-ES_tradnl" dirty="0">
              <a:sym typeface="Wingdings" panose="05000000000000000000" pitchFamily="2" charset="2"/>
            </a:endParaRPr>
          </a:p>
          <a:p>
            <a:pPr marL="285750" indent="-285750" algn="just">
              <a:buFont typeface="Wingdings"/>
              <a:buChar char="à"/>
            </a:pPr>
            <a:r>
              <a:rPr lang="es-ES_tradnl" dirty="0">
                <a:sym typeface="Wingdings" panose="05000000000000000000" pitchFamily="2" charset="2"/>
              </a:rPr>
              <a:t>Lo mismo sucede al emprendedor que crea una empresa. Los primeros meses apenas hay ingresos. Lo habitual el primer año es no tener beneficios  El Plan de Tesorería debe realizarse para los 12 primeros meses. </a:t>
            </a:r>
            <a:endParaRPr lang="es-ES_tradnl" dirty="0"/>
          </a:p>
        </p:txBody>
      </p:sp>
      <p:sp>
        <p:nvSpPr>
          <p:cNvPr id="13" name="22 CuadroTexto">
            <a:extLst>
              <a:ext uri="{FF2B5EF4-FFF2-40B4-BE49-F238E27FC236}">
                <a16:creationId xmlns:a16="http://schemas.microsoft.com/office/drawing/2014/main" id="{8F95B5C2-26B7-405F-B8D7-9F27819FE76C}"/>
              </a:ext>
            </a:extLst>
          </p:cNvPr>
          <p:cNvSpPr txBox="1"/>
          <p:nvPr/>
        </p:nvSpPr>
        <p:spPr>
          <a:xfrm>
            <a:off x="1131021" y="5373216"/>
            <a:ext cx="688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A continuación se presenta un ejemplo de un plan de tesorería: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77076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1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927032"/>
              </p:ext>
            </p:extLst>
          </p:nvPr>
        </p:nvGraphicFramePr>
        <p:xfrm>
          <a:off x="148255" y="620688"/>
          <a:ext cx="8816233" cy="5491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89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7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77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77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77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77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s-ES" sz="15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500" dirty="0"/>
                        <a:t>Enero</a:t>
                      </a:r>
                      <a:endParaRPr lang="es-ES" sz="15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500" dirty="0"/>
                        <a:t>Febrero</a:t>
                      </a:r>
                      <a:endParaRPr lang="es-ES" sz="15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500" dirty="0"/>
                        <a:t>Marzo</a:t>
                      </a:r>
                      <a:endParaRPr lang="es-ES" sz="15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500" dirty="0"/>
                        <a:t>Abril</a:t>
                      </a:r>
                      <a:endParaRPr lang="es-ES" sz="15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500" dirty="0"/>
                        <a:t>Mayo</a:t>
                      </a:r>
                      <a:endParaRPr lang="es-ES" sz="15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500" dirty="0"/>
                        <a:t>Junio</a:t>
                      </a:r>
                      <a:endParaRPr lang="es-ES" sz="15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32">
                <a:tc>
                  <a:txBody>
                    <a:bodyPr/>
                    <a:lstStyle/>
                    <a:p>
                      <a:pPr algn="l"/>
                      <a:r>
                        <a:rPr lang="es-ES_tradnl" sz="1500" b="1" dirty="0"/>
                        <a:t>Saldo inicial</a:t>
                      </a:r>
                      <a:endParaRPr lang="es-ES" sz="15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10.000</a:t>
                      </a:r>
                      <a:endParaRPr lang="es-E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10.220</a:t>
                      </a:r>
                      <a:endParaRPr lang="es-E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10.440</a:t>
                      </a:r>
                      <a:endParaRPr lang="es-E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11.660</a:t>
                      </a:r>
                      <a:endParaRPr lang="es-E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12.880</a:t>
                      </a:r>
                      <a:endParaRPr lang="es-E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15.100</a:t>
                      </a:r>
                      <a:endParaRPr lang="es-ES" sz="15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464">
                <a:tc>
                  <a:txBody>
                    <a:bodyPr/>
                    <a:lstStyle/>
                    <a:p>
                      <a:pPr algn="l"/>
                      <a:r>
                        <a:rPr lang="es-ES_tradnl" sz="1500" b="1" dirty="0"/>
                        <a:t>Cobros:</a:t>
                      </a:r>
                      <a:endParaRPr lang="es-ES" sz="15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6.000</a:t>
                      </a:r>
                      <a:endParaRPr lang="es-E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6.000</a:t>
                      </a:r>
                      <a:endParaRPr lang="es-E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8.000</a:t>
                      </a:r>
                      <a:endParaRPr lang="es-E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8.000</a:t>
                      </a:r>
                      <a:endParaRPr lang="es-E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10.000</a:t>
                      </a:r>
                      <a:endParaRPr lang="es-E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10.000</a:t>
                      </a:r>
                      <a:endParaRPr lang="es-ES" sz="15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696">
                <a:tc>
                  <a:txBody>
                    <a:bodyPr/>
                    <a:lstStyle/>
                    <a:p>
                      <a:pPr lvl="1" algn="l"/>
                      <a:r>
                        <a:rPr lang="es-ES_tradnl" sz="1500" dirty="0"/>
                        <a:t>Ventas mercad.</a:t>
                      </a:r>
                      <a:endParaRPr lang="es-ES" sz="15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6.000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6.000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8.000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8.000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10.000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10.000</a:t>
                      </a:r>
                      <a:endParaRPr lang="es-E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936">
                <a:tc>
                  <a:txBody>
                    <a:bodyPr/>
                    <a:lstStyle/>
                    <a:p>
                      <a:pPr algn="l"/>
                      <a:r>
                        <a:rPr lang="es-ES_tradnl" sz="1500" b="1" dirty="0"/>
                        <a:t>Pagos:</a:t>
                      </a:r>
                      <a:endParaRPr lang="es-ES" sz="15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5.780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5.780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6.780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6.780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7.780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7.780</a:t>
                      </a:r>
                      <a:endParaRPr lang="es-E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168">
                <a:tc>
                  <a:txBody>
                    <a:bodyPr/>
                    <a:lstStyle/>
                    <a:p>
                      <a:pPr lvl="1" algn="l"/>
                      <a:r>
                        <a:rPr lang="es-ES_tradnl" sz="1500" dirty="0"/>
                        <a:t>Compras</a:t>
                      </a:r>
                      <a:r>
                        <a:rPr lang="es-ES_tradnl" sz="1500" baseline="0" dirty="0"/>
                        <a:t> mercad.</a:t>
                      </a:r>
                      <a:endParaRPr lang="es-ES" sz="15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3.000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3.000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4.000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4.000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5.000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5.000</a:t>
                      </a:r>
                      <a:endParaRPr lang="es-E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400">
                <a:tc>
                  <a:txBody>
                    <a:bodyPr/>
                    <a:lstStyle/>
                    <a:p>
                      <a:pPr lvl="1" algn="l"/>
                      <a:r>
                        <a:rPr lang="es-ES_tradnl" sz="1500" dirty="0"/>
                        <a:t>Alquiler</a:t>
                      </a:r>
                      <a:endParaRPr lang="es-ES" sz="15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500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500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500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500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500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500</a:t>
                      </a:r>
                      <a:endParaRPr lang="es-E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632">
                <a:tc>
                  <a:txBody>
                    <a:bodyPr/>
                    <a:lstStyle/>
                    <a:p>
                      <a:pPr lvl="1" algn="l"/>
                      <a:r>
                        <a:rPr lang="es-ES_tradnl" sz="1500" dirty="0"/>
                        <a:t>Nóminas</a:t>
                      </a:r>
                      <a:endParaRPr lang="es-ES" sz="15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1.200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1.200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1.200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1.200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1.200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1.200</a:t>
                      </a:r>
                      <a:endParaRPr lang="es-E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1864">
                <a:tc>
                  <a:txBody>
                    <a:bodyPr/>
                    <a:lstStyle/>
                    <a:p>
                      <a:pPr lvl="1" algn="l"/>
                      <a:r>
                        <a:rPr lang="es-ES_tradnl" sz="1500" dirty="0" err="1"/>
                        <a:t>Seg</a:t>
                      </a:r>
                      <a:r>
                        <a:rPr lang="es-ES_tradnl" sz="1500" dirty="0"/>
                        <a:t>. Social</a:t>
                      </a:r>
                      <a:endParaRPr lang="es-ES" sz="15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350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350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350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350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350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350</a:t>
                      </a:r>
                      <a:endParaRPr lang="es-E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7104">
                <a:tc>
                  <a:txBody>
                    <a:bodyPr/>
                    <a:lstStyle/>
                    <a:p>
                      <a:pPr lvl="1" algn="l"/>
                      <a:r>
                        <a:rPr lang="es-ES_tradnl" sz="1500" dirty="0"/>
                        <a:t>Autónomos</a:t>
                      </a:r>
                      <a:endParaRPr lang="es-ES" sz="15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250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250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250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250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250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250</a:t>
                      </a:r>
                      <a:endParaRPr lang="es-E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336">
                <a:tc>
                  <a:txBody>
                    <a:bodyPr/>
                    <a:lstStyle/>
                    <a:p>
                      <a:pPr lvl="1" algn="l"/>
                      <a:r>
                        <a:rPr lang="es-ES_tradnl" sz="1500" dirty="0"/>
                        <a:t>Publicidad</a:t>
                      </a:r>
                      <a:endParaRPr lang="es-ES" sz="15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100</a:t>
                      </a:r>
                      <a:endParaRPr lang="es-E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3568">
                <a:tc>
                  <a:txBody>
                    <a:bodyPr/>
                    <a:lstStyle/>
                    <a:p>
                      <a:pPr lvl="1" algn="l"/>
                      <a:r>
                        <a:rPr lang="es-ES_tradnl" sz="1500" dirty="0"/>
                        <a:t>Luz</a:t>
                      </a:r>
                      <a:endParaRPr lang="es-ES" sz="15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100</a:t>
                      </a:r>
                      <a:endParaRPr lang="es-E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6800">
                <a:tc>
                  <a:txBody>
                    <a:bodyPr/>
                    <a:lstStyle/>
                    <a:p>
                      <a:pPr lvl="1" algn="l"/>
                      <a:r>
                        <a:rPr lang="es-ES_tradnl" sz="1500" dirty="0"/>
                        <a:t>Teléfono</a:t>
                      </a:r>
                      <a:endParaRPr lang="es-ES" sz="15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80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80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80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80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80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80</a:t>
                      </a:r>
                      <a:endParaRPr lang="es-E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040">
                <a:tc>
                  <a:txBody>
                    <a:bodyPr/>
                    <a:lstStyle/>
                    <a:p>
                      <a:pPr lvl="1" algn="l"/>
                      <a:r>
                        <a:rPr lang="es-ES_tradnl" sz="1500" dirty="0"/>
                        <a:t>Internet</a:t>
                      </a:r>
                      <a:endParaRPr lang="es-ES" sz="15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50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50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50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50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50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50</a:t>
                      </a:r>
                      <a:endParaRPr lang="es-E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3264">
                <a:tc>
                  <a:txBody>
                    <a:bodyPr/>
                    <a:lstStyle/>
                    <a:p>
                      <a:pPr lvl="1" algn="l"/>
                      <a:r>
                        <a:rPr lang="es-ES_tradnl" sz="1500" dirty="0"/>
                        <a:t>Gestoría</a:t>
                      </a:r>
                      <a:endParaRPr lang="es-ES" sz="15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100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100</a:t>
                      </a:r>
                      <a:endParaRPr lang="es-E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8504">
                <a:tc>
                  <a:txBody>
                    <a:bodyPr/>
                    <a:lstStyle/>
                    <a:p>
                      <a:pPr lvl="1" algn="l"/>
                      <a:r>
                        <a:rPr lang="es-ES_tradnl" sz="1500" dirty="0"/>
                        <a:t>Mat. Oficina</a:t>
                      </a:r>
                      <a:endParaRPr lang="es-ES" sz="15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50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50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50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50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50</a:t>
                      </a:r>
                      <a:endParaRPr lang="es-E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50</a:t>
                      </a:r>
                      <a:endParaRPr lang="es-E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1736">
                <a:tc>
                  <a:txBody>
                    <a:bodyPr/>
                    <a:lstStyle/>
                    <a:p>
                      <a:pPr algn="l"/>
                      <a:r>
                        <a:rPr lang="es-ES_tradnl" sz="1500" b="1" dirty="0"/>
                        <a:t>Saldo final mes:</a:t>
                      </a:r>
                      <a:endParaRPr lang="es-ES" sz="15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10.220</a:t>
                      </a:r>
                      <a:endParaRPr lang="es-E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10.440</a:t>
                      </a:r>
                      <a:endParaRPr lang="es-E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11.660</a:t>
                      </a:r>
                      <a:endParaRPr lang="es-E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12.880</a:t>
                      </a:r>
                      <a:endParaRPr lang="es-E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15.100</a:t>
                      </a:r>
                      <a:endParaRPr lang="es-ES" sz="1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sz="1500" dirty="0"/>
                        <a:t>17.320</a:t>
                      </a:r>
                      <a:endParaRPr lang="es-ES" sz="15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898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23 CuadroTexto">
            <a:hlinkClick r:id="rId2" action="ppaction://hlinksldjump"/>
            <a:extLst>
              <a:ext uri="{FF2B5EF4-FFF2-40B4-BE49-F238E27FC236}">
                <a16:creationId xmlns:a16="http://schemas.microsoft.com/office/drawing/2014/main" id="{2574C653-4AB5-44E8-A864-CF5C32224285}"/>
              </a:ext>
            </a:extLst>
          </p:cNvPr>
          <p:cNvSpPr txBox="1"/>
          <p:nvPr/>
        </p:nvSpPr>
        <p:spPr>
          <a:xfrm>
            <a:off x="1326449" y="1916832"/>
            <a:ext cx="64911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i="1" dirty="0">
                <a:solidFill>
                  <a:schemeClr val="tx1"/>
                </a:solidFill>
                <a:sym typeface="Wingdings" panose="05000000000000000000" pitchFamily="2" charset="2"/>
              </a:rPr>
              <a:t>ESQUEMA PLAN DE TESORERÍA </a:t>
            </a:r>
            <a:r>
              <a:rPr lang="es-ES_tradnl" dirty="0">
                <a:solidFill>
                  <a:schemeClr val="tx1"/>
                </a:solidFill>
                <a:sym typeface="Wingdings" panose="05000000000000000000" pitchFamily="2" charset="2"/>
              </a:rPr>
              <a:t>(anual)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3" name="22 CuadroTexto">
            <a:extLst>
              <a:ext uri="{FF2B5EF4-FFF2-40B4-BE49-F238E27FC236}">
                <a16:creationId xmlns:a16="http://schemas.microsoft.com/office/drawing/2014/main" id="{8F95B5C2-26B7-405F-B8D7-9F27819FE76C}"/>
              </a:ext>
            </a:extLst>
          </p:cNvPr>
          <p:cNvSpPr txBox="1"/>
          <p:nvPr/>
        </p:nvSpPr>
        <p:spPr>
          <a:xfrm>
            <a:off x="1131022" y="2413337"/>
            <a:ext cx="68819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/>
              <a:t>El plan de tesorería se hace siempre anual (12 meses) en el ejemplo anterior solo se realizó por 6 meses por motivos de espacio.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/>
              <a:t>La amortización no hay que anotarla porque no supone una salida de efectivo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/>
              <a:t>Hay gastos que solo se anotan cada cierto tiempo (primas de seguro, pago IVA,…)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/>
              <a:t>Recomendable dejar una partida para imprevistos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88334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>
            <a:extLst>
              <a:ext uri="{FF2B5EF4-FFF2-40B4-BE49-F238E27FC236}">
                <a16:creationId xmlns:a16="http://schemas.microsoft.com/office/drawing/2014/main" id="{1B0BC156-D8F0-441B-BBF2-8A6D9EEDD39E}"/>
              </a:ext>
            </a:extLst>
          </p:cNvPr>
          <p:cNvSpPr txBox="1">
            <a:spLocks/>
          </p:cNvSpPr>
          <p:nvPr/>
        </p:nvSpPr>
        <p:spPr>
          <a:xfrm>
            <a:off x="127246" y="0"/>
            <a:ext cx="8811339" cy="691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b="1" dirty="0">
                <a:latin typeface="+mn-lt"/>
              </a:rPr>
              <a:t>5. El análisis del balance</a:t>
            </a:r>
          </a:p>
        </p:txBody>
      </p:sp>
      <p:sp>
        <p:nvSpPr>
          <p:cNvPr id="6" name="4 CuadroTexto">
            <a:extLst>
              <a:ext uri="{FF2B5EF4-FFF2-40B4-BE49-F238E27FC236}">
                <a16:creationId xmlns:a16="http://schemas.microsoft.com/office/drawing/2014/main" id="{24776D83-08DD-4D11-851C-3F25EBE60719}"/>
              </a:ext>
            </a:extLst>
          </p:cNvPr>
          <p:cNvSpPr txBox="1"/>
          <p:nvPr/>
        </p:nvSpPr>
        <p:spPr>
          <a:xfrm>
            <a:off x="241598" y="909123"/>
            <a:ext cx="8520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_tradnl" dirty="0"/>
              <a:t>Las finanzas se dedican a realizar los estudios detallados y analizar la información de la contabilidad financiera (balance de situación y cuenta de resultados)</a:t>
            </a:r>
          </a:p>
        </p:txBody>
      </p:sp>
      <p:sp>
        <p:nvSpPr>
          <p:cNvPr id="7" name="14 CuadroTexto">
            <a:extLst>
              <a:ext uri="{FF2B5EF4-FFF2-40B4-BE49-F238E27FC236}">
                <a16:creationId xmlns:a16="http://schemas.microsoft.com/office/drawing/2014/main" id="{57A04E7C-C7FD-4806-B060-7EADE27BC5C8}"/>
              </a:ext>
            </a:extLst>
          </p:cNvPr>
          <p:cNvSpPr txBox="1"/>
          <p:nvPr/>
        </p:nvSpPr>
        <p:spPr>
          <a:xfrm>
            <a:off x="304213" y="1588898"/>
            <a:ext cx="4587489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A. Representación gráfica del balance en %</a:t>
            </a:r>
            <a:endParaRPr lang="es-ES" b="1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3DF8502A-0CE7-4FAF-B9F1-F926F891A6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601378"/>
              </p:ext>
            </p:extLst>
          </p:nvPr>
        </p:nvGraphicFramePr>
        <p:xfrm>
          <a:off x="746146" y="2420888"/>
          <a:ext cx="3800263" cy="3502171"/>
        </p:xfrm>
        <a:graphic>
          <a:graphicData uri="http://schemas.openxmlformats.org/drawingml/2006/table">
            <a:tbl>
              <a:tblPr firstRow="1" firstCol="1" bandRow="1"/>
              <a:tblGrid>
                <a:gridCol w="1784039">
                  <a:extLst>
                    <a:ext uri="{9D8B030D-6E8A-4147-A177-3AD203B41FA5}">
                      <a16:colId xmlns:a16="http://schemas.microsoft.com/office/drawing/2014/main" val="105383917"/>
                    </a:ext>
                  </a:extLst>
                </a:gridCol>
                <a:gridCol w="242359">
                  <a:extLst>
                    <a:ext uri="{9D8B030D-6E8A-4147-A177-3AD203B41FA5}">
                      <a16:colId xmlns:a16="http://schemas.microsoft.com/office/drawing/2014/main" val="2554642541"/>
                    </a:ext>
                  </a:extLst>
                </a:gridCol>
                <a:gridCol w="837923">
                  <a:extLst>
                    <a:ext uri="{9D8B030D-6E8A-4147-A177-3AD203B41FA5}">
                      <a16:colId xmlns:a16="http://schemas.microsoft.com/office/drawing/2014/main" val="3788242394"/>
                    </a:ext>
                  </a:extLst>
                </a:gridCol>
                <a:gridCol w="935942">
                  <a:extLst>
                    <a:ext uri="{9D8B030D-6E8A-4147-A177-3AD203B41FA5}">
                      <a16:colId xmlns:a16="http://schemas.microsoft.com/office/drawing/2014/main" val="3203379718"/>
                    </a:ext>
                  </a:extLst>
                </a:gridCol>
              </a:tblGrid>
              <a:tr h="1224706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ES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Mobiliario 5.000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ES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Herramientas 2.000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ES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Ordenadores 800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ES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Programas informáticos 100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ES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Vehículos 10.000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ES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Instalaciones 6.000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200" b="1" dirty="0"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2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ACTIVO NO CORRIENTE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2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23.900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s-ES" sz="12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(28%)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8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100554"/>
                  </a:ext>
                </a:extLst>
              </a:tr>
              <a:tr h="11907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Existencias 15.000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2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ACTIVO CORRIENTE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2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60.100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2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(72%)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61438"/>
                  </a:ext>
                </a:extLst>
              </a:tr>
              <a:tr h="41969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ES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Mercaderías 15.000 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860205"/>
                  </a:ext>
                </a:extLst>
              </a:tr>
              <a:tr h="47558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ES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Clientes 100</a:t>
                      </a:r>
                      <a:endParaRPr lang="es-ES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ES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IVA Soportado 8.000</a:t>
                      </a:r>
                      <a:endParaRPr lang="es-ES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Realizable 8.100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182890"/>
                  </a:ext>
                </a:extLst>
              </a:tr>
              <a:tr h="77338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ES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Bancos 35.000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ES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Caja 2.000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Disponible 37.000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033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s-ES" sz="1200" b="1" dirty="0"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2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 ACTIVO</a:t>
                      </a:r>
                      <a:r>
                        <a:rPr lang="es-ES" sz="14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84.000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8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611334"/>
                  </a:ext>
                </a:extLst>
              </a:tr>
            </a:tbl>
          </a:graphicData>
        </a:graphic>
      </p:graphicFrame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F7AD58F5-A6EC-40A3-91C6-39160A1E86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108991"/>
              </p:ext>
            </p:extLst>
          </p:nvPr>
        </p:nvGraphicFramePr>
        <p:xfrm>
          <a:off x="4845837" y="2420888"/>
          <a:ext cx="3500120" cy="3369949"/>
        </p:xfrm>
        <a:graphic>
          <a:graphicData uri="http://schemas.openxmlformats.org/drawingml/2006/table">
            <a:tbl>
              <a:tblPr firstRow="1" firstCol="1" bandRow="1"/>
              <a:tblGrid>
                <a:gridCol w="1610360">
                  <a:extLst>
                    <a:ext uri="{9D8B030D-6E8A-4147-A177-3AD203B41FA5}">
                      <a16:colId xmlns:a16="http://schemas.microsoft.com/office/drawing/2014/main" val="6878143"/>
                    </a:ext>
                  </a:extLst>
                </a:gridCol>
                <a:gridCol w="369570">
                  <a:extLst>
                    <a:ext uri="{9D8B030D-6E8A-4147-A177-3AD203B41FA5}">
                      <a16:colId xmlns:a16="http://schemas.microsoft.com/office/drawing/2014/main" val="2954432928"/>
                    </a:ext>
                  </a:extLst>
                </a:gridCol>
                <a:gridCol w="1520190">
                  <a:extLst>
                    <a:ext uri="{9D8B030D-6E8A-4147-A177-3AD203B41FA5}">
                      <a16:colId xmlns:a16="http://schemas.microsoft.com/office/drawing/2014/main" val="817401840"/>
                    </a:ext>
                  </a:extLst>
                </a:gridCol>
              </a:tblGrid>
              <a:tr h="131822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600"/>
                        </a:spcAft>
                      </a:pPr>
                      <a:r>
                        <a:rPr lang="es-ES" sz="12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s-ES" sz="12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ATRIMONIO NETO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600"/>
                        </a:spcAft>
                      </a:pPr>
                      <a:r>
                        <a:rPr lang="es-ES" sz="12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38.000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600"/>
                        </a:spcAft>
                      </a:pPr>
                      <a:r>
                        <a:rPr lang="es-ES" sz="12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(45%)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5911"/>
                    </a:solidFill>
                  </a:tcPr>
                </a:tc>
                <a:tc rowSpan="7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600"/>
                        </a:spcAft>
                      </a:pPr>
                      <a:r>
                        <a:rPr lang="es-ES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600"/>
                        </a:spcAft>
                      </a:pPr>
                      <a:r>
                        <a:rPr lang="es-ES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Capital 18.000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600"/>
                        </a:spcAft>
                      </a:pPr>
                      <a:r>
                        <a:rPr lang="es-ES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Beneficio 20.000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24590"/>
                  </a:ext>
                </a:extLst>
              </a:tr>
              <a:tr h="219975">
                <a:tc v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600"/>
                        </a:spcAft>
                      </a:pP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600"/>
                        </a:spcAft>
                      </a:pPr>
                      <a:r>
                        <a:rPr lang="es-ES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Préstamo banco a 4 años 15.000 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843603"/>
                  </a:ext>
                </a:extLst>
              </a:tr>
              <a:tr h="39824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600"/>
                        </a:spcAft>
                      </a:pPr>
                      <a:r>
                        <a:rPr lang="es-ES" sz="12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PASIVO NO CORRIENTE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600"/>
                        </a:spcAft>
                      </a:pPr>
                      <a:r>
                        <a:rPr lang="es-ES" sz="12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15.000 (18%)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183571"/>
                  </a:ext>
                </a:extLst>
              </a:tr>
              <a:tr h="103786">
                <a:tc v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600"/>
                        </a:spcAft>
                      </a:pP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600"/>
                        </a:spcAft>
                      </a:pPr>
                      <a:r>
                        <a:rPr lang="es-ES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Crédito a 6 meses 5.000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600"/>
                        </a:spcAft>
                      </a:pPr>
                      <a:r>
                        <a:rPr lang="es-ES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Proveedores 10.000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600"/>
                        </a:spcAft>
                      </a:pPr>
                      <a:r>
                        <a:rPr lang="es-ES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IVA Repercutido ventas 6.000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859024"/>
                  </a:ext>
                </a:extLst>
              </a:tr>
              <a:tr h="9965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600"/>
                        </a:spcAft>
                      </a:pPr>
                      <a:r>
                        <a:rPr lang="es-ES" sz="12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PASIVO CORRIENTE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600"/>
                        </a:spcAft>
                      </a:pPr>
                      <a:r>
                        <a:rPr lang="es-ES" sz="12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31.000 (37%)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0924"/>
                  </a:ext>
                </a:extLst>
              </a:tr>
              <a:tr h="2586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600"/>
                        </a:spcAft>
                      </a:pPr>
                      <a:r>
                        <a:rPr lang="es-ES" sz="12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 PASIVO </a:t>
                      </a:r>
                      <a:r>
                        <a:rPr lang="es-ES" sz="14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84.000</a:t>
                      </a:r>
                      <a:endParaRPr lang="es-E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591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723818"/>
                  </a:ext>
                </a:extLst>
              </a:tr>
              <a:tr h="260405">
                <a:tc v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600"/>
                        </a:spcAft>
                      </a:pP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591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600"/>
                        </a:spcAft>
                      </a:pPr>
                      <a:r>
                        <a:rPr lang="es-ES" sz="1200" dirty="0"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55444701"/>
                  </a:ext>
                </a:extLst>
              </a:tr>
            </a:tbl>
          </a:graphicData>
        </a:graphic>
      </p:graphicFrame>
      <p:sp>
        <p:nvSpPr>
          <p:cNvPr id="13" name="Rectángulo 12">
            <a:extLst>
              <a:ext uri="{FF2B5EF4-FFF2-40B4-BE49-F238E27FC236}">
                <a16:creationId xmlns:a16="http://schemas.microsoft.com/office/drawing/2014/main" id="{AD224194-87A0-45A3-B7AD-883B0DD54B4B}"/>
              </a:ext>
            </a:extLst>
          </p:cNvPr>
          <p:cNvSpPr/>
          <p:nvPr/>
        </p:nvSpPr>
        <p:spPr>
          <a:xfrm rot="16200000">
            <a:off x="-737113" y="3897738"/>
            <a:ext cx="2597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b="1" dirty="0">
                <a:latin typeface="Arial Narrow" panose="020B0606020202030204" pitchFamily="34" charset="0"/>
                <a:sym typeface="Wingdings" panose="05000000000000000000" pitchFamily="2" charset="2"/>
              </a:rPr>
              <a:t>De menor a mayor liquidez</a:t>
            </a:r>
            <a:endParaRPr lang="es-ES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17AE42A-3A33-4991-A312-81665C409D51}"/>
              </a:ext>
            </a:extLst>
          </p:cNvPr>
          <p:cNvSpPr/>
          <p:nvPr/>
        </p:nvSpPr>
        <p:spPr>
          <a:xfrm rot="5400000">
            <a:off x="7108486" y="3775940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b="1" dirty="0">
                <a:latin typeface="Arial Narrow" panose="020B0606020202030204" pitchFamily="34" charset="0"/>
                <a:sym typeface="Wingdings" panose="05000000000000000000" pitchFamily="2" charset="2"/>
              </a:rPr>
              <a:t>De menor a mayor exigibilidad</a:t>
            </a:r>
            <a:endParaRPr lang="es-E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B88FE0F-465A-48AA-AE7F-B36DF6CD9787}"/>
              </a:ext>
            </a:extLst>
          </p:cNvPr>
          <p:cNvSpPr txBox="1"/>
          <p:nvPr/>
        </p:nvSpPr>
        <p:spPr>
          <a:xfrm>
            <a:off x="561478" y="6062551"/>
            <a:ext cx="8199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/>
              <a:t>Se dibuja el balance ordenado por masas patrimoniales y calculamos la parte proporcional de cada masa.</a:t>
            </a:r>
          </a:p>
        </p:txBody>
      </p:sp>
    </p:spTree>
    <p:extLst>
      <p:ext uri="{BB962C8B-B14F-4D97-AF65-F5344CB8AC3E}">
        <p14:creationId xmlns:p14="http://schemas.microsoft.com/office/powerpoint/2010/main" val="3549230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CuadroTexto">
            <a:extLst>
              <a:ext uri="{FF2B5EF4-FFF2-40B4-BE49-F238E27FC236}">
                <a16:creationId xmlns:a16="http://schemas.microsoft.com/office/drawing/2014/main" id="{7EAE763F-BBED-4102-854A-55C431A31F41}"/>
              </a:ext>
            </a:extLst>
          </p:cNvPr>
          <p:cNvSpPr txBox="1"/>
          <p:nvPr/>
        </p:nvSpPr>
        <p:spPr>
          <a:xfrm>
            <a:off x="299979" y="908720"/>
            <a:ext cx="3611983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b="1" dirty="0"/>
              <a:t>B. Fondo de Maniobra</a:t>
            </a:r>
            <a:endParaRPr lang="es-ES" b="1" dirty="0"/>
          </a:p>
        </p:txBody>
      </p:sp>
      <p:sp>
        <p:nvSpPr>
          <p:cNvPr id="10" name="12 CuadroTexto">
            <a:extLst>
              <a:ext uri="{FF2B5EF4-FFF2-40B4-BE49-F238E27FC236}">
                <a16:creationId xmlns:a16="http://schemas.microsoft.com/office/drawing/2014/main" id="{B5635C52-D740-40C4-A919-5FF1B8B4E8EB}"/>
              </a:ext>
            </a:extLst>
          </p:cNvPr>
          <p:cNvSpPr txBox="1"/>
          <p:nvPr/>
        </p:nvSpPr>
        <p:spPr>
          <a:xfrm>
            <a:off x="282030" y="1497322"/>
            <a:ext cx="8511257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dirty="0">
                <a:sym typeface="Wingdings" panose="05000000000000000000" pitchFamily="2" charset="2"/>
              </a:rPr>
              <a:t>Fondo de Maniobra sirve para </a:t>
            </a:r>
            <a:r>
              <a:rPr lang="es-ES_tradnl" b="1" i="1" dirty="0">
                <a:sym typeface="Wingdings" panose="05000000000000000000" pitchFamily="2" charset="2"/>
              </a:rPr>
              <a:t>prevenir la suspensión de pagos: </a:t>
            </a:r>
            <a:r>
              <a:rPr lang="es-ES_tradnl" dirty="0">
                <a:sym typeface="Wingdings" panose="05000000000000000000" pitchFamily="2" charset="2"/>
              </a:rPr>
              <a:t>¿Hay suficiente activo corriente para pagar las deudas a corto plazo (pasivo corriente)?</a:t>
            </a:r>
            <a:endParaRPr lang="es-ES" dirty="0"/>
          </a:p>
        </p:txBody>
      </p:sp>
      <p:sp>
        <p:nvSpPr>
          <p:cNvPr id="13" name="2 CuadroTexto">
            <a:extLst>
              <a:ext uri="{FF2B5EF4-FFF2-40B4-BE49-F238E27FC236}">
                <a16:creationId xmlns:a16="http://schemas.microsoft.com/office/drawing/2014/main" id="{AF7AA0E1-ECD1-477D-85A4-9001DDC96312}"/>
              </a:ext>
            </a:extLst>
          </p:cNvPr>
          <p:cNvSpPr txBox="1"/>
          <p:nvPr/>
        </p:nvSpPr>
        <p:spPr>
          <a:xfrm>
            <a:off x="282030" y="2379691"/>
            <a:ext cx="8511257" cy="256993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sym typeface="Wingdings" panose="05000000000000000000" pitchFamily="2" charset="2"/>
              </a:rPr>
              <a:t>¿Cómo se calcula el fondo de maniobra?</a:t>
            </a:r>
          </a:p>
          <a:p>
            <a:pPr algn="ctr"/>
            <a:endParaRPr lang="es-ES_tradnl" sz="1000" b="1" dirty="0">
              <a:sym typeface="Wingdings" panose="05000000000000000000" pitchFamily="2" charset="2"/>
            </a:endParaRPr>
          </a:p>
          <a:p>
            <a:pPr algn="ctr"/>
            <a:r>
              <a:rPr lang="es-ES_tradnl" b="1" dirty="0">
                <a:sym typeface="Wingdings" panose="05000000000000000000" pitchFamily="2" charset="2"/>
              </a:rPr>
              <a:t>Fondo de Maniobra = AC – PC= </a:t>
            </a:r>
          </a:p>
          <a:p>
            <a:pPr algn="ctr"/>
            <a:r>
              <a:rPr lang="es-ES_tradnl" b="1" dirty="0">
                <a:sym typeface="Wingdings" panose="05000000000000000000" pitchFamily="2" charset="2"/>
              </a:rPr>
              <a:t>Fondo de Maniobra= (Existencias + Realizable + Disponible ) – Pasivo Corriente</a:t>
            </a:r>
          </a:p>
          <a:p>
            <a:pPr algn="ctr"/>
            <a:endParaRPr lang="es-ES_tradnl" sz="600" b="1" dirty="0">
              <a:sym typeface="Wingdings" panose="05000000000000000000" pitchFamily="2" charset="2"/>
            </a:endParaRPr>
          </a:p>
          <a:p>
            <a:pPr algn="ctr"/>
            <a:r>
              <a:rPr lang="es-ES_tradnl" dirty="0">
                <a:sym typeface="Wingdings" panose="05000000000000000000" pitchFamily="2" charset="2"/>
              </a:rPr>
              <a:t>Otra manera de definirlo sería como la parte del </a:t>
            </a:r>
            <a:r>
              <a:rPr lang="es-ES_tradnl" b="1" dirty="0">
                <a:sym typeface="Wingdings" panose="05000000000000000000" pitchFamily="2" charset="2"/>
              </a:rPr>
              <a:t>Activo Corriente </a:t>
            </a:r>
            <a:r>
              <a:rPr lang="es-ES_tradnl" dirty="0">
                <a:sym typeface="Wingdings" panose="05000000000000000000" pitchFamily="2" charset="2"/>
              </a:rPr>
              <a:t>que excede del </a:t>
            </a:r>
            <a:r>
              <a:rPr lang="es-ES_tradnl" b="1" dirty="0">
                <a:sym typeface="Wingdings" panose="05000000000000000000" pitchFamily="2" charset="2"/>
              </a:rPr>
              <a:t>Pasivo Corriente</a:t>
            </a:r>
          </a:p>
          <a:p>
            <a:pPr algn="ctr"/>
            <a:endParaRPr lang="es-ES_tradnl" sz="1000" b="1" dirty="0"/>
          </a:p>
          <a:p>
            <a:pPr algn="ctr"/>
            <a:r>
              <a:rPr lang="es-ES_tradnl" b="1" dirty="0"/>
              <a:t>Ejemplo anterior:</a:t>
            </a:r>
          </a:p>
          <a:p>
            <a:pPr algn="ctr"/>
            <a:endParaRPr lang="es-ES_tradnl" sz="900" b="1" dirty="0"/>
          </a:p>
          <a:p>
            <a:pPr algn="ctr"/>
            <a:r>
              <a:rPr lang="es-ES_tradnl" b="1" dirty="0"/>
              <a:t>Fondo de Maniobra = </a:t>
            </a:r>
            <a:r>
              <a:rPr lang="es-ES_tradnl" dirty="0"/>
              <a:t>(15.000 + 8.100 + 37.100) – 31.000 </a:t>
            </a:r>
            <a:r>
              <a:rPr lang="es-ES_tradnl" b="1" dirty="0"/>
              <a:t>= 29.200 euros</a:t>
            </a:r>
            <a:endParaRPr lang="es-ES" b="1" dirty="0"/>
          </a:p>
        </p:txBody>
      </p:sp>
      <p:sp>
        <p:nvSpPr>
          <p:cNvPr id="16" name="13 CuadroTexto">
            <a:extLst>
              <a:ext uri="{FF2B5EF4-FFF2-40B4-BE49-F238E27FC236}">
                <a16:creationId xmlns:a16="http://schemas.microsoft.com/office/drawing/2014/main" id="{6BE42378-D4D8-4E7F-90A5-BEB469067D2D}"/>
              </a:ext>
            </a:extLst>
          </p:cNvPr>
          <p:cNvSpPr txBox="1"/>
          <p:nvPr/>
        </p:nvSpPr>
        <p:spPr>
          <a:xfrm>
            <a:off x="299979" y="5326358"/>
            <a:ext cx="8544041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ES_tradnl" b="1" dirty="0">
                <a:sym typeface="Wingdings" panose="05000000000000000000" pitchFamily="2" charset="2"/>
              </a:rPr>
              <a:t>Fondo de Maniobra = Activo corriente – Pasivo Corriente </a:t>
            </a:r>
            <a:r>
              <a:rPr lang="es-ES_tradnl" dirty="0">
                <a:sym typeface="Wingdings" panose="05000000000000000000" pitchFamily="2" charset="2"/>
              </a:rPr>
              <a:t> es mayor que 0 la empresa no tendrá problemas de liquidez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42732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CuadroTexto">
            <a:extLst>
              <a:ext uri="{FF2B5EF4-FFF2-40B4-BE49-F238E27FC236}">
                <a16:creationId xmlns:a16="http://schemas.microsoft.com/office/drawing/2014/main" id="{7EAE763F-BBED-4102-854A-55C431A31F41}"/>
              </a:ext>
            </a:extLst>
          </p:cNvPr>
          <p:cNvSpPr txBox="1"/>
          <p:nvPr/>
        </p:nvSpPr>
        <p:spPr>
          <a:xfrm>
            <a:off x="272543" y="930337"/>
            <a:ext cx="3611983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C. Ratios</a:t>
            </a:r>
            <a:endParaRPr lang="es-ES" b="1" dirty="0"/>
          </a:p>
        </p:txBody>
      </p:sp>
      <p:sp>
        <p:nvSpPr>
          <p:cNvPr id="11" name="14 CuadroTexto">
            <a:extLst>
              <a:ext uri="{FF2B5EF4-FFF2-40B4-BE49-F238E27FC236}">
                <a16:creationId xmlns:a16="http://schemas.microsoft.com/office/drawing/2014/main" id="{1A82C475-4B6B-4B4F-8D0B-3E32C8731EC3}"/>
              </a:ext>
            </a:extLst>
          </p:cNvPr>
          <p:cNvSpPr txBox="1"/>
          <p:nvPr/>
        </p:nvSpPr>
        <p:spPr>
          <a:xfrm>
            <a:off x="311628" y="1697545"/>
            <a:ext cx="8520744" cy="223073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_tradnl" b="1" dirty="0">
                <a:sym typeface="Wingdings" panose="05000000000000000000" pitchFamily="2" charset="2"/>
              </a:rPr>
              <a:t>Ratio de liquidez = Activo Corriente / Pasivo corriente  </a:t>
            </a:r>
            <a:r>
              <a:rPr lang="es-ES_tradnl" dirty="0">
                <a:sym typeface="Wingdings" panose="05000000000000000000" pitchFamily="2" charset="2"/>
              </a:rPr>
              <a:t>entre 2 y 1, muy relacionado con el fondo de maniobra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_tradnl" b="1" dirty="0">
                <a:sym typeface="Wingdings" panose="05000000000000000000" pitchFamily="2" charset="2"/>
              </a:rPr>
              <a:t>Ratio de endeudamiento = Pasivo / (Pasivo + Patrimonio Neto)  </a:t>
            </a:r>
            <a:r>
              <a:rPr lang="es-ES_tradnl" dirty="0">
                <a:sym typeface="Wingdings" panose="05000000000000000000" pitchFamily="2" charset="2"/>
              </a:rPr>
              <a:t>nunca debería ser superior a 0,6. Que parte de la financiación que tiene la empresa es externa a ella.</a:t>
            </a:r>
            <a:endParaRPr lang="es-ES" dirty="0"/>
          </a:p>
        </p:txBody>
      </p:sp>
      <p:sp>
        <p:nvSpPr>
          <p:cNvPr id="17" name="15 CuadroTexto">
            <a:extLst>
              <a:ext uri="{FF2B5EF4-FFF2-40B4-BE49-F238E27FC236}">
                <a16:creationId xmlns:a16="http://schemas.microsoft.com/office/drawing/2014/main" id="{02089E93-BCC6-4BA4-A1FA-B5D0704C7FBD}"/>
              </a:ext>
            </a:extLst>
          </p:cNvPr>
          <p:cNvSpPr txBox="1"/>
          <p:nvPr/>
        </p:nvSpPr>
        <p:spPr>
          <a:xfrm>
            <a:off x="306905" y="4354871"/>
            <a:ext cx="8530189" cy="92333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sym typeface="Wingdings" panose="05000000000000000000" pitchFamily="2" charset="2"/>
              </a:rPr>
              <a:t>Ejemplo:</a:t>
            </a:r>
          </a:p>
          <a:p>
            <a:pPr algn="ctr"/>
            <a:r>
              <a:rPr lang="es-ES_tradnl" dirty="0">
                <a:sym typeface="Wingdings" panose="05000000000000000000" pitchFamily="2" charset="2"/>
              </a:rPr>
              <a:t>Ratio de liquidez = Activo Corriente / Pasivo corriente = 60.100 / 31.000 = 1,94</a:t>
            </a:r>
          </a:p>
          <a:p>
            <a:pPr algn="ctr"/>
            <a:r>
              <a:rPr lang="es-ES_tradnl" dirty="0">
                <a:sym typeface="Wingdings" panose="05000000000000000000" pitchFamily="2" charset="2"/>
              </a:rPr>
              <a:t>Ratio de endeudamiento = Pasivo / (Pasivo + Patrimonio Neto) = 46.000/84.000 = 0,55</a:t>
            </a:r>
            <a:endParaRPr lang="es-ES" dirty="0"/>
          </a:p>
        </p:txBody>
      </p:sp>
      <p:sp>
        <p:nvSpPr>
          <p:cNvPr id="18" name="9 CuadroTexto">
            <a:hlinkClick r:id="rId2" action="ppaction://hlinksldjump"/>
            <a:extLst>
              <a:ext uri="{FF2B5EF4-FFF2-40B4-BE49-F238E27FC236}">
                <a16:creationId xmlns:a16="http://schemas.microsoft.com/office/drawing/2014/main" id="{B8ECA36B-B9FD-4C7D-985B-826BC073F1AB}"/>
              </a:ext>
            </a:extLst>
          </p:cNvPr>
          <p:cNvSpPr txBox="1"/>
          <p:nvPr/>
        </p:nvSpPr>
        <p:spPr>
          <a:xfrm>
            <a:off x="3923927" y="6196264"/>
            <a:ext cx="129614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ES_tradnl" b="1" dirty="0"/>
              <a:t>Actividades</a:t>
            </a:r>
            <a:endParaRPr lang="es-ES" b="1" dirty="0"/>
          </a:p>
        </p:txBody>
      </p:sp>
      <p:pic>
        <p:nvPicPr>
          <p:cNvPr id="19" name="10 Imagen">
            <a:extLst>
              <a:ext uri="{FF2B5EF4-FFF2-40B4-BE49-F238E27FC236}">
                <a16:creationId xmlns:a16="http://schemas.microsoft.com/office/drawing/2014/main" id="{5B5DE03F-05C3-49C8-8AB3-50CE25D972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550694" y="6262693"/>
            <a:ext cx="287793" cy="36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4472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3279</TotalTime>
  <Words>1481</Words>
  <Application>Microsoft Office PowerPoint</Application>
  <PresentationFormat>Presentación en pantalla (4:3)</PresentationFormat>
  <Paragraphs>308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Arial</vt:lpstr>
      <vt:lpstr>Arial Narrow</vt:lpstr>
      <vt:lpstr>Calibri</vt:lpstr>
      <vt:lpstr>Calibri Light</vt:lpstr>
      <vt:lpstr>Times New Roman</vt:lpstr>
      <vt:lpstr>Wingdings</vt:lpstr>
      <vt:lpstr>Tema de Office</vt:lpstr>
      <vt:lpstr>Presentación de PowerPoint</vt:lpstr>
      <vt:lpstr>CONTENIDOS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TONI</dc:creator>
  <cp:lastModifiedBy>Usuario</cp:lastModifiedBy>
  <cp:revision>434</cp:revision>
  <dcterms:created xsi:type="dcterms:W3CDTF">2013-09-12T06:29:10Z</dcterms:created>
  <dcterms:modified xsi:type="dcterms:W3CDTF">2026-03-02T17:57:46Z</dcterms:modified>
</cp:coreProperties>
</file>