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4126" r:id="rId1"/>
  </p:sldMasterIdLst>
  <p:notesMasterIdLst>
    <p:notesMasterId r:id="rId23"/>
  </p:notesMasterIdLst>
  <p:sldIdLst>
    <p:sldId id="256" r:id="rId2"/>
    <p:sldId id="257" r:id="rId3"/>
    <p:sldId id="258" r:id="rId4"/>
    <p:sldId id="260" r:id="rId5"/>
    <p:sldId id="284" r:id="rId6"/>
    <p:sldId id="287" r:id="rId7"/>
    <p:sldId id="289" r:id="rId8"/>
    <p:sldId id="288" r:id="rId9"/>
    <p:sldId id="290" r:id="rId10"/>
    <p:sldId id="263" r:id="rId11"/>
    <p:sldId id="285" r:id="rId12"/>
    <p:sldId id="271" r:id="rId13"/>
    <p:sldId id="291" r:id="rId14"/>
    <p:sldId id="292" r:id="rId15"/>
    <p:sldId id="274" r:id="rId16"/>
    <p:sldId id="286" r:id="rId17"/>
    <p:sldId id="275" r:id="rId18"/>
    <p:sldId id="296" r:id="rId19"/>
    <p:sldId id="297" r:id="rId20"/>
    <p:sldId id="299" r:id="rId21"/>
    <p:sldId id="298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C2FFA5D-87B4-456A-9821-1D502468CF0F}" styleName="Estilo temático 1 - Énfasis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Estilo medio 1 - Énfasis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CF1AB2-1976-4502-BF36-3FF5EA218861}" styleName="Estilo medio 4 - Énfasis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282"/>
    <p:restoredTop sz="94650"/>
  </p:normalViewPr>
  <p:slideViewPr>
    <p:cSldViewPr>
      <p:cViewPr varScale="1">
        <p:scale>
          <a:sx n="106" d="100"/>
          <a:sy n="106" d="100"/>
        </p:scale>
        <p:origin x="1704" y="48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A4313F4-DAA4-459B-8A03-DBE39B60D915}" type="doc">
      <dgm:prSet loTypeId="urn:microsoft.com/office/officeart/2005/8/layout/radial5" loCatId="cycle" qsTypeId="urn:microsoft.com/office/officeart/2005/8/quickstyle/3d3" qsCatId="3D" csTypeId="urn:microsoft.com/office/officeart/2005/8/colors/accent5_2" csCatId="accent5" phldr="1"/>
      <dgm:spPr/>
      <dgm:t>
        <a:bodyPr/>
        <a:lstStyle/>
        <a:p>
          <a:endParaRPr lang="es-ES"/>
        </a:p>
      </dgm:t>
    </dgm:pt>
    <dgm:pt modelId="{9318EFD2-1DB6-440F-B0EF-5DB17BE0A816}">
      <dgm:prSet phldrT="[Texto]" custT="1"/>
      <dgm:spPr>
        <a:solidFill>
          <a:schemeClr val="bg1"/>
        </a:solidFill>
        <a:ln w="50800">
          <a:solidFill>
            <a:schemeClr val="tx2">
              <a:lumMod val="60000"/>
              <a:lumOff val="40000"/>
            </a:schemeClr>
          </a:solidFill>
        </a:ln>
      </dgm:spPr>
      <dgm:t>
        <a:bodyPr/>
        <a:lstStyle/>
        <a:p>
          <a:r>
            <a:rPr lang="es-ES_tradnl" sz="1800" b="1" dirty="0">
              <a:solidFill>
                <a:schemeClr val="tx2"/>
              </a:solidFill>
            </a:rPr>
            <a:t>Formas de ser innovador</a:t>
          </a:r>
          <a:endParaRPr lang="es-ES" sz="1800" b="1" dirty="0">
            <a:solidFill>
              <a:schemeClr val="tx2"/>
            </a:solidFill>
          </a:endParaRPr>
        </a:p>
      </dgm:t>
    </dgm:pt>
    <dgm:pt modelId="{E811E5AC-A0CF-4B91-AAF2-6F672B1C5219}" type="parTrans" cxnId="{4E4B3E20-11E9-42F6-A190-68CC6AD0BF18}">
      <dgm:prSet/>
      <dgm:spPr/>
      <dgm:t>
        <a:bodyPr/>
        <a:lstStyle/>
        <a:p>
          <a:endParaRPr lang="es-ES"/>
        </a:p>
      </dgm:t>
    </dgm:pt>
    <dgm:pt modelId="{D87E8B55-2F5A-400F-9ECD-9340C6B53A2E}" type="sibTrans" cxnId="{4E4B3E20-11E9-42F6-A190-68CC6AD0BF18}">
      <dgm:prSet/>
      <dgm:spPr/>
      <dgm:t>
        <a:bodyPr/>
        <a:lstStyle/>
        <a:p>
          <a:endParaRPr lang="es-ES"/>
        </a:p>
      </dgm:t>
    </dgm:pt>
    <dgm:pt modelId="{84C53427-92C6-4571-A2F4-C218F3DCF5E9}">
      <dgm:prSet phldrT="[Texto]" custT="1"/>
      <dgm:spPr>
        <a:solidFill>
          <a:schemeClr val="tx2">
            <a:lumMod val="40000"/>
            <a:lumOff val="60000"/>
          </a:schemeClr>
        </a:solidFill>
        <a:ln w="28575">
          <a:solidFill>
            <a:schemeClr val="tx2">
              <a:lumMod val="60000"/>
              <a:lumOff val="40000"/>
            </a:schemeClr>
          </a:solidFill>
        </a:ln>
      </dgm:spPr>
      <dgm:t>
        <a:bodyPr/>
        <a:lstStyle/>
        <a:p>
          <a:r>
            <a:rPr lang="es-ES_tradnl" sz="1600" b="1" dirty="0">
              <a:solidFill>
                <a:schemeClr val="tx1"/>
              </a:solidFill>
            </a:rPr>
            <a:t>Nuevo producto </a:t>
          </a:r>
          <a:r>
            <a:rPr lang="es-ES_tradnl" sz="1200" b="1" dirty="0">
              <a:solidFill>
                <a:schemeClr val="tx1"/>
              </a:solidFill>
            </a:rPr>
            <a:t>(</a:t>
          </a:r>
          <a:r>
            <a:rPr lang="es-ES_tradnl" sz="1600" b="1" dirty="0">
              <a:solidFill>
                <a:schemeClr val="tx1"/>
              </a:solidFill>
            </a:rPr>
            <a:t>Chupa-</a:t>
          </a:r>
          <a:r>
            <a:rPr lang="es-ES_tradnl" sz="1600" b="1" dirty="0" err="1">
              <a:solidFill>
                <a:schemeClr val="tx1"/>
              </a:solidFill>
            </a:rPr>
            <a:t>chups</a:t>
          </a:r>
          <a:r>
            <a:rPr lang="es-ES_tradnl" sz="1600" b="1" dirty="0">
              <a:solidFill>
                <a:schemeClr val="tx1"/>
              </a:solidFill>
            </a:rPr>
            <a:t>, yogur helado)</a:t>
          </a:r>
          <a:endParaRPr lang="es-ES" sz="1600" b="1" dirty="0">
            <a:solidFill>
              <a:schemeClr val="tx1"/>
            </a:solidFill>
          </a:endParaRPr>
        </a:p>
      </dgm:t>
    </dgm:pt>
    <dgm:pt modelId="{70B6EB85-9A1D-4D0F-B634-67D74F2552AC}" type="parTrans" cxnId="{19179263-F891-44BD-9A78-3C7D4B6EC102}">
      <dgm:prSet/>
      <dgm:spPr/>
      <dgm:t>
        <a:bodyPr/>
        <a:lstStyle/>
        <a:p>
          <a:endParaRPr lang="es-ES" dirty="0"/>
        </a:p>
      </dgm:t>
    </dgm:pt>
    <dgm:pt modelId="{605E4F3B-1D1D-44A5-ACFF-8D5E7288937A}" type="sibTrans" cxnId="{19179263-F891-44BD-9A78-3C7D4B6EC102}">
      <dgm:prSet/>
      <dgm:spPr/>
      <dgm:t>
        <a:bodyPr/>
        <a:lstStyle/>
        <a:p>
          <a:endParaRPr lang="es-ES"/>
        </a:p>
      </dgm:t>
    </dgm:pt>
    <dgm:pt modelId="{824448D9-8B30-4AB7-8B48-C892551F4A08}">
      <dgm:prSet phldrT="[Texto]" custT="1"/>
      <dgm:spPr>
        <a:solidFill>
          <a:schemeClr val="tx2">
            <a:lumMod val="40000"/>
            <a:lumOff val="60000"/>
          </a:schemeClr>
        </a:solidFill>
        <a:ln w="28575">
          <a:solidFill>
            <a:schemeClr val="tx2">
              <a:lumMod val="60000"/>
              <a:lumOff val="40000"/>
            </a:schemeClr>
          </a:solidFill>
        </a:ln>
      </dgm:spPr>
      <dgm:t>
        <a:bodyPr/>
        <a:lstStyle/>
        <a:p>
          <a:r>
            <a:rPr lang="es-ES_tradnl" sz="1600" b="1" dirty="0">
              <a:solidFill>
                <a:schemeClr val="tx1"/>
              </a:solidFill>
            </a:rPr>
            <a:t>Nuevo mercado o cliente (galletas sin gluten)</a:t>
          </a:r>
          <a:endParaRPr lang="es-ES" sz="1600" b="1" dirty="0">
            <a:solidFill>
              <a:schemeClr val="tx1"/>
            </a:solidFill>
          </a:endParaRPr>
        </a:p>
      </dgm:t>
    </dgm:pt>
    <dgm:pt modelId="{372D2E2F-18A2-430C-9224-92D6B0500D89}" type="parTrans" cxnId="{3D1FAF57-5524-419D-8442-4E9DA428E0EE}">
      <dgm:prSet/>
      <dgm:spPr/>
      <dgm:t>
        <a:bodyPr/>
        <a:lstStyle/>
        <a:p>
          <a:endParaRPr lang="es-ES" dirty="0"/>
        </a:p>
      </dgm:t>
    </dgm:pt>
    <dgm:pt modelId="{5F14B63F-2788-4CAF-80EF-F707377BD692}" type="sibTrans" cxnId="{3D1FAF57-5524-419D-8442-4E9DA428E0EE}">
      <dgm:prSet/>
      <dgm:spPr/>
      <dgm:t>
        <a:bodyPr/>
        <a:lstStyle/>
        <a:p>
          <a:endParaRPr lang="es-ES"/>
        </a:p>
      </dgm:t>
    </dgm:pt>
    <dgm:pt modelId="{2FD267C8-F167-4A6C-848B-2064C2E5D39A}">
      <dgm:prSet phldrT="[Texto]" custT="1"/>
      <dgm:spPr>
        <a:solidFill>
          <a:schemeClr val="tx2">
            <a:lumMod val="40000"/>
            <a:lumOff val="60000"/>
          </a:schemeClr>
        </a:solidFill>
        <a:ln w="28575">
          <a:solidFill>
            <a:schemeClr val="tx2">
              <a:lumMod val="60000"/>
              <a:lumOff val="40000"/>
            </a:schemeClr>
          </a:solidFill>
        </a:ln>
      </dgm:spPr>
      <dgm:t>
        <a:bodyPr/>
        <a:lstStyle/>
        <a:p>
          <a:r>
            <a:rPr lang="es-ES_tradnl" sz="1600" b="1" dirty="0">
              <a:solidFill>
                <a:schemeClr val="tx1"/>
              </a:solidFill>
            </a:rPr>
            <a:t>Aprovisionamiento (proveedor mercado exterior)</a:t>
          </a:r>
          <a:endParaRPr lang="es-ES" sz="1600" b="1" dirty="0">
            <a:solidFill>
              <a:schemeClr val="tx1"/>
            </a:solidFill>
          </a:endParaRPr>
        </a:p>
      </dgm:t>
    </dgm:pt>
    <dgm:pt modelId="{AAC471A1-D872-4563-B6CA-71DBF9EA8A05}" type="parTrans" cxnId="{8EBF6D34-C1DE-433E-B294-A8700DA63EF5}">
      <dgm:prSet/>
      <dgm:spPr/>
      <dgm:t>
        <a:bodyPr/>
        <a:lstStyle/>
        <a:p>
          <a:endParaRPr lang="es-ES" dirty="0"/>
        </a:p>
      </dgm:t>
    </dgm:pt>
    <dgm:pt modelId="{302B0CC3-D146-4AEF-BE66-77958820BF89}" type="sibTrans" cxnId="{8EBF6D34-C1DE-433E-B294-A8700DA63EF5}">
      <dgm:prSet/>
      <dgm:spPr/>
      <dgm:t>
        <a:bodyPr/>
        <a:lstStyle/>
        <a:p>
          <a:endParaRPr lang="es-ES"/>
        </a:p>
      </dgm:t>
    </dgm:pt>
    <dgm:pt modelId="{EC3558A1-C684-4874-8A32-2692B0FC8AB8}">
      <dgm:prSet phldrT="[Texto]" custT="1"/>
      <dgm:spPr>
        <a:solidFill>
          <a:schemeClr val="tx2">
            <a:lumMod val="40000"/>
            <a:lumOff val="60000"/>
          </a:schemeClr>
        </a:solidFill>
        <a:ln w="28575">
          <a:solidFill>
            <a:schemeClr val="tx2">
              <a:lumMod val="60000"/>
              <a:lumOff val="40000"/>
            </a:schemeClr>
          </a:solidFill>
        </a:ln>
      </dgm:spPr>
      <dgm:t>
        <a:bodyPr/>
        <a:lstStyle/>
        <a:p>
          <a:r>
            <a:rPr lang="es-ES_tradnl" sz="1600" b="1" dirty="0">
              <a:solidFill>
                <a:schemeClr val="tx1"/>
              </a:solidFill>
            </a:rPr>
            <a:t>Manera de producir u ofrecer un servicio (Amazon)</a:t>
          </a:r>
          <a:endParaRPr lang="es-ES" sz="1600" b="1" dirty="0">
            <a:solidFill>
              <a:schemeClr val="tx1"/>
            </a:solidFill>
          </a:endParaRPr>
        </a:p>
      </dgm:t>
    </dgm:pt>
    <dgm:pt modelId="{90987457-943B-449E-8A88-D92A062EA528}" type="parTrans" cxnId="{DA929AE3-FB78-46EE-A517-851F5020D1E7}">
      <dgm:prSet/>
      <dgm:spPr/>
      <dgm:t>
        <a:bodyPr/>
        <a:lstStyle/>
        <a:p>
          <a:endParaRPr lang="es-ES" dirty="0"/>
        </a:p>
      </dgm:t>
    </dgm:pt>
    <dgm:pt modelId="{B7A8BFF6-1F26-439B-83CB-428CD9F51FA2}" type="sibTrans" cxnId="{DA929AE3-FB78-46EE-A517-851F5020D1E7}">
      <dgm:prSet/>
      <dgm:spPr/>
      <dgm:t>
        <a:bodyPr/>
        <a:lstStyle/>
        <a:p>
          <a:endParaRPr lang="es-ES"/>
        </a:p>
      </dgm:t>
    </dgm:pt>
    <dgm:pt modelId="{7D357E71-8A37-491E-AE5D-9754D5C2F1D8}">
      <dgm:prSet phldrT="[Texto]" custT="1"/>
      <dgm:spPr>
        <a:solidFill>
          <a:schemeClr val="tx2">
            <a:lumMod val="40000"/>
            <a:lumOff val="60000"/>
          </a:schemeClr>
        </a:solidFill>
        <a:ln w="28575">
          <a:solidFill>
            <a:schemeClr val="tx2">
              <a:lumMod val="60000"/>
              <a:lumOff val="40000"/>
            </a:schemeClr>
          </a:solidFill>
        </a:ln>
      </dgm:spPr>
      <dgm:t>
        <a:bodyPr/>
        <a:lstStyle/>
        <a:p>
          <a:r>
            <a:rPr lang="es-ES_tradnl" sz="1600" b="1" dirty="0">
              <a:solidFill>
                <a:schemeClr val="tx1"/>
              </a:solidFill>
            </a:rPr>
            <a:t>Organización (Google)</a:t>
          </a:r>
          <a:endParaRPr lang="es-ES" sz="1600" b="1" dirty="0">
            <a:solidFill>
              <a:schemeClr val="tx1"/>
            </a:solidFill>
          </a:endParaRPr>
        </a:p>
      </dgm:t>
    </dgm:pt>
    <dgm:pt modelId="{3EB9622B-1AAB-496D-A627-88765FCA2234}" type="parTrans" cxnId="{E31CFDA3-08A3-4A48-B937-999FBB15B0FA}">
      <dgm:prSet/>
      <dgm:spPr/>
      <dgm:t>
        <a:bodyPr/>
        <a:lstStyle/>
        <a:p>
          <a:endParaRPr lang="es-ES" dirty="0"/>
        </a:p>
      </dgm:t>
    </dgm:pt>
    <dgm:pt modelId="{9649767B-52C6-401A-8313-149C811A4113}" type="sibTrans" cxnId="{E31CFDA3-08A3-4A48-B937-999FBB15B0FA}">
      <dgm:prSet/>
      <dgm:spPr/>
      <dgm:t>
        <a:bodyPr/>
        <a:lstStyle/>
        <a:p>
          <a:endParaRPr lang="es-ES"/>
        </a:p>
      </dgm:t>
    </dgm:pt>
    <dgm:pt modelId="{D03DD5B8-6BE4-4395-8064-FD6356F22C0A}" type="pres">
      <dgm:prSet presAssocID="{5A4313F4-DAA4-459B-8A03-DBE39B60D915}" presName="Name0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445531D8-F154-411E-9ED0-2AE7C737A14B}" type="pres">
      <dgm:prSet presAssocID="{9318EFD2-1DB6-440F-B0EF-5DB17BE0A816}" presName="centerShape" presStyleLbl="node0" presStyleIdx="0" presStyleCnt="1" custScaleX="235332" custScaleY="194898" custLinFactNeighborX="4474" custLinFactNeighborY="21127"/>
      <dgm:spPr/>
    </dgm:pt>
    <dgm:pt modelId="{F23226D8-A23D-4BF6-8104-7EBF527E944B}" type="pres">
      <dgm:prSet presAssocID="{70B6EB85-9A1D-4D0F-B634-67D74F2552AC}" presName="parTrans" presStyleLbl="sibTrans2D1" presStyleIdx="0" presStyleCnt="5"/>
      <dgm:spPr/>
    </dgm:pt>
    <dgm:pt modelId="{39E5700E-73B3-4CA9-BCFF-BC4413990143}" type="pres">
      <dgm:prSet presAssocID="{70B6EB85-9A1D-4D0F-B634-67D74F2552AC}" presName="connectorText" presStyleLbl="sibTrans2D1" presStyleIdx="0" presStyleCnt="5"/>
      <dgm:spPr/>
    </dgm:pt>
    <dgm:pt modelId="{94B41B34-4EBE-469B-A3B9-1925DA3FF967}" type="pres">
      <dgm:prSet presAssocID="{84C53427-92C6-4571-A2F4-C218F3DCF5E9}" presName="node" presStyleLbl="node1" presStyleIdx="0" presStyleCnt="5" custScaleX="238877" custScaleY="126793" custRadScaleRad="97823" custRadScaleInc="15850">
        <dgm:presLayoutVars>
          <dgm:bulletEnabled val="1"/>
        </dgm:presLayoutVars>
      </dgm:prSet>
      <dgm:spPr/>
    </dgm:pt>
    <dgm:pt modelId="{2D0AEFDB-80C0-4885-B25F-07986C1372F2}" type="pres">
      <dgm:prSet presAssocID="{372D2E2F-18A2-430C-9224-92D6B0500D89}" presName="parTrans" presStyleLbl="sibTrans2D1" presStyleIdx="1" presStyleCnt="5" custLinFactNeighborX="-49441" custLinFactNeighborY="-58136"/>
      <dgm:spPr/>
    </dgm:pt>
    <dgm:pt modelId="{C8709A6D-2507-4798-B574-D784E74A1C97}" type="pres">
      <dgm:prSet presAssocID="{372D2E2F-18A2-430C-9224-92D6B0500D89}" presName="connectorText" presStyleLbl="sibTrans2D1" presStyleIdx="1" presStyleCnt="5"/>
      <dgm:spPr/>
    </dgm:pt>
    <dgm:pt modelId="{585DBC20-F233-4AEC-972F-00D74CBE8411}" type="pres">
      <dgm:prSet presAssocID="{824448D9-8B30-4AB7-8B48-C892551F4A08}" presName="node" presStyleLbl="node1" presStyleIdx="1" presStyleCnt="5" custScaleX="284287" custScaleY="86710" custRadScaleRad="215735" custRadScaleInc="7241">
        <dgm:presLayoutVars>
          <dgm:bulletEnabled val="1"/>
        </dgm:presLayoutVars>
      </dgm:prSet>
      <dgm:spPr/>
    </dgm:pt>
    <dgm:pt modelId="{02F16408-EB06-4FB1-AAEA-D64FCB48B78E}" type="pres">
      <dgm:prSet presAssocID="{AAC471A1-D872-4563-B6CA-71DBF9EA8A05}" presName="parTrans" presStyleLbl="sibTrans2D1" presStyleIdx="2" presStyleCnt="5"/>
      <dgm:spPr/>
    </dgm:pt>
    <dgm:pt modelId="{0B397C64-ADDB-4051-BB85-E585C299077D}" type="pres">
      <dgm:prSet presAssocID="{AAC471A1-D872-4563-B6CA-71DBF9EA8A05}" presName="connectorText" presStyleLbl="sibTrans2D1" presStyleIdx="2" presStyleCnt="5"/>
      <dgm:spPr/>
    </dgm:pt>
    <dgm:pt modelId="{D0AA25A0-C905-472D-9B93-E990CFBFE660}" type="pres">
      <dgm:prSet presAssocID="{2FD267C8-F167-4A6C-848B-2064C2E5D39A}" presName="node" presStyleLbl="node1" presStyleIdx="2" presStyleCnt="5" custScaleX="237323" custScaleY="75079" custRadScaleRad="235771" custRadScaleInc="-111717">
        <dgm:presLayoutVars>
          <dgm:bulletEnabled val="1"/>
        </dgm:presLayoutVars>
      </dgm:prSet>
      <dgm:spPr/>
    </dgm:pt>
    <dgm:pt modelId="{EFC7F385-E404-45EE-AF69-E3EC7538E43A}" type="pres">
      <dgm:prSet presAssocID="{90987457-943B-449E-8A88-D92A062EA528}" presName="parTrans" presStyleLbl="sibTrans2D1" presStyleIdx="3" presStyleCnt="5"/>
      <dgm:spPr/>
    </dgm:pt>
    <dgm:pt modelId="{62CFEB3A-8660-4912-8E1D-382BEBB444DD}" type="pres">
      <dgm:prSet presAssocID="{90987457-943B-449E-8A88-D92A062EA528}" presName="connectorText" presStyleLbl="sibTrans2D1" presStyleIdx="3" presStyleCnt="5"/>
      <dgm:spPr/>
    </dgm:pt>
    <dgm:pt modelId="{452BA5D5-AAD0-4256-889B-E651C9015722}" type="pres">
      <dgm:prSet presAssocID="{EC3558A1-C684-4874-8A32-2692B0FC8AB8}" presName="node" presStyleLbl="node1" presStyleIdx="3" presStyleCnt="5" custScaleX="208131" custScaleY="121242" custRadScaleRad="222971" custRadScaleInc="105152">
        <dgm:presLayoutVars>
          <dgm:bulletEnabled val="1"/>
        </dgm:presLayoutVars>
      </dgm:prSet>
      <dgm:spPr/>
    </dgm:pt>
    <dgm:pt modelId="{0FB02EBC-94A6-4B7B-B032-8C047AAC8248}" type="pres">
      <dgm:prSet presAssocID="{3EB9622B-1AAB-496D-A627-88765FCA2234}" presName="parTrans" presStyleLbl="sibTrans2D1" presStyleIdx="4" presStyleCnt="5"/>
      <dgm:spPr/>
    </dgm:pt>
    <dgm:pt modelId="{014E8E44-633D-4A40-AF42-36272C2277AD}" type="pres">
      <dgm:prSet presAssocID="{3EB9622B-1AAB-496D-A627-88765FCA2234}" presName="connectorText" presStyleLbl="sibTrans2D1" presStyleIdx="4" presStyleCnt="5"/>
      <dgm:spPr/>
    </dgm:pt>
    <dgm:pt modelId="{CD0E537A-3F19-4EB2-86F3-FB12E3C4E0E3}" type="pres">
      <dgm:prSet presAssocID="{7D357E71-8A37-491E-AE5D-9754D5C2F1D8}" presName="node" presStyleLbl="node1" presStyleIdx="4" presStyleCnt="5" custScaleX="231123" custScaleY="97682" custRadScaleRad="182485" custRadScaleInc="9389">
        <dgm:presLayoutVars>
          <dgm:bulletEnabled val="1"/>
        </dgm:presLayoutVars>
      </dgm:prSet>
      <dgm:spPr/>
    </dgm:pt>
  </dgm:ptLst>
  <dgm:cxnLst>
    <dgm:cxn modelId="{696C5902-9C61-45E8-A710-0FE581DF0A16}" type="presOf" srcId="{372D2E2F-18A2-430C-9224-92D6B0500D89}" destId="{2D0AEFDB-80C0-4885-B25F-07986C1372F2}" srcOrd="0" destOrd="0" presId="urn:microsoft.com/office/officeart/2005/8/layout/radial5"/>
    <dgm:cxn modelId="{AF487607-0419-476A-A815-9113D58F645B}" type="presOf" srcId="{5A4313F4-DAA4-459B-8A03-DBE39B60D915}" destId="{D03DD5B8-6BE4-4395-8064-FD6356F22C0A}" srcOrd="0" destOrd="0" presId="urn:microsoft.com/office/officeart/2005/8/layout/radial5"/>
    <dgm:cxn modelId="{C0635609-4D48-44C0-9902-F7FAE44E305E}" type="presOf" srcId="{9318EFD2-1DB6-440F-B0EF-5DB17BE0A816}" destId="{445531D8-F154-411E-9ED0-2AE7C737A14B}" srcOrd="0" destOrd="0" presId="urn:microsoft.com/office/officeart/2005/8/layout/radial5"/>
    <dgm:cxn modelId="{CA6A7B12-303A-4DF2-903A-9BF054FAD9C9}" type="presOf" srcId="{EC3558A1-C684-4874-8A32-2692B0FC8AB8}" destId="{452BA5D5-AAD0-4256-889B-E651C9015722}" srcOrd="0" destOrd="0" presId="urn:microsoft.com/office/officeart/2005/8/layout/radial5"/>
    <dgm:cxn modelId="{4E4B3E20-11E9-42F6-A190-68CC6AD0BF18}" srcId="{5A4313F4-DAA4-459B-8A03-DBE39B60D915}" destId="{9318EFD2-1DB6-440F-B0EF-5DB17BE0A816}" srcOrd="0" destOrd="0" parTransId="{E811E5AC-A0CF-4B91-AAF2-6F672B1C5219}" sibTransId="{D87E8B55-2F5A-400F-9ECD-9340C6B53A2E}"/>
    <dgm:cxn modelId="{8EBF6D34-C1DE-433E-B294-A8700DA63EF5}" srcId="{9318EFD2-1DB6-440F-B0EF-5DB17BE0A816}" destId="{2FD267C8-F167-4A6C-848B-2064C2E5D39A}" srcOrd="2" destOrd="0" parTransId="{AAC471A1-D872-4563-B6CA-71DBF9EA8A05}" sibTransId="{302B0CC3-D146-4AEF-BE66-77958820BF89}"/>
    <dgm:cxn modelId="{7526843D-E2EA-4AFA-8268-319F0B67E2BD}" type="presOf" srcId="{90987457-943B-449E-8A88-D92A062EA528}" destId="{62CFEB3A-8660-4912-8E1D-382BEBB444DD}" srcOrd="1" destOrd="0" presId="urn:microsoft.com/office/officeart/2005/8/layout/radial5"/>
    <dgm:cxn modelId="{F16B3349-CC83-4C74-BB99-B94BA6150C3E}" type="presOf" srcId="{3EB9622B-1AAB-496D-A627-88765FCA2234}" destId="{014E8E44-633D-4A40-AF42-36272C2277AD}" srcOrd="1" destOrd="0" presId="urn:microsoft.com/office/officeart/2005/8/layout/radial5"/>
    <dgm:cxn modelId="{DCC95450-3B46-4B6A-A5D9-C8B54E2DF6B4}" type="presOf" srcId="{AAC471A1-D872-4563-B6CA-71DBF9EA8A05}" destId="{02F16408-EB06-4FB1-AAEA-D64FCB48B78E}" srcOrd="0" destOrd="0" presId="urn:microsoft.com/office/officeart/2005/8/layout/radial5"/>
    <dgm:cxn modelId="{3D1FAF57-5524-419D-8442-4E9DA428E0EE}" srcId="{9318EFD2-1DB6-440F-B0EF-5DB17BE0A816}" destId="{824448D9-8B30-4AB7-8B48-C892551F4A08}" srcOrd="1" destOrd="0" parTransId="{372D2E2F-18A2-430C-9224-92D6B0500D89}" sibTransId="{5F14B63F-2788-4CAF-80EF-F707377BD692}"/>
    <dgm:cxn modelId="{101A1458-5AA4-4F34-B37D-F8E2BFAD2874}" type="presOf" srcId="{84C53427-92C6-4571-A2F4-C218F3DCF5E9}" destId="{94B41B34-4EBE-469B-A3B9-1925DA3FF967}" srcOrd="0" destOrd="0" presId="urn:microsoft.com/office/officeart/2005/8/layout/radial5"/>
    <dgm:cxn modelId="{19179263-F891-44BD-9A78-3C7D4B6EC102}" srcId="{9318EFD2-1DB6-440F-B0EF-5DB17BE0A816}" destId="{84C53427-92C6-4571-A2F4-C218F3DCF5E9}" srcOrd="0" destOrd="0" parTransId="{70B6EB85-9A1D-4D0F-B634-67D74F2552AC}" sibTransId="{605E4F3B-1D1D-44A5-ACFF-8D5E7288937A}"/>
    <dgm:cxn modelId="{80C1CB90-0589-458D-9B20-A19016395764}" type="presOf" srcId="{7D357E71-8A37-491E-AE5D-9754D5C2F1D8}" destId="{CD0E537A-3F19-4EB2-86F3-FB12E3C4E0E3}" srcOrd="0" destOrd="0" presId="urn:microsoft.com/office/officeart/2005/8/layout/radial5"/>
    <dgm:cxn modelId="{E7294995-8839-4E33-B18A-569FEF95D8A3}" type="presOf" srcId="{372D2E2F-18A2-430C-9224-92D6B0500D89}" destId="{C8709A6D-2507-4798-B574-D784E74A1C97}" srcOrd="1" destOrd="0" presId="urn:microsoft.com/office/officeart/2005/8/layout/radial5"/>
    <dgm:cxn modelId="{08B3549C-84CE-4850-B69C-1ED9A1A37F1B}" type="presOf" srcId="{70B6EB85-9A1D-4D0F-B634-67D74F2552AC}" destId="{F23226D8-A23D-4BF6-8104-7EBF527E944B}" srcOrd="0" destOrd="0" presId="urn:microsoft.com/office/officeart/2005/8/layout/radial5"/>
    <dgm:cxn modelId="{3A136A9D-B95C-4FBB-9FE6-D5B9F4952721}" type="presOf" srcId="{70B6EB85-9A1D-4D0F-B634-67D74F2552AC}" destId="{39E5700E-73B3-4CA9-BCFF-BC4413990143}" srcOrd="1" destOrd="0" presId="urn:microsoft.com/office/officeart/2005/8/layout/radial5"/>
    <dgm:cxn modelId="{E31CFDA3-08A3-4A48-B937-999FBB15B0FA}" srcId="{9318EFD2-1DB6-440F-B0EF-5DB17BE0A816}" destId="{7D357E71-8A37-491E-AE5D-9754D5C2F1D8}" srcOrd="4" destOrd="0" parTransId="{3EB9622B-1AAB-496D-A627-88765FCA2234}" sibTransId="{9649767B-52C6-401A-8313-149C811A4113}"/>
    <dgm:cxn modelId="{725393A4-9233-4700-B7FB-4E4488F3EFD8}" type="presOf" srcId="{2FD267C8-F167-4A6C-848B-2064C2E5D39A}" destId="{D0AA25A0-C905-472D-9B93-E990CFBFE660}" srcOrd="0" destOrd="0" presId="urn:microsoft.com/office/officeart/2005/8/layout/radial5"/>
    <dgm:cxn modelId="{CC4CC7BA-B6BF-4E08-A7BA-938EEB2E6EA2}" type="presOf" srcId="{824448D9-8B30-4AB7-8B48-C892551F4A08}" destId="{585DBC20-F233-4AEC-972F-00D74CBE8411}" srcOrd="0" destOrd="0" presId="urn:microsoft.com/office/officeart/2005/8/layout/radial5"/>
    <dgm:cxn modelId="{652D72BF-6F1E-4B35-8FD8-31CB92CB876D}" type="presOf" srcId="{AAC471A1-D872-4563-B6CA-71DBF9EA8A05}" destId="{0B397C64-ADDB-4051-BB85-E585C299077D}" srcOrd="1" destOrd="0" presId="urn:microsoft.com/office/officeart/2005/8/layout/radial5"/>
    <dgm:cxn modelId="{34BFFDCD-BCE5-467B-8E8D-3B5E2A171094}" type="presOf" srcId="{3EB9622B-1AAB-496D-A627-88765FCA2234}" destId="{0FB02EBC-94A6-4B7B-B032-8C047AAC8248}" srcOrd="0" destOrd="0" presId="urn:microsoft.com/office/officeart/2005/8/layout/radial5"/>
    <dgm:cxn modelId="{5C5A07D5-5C2F-429D-AE50-ADE2D708C751}" type="presOf" srcId="{90987457-943B-449E-8A88-D92A062EA528}" destId="{EFC7F385-E404-45EE-AF69-E3EC7538E43A}" srcOrd="0" destOrd="0" presId="urn:microsoft.com/office/officeart/2005/8/layout/radial5"/>
    <dgm:cxn modelId="{DA929AE3-FB78-46EE-A517-851F5020D1E7}" srcId="{9318EFD2-1DB6-440F-B0EF-5DB17BE0A816}" destId="{EC3558A1-C684-4874-8A32-2692B0FC8AB8}" srcOrd="3" destOrd="0" parTransId="{90987457-943B-449E-8A88-D92A062EA528}" sibTransId="{B7A8BFF6-1F26-439B-83CB-428CD9F51FA2}"/>
    <dgm:cxn modelId="{45936FCB-F18A-41BE-84CA-D88147D64952}" type="presParOf" srcId="{D03DD5B8-6BE4-4395-8064-FD6356F22C0A}" destId="{445531D8-F154-411E-9ED0-2AE7C737A14B}" srcOrd="0" destOrd="0" presId="urn:microsoft.com/office/officeart/2005/8/layout/radial5"/>
    <dgm:cxn modelId="{3DD69635-0C74-43AA-AD92-14F9C745C0F0}" type="presParOf" srcId="{D03DD5B8-6BE4-4395-8064-FD6356F22C0A}" destId="{F23226D8-A23D-4BF6-8104-7EBF527E944B}" srcOrd="1" destOrd="0" presId="urn:microsoft.com/office/officeart/2005/8/layout/radial5"/>
    <dgm:cxn modelId="{8D905FA3-48CD-412E-8421-F7726359AA2E}" type="presParOf" srcId="{F23226D8-A23D-4BF6-8104-7EBF527E944B}" destId="{39E5700E-73B3-4CA9-BCFF-BC4413990143}" srcOrd="0" destOrd="0" presId="urn:microsoft.com/office/officeart/2005/8/layout/radial5"/>
    <dgm:cxn modelId="{3AB45789-AA63-47CA-A67E-B5D9AB6285E4}" type="presParOf" srcId="{D03DD5B8-6BE4-4395-8064-FD6356F22C0A}" destId="{94B41B34-4EBE-469B-A3B9-1925DA3FF967}" srcOrd="2" destOrd="0" presId="urn:microsoft.com/office/officeart/2005/8/layout/radial5"/>
    <dgm:cxn modelId="{00A60AFB-05BA-48EE-865E-4CCF7C8DA06D}" type="presParOf" srcId="{D03DD5B8-6BE4-4395-8064-FD6356F22C0A}" destId="{2D0AEFDB-80C0-4885-B25F-07986C1372F2}" srcOrd="3" destOrd="0" presId="urn:microsoft.com/office/officeart/2005/8/layout/radial5"/>
    <dgm:cxn modelId="{6834846D-B15B-4B66-897A-5069CAD5DA24}" type="presParOf" srcId="{2D0AEFDB-80C0-4885-B25F-07986C1372F2}" destId="{C8709A6D-2507-4798-B574-D784E74A1C97}" srcOrd="0" destOrd="0" presId="urn:microsoft.com/office/officeart/2005/8/layout/radial5"/>
    <dgm:cxn modelId="{1793EB44-CB0F-4DB4-BE77-DEF8C7390EE2}" type="presParOf" srcId="{D03DD5B8-6BE4-4395-8064-FD6356F22C0A}" destId="{585DBC20-F233-4AEC-972F-00D74CBE8411}" srcOrd="4" destOrd="0" presId="urn:microsoft.com/office/officeart/2005/8/layout/radial5"/>
    <dgm:cxn modelId="{17528B90-5D0E-4EAF-9F77-E1E555369CE3}" type="presParOf" srcId="{D03DD5B8-6BE4-4395-8064-FD6356F22C0A}" destId="{02F16408-EB06-4FB1-AAEA-D64FCB48B78E}" srcOrd="5" destOrd="0" presId="urn:microsoft.com/office/officeart/2005/8/layout/radial5"/>
    <dgm:cxn modelId="{713D8BB9-846A-4D63-A234-09E7A9CA8702}" type="presParOf" srcId="{02F16408-EB06-4FB1-AAEA-D64FCB48B78E}" destId="{0B397C64-ADDB-4051-BB85-E585C299077D}" srcOrd="0" destOrd="0" presId="urn:microsoft.com/office/officeart/2005/8/layout/radial5"/>
    <dgm:cxn modelId="{274E89C3-1893-42E6-91BB-F43A79C214C7}" type="presParOf" srcId="{D03DD5B8-6BE4-4395-8064-FD6356F22C0A}" destId="{D0AA25A0-C905-472D-9B93-E990CFBFE660}" srcOrd="6" destOrd="0" presId="urn:microsoft.com/office/officeart/2005/8/layout/radial5"/>
    <dgm:cxn modelId="{480E1C0D-1E6A-4A13-8709-017D95EAB673}" type="presParOf" srcId="{D03DD5B8-6BE4-4395-8064-FD6356F22C0A}" destId="{EFC7F385-E404-45EE-AF69-E3EC7538E43A}" srcOrd="7" destOrd="0" presId="urn:microsoft.com/office/officeart/2005/8/layout/radial5"/>
    <dgm:cxn modelId="{9F670009-9637-423B-8AFD-17B58480B917}" type="presParOf" srcId="{EFC7F385-E404-45EE-AF69-E3EC7538E43A}" destId="{62CFEB3A-8660-4912-8E1D-382BEBB444DD}" srcOrd="0" destOrd="0" presId="urn:microsoft.com/office/officeart/2005/8/layout/radial5"/>
    <dgm:cxn modelId="{363B73F3-2086-4A06-A6E5-49BD1AD5D510}" type="presParOf" srcId="{D03DD5B8-6BE4-4395-8064-FD6356F22C0A}" destId="{452BA5D5-AAD0-4256-889B-E651C9015722}" srcOrd="8" destOrd="0" presId="urn:microsoft.com/office/officeart/2005/8/layout/radial5"/>
    <dgm:cxn modelId="{74360419-7882-47EE-A3FA-2BCA17E4B300}" type="presParOf" srcId="{D03DD5B8-6BE4-4395-8064-FD6356F22C0A}" destId="{0FB02EBC-94A6-4B7B-B032-8C047AAC8248}" srcOrd="9" destOrd="0" presId="urn:microsoft.com/office/officeart/2005/8/layout/radial5"/>
    <dgm:cxn modelId="{03D8BF08-A960-41A8-A6C5-40AECCB46A2E}" type="presParOf" srcId="{0FB02EBC-94A6-4B7B-B032-8C047AAC8248}" destId="{014E8E44-633D-4A40-AF42-36272C2277AD}" srcOrd="0" destOrd="0" presId="urn:microsoft.com/office/officeart/2005/8/layout/radial5"/>
    <dgm:cxn modelId="{563D97E8-2ACB-4796-9AD7-A3ECE42AC4D8}" type="presParOf" srcId="{D03DD5B8-6BE4-4395-8064-FD6356F22C0A}" destId="{CD0E537A-3F19-4EB2-86F3-FB12E3C4E0E3}" srcOrd="10" destOrd="0" presId="urn:microsoft.com/office/officeart/2005/8/layout/radial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97A05A3-14D9-44A5-B768-02F08550772E}" type="doc">
      <dgm:prSet loTypeId="urn:microsoft.com/office/officeart/2005/8/layout/radial6" loCatId="cycle" qsTypeId="urn:microsoft.com/office/officeart/2005/8/quickstyle/3d3" qsCatId="3D" csTypeId="urn:microsoft.com/office/officeart/2005/8/colors/accent1_2" csCatId="accent1" phldr="1"/>
      <dgm:spPr/>
      <dgm:t>
        <a:bodyPr/>
        <a:lstStyle/>
        <a:p>
          <a:endParaRPr lang="es-ES"/>
        </a:p>
      </dgm:t>
    </dgm:pt>
    <dgm:pt modelId="{ED2B4624-7341-43E5-B4B2-09A70E7847B3}">
      <dgm:prSet phldrT="[Texto]" custT="1"/>
      <dgm:spPr>
        <a:solidFill>
          <a:schemeClr val="accent3"/>
        </a:solidFill>
        <a:ln w="28575">
          <a:solidFill>
            <a:srgbClr val="00B050"/>
          </a:solidFill>
        </a:ln>
      </dgm:spPr>
      <dgm:t>
        <a:bodyPr/>
        <a:lstStyle/>
        <a:p>
          <a:r>
            <a:rPr lang="es-ES_tradnl" sz="2400" b="1" dirty="0"/>
            <a:t>Características</a:t>
          </a:r>
        </a:p>
        <a:p>
          <a:r>
            <a:rPr lang="es-ES_tradnl" sz="2400" b="1" dirty="0"/>
            <a:t>personales</a:t>
          </a:r>
        </a:p>
      </dgm:t>
    </dgm:pt>
    <dgm:pt modelId="{B5847ABE-AF46-483D-BCB2-95A0C15A9DB6}" type="parTrans" cxnId="{7150E0E6-08C4-4382-A9AB-091C87EB90E5}">
      <dgm:prSet/>
      <dgm:spPr/>
      <dgm:t>
        <a:bodyPr/>
        <a:lstStyle/>
        <a:p>
          <a:endParaRPr lang="es-ES"/>
        </a:p>
      </dgm:t>
    </dgm:pt>
    <dgm:pt modelId="{8EEDBB42-9CFE-4006-9F30-B7728819F50E}" type="sibTrans" cxnId="{7150E0E6-08C4-4382-A9AB-091C87EB90E5}">
      <dgm:prSet/>
      <dgm:spPr/>
      <dgm:t>
        <a:bodyPr/>
        <a:lstStyle/>
        <a:p>
          <a:endParaRPr lang="es-ES"/>
        </a:p>
      </dgm:t>
    </dgm:pt>
    <dgm:pt modelId="{D758309E-D140-4A16-9EEA-1DC825F03F4D}">
      <dgm:prSet phldrT="[Texto]" custT="1"/>
      <dgm:spPr>
        <a:solidFill>
          <a:schemeClr val="tx2">
            <a:lumMod val="40000"/>
            <a:lumOff val="60000"/>
          </a:schemeClr>
        </a:solidFill>
      </dgm:spPr>
      <dgm:t>
        <a:bodyPr/>
        <a:lstStyle/>
        <a:p>
          <a:r>
            <a:rPr lang="es-ES_tradnl" sz="2000" b="1" dirty="0">
              <a:solidFill>
                <a:schemeClr val="tx1"/>
              </a:solidFill>
            </a:rPr>
            <a:t>Creatividad e innovación</a:t>
          </a:r>
          <a:endParaRPr lang="es-ES" sz="2000" b="1" dirty="0">
            <a:solidFill>
              <a:schemeClr val="tx1"/>
            </a:solidFill>
          </a:endParaRPr>
        </a:p>
      </dgm:t>
    </dgm:pt>
    <dgm:pt modelId="{10C9FF75-796C-4915-9A81-032740282520}" type="parTrans" cxnId="{B290221D-7128-4E5A-B744-8E6CB50227F9}">
      <dgm:prSet/>
      <dgm:spPr/>
      <dgm:t>
        <a:bodyPr/>
        <a:lstStyle/>
        <a:p>
          <a:endParaRPr lang="es-ES"/>
        </a:p>
      </dgm:t>
    </dgm:pt>
    <dgm:pt modelId="{6561DC76-2E69-4EC2-875D-1CDD8EE8C96A}" type="sibTrans" cxnId="{B290221D-7128-4E5A-B744-8E6CB50227F9}">
      <dgm:prSet/>
      <dgm:spPr/>
      <dgm:t>
        <a:bodyPr/>
        <a:lstStyle/>
        <a:p>
          <a:endParaRPr lang="es-ES"/>
        </a:p>
      </dgm:t>
    </dgm:pt>
    <dgm:pt modelId="{7E89D2D0-6DF9-4444-B9D2-8A752B068B33}">
      <dgm:prSet phldrT="[Texto]" custT="1"/>
      <dgm:spPr>
        <a:solidFill>
          <a:schemeClr val="tx2">
            <a:lumMod val="40000"/>
            <a:lumOff val="60000"/>
          </a:schemeClr>
        </a:solidFill>
      </dgm:spPr>
      <dgm:t>
        <a:bodyPr/>
        <a:lstStyle/>
        <a:p>
          <a:r>
            <a:rPr lang="es-ES_tradnl" sz="2000" b="1" dirty="0">
              <a:solidFill>
                <a:schemeClr val="tx1"/>
              </a:solidFill>
            </a:rPr>
            <a:t>Organización</a:t>
          </a:r>
          <a:endParaRPr lang="es-ES" sz="2000" b="1" dirty="0">
            <a:solidFill>
              <a:schemeClr val="tx1"/>
            </a:solidFill>
          </a:endParaRPr>
        </a:p>
      </dgm:t>
    </dgm:pt>
    <dgm:pt modelId="{C5867590-6FD1-4F6A-AEA5-5858E69F0E71}" type="parTrans" cxnId="{7CBB12AD-0FA2-4152-938B-CBF19EB58A32}">
      <dgm:prSet/>
      <dgm:spPr/>
      <dgm:t>
        <a:bodyPr/>
        <a:lstStyle/>
        <a:p>
          <a:endParaRPr lang="es-ES"/>
        </a:p>
      </dgm:t>
    </dgm:pt>
    <dgm:pt modelId="{B5DE49D7-4A23-41E8-AEE1-18AA0A503060}" type="sibTrans" cxnId="{7CBB12AD-0FA2-4152-938B-CBF19EB58A32}">
      <dgm:prSet/>
      <dgm:spPr/>
      <dgm:t>
        <a:bodyPr/>
        <a:lstStyle/>
        <a:p>
          <a:endParaRPr lang="es-ES"/>
        </a:p>
      </dgm:t>
    </dgm:pt>
    <dgm:pt modelId="{4C92C2CC-7A09-4CCE-A8B2-E48E55CBDF5A}">
      <dgm:prSet phldrT="[Texto]" custT="1"/>
      <dgm:spPr>
        <a:solidFill>
          <a:schemeClr val="tx2">
            <a:lumMod val="40000"/>
            <a:lumOff val="60000"/>
          </a:schemeClr>
        </a:solidFill>
      </dgm:spPr>
      <dgm:t>
        <a:bodyPr/>
        <a:lstStyle/>
        <a:p>
          <a:r>
            <a:rPr lang="es-ES_tradnl" sz="2000" b="1" dirty="0">
              <a:solidFill>
                <a:schemeClr val="tx1"/>
              </a:solidFill>
            </a:rPr>
            <a:t>Trabajo</a:t>
          </a:r>
          <a:endParaRPr lang="es-ES" sz="2000" b="1" dirty="0">
            <a:solidFill>
              <a:schemeClr val="tx1"/>
            </a:solidFill>
          </a:endParaRPr>
        </a:p>
      </dgm:t>
    </dgm:pt>
    <dgm:pt modelId="{C559D247-BD54-41AC-B07D-60454C608BE1}" type="parTrans" cxnId="{3A88D9DD-40C2-4835-B337-AE2665EF2249}">
      <dgm:prSet/>
      <dgm:spPr/>
      <dgm:t>
        <a:bodyPr/>
        <a:lstStyle/>
        <a:p>
          <a:endParaRPr lang="es-ES"/>
        </a:p>
      </dgm:t>
    </dgm:pt>
    <dgm:pt modelId="{1F4A1C85-5604-418C-AFD3-D8D3B27D40C2}" type="sibTrans" cxnId="{3A88D9DD-40C2-4835-B337-AE2665EF2249}">
      <dgm:prSet/>
      <dgm:spPr/>
      <dgm:t>
        <a:bodyPr/>
        <a:lstStyle/>
        <a:p>
          <a:endParaRPr lang="es-ES"/>
        </a:p>
      </dgm:t>
    </dgm:pt>
    <dgm:pt modelId="{6F43B42A-71AC-474D-85DD-AE1BDDBD8C68}">
      <dgm:prSet phldrT="[Texto]" custT="1"/>
      <dgm:spPr>
        <a:solidFill>
          <a:schemeClr val="tx2">
            <a:lumMod val="40000"/>
            <a:lumOff val="60000"/>
          </a:schemeClr>
        </a:solidFill>
      </dgm:spPr>
      <dgm:t>
        <a:bodyPr/>
        <a:lstStyle/>
        <a:p>
          <a:r>
            <a:rPr lang="es-ES_tradnl" sz="2000" b="1" dirty="0">
              <a:solidFill>
                <a:schemeClr val="tx1"/>
              </a:solidFill>
            </a:rPr>
            <a:t>Habilidades sociales</a:t>
          </a:r>
          <a:endParaRPr lang="es-ES" sz="2000" b="1" dirty="0">
            <a:solidFill>
              <a:schemeClr val="tx1"/>
            </a:solidFill>
          </a:endParaRPr>
        </a:p>
      </dgm:t>
    </dgm:pt>
    <dgm:pt modelId="{30EFEDF0-9914-448A-956B-0DAC7DF97A4A}" type="parTrans" cxnId="{23600551-2706-4BB0-8AB3-5F63980DF5FE}">
      <dgm:prSet/>
      <dgm:spPr/>
      <dgm:t>
        <a:bodyPr/>
        <a:lstStyle/>
        <a:p>
          <a:endParaRPr lang="es-ES"/>
        </a:p>
      </dgm:t>
    </dgm:pt>
    <dgm:pt modelId="{BA93C95D-0012-4D1C-959A-C3D690C8C7B3}" type="sibTrans" cxnId="{23600551-2706-4BB0-8AB3-5F63980DF5FE}">
      <dgm:prSet/>
      <dgm:spPr/>
      <dgm:t>
        <a:bodyPr/>
        <a:lstStyle/>
        <a:p>
          <a:endParaRPr lang="es-ES"/>
        </a:p>
      </dgm:t>
    </dgm:pt>
    <dgm:pt modelId="{2B6E8293-BED0-4F3F-8FBA-F6F96FA7E5C6}">
      <dgm:prSet phldrT="[Texto]" custT="1"/>
      <dgm:spPr>
        <a:solidFill>
          <a:schemeClr val="tx2">
            <a:lumMod val="40000"/>
            <a:lumOff val="60000"/>
          </a:schemeClr>
        </a:solidFill>
      </dgm:spPr>
      <dgm:t>
        <a:bodyPr/>
        <a:lstStyle/>
        <a:p>
          <a:r>
            <a:rPr lang="es-ES_tradnl" sz="2000" b="1" dirty="0">
              <a:solidFill>
                <a:schemeClr val="tx1"/>
              </a:solidFill>
            </a:rPr>
            <a:t>Honradez</a:t>
          </a:r>
          <a:endParaRPr lang="es-ES" sz="2000" b="1" dirty="0">
            <a:solidFill>
              <a:schemeClr val="tx1"/>
            </a:solidFill>
          </a:endParaRPr>
        </a:p>
      </dgm:t>
    </dgm:pt>
    <dgm:pt modelId="{67867E74-FD39-41D3-814F-04575D7A2BF4}" type="parTrans" cxnId="{A6475787-836F-4454-80BD-9C2926A4C24A}">
      <dgm:prSet/>
      <dgm:spPr/>
      <dgm:t>
        <a:bodyPr/>
        <a:lstStyle/>
        <a:p>
          <a:endParaRPr lang="es-ES"/>
        </a:p>
      </dgm:t>
    </dgm:pt>
    <dgm:pt modelId="{395664F9-63A3-41E6-9FE2-2E43622DD4E4}" type="sibTrans" cxnId="{A6475787-836F-4454-80BD-9C2926A4C24A}">
      <dgm:prSet/>
      <dgm:spPr/>
      <dgm:t>
        <a:bodyPr/>
        <a:lstStyle/>
        <a:p>
          <a:endParaRPr lang="es-ES"/>
        </a:p>
      </dgm:t>
    </dgm:pt>
    <dgm:pt modelId="{98FAB0F8-E51F-4FDC-9295-3FF1CCACD37A}">
      <dgm:prSet phldrT="[Texto]" custT="1"/>
      <dgm:spPr>
        <a:solidFill>
          <a:schemeClr val="tx2">
            <a:lumMod val="40000"/>
            <a:lumOff val="60000"/>
          </a:schemeClr>
        </a:solidFill>
      </dgm:spPr>
      <dgm:t>
        <a:bodyPr/>
        <a:lstStyle/>
        <a:p>
          <a:r>
            <a:rPr lang="es-ES_tradnl" sz="2000" b="1" dirty="0">
              <a:solidFill>
                <a:schemeClr val="tx1"/>
              </a:solidFill>
            </a:rPr>
            <a:t>Riesgo</a:t>
          </a:r>
          <a:endParaRPr lang="es-ES" sz="2000" b="1" dirty="0">
            <a:solidFill>
              <a:schemeClr val="tx1"/>
            </a:solidFill>
          </a:endParaRPr>
        </a:p>
      </dgm:t>
    </dgm:pt>
    <dgm:pt modelId="{1ECF29B5-E0C9-4ED8-9FDC-B1AB7E9E28E7}" type="parTrans" cxnId="{EA8C6D47-9A76-4700-8781-CBC5FB625C91}">
      <dgm:prSet/>
      <dgm:spPr/>
      <dgm:t>
        <a:bodyPr/>
        <a:lstStyle/>
        <a:p>
          <a:endParaRPr lang="es-ES"/>
        </a:p>
      </dgm:t>
    </dgm:pt>
    <dgm:pt modelId="{AE9D9B1F-1B11-49BE-B460-0686B8A60C45}" type="sibTrans" cxnId="{EA8C6D47-9A76-4700-8781-CBC5FB625C91}">
      <dgm:prSet/>
      <dgm:spPr/>
      <dgm:t>
        <a:bodyPr/>
        <a:lstStyle/>
        <a:p>
          <a:endParaRPr lang="es-ES"/>
        </a:p>
      </dgm:t>
    </dgm:pt>
    <dgm:pt modelId="{ED08D634-BC50-477C-BD9D-0C4552AD2BB4}">
      <dgm:prSet phldrT="[Texto]" custT="1"/>
      <dgm:spPr>
        <a:solidFill>
          <a:schemeClr val="tx2">
            <a:lumMod val="40000"/>
            <a:lumOff val="60000"/>
          </a:schemeClr>
        </a:solidFill>
      </dgm:spPr>
      <dgm:t>
        <a:bodyPr/>
        <a:lstStyle/>
        <a:p>
          <a:r>
            <a:rPr lang="es-ES_tradnl" sz="2000" b="1" dirty="0">
              <a:solidFill>
                <a:schemeClr val="tx1"/>
              </a:solidFill>
            </a:rPr>
            <a:t>Persistencia</a:t>
          </a:r>
          <a:endParaRPr lang="es-ES" sz="2000" b="1" dirty="0">
            <a:solidFill>
              <a:schemeClr val="tx1"/>
            </a:solidFill>
          </a:endParaRPr>
        </a:p>
      </dgm:t>
    </dgm:pt>
    <dgm:pt modelId="{FC82DE27-753B-45E7-86A1-2AC6C2601B4F}" type="parTrans" cxnId="{27288744-A2CE-44EA-8A63-1D258249BA43}">
      <dgm:prSet/>
      <dgm:spPr/>
      <dgm:t>
        <a:bodyPr/>
        <a:lstStyle/>
        <a:p>
          <a:endParaRPr lang="es-ES"/>
        </a:p>
      </dgm:t>
    </dgm:pt>
    <dgm:pt modelId="{7B7FC7B1-D33A-447D-B605-5B146965A05F}" type="sibTrans" cxnId="{27288744-A2CE-44EA-8A63-1D258249BA43}">
      <dgm:prSet/>
      <dgm:spPr/>
      <dgm:t>
        <a:bodyPr/>
        <a:lstStyle/>
        <a:p>
          <a:endParaRPr lang="es-ES"/>
        </a:p>
      </dgm:t>
    </dgm:pt>
    <dgm:pt modelId="{A77E5D3E-9064-4B58-8259-2D8B61C6F2FD}">
      <dgm:prSet phldrT="[Texto]" custT="1"/>
      <dgm:spPr>
        <a:solidFill>
          <a:schemeClr val="tx2">
            <a:lumMod val="40000"/>
            <a:lumOff val="60000"/>
          </a:schemeClr>
        </a:solidFill>
      </dgm:spPr>
      <dgm:t>
        <a:bodyPr/>
        <a:lstStyle/>
        <a:p>
          <a:r>
            <a:rPr lang="es-ES_tradnl" sz="2000" b="1" dirty="0">
              <a:solidFill>
                <a:schemeClr val="tx1"/>
              </a:solidFill>
            </a:rPr>
            <a:t>Autoconfianza con autocrítica</a:t>
          </a:r>
          <a:endParaRPr lang="es-ES" sz="2000" b="1" dirty="0">
            <a:solidFill>
              <a:schemeClr val="tx1"/>
            </a:solidFill>
          </a:endParaRPr>
        </a:p>
      </dgm:t>
    </dgm:pt>
    <dgm:pt modelId="{0C39793F-CA49-4362-A21D-F5C1FDD2203D}" type="parTrans" cxnId="{A9907DBF-B601-49CE-97E8-051C16024280}">
      <dgm:prSet/>
      <dgm:spPr/>
      <dgm:t>
        <a:bodyPr/>
        <a:lstStyle/>
        <a:p>
          <a:endParaRPr lang="es-ES"/>
        </a:p>
      </dgm:t>
    </dgm:pt>
    <dgm:pt modelId="{5E7ED7AA-5B60-48C9-91F9-C94F9F27592E}" type="sibTrans" cxnId="{A9907DBF-B601-49CE-97E8-051C16024280}">
      <dgm:prSet/>
      <dgm:spPr/>
      <dgm:t>
        <a:bodyPr/>
        <a:lstStyle/>
        <a:p>
          <a:endParaRPr lang="es-ES"/>
        </a:p>
      </dgm:t>
    </dgm:pt>
    <dgm:pt modelId="{AEB58E24-1DBE-4A27-A702-91BE0E25D2C0}" type="pres">
      <dgm:prSet presAssocID="{A97A05A3-14D9-44A5-B768-02F08550772E}" presName="Name0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4BDEFD1B-0A47-41E2-AD0B-8D3B0A418521}" type="pres">
      <dgm:prSet presAssocID="{ED2B4624-7341-43E5-B4B2-09A70E7847B3}" presName="centerShape" presStyleLbl="node0" presStyleIdx="0" presStyleCnt="1" custScaleX="196447" custScaleY="182014" custLinFactNeighborX="757" custLinFactNeighborY="2266"/>
      <dgm:spPr/>
    </dgm:pt>
    <dgm:pt modelId="{1EA97D0F-FADF-4648-B47B-1E7E5DAB8019}" type="pres">
      <dgm:prSet presAssocID="{D758309E-D140-4A16-9EEA-1DC825F03F4D}" presName="node" presStyleLbl="node1" presStyleIdx="0" presStyleCnt="8" custScaleX="284062" custScaleY="91331" custRadScaleRad="102373" custRadScaleInc="26191">
        <dgm:presLayoutVars>
          <dgm:bulletEnabled val="1"/>
        </dgm:presLayoutVars>
      </dgm:prSet>
      <dgm:spPr/>
    </dgm:pt>
    <dgm:pt modelId="{4702129D-FCE9-41BD-A8DF-D8F31E3BD3E9}" type="pres">
      <dgm:prSet presAssocID="{D758309E-D140-4A16-9EEA-1DC825F03F4D}" presName="dummy" presStyleCnt="0"/>
      <dgm:spPr/>
    </dgm:pt>
    <dgm:pt modelId="{11E75070-1CFF-431B-ABCD-9FA06CA44800}" type="pres">
      <dgm:prSet presAssocID="{6561DC76-2E69-4EC2-875D-1CDD8EE8C96A}" presName="sibTrans" presStyleLbl="sibTrans2D1" presStyleIdx="0" presStyleCnt="8"/>
      <dgm:spPr/>
    </dgm:pt>
    <dgm:pt modelId="{C5F57591-51B8-4DC8-9F69-AC4849348760}" type="pres">
      <dgm:prSet presAssocID="{7E89D2D0-6DF9-4444-B9D2-8A752B068B33}" presName="node" presStyleLbl="node1" presStyleIdx="1" presStyleCnt="8" custScaleX="284062" custScaleY="91331" custRadScaleRad="143017" custRadScaleInc="111611">
        <dgm:presLayoutVars>
          <dgm:bulletEnabled val="1"/>
        </dgm:presLayoutVars>
      </dgm:prSet>
      <dgm:spPr/>
    </dgm:pt>
    <dgm:pt modelId="{124A4B61-5A67-4D82-BB83-FF8BB8C9FDED}" type="pres">
      <dgm:prSet presAssocID="{7E89D2D0-6DF9-4444-B9D2-8A752B068B33}" presName="dummy" presStyleCnt="0"/>
      <dgm:spPr/>
    </dgm:pt>
    <dgm:pt modelId="{9D90A77D-028B-40D6-B4B6-1B290CE96047}" type="pres">
      <dgm:prSet presAssocID="{B5DE49D7-4A23-41E8-AEE1-18AA0A503060}" presName="sibTrans" presStyleLbl="sibTrans2D1" presStyleIdx="1" presStyleCnt="8"/>
      <dgm:spPr/>
    </dgm:pt>
    <dgm:pt modelId="{38E354CA-BBEF-4ABE-86A9-0ECBC45629D6}" type="pres">
      <dgm:prSet presAssocID="{4C92C2CC-7A09-4CCE-A8B2-E48E55CBDF5A}" presName="node" presStyleLbl="node1" presStyleIdx="2" presStyleCnt="8" custScaleX="284062" custScaleY="91331" custRadScaleRad="150235" custRadScaleInc="-6850">
        <dgm:presLayoutVars>
          <dgm:bulletEnabled val="1"/>
        </dgm:presLayoutVars>
      </dgm:prSet>
      <dgm:spPr/>
    </dgm:pt>
    <dgm:pt modelId="{F7CDB317-7B95-46F3-ADA7-883B29B2C2EE}" type="pres">
      <dgm:prSet presAssocID="{4C92C2CC-7A09-4CCE-A8B2-E48E55CBDF5A}" presName="dummy" presStyleCnt="0"/>
      <dgm:spPr/>
    </dgm:pt>
    <dgm:pt modelId="{1A633494-E118-49B9-9FB2-506ACA2D2CD5}" type="pres">
      <dgm:prSet presAssocID="{1F4A1C85-5604-418C-AFD3-D8D3B27D40C2}" presName="sibTrans" presStyleLbl="sibTrans2D1" presStyleIdx="2" presStyleCnt="8"/>
      <dgm:spPr/>
    </dgm:pt>
    <dgm:pt modelId="{878B6A84-97EE-4EFB-A433-E5A74748C5EF}" type="pres">
      <dgm:prSet presAssocID="{6F43B42A-71AC-474D-85DD-AE1BDDBD8C68}" presName="node" presStyleLbl="node1" presStyleIdx="3" presStyleCnt="8" custScaleX="284062" custScaleY="91331" custRadScaleRad="140503" custRadScaleInc="-124454">
        <dgm:presLayoutVars>
          <dgm:bulletEnabled val="1"/>
        </dgm:presLayoutVars>
      </dgm:prSet>
      <dgm:spPr/>
    </dgm:pt>
    <dgm:pt modelId="{6E5FC47A-61A3-47CB-869A-089216CF74E1}" type="pres">
      <dgm:prSet presAssocID="{6F43B42A-71AC-474D-85DD-AE1BDDBD8C68}" presName="dummy" presStyleCnt="0"/>
      <dgm:spPr/>
    </dgm:pt>
    <dgm:pt modelId="{4740D6D8-6AC4-441D-BBD9-A2BCE8117210}" type="pres">
      <dgm:prSet presAssocID="{BA93C95D-0012-4D1C-959A-C3D690C8C7B3}" presName="sibTrans" presStyleLbl="sibTrans2D1" presStyleIdx="3" presStyleCnt="8"/>
      <dgm:spPr/>
    </dgm:pt>
    <dgm:pt modelId="{66459D28-CB3E-4E8D-B10B-E341C67F9FC8}" type="pres">
      <dgm:prSet presAssocID="{2B6E8293-BED0-4F3F-8FBA-F6F96FA7E5C6}" presName="node" presStyleLbl="node1" presStyleIdx="4" presStyleCnt="8" custScaleX="284062" custScaleY="91331" custRadScaleRad="104628" custRadScaleInc="-25626">
        <dgm:presLayoutVars>
          <dgm:bulletEnabled val="1"/>
        </dgm:presLayoutVars>
      </dgm:prSet>
      <dgm:spPr/>
    </dgm:pt>
    <dgm:pt modelId="{1E578126-0019-4479-A874-4DE23B9F17F1}" type="pres">
      <dgm:prSet presAssocID="{2B6E8293-BED0-4F3F-8FBA-F6F96FA7E5C6}" presName="dummy" presStyleCnt="0"/>
      <dgm:spPr/>
    </dgm:pt>
    <dgm:pt modelId="{86CA87F3-B149-438C-8E42-FBBC613DFE0E}" type="pres">
      <dgm:prSet presAssocID="{395664F9-63A3-41E6-9FE2-2E43622DD4E4}" presName="sibTrans" presStyleLbl="sibTrans2D1" presStyleIdx="4" presStyleCnt="8"/>
      <dgm:spPr/>
    </dgm:pt>
    <dgm:pt modelId="{39F47034-BA09-43D6-B675-FB04D88FB3D2}" type="pres">
      <dgm:prSet presAssocID="{98FAB0F8-E51F-4FDC-9295-3FF1CCACD37A}" presName="node" presStyleLbl="node1" presStyleIdx="5" presStyleCnt="8" custScaleX="284062" custScaleY="91331" custRadScaleRad="127042" custRadScaleInc="104147">
        <dgm:presLayoutVars>
          <dgm:bulletEnabled val="1"/>
        </dgm:presLayoutVars>
      </dgm:prSet>
      <dgm:spPr/>
    </dgm:pt>
    <dgm:pt modelId="{7F36B4DC-A29A-44F3-AB10-DEA4EB385C38}" type="pres">
      <dgm:prSet presAssocID="{98FAB0F8-E51F-4FDC-9295-3FF1CCACD37A}" presName="dummy" presStyleCnt="0"/>
      <dgm:spPr/>
    </dgm:pt>
    <dgm:pt modelId="{147A5129-D3DD-4491-9B3E-88A9AEAF9784}" type="pres">
      <dgm:prSet presAssocID="{AE9D9B1F-1B11-49BE-B460-0686B8A60C45}" presName="sibTrans" presStyleLbl="sibTrans2D1" presStyleIdx="5" presStyleCnt="8"/>
      <dgm:spPr/>
    </dgm:pt>
    <dgm:pt modelId="{B8FADCDF-E43F-4D56-9634-DCD371EB9ECE}" type="pres">
      <dgm:prSet presAssocID="{ED08D634-BC50-477C-BD9D-0C4552AD2BB4}" presName="node" presStyleLbl="node1" presStyleIdx="6" presStyleCnt="8" custScaleX="284062" custScaleY="91331" custRadScaleRad="141736" custRadScaleInc="7261">
        <dgm:presLayoutVars>
          <dgm:bulletEnabled val="1"/>
        </dgm:presLayoutVars>
      </dgm:prSet>
      <dgm:spPr/>
    </dgm:pt>
    <dgm:pt modelId="{EB8DC8B6-C0D0-46EC-8EEA-0C2F9DB52959}" type="pres">
      <dgm:prSet presAssocID="{ED08D634-BC50-477C-BD9D-0C4552AD2BB4}" presName="dummy" presStyleCnt="0"/>
      <dgm:spPr/>
    </dgm:pt>
    <dgm:pt modelId="{D5B4959B-61A7-43E2-8E06-FE402D645148}" type="pres">
      <dgm:prSet presAssocID="{7B7FC7B1-D33A-447D-B605-5B146965A05F}" presName="sibTrans" presStyleLbl="sibTrans2D1" presStyleIdx="6" presStyleCnt="8" custLinFactNeighborX="148" custLinFactNeighborY="-1164"/>
      <dgm:spPr/>
    </dgm:pt>
    <dgm:pt modelId="{C36A5D61-77E8-4D03-B288-585789913241}" type="pres">
      <dgm:prSet presAssocID="{A77E5D3E-9064-4B58-8259-2D8B61C6F2FD}" presName="node" presStyleLbl="node1" presStyleIdx="7" presStyleCnt="8" custScaleX="284062" custScaleY="91331" custRadScaleRad="135749" custRadScaleInc="-87994">
        <dgm:presLayoutVars>
          <dgm:bulletEnabled val="1"/>
        </dgm:presLayoutVars>
      </dgm:prSet>
      <dgm:spPr/>
    </dgm:pt>
    <dgm:pt modelId="{3191AC71-636F-4B78-9424-7CDEA915D80F}" type="pres">
      <dgm:prSet presAssocID="{A77E5D3E-9064-4B58-8259-2D8B61C6F2FD}" presName="dummy" presStyleCnt="0"/>
      <dgm:spPr/>
    </dgm:pt>
    <dgm:pt modelId="{B2BF00B3-7F54-49B0-9985-A7C497DF0A38}" type="pres">
      <dgm:prSet presAssocID="{5E7ED7AA-5B60-48C9-91F9-C94F9F27592E}" presName="sibTrans" presStyleLbl="sibTrans2D1" presStyleIdx="7" presStyleCnt="8"/>
      <dgm:spPr/>
    </dgm:pt>
  </dgm:ptLst>
  <dgm:cxnLst>
    <dgm:cxn modelId="{665E5105-D922-40C4-90CD-401FC75300EC}" type="presOf" srcId="{B5DE49D7-4A23-41E8-AEE1-18AA0A503060}" destId="{9D90A77D-028B-40D6-B4B6-1B290CE96047}" srcOrd="0" destOrd="0" presId="urn:microsoft.com/office/officeart/2005/8/layout/radial6"/>
    <dgm:cxn modelId="{9197D319-5020-4141-9B90-A1D122147F8E}" type="presOf" srcId="{6F43B42A-71AC-474D-85DD-AE1BDDBD8C68}" destId="{878B6A84-97EE-4EFB-A433-E5A74748C5EF}" srcOrd="0" destOrd="0" presId="urn:microsoft.com/office/officeart/2005/8/layout/radial6"/>
    <dgm:cxn modelId="{B290221D-7128-4E5A-B744-8E6CB50227F9}" srcId="{ED2B4624-7341-43E5-B4B2-09A70E7847B3}" destId="{D758309E-D140-4A16-9EEA-1DC825F03F4D}" srcOrd="0" destOrd="0" parTransId="{10C9FF75-796C-4915-9A81-032740282520}" sibTransId="{6561DC76-2E69-4EC2-875D-1CDD8EE8C96A}"/>
    <dgm:cxn modelId="{77575029-2902-40C1-AF4F-B3C654BB3F32}" type="presOf" srcId="{98FAB0F8-E51F-4FDC-9295-3FF1CCACD37A}" destId="{39F47034-BA09-43D6-B675-FB04D88FB3D2}" srcOrd="0" destOrd="0" presId="urn:microsoft.com/office/officeart/2005/8/layout/radial6"/>
    <dgm:cxn modelId="{08B4933F-CF17-4F5E-93A2-921215CE07C0}" type="presOf" srcId="{6561DC76-2E69-4EC2-875D-1CDD8EE8C96A}" destId="{11E75070-1CFF-431B-ABCD-9FA06CA44800}" srcOrd="0" destOrd="0" presId="urn:microsoft.com/office/officeart/2005/8/layout/radial6"/>
    <dgm:cxn modelId="{80B40340-F3DD-4476-92A3-A830D9C0E9FB}" type="presOf" srcId="{4C92C2CC-7A09-4CCE-A8B2-E48E55CBDF5A}" destId="{38E354CA-BBEF-4ABE-86A9-0ECBC45629D6}" srcOrd="0" destOrd="0" presId="urn:microsoft.com/office/officeart/2005/8/layout/radial6"/>
    <dgm:cxn modelId="{9CCEAA41-0C92-4809-A04D-4C7A68C5BB4C}" type="presOf" srcId="{1F4A1C85-5604-418C-AFD3-D8D3B27D40C2}" destId="{1A633494-E118-49B9-9FB2-506ACA2D2CD5}" srcOrd="0" destOrd="0" presId="urn:microsoft.com/office/officeart/2005/8/layout/radial6"/>
    <dgm:cxn modelId="{27288744-A2CE-44EA-8A63-1D258249BA43}" srcId="{ED2B4624-7341-43E5-B4B2-09A70E7847B3}" destId="{ED08D634-BC50-477C-BD9D-0C4552AD2BB4}" srcOrd="6" destOrd="0" parTransId="{FC82DE27-753B-45E7-86A1-2AC6C2601B4F}" sibTransId="{7B7FC7B1-D33A-447D-B605-5B146965A05F}"/>
    <dgm:cxn modelId="{EA8C6D47-9A76-4700-8781-CBC5FB625C91}" srcId="{ED2B4624-7341-43E5-B4B2-09A70E7847B3}" destId="{98FAB0F8-E51F-4FDC-9295-3FF1CCACD37A}" srcOrd="5" destOrd="0" parTransId="{1ECF29B5-E0C9-4ED8-9FDC-B1AB7E9E28E7}" sibTransId="{AE9D9B1F-1B11-49BE-B460-0686B8A60C45}"/>
    <dgm:cxn modelId="{23600551-2706-4BB0-8AB3-5F63980DF5FE}" srcId="{ED2B4624-7341-43E5-B4B2-09A70E7847B3}" destId="{6F43B42A-71AC-474D-85DD-AE1BDDBD8C68}" srcOrd="3" destOrd="0" parTransId="{30EFEDF0-9914-448A-956B-0DAC7DF97A4A}" sibTransId="{BA93C95D-0012-4D1C-959A-C3D690C8C7B3}"/>
    <dgm:cxn modelId="{F02C0E55-631E-417B-8DC1-5CA767132714}" type="presOf" srcId="{A77E5D3E-9064-4B58-8259-2D8B61C6F2FD}" destId="{C36A5D61-77E8-4D03-B288-585789913241}" srcOrd="0" destOrd="0" presId="urn:microsoft.com/office/officeart/2005/8/layout/radial6"/>
    <dgm:cxn modelId="{D2056271-6941-42AB-829D-3CFCB8D34EEC}" type="presOf" srcId="{D758309E-D140-4A16-9EEA-1DC825F03F4D}" destId="{1EA97D0F-FADF-4648-B47B-1E7E5DAB8019}" srcOrd="0" destOrd="0" presId="urn:microsoft.com/office/officeart/2005/8/layout/radial6"/>
    <dgm:cxn modelId="{065C9876-892C-40E3-8BAF-DE60C0D8C938}" type="presOf" srcId="{A97A05A3-14D9-44A5-B768-02F08550772E}" destId="{AEB58E24-1DBE-4A27-A702-91BE0E25D2C0}" srcOrd="0" destOrd="0" presId="urn:microsoft.com/office/officeart/2005/8/layout/radial6"/>
    <dgm:cxn modelId="{44314979-B6A3-4E5C-9B15-BBE747CB4B7D}" type="presOf" srcId="{2B6E8293-BED0-4F3F-8FBA-F6F96FA7E5C6}" destId="{66459D28-CB3E-4E8D-B10B-E341C67F9FC8}" srcOrd="0" destOrd="0" presId="urn:microsoft.com/office/officeart/2005/8/layout/radial6"/>
    <dgm:cxn modelId="{A6475787-836F-4454-80BD-9C2926A4C24A}" srcId="{ED2B4624-7341-43E5-B4B2-09A70E7847B3}" destId="{2B6E8293-BED0-4F3F-8FBA-F6F96FA7E5C6}" srcOrd="4" destOrd="0" parTransId="{67867E74-FD39-41D3-814F-04575D7A2BF4}" sibTransId="{395664F9-63A3-41E6-9FE2-2E43622DD4E4}"/>
    <dgm:cxn modelId="{BF8D9989-7AE9-401C-8855-C69B9AC49003}" type="presOf" srcId="{5E7ED7AA-5B60-48C9-91F9-C94F9F27592E}" destId="{B2BF00B3-7F54-49B0-9985-A7C497DF0A38}" srcOrd="0" destOrd="0" presId="urn:microsoft.com/office/officeart/2005/8/layout/radial6"/>
    <dgm:cxn modelId="{6EC57696-6695-4873-8156-A23E53B17C8C}" type="presOf" srcId="{395664F9-63A3-41E6-9FE2-2E43622DD4E4}" destId="{86CA87F3-B149-438C-8E42-FBBC613DFE0E}" srcOrd="0" destOrd="0" presId="urn:microsoft.com/office/officeart/2005/8/layout/radial6"/>
    <dgm:cxn modelId="{7CBB12AD-0FA2-4152-938B-CBF19EB58A32}" srcId="{ED2B4624-7341-43E5-B4B2-09A70E7847B3}" destId="{7E89D2D0-6DF9-4444-B9D2-8A752B068B33}" srcOrd="1" destOrd="0" parTransId="{C5867590-6FD1-4F6A-AEA5-5858E69F0E71}" sibTransId="{B5DE49D7-4A23-41E8-AEE1-18AA0A503060}"/>
    <dgm:cxn modelId="{25EC13B2-9B76-4FD3-921A-CF406521F5CD}" type="presOf" srcId="{AE9D9B1F-1B11-49BE-B460-0686B8A60C45}" destId="{147A5129-D3DD-4491-9B3E-88A9AEAF9784}" srcOrd="0" destOrd="0" presId="urn:microsoft.com/office/officeart/2005/8/layout/radial6"/>
    <dgm:cxn modelId="{A6B3DDB8-74AC-40B8-8CC0-6149EC7CD76C}" type="presOf" srcId="{ED2B4624-7341-43E5-B4B2-09A70E7847B3}" destId="{4BDEFD1B-0A47-41E2-AD0B-8D3B0A418521}" srcOrd="0" destOrd="0" presId="urn:microsoft.com/office/officeart/2005/8/layout/radial6"/>
    <dgm:cxn modelId="{A9907DBF-B601-49CE-97E8-051C16024280}" srcId="{ED2B4624-7341-43E5-B4B2-09A70E7847B3}" destId="{A77E5D3E-9064-4B58-8259-2D8B61C6F2FD}" srcOrd="7" destOrd="0" parTransId="{0C39793F-CA49-4362-A21D-F5C1FDD2203D}" sibTransId="{5E7ED7AA-5B60-48C9-91F9-C94F9F27592E}"/>
    <dgm:cxn modelId="{8E4D82BF-D087-4164-A797-A9AD4228DC37}" type="presOf" srcId="{7E89D2D0-6DF9-4444-B9D2-8A752B068B33}" destId="{C5F57591-51B8-4DC8-9F69-AC4849348760}" srcOrd="0" destOrd="0" presId="urn:microsoft.com/office/officeart/2005/8/layout/radial6"/>
    <dgm:cxn modelId="{3A88D9DD-40C2-4835-B337-AE2665EF2249}" srcId="{ED2B4624-7341-43E5-B4B2-09A70E7847B3}" destId="{4C92C2CC-7A09-4CCE-A8B2-E48E55CBDF5A}" srcOrd="2" destOrd="0" parTransId="{C559D247-BD54-41AC-B07D-60454C608BE1}" sibTransId="{1F4A1C85-5604-418C-AFD3-D8D3B27D40C2}"/>
    <dgm:cxn modelId="{CB2AE6DF-3FE0-46C7-882B-AEE3A163F674}" type="presOf" srcId="{7B7FC7B1-D33A-447D-B605-5B146965A05F}" destId="{D5B4959B-61A7-43E2-8E06-FE402D645148}" srcOrd="0" destOrd="0" presId="urn:microsoft.com/office/officeart/2005/8/layout/radial6"/>
    <dgm:cxn modelId="{7150E0E6-08C4-4382-A9AB-091C87EB90E5}" srcId="{A97A05A3-14D9-44A5-B768-02F08550772E}" destId="{ED2B4624-7341-43E5-B4B2-09A70E7847B3}" srcOrd="0" destOrd="0" parTransId="{B5847ABE-AF46-483D-BCB2-95A0C15A9DB6}" sibTransId="{8EEDBB42-9CFE-4006-9F30-B7728819F50E}"/>
    <dgm:cxn modelId="{BE319FFA-B793-48DB-8D40-C4A800686C78}" type="presOf" srcId="{BA93C95D-0012-4D1C-959A-C3D690C8C7B3}" destId="{4740D6D8-6AC4-441D-BBD9-A2BCE8117210}" srcOrd="0" destOrd="0" presId="urn:microsoft.com/office/officeart/2005/8/layout/radial6"/>
    <dgm:cxn modelId="{28F8D0FD-1642-465D-AC6A-CE8D0DE77336}" type="presOf" srcId="{ED08D634-BC50-477C-BD9D-0C4552AD2BB4}" destId="{B8FADCDF-E43F-4D56-9634-DCD371EB9ECE}" srcOrd="0" destOrd="0" presId="urn:microsoft.com/office/officeart/2005/8/layout/radial6"/>
    <dgm:cxn modelId="{D7BD0A98-928A-442C-A39B-E2C7E7B6C472}" type="presParOf" srcId="{AEB58E24-1DBE-4A27-A702-91BE0E25D2C0}" destId="{4BDEFD1B-0A47-41E2-AD0B-8D3B0A418521}" srcOrd="0" destOrd="0" presId="urn:microsoft.com/office/officeart/2005/8/layout/radial6"/>
    <dgm:cxn modelId="{EDC71614-FAD2-4733-9408-2036DE7C328E}" type="presParOf" srcId="{AEB58E24-1DBE-4A27-A702-91BE0E25D2C0}" destId="{1EA97D0F-FADF-4648-B47B-1E7E5DAB8019}" srcOrd="1" destOrd="0" presId="urn:microsoft.com/office/officeart/2005/8/layout/radial6"/>
    <dgm:cxn modelId="{E577D291-9F44-4027-90BE-662BB4A065AD}" type="presParOf" srcId="{AEB58E24-1DBE-4A27-A702-91BE0E25D2C0}" destId="{4702129D-FCE9-41BD-A8DF-D8F31E3BD3E9}" srcOrd="2" destOrd="0" presId="urn:microsoft.com/office/officeart/2005/8/layout/radial6"/>
    <dgm:cxn modelId="{AA63E605-0C86-4D45-9D41-21609B804D55}" type="presParOf" srcId="{AEB58E24-1DBE-4A27-A702-91BE0E25D2C0}" destId="{11E75070-1CFF-431B-ABCD-9FA06CA44800}" srcOrd="3" destOrd="0" presId="urn:microsoft.com/office/officeart/2005/8/layout/radial6"/>
    <dgm:cxn modelId="{0D5985DA-D042-4EF3-A5C5-E7030655F448}" type="presParOf" srcId="{AEB58E24-1DBE-4A27-A702-91BE0E25D2C0}" destId="{C5F57591-51B8-4DC8-9F69-AC4849348760}" srcOrd="4" destOrd="0" presId="urn:microsoft.com/office/officeart/2005/8/layout/radial6"/>
    <dgm:cxn modelId="{570E003D-40E6-4E8B-8AA4-07D50C913F64}" type="presParOf" srcId="{AEB58E24-1DBE-4A27-A702-91BE0E25D2C0}" destId="{124A4B61-5A67-4D82-BB83-FF8BB8C9FDED}" srcOrd="5" destOrd="0" presId="urn:microsoft.com/office/officeart/2005/8/layout/radial6"/>
    <dgm:cxn modelId="{A618FDE2-116B-4200-8F20-55AEF2C747BA}" type="presParOf" srcId="{AEB58E24-1DBE-4A27-A702-91BE0E25D2C0}" destId="{9D90A77D-028B-40D6-B4B6-1B290CE96047}" srcOrd="6" destOrd="0" presId="urn:microsoft.com/office/officeart/2005/8/layout/radial6"/>
    <dgm:cxn modelId="{E0E6A495-CD1F-4F27-B9C6-A4A2E90DF1BA}" type="presParOf" srcId="{AEB58E24-1DBE-4A27-A702-91BE0E25D2C0}" destId="{38E354CA-BBEF-4ABE-86A9-0ECBC45629D6}" srcOrd="7" destOrd="0" presId="urn:microsoft.com/office/officeart/2005/8/layout/radial6"/>
    <dgm:cxn modelId="{2A2E2B69-9E9A-4832-B82A-64A5577027E5}" type="presParOf" srcId="{AEB58E24-1DBE-4A27-A702-91BE0E25D2C0}" destId="{F7CDB317-7B95-46F3-ADA7-883B29B2C2EE}" srcOrd="8" destOrd="0" presId="urn:microsoft.com/office/officeart/2005/8/layout/radial6"/>
    <dgm:cxn modelId="{65A5EB72-3040-417B-AFB5-EF99E7B6C720}" type="presParOf" srcId="{AEB58E24-1DBE-4A27-A702-91BE0E25D2C0}" destId="{1A633494-E118-49B9-9FB2-506ACA2D2CD5}" srcOrd="9" destOrd="0" presId="urn:microsoft.com/office/officeart/2005/8/layout/radial6"/>
    <dgm:cxn modelId="{77B573A2-2F14-4EF4-A672-639B8950B9EF}" type="presParOf" srcId="{AEB58E24-1DBE-4A27-A702-91BE0E25D2C0}" destId="{878B6A84-97EE-4EFB-A433-E5A74748C5EF}" srcOrd="10" destOrd="0" presId="urn:microsoft.com/office/officeart/2005/8/layout/radial6"/>
    <dgm:cxn modelId="{436A3334-08BB-4E47-A52A-623D46515C8D}" type="presParOf" srcId="{AEB58E24-1DBE-4A27-A702-91BE0E25D2C0}" destId="{6E5FC47A-61A3-47CB-869A-089216CF74E1}" srcOrd="11" destOrd="0" presId="urn:microsoft.com/office/officeart/2005/8/layout/radial6"/>
    <dgm:cxn modelId="{166446FE-2410-4350-AA3C-3A80584A23B1}" type="presParOf" srcId="{AEB58E24-1DBE-4A27-A702-91BE0E25D2C0}" destId="{4740D6D8-6AC4-441D-BBD9-A2BCE8117210}" srcOrd="12" destOrd="0" presId="urn:microsoft.com/office/officeart/2005/8/layout/radial6"/>
    <dgm:cxn modelId="{28DD0839-8F24-4A3D-853F-2DEB66CF36A1}" type="presParOf" srcId="{AEB58E24-1DBE-4A27-A702-91BE0E25D2C0}" destId="{66459D28-CB3E-4E8D-B10B-E341C67F9FC8}" srcOrd="13" destOrd="0" presId="urn:microsoft.com/office/officeart/2005/8/layout/radial6"/>
    <dgm:cxn modelId="{813A70F9-08E1-4FBB-95C9-9851CF2FB31D}" type="presParOf" srcId="{AEB58E24-1DBE-4A27-A702-91BE0E25D2C0}" destId="{1E578126-0019-4479-A874-4DE23B9F17F1}" srcOrd="14" destOrd="0" presId="urn:microsoft.com/office/officeart/2005/8/layout/radial6"/>
    <dgm:cxn modelId="{E048B3F6-E7CF-41C9-B073-85FBF613185A}" type="presParOf" srcId="{AEB58E24-1DBE-4A27-A702-91BE0E25D2C0}" destId="{86CA87F3-B149-438C-8E42-FBBC613DFE0E}" srcOrd="15" destOrd="0" presId="urn:microsoft.com/office/officeart/2005/8/layout/radial6"/>
    <dgm:cxn modelId="{A4E4D840-DE3C-4D6B-8C5C-4A379F928CF2}" type="presParOf" srcId="{AEB58E24-1DBE-4A27-A702-91BE0E25D2C0}" destId="{39F47034-BA09-43D6-B675-FB04D88FB3D2}" srcOrd="16" destOrd="0" presId="urn:microsoft.com/office/officeart/2005/8/layout/radial6"/>
    <dgm:cxn modelId="{4A85FBF0-788A-474C-8B55-0EF0D29F764B}" type="presParOf" srcId="{AEB58E24-1DBE-4A27-A702-91BE0E25D2C0}" destId="{7F36B4DC-A29A-44F3-AB10-DEA4EB385C38}" srcOrd="17" destOrd="0" presId="urn:microsoft.com/office/officeart/2005/8/layout/radial6"/>
    <dgm:cxn modelId="{84DDACB0-6949-45AE-98D7-4AE05035AC9B}" type="presParOf" srcId="{AEB58E24-1DBE-4A27-A702-91BE0E25D2C0}" destId="{147A5129-D3DD-4491-9B3E-88A9AEAF9784}" srcOrd="18" destOrd="0" presId="urn:microsoft.com/office/officeart/2005/8/layout/radial6"/>
    <dgm:cxn modelId="{765CD685-6C02-4284-85FA-1C8B6901E581}" type="presParOf" srcId="{AEB58E24-1DBE-4A27-A702-91BE0E25D2C0}" destId="{B8FADCDF-E43F-4D56-9634-DCD371EB9ECE}" srcOrd="19" destOrd="0" presId="urn:microsoft.com/office/officeart/2005/8/layout/radial6"/>
    <dgm:cxn modelId="{8FCFD588-D6D8-45DB-932E-237728812846}" type="presParOf" srcId="{AEB58E24-1DBE-4A27-A702-91BE0E25D2C0}" destId="{EB8DC8B6-C0D0-46EC-8EEA-0C2F9DB52959}" srcOrd="20" destOrd="0" presId="urn:microsoft.com/office/officeart/2005/8/layout/radial6"/>
    <dgm:cxn modelId="{982C7B4D-C233-4FB2-9F6B-D70476F8C630}" type="presParOf" srcId="{AEB58E24-1DBE-4A27-A702-91BE0E25D2C0}" destId="{D5B4959B-61A7-43E2-8E06-FE402D645148}" srcOrd="21" destOrd="0" presId="urn:microsoft.com/office/officeart/2005/8/layout/radial6"/>
    <dgm:cxn modelId="{6D4CBD48-91D1-46F5-B633-A49540DC7649}" type="presParOf" srcId="{AEB58E24-1DBE-4A27-A702-91BE0E25D2C0}" destId="{C36A5D61-77E8-4D03-B288-585789913241}" srcOrd="22" destOrd="0" presId="urn:microsoft.com/office/officeart/2005/8/layout/radial6"/>
    <dgm:cxn modelId="{FDF9B498-1724-4648-99C1-CC111823D5C5}" type="presParOf" srcId="{AEB58E24-1DBE-4A27-A702-91BE0E25D2C0}" destId="{3191AC71-636F-4B78-9424-7CDEA915D80F}" srcOrd="23" destOrd="0" presId="urn:microsoft.com/office/officeart/2005/8/layout/radial6"/>
    <dgm:cxn modelId="{6F87B82B-47E0-4558-8E0D-A0C3444997C8}" type="presParOf" srcId="{AEB58E24-1DBE-4A27-A702-91BE0E25D2C0}" destId="{B2BF00B3-7F54-49B0-9985-A7C497DF0A38}" srcOrd="24" destOrd="0" presId="urn:microsoft.com/office/officeart/2005/8/layout/radial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45531D8-F154-411E-9ED0-2AE7C737A14B}">
      <dsp:nvSpPr>
        <dsp:cNvPr id="0" name=""/>
        <dsp:cNvSpPr/>
      </dsp:nvSpPr>
      <dsp:spPr>
        <a:xfrm>
          <a:off x="2889693" y="1615114"/>
          <a:ext cx="2482830" cy="2056238"/>
        </a:xfrm>
        <a:prstGeom prst="ellipse">
          <a:avLst/>
        </a:prstGeom>
        <a:solidFill>
          <a:schemeClr val="bg1"/>
        </a:solidFill>
        <a:ln w="50800">
          <a:solidFill>
            <a:schemeClr val="tx2">
              <a:lumMod val="60000"/>
              <a:lumOff val="40000"/>
            </a:schemeClr>
          </a:solidFill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800" b="1" kern="1200" dirty="0">
              <a:solidFill>
                <a:schemeClr val="tx2"/>
              </a:solidFill>
            </a:rPr>
            <a:t>Formas de ser innovador</a:t>
          </a:r>
          <a:endParaRPr lang="es-ES" sz="1800" b="1" kern="1200" dirty="0">
            <a:solidFill>
              <a:schemeClr val="tx2"/>
            </a:solidFill>
          </a:endParaRPr>
        </a:p>
      </dsp:txBody>
      <dsp:txXfrm>
        <a:off x="3253295" y="1916243"/>
        <a:ext cx="1755626" cy="1453980"/>
      </dsp:txXfrm>
    </dsp:sp>
    <dsp:sp modelId="{F23226D8-A23D-4BF6-8104-7EBF527E944B}">
      <dsp:nvSpPr>
        <dsp:cNvPr id="0" name=""/>
        <dsp:cNvSpPr/>
      </dsp:nvSpPr>
      <dsp:spPr>
        <a:xfrm rot="16219158">
          <a:off x="4041621" y="1259712"/>
          <a:ext cx="192395" cy="358711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1500" kern="1200" dirty="0"/>
        </a:p>
      </dsp:txBody>
      <dsp:txXfrm>
        <a:off x="4070319" y="1360313"/>
        <a:ext cx="134677" cy="215227"/>
      </dsp:txXfrm>
    </dsp:sp>
    <dsp:sp modelId="{94B41B34-4EBE-469B-A3B9-1925DA3FF967}">
      <dsp:nvSpPr>
        <dsp:cNvPr id="0" name=""/>
        <dsp:cNvSpPr/>
      </dsp:nvSpPr>
      <dsp:spPr>
        <a:xfrm>
          <a:off x="2882473" y="-85584"/>
          <a:ext cx="2520231" cy="1337708"/>
        </a:xfrm>
        <a:prstGeom prst="ellipse">
          <a:avLst/>
        </a:prstGeom>
        <a:solidFill>
          <a:schemeClr val="tx2">
            <a:lumMod val="40000"/>
            <a:lumOff val="60000"/>
          </a:schemeClr>
        </a:solidFill>
        <a:ln w="28575">
          <a:solidFill>
            <a:schemeClr val="tx2">
              <a:lumMod val="60000"/>
              <a:lumOff val="40000"/>
            </a:schemeClr>
          </a:solidFill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600" b="1" kern="1200" dirty="0">
              <a:solidFill>
                <a:schemeClr val="tx1"/>
              </a:solidFill>
            </a:rPr>
            <a:t>Nuevo producto </a:t>
          </a:r>
          <a:r>
            <a:rPr lang="es-ES_tradnl" sz="1200" b="1" kern="1200" dirty="0">
              <a:solidFill>
                <a:schemeClr val="tx1"/>
              </a:solidFill>
            </a:rPr>
            <a:t>(</a:t>
          </a:r>
          <a:r>
            <a:rPr lang="es-ES_tradnl" sz="1600" b="1" kern="1200" dirty="0">
              <a:solidFill>
                <a:schemeClr val="tx1"/>
              </a:solidFill>
            </a:rPr>
            <a:t>Chupa-</a:t>
          </a:r>
          <a:r>
            <a:rPr lang="es-ES_tradnl" sz="1600" b="1" kern="1200" dirty="0" err="1">
              <a:solidFill>
                <a:schemeClr val="tx1"/>
              </a:solidFill>
            </a:rPr>
            <a:t>chups</a:t>
          </a:r>
          <a:r>
            <a:rPr lang="es-ES_tradnl" sz="1600" b="1" kern="1200" dirty="0">
              <a:solidFill>
                <a:schemeClr val="tx1"/>
              </a:solidFill>
            </a:rPr>
            <a:t>, yogur helado)</a:t>
          </a:r>
          <a:endParaRPr lang="es-ES" sz="1600" b="1" kern="1200" dirty="0">
            <a:solidFill>
              <a:schemeClr val="tx1"/>
            </a:solidFill>
          </a:endParaRPr>
        </a:p>
      </dsp:txBody>
      <dsp:txXfrm>
        <a:off x="3251552" y="110319"/>
        <a:ext cx="1782073" cy="945902"/>
      </dsp:txXfrm>
    </dsp:sp>
    <dsp:sp modelId="{2D0AEFDB-80C0-4885-B25F-07986C1372F2}">
      <dsp:nvSpPr>
        <dsp:cNvPr id="0" name=""/>
        <dsp:cNvSpPr/>
      </dsp:nvSpPr>
      <dsp:spPr>
        <a:xfrm rot="19859103">
          <a:off x="5057403" y="1442822"/>
          <a:ext cx="541649" cy="358711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1500" kern="1200" dirty="0"/>
        </a:p>
      </dsp:txBody>
      <dsp:txXfrm>
        <a:off x="5064156" y="1540662"/>
        <a:ext cx="434036" cy="215227"/>
      </dsp:txXfrm>
    </dsp:sp>
    <dsp:sp modelId="{585DBC20-F233-4AEC-972F-00D74CBE8411}">
      <dsp:nvSpPr>
        <dsp:cNvPr id="0" name=""/>
        <dsp:cNvSpPr/>
      </dsp:nvSpPr>
      <dsp:spPr>
        <a:xfrm>
          <a:off x="5279252" y="717218"/>
          <a:ext cx="2999322" cy="914819"/>
        </a:xfrm>
        <a:prstGeom prst="ellipse">
          <a:avLst/>
        </a:prstGeom>
        <a:solidFill>
          <a:schemeClr val="tx2">
            <a:lumMod val="40000"/>
            <a:lumOff val="60000"/>
          </a:schemeClr>
        </a:solidFill>
        <a:ln w="28575">
          <a:solidFill>
            <a:schemeClr val="tx2">
              <a:lumMod val="60000"/>
              <a:lumOff val="40000"/>
            </a:schemeClr>
          </a:solidFill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600" b="1" kern="1200" dirty="0">
              <a:solidFill>
                <a:schemeClr val="tx1"/>
              </a:solidFill>
            </a:rPr>
            <a:t>Nuevo mercado o cliente (galletas sin gluten)</a:t>
          </a:r>
          <a:endParaRPr lang="es-ES" sz="1600" b="1" kern="1200" dirty="0">
            <a:solidFill>
              <a:schemeClr val="tx1"/>
            </a:solidFill>
          </a:endParaRPr>
        </a:p>
      </dsp:txBody>
      <dsp:txXfrm>
        <a:off x="5718493" y="851190"/>
        <a:ext cx="2120840" cy="646875"/>
      </dsp:txXfrm>
    </dsp:sp>
    <dsp:sp modelId="{02F16408-EB06-4FB1-AAEA-D64FCB48B78E}">
      <dsp:nvSpPr>
        <dsp:cNvPr id="0" name=""/>
        <dsp:cNvSpPr/>
      </dsp:nvSpPr>
      <dsp:spPr>
        <a:xfrm rot="243350">
          <a:off x="5463858" y="2566611"/>
          <a:ext cx="232216" cy="358711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1500" kern="1200" dirty="0"/>
        </a:p>
      </dsp:txBody>
      <dsp:txXfrm>
        <a:off x="5463945" y="2635889"/>
        <a:ext cx="162551" cy="215227"/>
      </dsp:txXfrm>
    </dsp:sp>
    <dsp:sp modelId="{D0AA25A0-C905-472D-9B93-E990CFBFE660}">
      <dsp:nvSpPr>
        <dsp:cNvPr id="0" name=""/>
        <dsp:cNvSpPr/>
      </dsp:nvSpPr>
      <dsp:spPr>
        <a:xfrm>
          <a:off x="5774738" y="2452492"/>
          <a:ext cx="2503836" cy="792108"/>
        </a:xfrm>
        <a:prstGeom prst="ellipse">
          <a:avLst/>
        </a:prstGeom>
        <a:solidFill>
          <a:schemeClr val="tx2">
            <a:lumMod val="40000"/>
            <a:lumOff val="60000"/>
          </a:schemeClr>
        </a:solidFill>
        <a:ln w="28575">
          <a:solidFill>
            <a:schemeClr val="tx2">
              <a:lumMod val="60000"/>
              <a:lumOff val="40000"/>
            </a:schemeClr>
          </a:solidFill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600" b="1" kern="1200" dirty="0">
              <a:solidFill>
                <a:schemeClr val="tx1"/>
              </a:solidFill>
            </a:rPr>
            <a:t>Aprovisionamiento (proveedor mercado exterior)</a:t>
          </a:r>
          <a:endParaRPr lang="es-ES" sz="1600" b="1" kern="1200" dirty="0">
            <a:solidFill>
              <a:schemeClr val="tx1"/>
            </a:solidFill>
          </a:endParaRPr>
        </a:p>
      </dsp:txBody>
      <dsp:txXfrm>
        <a:off x="6141416" y="2568494"/>
        <a:ext cx="1770480" cy="560104"/>
      </dsp:txXfrm>
    </dsp:sp>
    <dsp:sp modelId="{EFC7F385-E404-45EE-AF69-E3EC7538E43A}">
      <dsp:nvSpPr>
        <dsp:cNvPr id="0" name=""/>
        <dsp:cNvSpPr/>
      </dsp:nvSpPr>
      <dsp:spPr>
        <a:xfrm rot="10470713">
          <a:off x="2359527" y="2615758"/>
          <a:ext cx="381626" cy="358711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1500" kern="1200" dirty="0"/>
        </a:p>
      </dsp:txBody>
      <dsp:txXfrm rot="10800000">
        <a:off x="2466893" y="2682354"/>
        <a:ext cx="274013" cy="215227"/>
      </dsp:txXfrm>
    </dsp:sp>
    <dsp:sp modelId="{452BA5D5-AAD0-4256-889B-E651C9015722}">
      <dsp:nvSpPr>
        <dsp:cNvPr id="0" name=""/>
        <dsp:cNvSpPr/>
      </dsp:nvSpPr>
      <dsp:spPr>
        <a:xfrm>
          <a:off x="0" y="2295089"/>
          <a:ext cx="2195851" cy="1279143"/>
        </a:xfrm>
        <a:prstGeom prst="ellipse">
          <a:avLst/>
        </a:prstGeom>
        <a:solidFill>
          <a:schemeClr val="tx2">
            <a:lumMod val="40000"/>
            <a:lumOff val="60000"/>
          </a:schemeClr>
        </a:solidFill>
        <a:ln w="28575">
          <a:solidFill>
            <a:schemeClr val="tx2">
              <a:lumMod val="60000"/>
              <a:lumOff val="40000"/>
            </a:schemeClr>
          </a:solidFill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600" b="1" kern="1200" dirty="0">
              <a:solidFill>
                <a:schemeClr val="tx1"/>
              </a:solidFill>
            </a:rPr>
            <a:t>Manera de producir u ofrecer un servicio (Amazon)</a:t>
          </a:r>
          <a:endParaRPr lang="es-ES" sz="1600" b="1" kern="1200" dirty="0">
            <a:solidFill>
              <a:schemeClr val="tx1"/>
            </a:solidFill>
          </a:endParaRPr>
        </a:p>
      </dsp:txBody>
      <dsp:txXfrm>
        <a:off x="321575" y="2482415"/>
        <a:ext cx="1552701" cy="904491"/>
      </dsp:txXfrm>
    </dsp:sp>
    <dsp:sp modelId="{0FB02EBC-94A6-4B7B-B032-8C047AAC8248}">
      <dsp:nvSpPr>
        <dsp:cNvPr id="0" name=""/>
        <dsp:cNvSpPr/>
      </dsp:nvSpPr>
      <dsp:spPr>
        <a:xfrm rot="12678304">
          <a:off x="2380465" y="1577166"/>
          <a:ext cx="585098" cy="358711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1500" kern="1200" dirty="0"/>
        </a:p>
      </dsp:txBody>
      <dsp:txXfrm rot="10800000">
        <a:off x="2480244" y="1676866"/>
        <a:ext cx="477485" cy="215227"/>
      </dsp:txXfrm>
    </dsp:sp>
    <dsp:sp modelId="{CD0E537A-3F19-4EB2-86F3-FB12E3C4E0E3}">
      <dsp:nvSpPr>
        <dsp:cNvPr id="0" name=""/>
        <dsp:cNvSpPr/>
      </dsp:nvSpPr>
      <dsp:spPr>
        <a:xfrm>
          <a:off x="272238" y="522687"/>
          <a:ext cx="2438424" cy="1030577"/>
        </a:xfrm>
        <a:prstGeom prst="ellipse">
          <a:avLst/>
        </a:prstGeom>
        <a:solidFill>
          <a:schemeClr val="tx2">
            <a:lumMod val="40000"/>
            <a:lumOff val="60000"/>
          </a:schemeClr>
        </a:solidFill>
        <a:ln w="28575">
          <a:solidFill>
            <a:schemeClr val="tx2">
              <a:lumMod val="60000"/>
              <a:lumOff val="40000"/>
            </a:schemeClr>
          </a:solidFill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600" b="1" kern="1200" dirty="0">
              <a:solidFill>
                <a:schemeClr val="tx1"/>
              </a:solidFill>
            </a:rPr>
            <a:t>Organización (Google)</a:t>
          </a:r>
          <a:endParaRPr lang="es-ES" sz="1600" b="1" kern="1200" dirty="0">
            <a:solidFill>
              <a:schemeClr val="tx1"/>
            </a:solidFill>
          </a:endParaRPr>
        </a:p>
      </dsp:txBody>
      <dsp:txXfrm>
        <a:off x="629337" y="673612"/>
        <a:ext cx="1724226" cy="72872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2BF00B3-7F54-49B0-9985-A7C497DF0A38}">
      <dsp:nvSpPr>
        <dsp:cNvPr id="0" name=""/>
        <dsp:cNvSpPr/>
      </dsp:nvSpPr>
      <dsp:spPr>
        <a:xfrm>
          <a:off x="1427853" y="218468"/>
          <a:ext cx="4004864" cy="4004864"/>
        </a:xfrm>
        <a:prstGeom prst="blockArc">
          <a:avLst>
            <a:gd name="adj1" fmla="val 13011442"/>
            <a:gd name="adj2" fmla="val 17704174"/>
            <a:gd name="adj3" fmla="val 3433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5B4959B-61A7-43E2-8E06-FE402D645148}">
      <dsp:nvSpPr>
        <dsp:cNvPr id="0" name=""/>
        <dsp:cNvSpPr/>
      </dsp:nvSpPr>
      <dsp:spPr>
        <a:xfrm>
          <a:off x="1327139" y="302102"/>
          <a:ext cx="4004864" cy="4004864"/>
        </a:xfrm>
        <a:prstGeom prst="blockArc">
          <a:avLst>
            <a:gd name="adj1" fmla="val 10722964"/>
            <a:gd name="adj2" fmla="val 13305578"/>
            <a:gd name="adj3" fmla="val 3433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7A5129-D3DD-4491-9B3E-88A9AEAF9784}">
      <dsp:nvSpPr>
        <dsp:cNvPr id="0" name=""/>
        <dsp:cNvSpPr/>
      </dsp:nvSpPr>
      <dsp:spPr>
        <a:xfrm>
          <a:off x="1317337" y="261751"/>
          <a:ext cx="4004864" cy="4004864"/>
        </a:xfrm>
        <a:prstGeom prst="blockArc">
          <a:avLst>
            <a:gd name="adj1" fmla="val 8052715"/>
            <a:gd name="adj2" fmla="val 10570889"/>
            <a:gd name="adj3" fmla="val 3433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6CA87F3-B149-438C-8E42-FBBC613DFE0E}">
      <dsp:nvSpPr>
        <dsp:cNvPr id="0" name=""/>
        <dsp:cNvSpPr/>
      </dsp:nvSpPr>
      <dsp:spPr>
        <a:xfrm>
          <a:off x="1598548" y="605160"/>
          <a:ext cx="4004864" cy="4004864"/>
        </a:xfrm>
        <a:prstGeom prst="blockArc">
          <a:avLst>
            <a:gd name="adj1" fmla="val 4218396"/>
            <a:gd name="adj2" fmla="val 8829684"/>
            <a:gd name="adj3" fmla="val 3433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740D6D8-6AC4-441D-BBD9-A2BCE8117210}">
      <dsp:nvSpPr>
        <dsp:cNvPr id="0" name=""/>
        <dsp:cNvSpPr/>
      </dsp:nvSpPr>
      <dsp:spPr>
        <a:xfrm>
          <a:off x="2943977" y="612074"/>
          <a:ext cx="4004864" cy="4004864"/>
        </a:xfrm>
        <a:prstGeom prst="blockArc">
          <a:avLst>
            <a:gd name="adj1" fmla="val 1955968"/>
            <a:gd name="adj2" fmla="val 6616936"/>
            <a:gd name="adj3" fmla="val 3433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A633494-E118-49B9-9FB2-506ACA2D2CD5}">
      <dsp:nvSpPr>
        <dsp:cNvPr id="0" name=""/>
        <dsp:cNvSpPr/>
      </dsp:nvSpPr>
      <dsp:spPr>
        <a:xfrm>
          <a:off x="2938891" y="620069"/>
          <a:ext cx="4004864" cy="4004864"/>
        </a:xfrm>
        <a:prstGeom prst="blockArc">
          <a:avLst>
            <a:gd name="adj1" fmla="val 21202159"/>
            <a:gd name="adj2" fmla="val 1939418"/>
            <a:gd name="adj3" fmla="val 3433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90A77D-028B-40D6-B4B6-1B290CE96047}">
      <dsp:nvSpPr>
        <dsp:cNvPr id="0" name=""/>
        <dsp:cNvSpPr/>
      </dsp:nvSpPr>
      <dsp:spPr>
        <a:xfrm>
          <a:off x="2939039" y="164302"/>
          <a:ext cx="4004864" cy="4004864"/>
        </a:xfrm>
        <a:prstGeom prst="blockArc">
          <a:avLst>
            <a:gd name="adj1" fmla="val 19663196"/>
            <a:gd name="adj2" fmla="val 400068"/>
            <a:gd name="adj3" fmla="val 3433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E75070-1CFF-431B-ABCD-9FA06CA44800}">
      <dsp:nvSpPr>
        <dsp:cNvPr id="0" name=""/>
        <dsp:cNvSpPr/>
      </dsp:nvSpPr>
      <dsp:spPr>
        <a:xfrm>
          <a:off x="3002795" y="259029"/>
          <a:ext cx="4004864" cy="4004864"/>
        </a:xfrm>
        <a:prstGeom prst="blockArc">
          <a:avLst>
            <a:gd name="adj1" fmla="val 14872857"/>
            <a:gd name="adj2" fmla="val 19463715"/>
            <a:gd name="adj3" fmla="val 3433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DEFD1B-0A47-41E2-AD0B-8D3B0A418521}">
      <dsp:nvSpPr>
        <dsp:cNvPr id="0" name=""/>
        <dsp:cNvSpPr/>
      </dsp:nvSpPr>
      <dsp:spPr>
        <a:xfrm>
          <a:off x="2816210" y="1296159"/>
          <a:ext cx="2679471" cy="2482609"/>
        </a:xfrm>
        <a:prstGeom prst="ellipse">
          <a:avLst/>
        </a:prstGeom>
        <a:solidFill>
          <a:schemeClr val="accent3"/>
        </a:solidFill>
        <a:ln w="28575">
          <a:solidFill>
            <a:srgbClr val="00B050"/>
          </a:solidFill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2400" b="1" kern="1200" dirty="0"/>
            <a:t>Características</a:t>
          </a: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2400" b="1" kern="1200" dirty="0"/>
            <a:t>personales</a:t>
          </a:r>
        </a:p>
      </dsp:txBody>
      <dsp:txXfrm>
        <a:off x="3208609" y="1659729"/>
        <a:ext cx="1894673" cy="1755469"/>
      </dsp:txXfrm>
    </dsp:sp>
    <dsp:sp modelId="{1EA97D0F-FADF-4648-B47B-1E7E5DAB8019}">
      <dsp:nvSpPr>
        <dsp:cNvPr id="0" name=""/>
        <dsp:cNvSpPr/>
      </dsp:nvSpPr>
      <dsp:spPr>
        <a:xfrm>
          <a:off x="2908110" y="2240"/>
          <a:ext cx="2712157" cy="872006"/>
        </a:xfrm>
        <a:prstGeom prst="ellipse">
          <a:avLst/>
        </a:prstGeom>
        <a:solidFill>
          <a:schemeClr val="tx2">
            <a:lumMod val="40000"/>
            <a:lumOff val="6000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2000" b="1" kern="1200" dirty="0">
              <a:solidFill>
                <a:schemeClr val="tx1"/>
              </a:solidFill>
            </a:rPr>
            <a:t>Creatividad e innovación</a:t>
          </a:r>
          <a:endParaRPr lang="es-ES" sz="2000" b="1" kern="1200" dirty="0">
            <a:solidFill>
              <a:schemeClr val="tx1"/>
            </a:solidFill>
          </a:endParaRPr>
        </a:p>
      </dsp:txBody>
      <dsp:txXfrm>
        <a:off x="3305296" y="129942"/>
        <a:ext cx="1917785" cy="616602"/>
      </dsp:txXfrm>
    </dsp:sp>
    <dsp:sp modelId="{C5F57591-51B8-4DC8-9F69-AC4849348760}">
      <dsp:nvSpPr>
        <dsp:cNvPr id="0" name=""/>
        <dsp:cNvSpPr/>
      </dsp:nvSpPr>
      <dsp:spPr>
        <a:xfrm>
          <a:off x="5249285" y="679672"/>
          <a:ext cx="2712157" cy="872006"/>
        </a:xfrm>
        <a:prstGeom prst="ellipse">
          <a:avLst/>
        </a:prstGeom>
        <a:solidFill>
          <a:schemeClr val="tx2">
            <a:lumMod val="40000"/>
            <a:lumOff val="6000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2000" b="1" kern="1200" dirty="0">
              <a:solidFill>
                <a:schemeClr val="tx1"/>
              </a:solidFill>
            </a:rPr>
            <a:t>Organización</a:t>
          </a:r>
          <a:endParaRPr lang="es-ES" sz="2000" b="1" kern="1200" dirty="0">
            <a:solidFill>
              <a:schemeClr val="tx1"/>
            </a:solidFill>
          </a:endParaRPr>
        </a:p>
      </dsp:txBody>
      <dsp:txXfrm>
        <a:off x="5646471" y="807374"/>
        <a:ext cx="1917785" cy="616602"/>
      </dsp:txXfrm>
    </dsp:sp>
    <dsp:sp modelId="{38E354CA-BBEF-4ABE-86A9-0ECBC45629D6}">
      <dsp:nvSpPr>
        <dsp:cNvPr id="0" name=""/>
        <dsp:cNvSpPr/>
      </dsp:nvSpPr>
      <dsp:spPr>
        <a:xfrm>
          <a:off x="5540141" y="1959247"/>
          <a:ext cx="2712157" cy="872006"/>
        </a:xfrm>
        <a:prstGeom prst="ellipse">
          <a:avLst/>
        </a:prstGeom>
        <a:solidFill>
          <a:schemeClr val="tx2">
            <a:lumMod val="40000"/>
            <a:lumOff val="6000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2000" b="1" kern="1200" dirty="0">
              <a:solidFill>
                <a:schemeClr val="tx1"/>
              </a:solidFill>
            </a:rPr>
            <a:t>Trabajo</a:t>
          </a:r>
          <a:endParaRPr lang="es-ES" sz="2000" b="1" kern="1200" dirty="0">
            <a:solidFill>
              <a:schemeClr val="tx1"/>
            </a:solidFill>
          </a:endParaRPr>
        </a:p>
      </dsp:txBody>
      <dsp:txXfrm>
        <a:off x="5937327" y="2086949"/>
        <a:ext cx="1917785" cy="616602"/>
      </dsp:txXfrm>
    </dsp:sp>
    <dsp:sp modelId="{878B6A84-97EE-4EFB-A433-E5A74748C5EF}">
      <dsp:nvSpPr>
        <dsp:cNvPr id="0" name=""/>
        <dsp:cNvSpPr/>
      </dsp:nvSpPr>
      <dsp:spPr>
        <a:xfrm>
          <a:off x="5248338" y="3238821"/>
          <a:ext cx="2712157" cy="872006"/>
        </a:xfrm>
        <a:prstGeom prst="ellipse">
          <a:avLst/>
        </a:prstGeom>
        <a:solidFill>
          <a:schemeClr val="tx2">
            <a:lumMod val="40000"/>
            <a:lumOff val="6000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2000" b="1" kern="1200" dirty="0">
              <a:solidFill>
                <a:schemeClr val="tx1"/>
              </a:solidFill>
            </a:rPr>
            <a:t>Habilidades sociales</a:t>
          </a:r>
          <a:endParaRPr lang="es-ES" sz="2000" b="1" kern="1200" dirty="0">
            <a:solidFill>
              <a:schemeClr val="tx1"/>
            </a:solidFill>
          </a:endParaRPr>
        </a:p>
      </dsp:txBody>
      <dsp:txXfrm>
        <a:off x="5645524" y="3366523"/>
        <a:ext cx="1917785" cy="616602"/>
      </dsp:txXfrm>
    </dsp:sp>
    <dsp:sp modelId="{66459D28-CB3E-4E8D-B10B-E341C67F9FC8}">
      <dsp:nvSpPr>
        <dsp:cNvPr id="0" name=""/>
        <dsp:cNvSpPr/>
      </dsp:nvSpPr>
      <dsp:spPr>
        <a:xfrm>
          <a:off x="2908112" y="4024537"/>
          <a:ext cx="2712157" cy="872006"/>
        </a:xfrm>
        <a:prstGeom prst="ellipse">
          <a:avLst/>
        </a:prstGeom>
        <a:solidFill>
          <a:schemeClr val="tx2">
            <a:lumMod val="40000"/>
            <a:lumOff val="6000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2000" b="1" kern="1200" dirty="0">
              <a:solidFill>
                <a:schemeClr val="tx1"/>
              </a:solidFill>
            </a:rPr>
            <a:t>Honradez</a:t>
          </a:r>
          <a:endParaRPr lang="es-ES" sz="2000" b="1" kern="1200" dirty="0">
            <a:solidFill>
              <a:schemeClr val="tx1"/>
            </a:solidFill>
          </a:endParaRPr>
        </a:p>
      </dsp:txBody>
      <dsp:txXfrm>
        <a:off x="3305298" y="4152239"/>
        <a:ext cx="1917785" cy="616602"/>
      </dsp:txXfrm>
    </dsp:sp>
    <dsp:sp modelId="{39F47034-BA09-43D6-B675-FB04D88FB3D2}">
      <dsp:nvSpPr>
        <dsp:cNvPr id="0" name=""/>
        <dsp:cNvSpPr/>
      </dsp:nvSpPr>
      <dsp:spPr>
        <a:xfrm>
          <a:off x="591334" y="3238818"/>
          <a:ext cx="2712157" cy="872006"/>
        </a:xfrm>
        <a:prstGeom prst="ellipse">
          <a:avLst/>
        </a:prstGeom>
        <a:solidFill>
          <a:schemeClr val="tx2">
            <a:lumMod val="40000"/>
            <a:lumOff val="6000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2000" b="1" kern="1200" dirty="0">
              <a:solidFill>
                <a:schemeClr val="tx1"/>
              </a:solidFill>
            </a:rPr>
            <a:t>Riesgo</a:t>
          </a:r>
          <a:endParaRPr lang="es-ES" sz="2000" b="1" kern="1200" dirty="0">
            <a:solidFill>
              <a:schemeClr val="tx1"/>
            </a:solidFill>
          </a:endParaRPr>
        </a:p>
      </dsp:txBody>
      <dsp:txXfrm>
        <a:off x="988520" y="3366520"/>
        <a:ext cx="1917785" cy="616602"/>
      </dsp:txXfrm>
    </dsp:sp>
    <dsp:sp modelId="{B8FADCDF-E43F-4D56-9634-DCD371EB9ECE}">
      <dsp:nvSpPr>
        <dsp:cNvPr id="0" name=""/>
        <dsp:cNvSpPr/>
      </dsp:nvSpPr>
      <dsp:spPr>
        <a:xfrm>
          <a:off x="0" y="1959246"/>
          <a:ext cx="2712157" cy="872006"/>
        </a:xfrm>
        <a:prstGeom prst="ellipse">
          <a:avLst/>
        </a:prstGeom>
        <a:solidFill>
          <a:schemeClr val="tx2">
            <a:lumMod val="40000"/>
            <a:lumOff val="6000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2000" b="1" kern="1200" dirty="0">
              <a:solidFill>
                <a:schemeClr val="tx1"/>
              </a:solidFill>
            </a:rPr>
            <a:t>Persistencia</a:t>
          </a:r>
          <a:endParaRPr lang="es-ES" sz="2000" b="1" kern="1200" dirty="0">
            <a:solidFill>
              <a:schemeClr val="tx1"/>
            </a:solidFill>
          </a:endParaRPr>
        </a:p>
      </dsp:txBody>
      <dsp:txXfrm>
        <a:off x="397186" y="2086948"/>
        <a:ext cx="1917785" cy="616602"/>
      </dsp:txXfrm>
    </dsp:sp>
    <dsp:sp modelId="{C36A5D61-77E8-4D03-B288-585789913241}">
      <dsp:nvSpPr>
        <dsp:cNvPr id="0" name=""/>
        <dsp:cNvSpPr/>
      </dsp:nvSpPr>
      <dsp:spPr>
        <a:xfrm>
          <a:off x="499500" y="604406"/>
          <a:ext cx="2712157" cy="872006"/>
        </a:xfrm>
        <a:prstGeom prst="ellipse">
          <a:avLst/>
        </a:prstGeom>
        <a:solidFill>
          <a:schemeClr val="tx2">
            <a:lumMod val="40000"/>
            <a:lumOff val="6000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2000" b="1" kern="1200" dirty="0">
              <a:solidFill>
                <a:schemeClr val="tx1"/>
              </a:solidFill>
            </a:rPr>
            <a:t>Autoconfianza con autocrítica</a:t>
          </a:r>
          <a:endParaRPr lang="es-ES" sz="2000" b="1" kern="1200" dirty="0">
            <a:solidFill>
              <a:schemeClr val="tx1"/>
            </a:solidFill>
          </a:endParaRPr>
        </a:p>
      </dsp:txBody>
      <dsp:txXfrm>
        <a:off x="896686" y="732108"/>
        <a:ext cx="1917785" cy="61660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5">
  <dgm:title val=""/>
  <dgm:desc val=""/>
  <dgm:catLst>
    <dgm:cat type="relationship" pri="23000"/>
    <dgm:cat type="cycle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alg type="cycle">
          <dgm:param type="stAng" val="0"/>
          <dgm:param type="spanAng" val="360"/>
          <dgm:param type="ctrShpMap" val="fNode"/>
        </dgm:alg>
      </dgm:if>
      <dgm:else name="Name3">
        <dgm:alg type="cycle">
          <dgm:param type="stAng" val="0"/>
          <dgm:param type="spanAng" val="-360"/>
          <dgm:param type="ctrShpMap" val="fNode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parTrans" refType="w" refFor="ch" refForName="centerShape" fact="0.4"/>
      <dgm:constr type="w" for="ch" forName="node" refType="w" refFor="ch" refForName="centerShape" op="equ" fact="1.25"/>
      <dgm:constr type="sp" refType="w" refFor="ch" refForName="centerShape" op="equ" fact="0.4"/>
      <dgm:constr type="sibSp" refType="w" refFor="ch" refForName="node" fact="0.3"/>
      <dgm:constr type="primFontSz" for="ch" forName="centerShape" val="65"/>
      <dgm:constr type="primFontSz" for="des" forName="node" op="equ" val="65"/>
      <dgm:constr type="primFontSz" for="des" forName="node" refType="primFontSz" refFor="ch" refForName="centerShape" op="lte"/>
      <dgm:constr type="primFontSz" for="des" forName="connectorText" op="equ" val="55"/>
      <dgm:constr type="primFontSz" for="des" forName="connectorText" refType="primFontSz" refFor="ch" refForName="centerShape" op="lte" fact="0.8"/>
      <dgm:constr type="primFontSz" for="des" forName="connectorText" refType="primFontSz" refFor="des" refForName="node" op="lte"/>
    </dgm:constrLst>
    <dgm:choose name="Name4">
      <dgm:if name="Name5" axis="ch ch" ptType="node node" st="1 1" cnt="1 0" func="cnt" op="lte" val="6">
        <dgm:ruleLst>
          <dgm:rule type="w" for="ch" forName="node" val="NaN" fact="1" max="NaN"/>
        </dgm:ruleLst>
      </dgm:if>
      <dgm:if name="Name6" axis="ch ch" ptType="node node" st="1 1" cnt="1 0" func="cnt" op="lte" val="8">
        <dgm:ruleLst>
          <dgm:rule type="w" for="ch" forName="node" val="NaN" fact="0.9" max="NaN"/>
        </dgm:ruleLst>
      </dgm:if>
      <dgm:if name="Name7" axis="ch ch" ptType="node node" st="1 1" cnt="1 0" func="cnt" op="lte" val="10">
        <dgm:ruleLst>
          <dgm:rule type="w" for="ch" forName="node" val="NaN" fact="0.8" max="NaN"/>
        </dgm:ruleLst>
      </dgm:if>
      <dgm:if name="Name8" axis="ch ch" ptType="node node" st="1 1" cnt="1 0" func="cnt" op="lte" val="12">
        <dgm:ruleLst>
          <dgm:rule type="w" for="ch" forName="node" val="NaN" fact="0.7" max="NaN"/>
        </dgm:ruleLst>
      </dgm:if>
      <dgm:if name="Name9" axis="ch ch" ptType="node node" st="1 1" cnt="1 0" func="cnt" op="lte" val="14">
        <dgm:ruleLst>
          <dgm:rule type="w" for="ch" forName="node" val="NaN" fact="0.6" max="NaN"/>
        </dgm:ruleLst>
      </dgm:if>
      <dgm:else name="Name10">
        <dgm:ruleLst>
          <dgm:rule type="w" for="ch" forName="node" val="NaN" fact="0.5" max="NaN"/>
        </dgm:ruleLst>
      </dgm:else>
    </dgm:choose>
    <dgm:forEach name="Name11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12" axis="ch">
        <dgm:forEach name="Name13" axis="self" ptType="parTrans">
          <dgm:layoutNode name="parTrans" styleLbl="sibTrans2D1">
            <dgm:alg type="conn">
              <dgm:param type="begPts" val="auto"/>
              <dgm:param type="endPts" val="auto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h" refType="w" fact="0.85"/>
            </dgm:constrLst>
            <dgm:ruleLst/>
            <dgm:layoutNode name="connectorText">
              <dgm:alg type="tx">
                <dgm:param type="autoTxRot" val="grav"/>
              </dgm:alg>
              <dgm:shape xmlns:r="http://schemas.openxmlformats.org/officeDocument/2006/relationships" type="conn" r:blip="" hideGeom="1">
                <dgm:adjLst/>
              </dgm:shape>
              <dgm:presOf axis="self"/>
              <dgm:constrLst>
                <dgm:constr type="lMarg"/>
                <dgm:constr type="rMarg"/>
                <dgm:constr type="tMarg"/>
                <dgm:constr type="bMarg"/>
              </dgm:constrLst>
              <dgm:ruleLst>
                <dgm:rule type="primFontSz" val="5" fact="NaN" max="NaN"/>
              </dgm:ruleLst>
            </dgm:layoutNode>
          </dgm:layoutNode>
        </dgm:forEach>
        <dgm:forEach name="Name14" axis="self" ptType="node">
          <dgm:layoutNode name="node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w" val="INF" fact="NaN" max="NaN"/>
              <dgm:rule type="primFontSz" val="5" fact="NaN" max="NaN"/>
            </dgm:ruleLst>
          </dgm:layoutNode>
        </dgm:forEach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radial6">
  <dgm:title val=""/>
  <dgm:desc val=""/>
  <dgm:catLst>
    <dgm:cat type="cycle" pri="9000"/>
    <dgm:cat type="relationship" pri="2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choose name="Name3">
          <dgm:if name="Name4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5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6">
        <dgm:choose name="Name7">
          <dgm:if name="Name8" axis="ch ch" ptType="node node" st="1 1" cnt="1 0" func="cnt" op="lte" val="1">
            <dgm:alg type="cycle">
              <dgm:param type="stAng" val="-90"/>
              <dgm:param type="spanAng" val="360"/>
              <dgm:param type="ctrShpMap" val="fNode"/>
            </dgm:alg>
          </dgm:if>
          <dgm:else name="Name9">
            <dgm:alg type="cycle">
              <dgm:param type="stAng" val="0"/>
              <dgm:param type="spanAng" val="-360"/>
              <dgm:param type="ctrShpMap" val="fNode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10">
      <dgm:if name="Name11" func="var" arg="dir" op="equ" val="norm">
        <dgm:choose name="Name12">
          <dgm:if name="Name13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des" forName="oneNode" refType="primFontSz" refFor="ch" refForName="centerShape" op="lte" fact="0.95"/>
              <dgm:constr type="diam" for="ch" forName="singleconn" refType="diam" op="equ" fact="-1"/>
              <dgm:constr type="h" for="ch" forName="singleconn" refType="w" refFor="ch" refForName="oneComp" fact="0.24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4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forName="sibTrans" refType="diam" op="equ"/>
              <dgm:constr type="h" for="ch" forName="sibTrans" refType="w" refFor="ch" refForName="node" fact="0.24"/>
              <dgm:constr type="w" for="ch" forName="dummy" val="1"/>
            </dgm:constrLst>
          </dgm:else>
        </dgm:choose>
      </dgm:if>
      <dgm:else name="Name15">
        <dgm:choose name="Name16">
          <dgm:if name="Name17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ch" forName="oneNode" refType="primFontSz" refFor="ch" refForName="centerShape" op="lte" fact="0.95"/>
              <dgm:constr type="diam" for="ch" forName="singleconn" refType="diam"/>
              <dgm:constr type="h" for="ch" forName="singleconn" refType="w" refFor="ch" refForName="oneComp" fact="0.24"/>
              <dgm:constr type="diam" for="ch" refType="diam" op="equ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8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ptType="sibTrans" refType="diam" fact="-1"/>
              <dgm:constr type="h" for="ch" forName="sibTrans" refType="w" refFor="ch" refForName="node" fact="0.24"/>
              <dgm:constr type="diam" for="ch" refType="diam" op="equ" fact="-1"/>
              <dgm:constr type="w" for="ch" forName="dummy" val="1"/>
            </dgm:constrLst>
          </dgm:else>
        </dgm:choose>
      </dgm:else>
    </dgm:choose>
    <dgm:ruleLst>
      <dgm:rule type="diam" val="INF" fact="NaN" max="NaN"/>
    </dgm:ruleLst>
    <dgm:forEach name="Name19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20" axis="ch">
        <dgm:forEach name="Name21" axis="self" ptType="node">
          <dgm:choose name="Name22">
            <dgm:if name="Name23" axis="par ch" ptType="node node" func="cnt" op="gt" val="1">
              <dgm:layoutNode name="node" styleLbl="node1">
                <dgm:varLst>
                  <dgm:bulletEnabled val="1"/>
                </dgm:varLst>
                <dgm:alg type="tx">
                  <dgm:param type="txAnchorVertCh" val="mid"/>
                </dgm:alg>
                <dgm:shape xmlns:r="http://schemas.openxmlformats.org/officeDocument/2006/relationships" type="ellipse" r:blip="">
                  <dgm:adjLst/>
                </dgm:shape>
                <dgm:presOf axis="desOrSelf" ptType="node"/>
                <dgm:constrLst>
                  <dgm:constr type="h" refType="w"/>
                  <dgm:constr type="tMarg" refType="primFontSz" fact="0.1"/>
                  <dgm:constr type="bMarg" refType="primFontSz" fact="0.1"/>
                  <dgm:constr type="lMarg" refType="primFontSz" fact="0.1"/>
                  <dgm:constr type="rMarg" refType="primFontSz" fact="0.1"/>
                </dgm:constrLst>
                <dgm:ruleLst>
                  <dgm:rule type="primFontSz" val="5" fact="NaN" max="NaN"/>
                </dgm:ruleLst>
              </dgm:layoutNode>
              <dgm:layoutNode name="dummy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" axis="followSib" ptType="sibTrans" hideLastTrans="0" cnt="1">
                <dgm:layoutNode name="sibTrans" styleLbl="sibTrans2D1">
                  <dgm:alg type="conn">
                    <dgm:param type="connRout" val="curve"/>
                    <dgm:param type="begPts" val="ctr"/>
                    <dgm:param type="endPts" val="ctr"/>
                    <dgm:param type="begSty" val="noArr"/>
                    <dgm:param type="endSty" val="noArr"/>
                    <dgm:param type="dstNode" val="node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if name="Name24" axis="par ch" ptType="node node" func="cnt" op="equ" val="1">
              <dgm:layoutNode name="oneComp">
                <dgm:alg type="composite">
                  <dgm:param type="ar" val="1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  <dgm:constr type="l" for="ch" forName="dummyConnPt" refType="w" fact="0.5"/>
                  <dgm:constr type="t" for="ch" forName="dummyConnPt" refType="w" fact="0.5"/>
                  <dgm:constr type="l" for="ch" forName="oneNode"/>
                  <dgm:constr type="t" for="ch" forName="oneNode"/>
                  <dgm:constr type="h" for="ch" forName="oneNode" refType="h"/>
                  <dgm:constr type="w" for="ch" forName="oneNode" refType="w"/>
                </dgm:constrLst>
                <dgm:ruleLst/>
                <dgm:layoutNode name="dummyConnPt" styleLbl="node1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val="1"/>
                    <dgm:constr type="h" val="1"/>
                  </dgm:constrLst>
                  <dgm:ruleLst/>
                </dgm:layoutNode>
                <dgm:layoutNode name="oneNode" styleLbl="node1">
                  <dgm:varLst>
                    <dgm:bulletEnabled val="1"/>
                  </dgm:varLst>
                  <dgm:alg type="tx">
                    <dgm:param type="txAnchorVertCh" val="mid"/>
                  </dgm:alg>
                  <dgm:shape xmlns:r="http://schemas.openxmlformats.org/officeDocument/2006/relationships" type="ellipse" r:blip="">
                    <dgm:adjLst/>
                  </dgm:shape>
                  <dgm:presOf axis="desOrSelf" ptType="node"/>
                  <dgm:constrLst>
                    <dgm:constr type="h" refType="w"/>
                    <dgm:constr type="tMarg" refType="primFontSz" fact="0.1"/>
                    <dgm:constr type="bMarg" refType="primFontSz" fact="0.1"/>
                    <dgm:constr type="lMarg" refType="primFontSz" fact="0.1"/>
                    <dgm:constr type="rMarg" refType="primFontSz" fact="0.1"/>
                  </dgm:constrLst>
                  <dgm:ruleLst>
                    <dgm:rule type="primFontSz" val="5" fact="NaN" max="NaN"/>
                  </dgm:ruleLst>
                </dgm:layoutNode>
              </dgm:layoutNode>
              <dgm:layoutNode name="dummya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b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c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1" axis="followSib" ptType="sibTrans" hideLastTrans="0" cnt="1">
                <dgm:layoutNode name="singleconn" styleLbl="sibTrans2D1">
                  <dgm:alg type="conn">
                    <dgm:param type="connRout" val="longCurve"/>
                    <dgm:param type="begPts" val="bCtr"/>
                    <dgm:param type="endPts" val="tCtr"/>
                    <dgm:param type="begSty" val="noArr"/>
                    <dgm:param type="endSty" val="noArr"/>
                    <dgm:param type="srcNode" val="dummyConnPt"/>
                    <dgm:param type="dstNode" val="dummyConnPt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else name="Name25"/>
          </dgm:choose>
        </dgm:forEach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 dirty="0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FE4E2B-65D4-4D33-83AE-A5EA535FE91A}" type="datetimeFigureOut">
              <a:rPr lang="es-ES" smtClean="0"/>
              <a:t>22/9/25</a:t>
            </a:fld>
            <a:endParaRPr lang="es-ES" dirty="0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 dirty="0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38CA4C-A49C-45E2-BE04-B4EF3838BE13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7043425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38CA4C-A49C-45E2-BE04-B4EF3838BE13}" type="slidenum">
              <a:rPr lang="es-ES" smtClean="0"/>
              <a:t>1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7735426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92216-3B5A-48B6-B9E5-989B0A558A73}" type="datetime1">
              <a:rPr lang="es-ES" smtClean="0"/>
              <a:t>22/9/25</a:t>
            </a:fld>
            <a:endParaRPr lang="es-E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M.B.E.</a:t>
            </a:r>
            <a:endParaRPr lang="es-E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34AD4-DC89-4EDF-8DD1-AAEA993E7D46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6303804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B1F9B-BBA3-4244-91C2-6FFBAC6AFCA8}" type="datetime1">
              <a:rPr lang="es-ES" smtClean="0"/>
              <a:t>22/9/25</a:t>
            </a:fld>
            <a:endParaRPr lang="es-E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M.B.E.</a:t>
            </a:r>
            <a:endParaRPr lang="es-E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34AD4-DC89-4EDF-8DD1-AAEA993E7D46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3300776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7E45B-77F0-4D4E-AEE8-092E85ECDDBB}" type="datetime1">
              <a:rPr lang="es-ES" smtClean="0"/>
              <a:t>22/9/25</a:t>
            </a:fld>
            <a:endParaRPr lang="es-E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M.B.E.</a:t>
            </a:r>
            <a:endParaRPr lang="es-E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34AD4-DC89-4EDF-8DD1-AAEA993E7D46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7724984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17913-E1AB-4C61-9FD2-6979062E8BFD}" type="datetime1">
              <a:rPr lang="es-ES" smtClean="0"/>
              <a:t>22/9/25</a:t>
            </a:fld>
            <a:endParaRPr lang="es-E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M.B.E.</a:t>
            </a:r>
            <a:endParaRPr lang="es-E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34AD4-DC89-4EDF-8DD1-AAEA993E7D46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0439131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D802F-1EBA-498A-BC2B-525F05C7CA10}" type="datetime1">
              <a:rPr lang="es-ES" smtClean="0"/>
              <a:t>22/9/25</a:t>
            </a:fld>
            <a:endParaRPr lang="es-E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M.B.E.</a:t>
            </a:r>
            <a:endParaRPr lang="es-E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34AD4-DC89-4EDF-8DD1-AAEA993E7D46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1070610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BE9AB-F773-4A1D-934E-2C3E337DFB10}" type="datetime1">
              <a:rPr lang="es-ES" smtClean="0"/>
              <a:t>22/9/25</a:t>
            </a:fld>
            <a:endParaRPr lang="es-E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M.B.E.</a:t>
            </a:r>
            <a:endParaRPr lang="es-E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34AD4-DC89-4EDF-8DD1-AAEA993E7D46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43689014"/>
      </p:ext>
    </p:extLst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1D479-0467-41FB-B559-0C59942C84FB}" type="datetime1">
              <a:rPr lang="es-ES" smtClean="0"/>
              <a:t>22/9/25</a:t>
            </a:fld>
            <a:endParaRPr lang="es-E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M.B.E.</a:t>
            </a:r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34AD4-DC89-4EDF-8DD1-AAEA993E7D46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7893483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8193C-88BA-40D2-BEAD-3776E8A6F5B7}" type="datetime1">
              <a:rPr lang="es-ES" smtClean="0"/>
              <a:t>22/9/25</a:t>
            </a:fld>
            <a:endParaRPr lang="es-E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M.B.E.</a:t>
            </a:r>
            <a:endParaRPr lang="es-E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34AD4-DC89-4EDF-8DD1-AAEA993E7D46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280738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AA35B-299A-4AC6-97C8-0624A440F61B}" type="datetime1">
              <a:rPr lang="es-ES" smtClean="0"/>
              <a:t>22/9/25</a:t>
            </a:fld>
            <a:endParaRPr lang="es-E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M.B.E.</a:t>
            </a:r>
            <a:endParaRPr lang="es-E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34AD4-DC89-4EDF-8DD1-AAEA993E7D46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7583810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12CA2-690F-4F5A-BDDC-BD5487C11BED}" type="datetime1">
              <a:rPr lang="es-ES" smtClean="0"/>
              <a:t>22/9/25</a:t>
            </a:fld>
            <a:endParaRPr lang="es-E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M.B.E.</a:t>
            </a:r>
            <a:endParaRPr lang="es-E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34AD4-DC89-4EDF-8DD1-AAEA993E7D46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105265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EC64E-3D99-40ED-A0BE-213195A42E87}" type="datetime1">
              <a:rPr lang="es-ES" smtClean="0"/>
              <a:t>22/9/25</a:t>
            </a:fld>
            <a:endParaRPr lang="es-E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M.B.E.</a:t>
            </a:r>
            <a:endParaRPr lang="es-E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34AD4-DC89-4EDF-8DD1-AAEA993E7D46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369975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DBE9AB-F773-4A1D-934E-2C3E337DFB10}" type="datetime1">
              <a:rPr lang="es-ES" smtClean="0"/>
              <a:t>22/9/25</a:t>
            </a:fld>
            <a:endParaRPr lang="es-E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s-ES"/>
              <a:t>M.B.E.</a:t>
            </a:r>
            <a:endParaRPr lang="es-E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A34AD4-DC89-4EDF-8DD1-AAEA993E7D46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640444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27" r:id="rId1"/>
    <p:sldLayoutId id="2147484128" r:id="rId2"/>
    <p:sldLayoutId id="2147484129" r:id="rId3"/>
    <p:sldLayoutId id="2147484130" r:id="rId4"/>
    <p:sldLayoutId id="2147484131" r:id="rId5"/>
    <p:sldLayoutId id="2147484132" r:id="rId6"/>
    <p:sldLayoutId id="2147484133" r:id="rId7"/>
    <p:sldLayoutId id="2147484134" r:id="rId8"/>
    <p:sldLayoutId id="2147484135" r:id="rId9"/>
    <p:sldLayoutId id="2147484136" r:id="rId10"/>
    <p:sldLayoutId id="2147484137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modaes.com/empresa/la-historica-marca-blanco-sale-de-nuevo-a-la-venta-para-evitar-la-liquidacion-1" TargetMode="Externa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hyperlink" Target="https://www.youtube.com/watch?v=i07qz_6Mk7g" TargetMode="External"/><Relationship Id="rId2" Type="http://schemas.openxmlformats.org/officeDocument/2006/relationships/slide" Target="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1U8uLnTe5qI" TargetMode="Externa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jzwwvQTtUpw" TargetMode="Externa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mprendedores.es/gestion/amazon-revender-productos-negocio/" TargetMode="External"/><Relationship Id="rId2" Type="http://schemas.openxmlformats.org/officeDocument/2006/relationships/image" Target="../media/image9.tmp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mheducation.es/blog/top-10-errores-de-los-emprendedores" TargetMode="External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HE5EV9igx_o" TargetMode="Externa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i1Le5GYkBT8" TargetMode="Externa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" Target="slide15.xml"/><Relationship Id="rId2" Type="http://schemas.openxmlformats.org/officeDocument/2006/relationships/slide" Target="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FRTjiy3tbgc" TargetMode="External"/><Relationship Id="rId4" Type="http://schemas.openxmlformats.org/officeDocument/2006/relationships/hyperlink" Target="https://www.youtube.com/watch?v=FRTjiy3tbgc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799" y="1628801"/>
            <a:ext cx="7237413" cy="39010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8 Imagen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1212" y="243283"/>
            <a:ext cx="1362075" cy="638175"/>
          </a:xfrm>
          <a:prstGeom prst="rect">
            <a:avLst/>
          </a:prstGeom>
          <a:effectLst>
            <a:outerShdw blurRad="50800" dist="50800" dir="5400000" algn="ctr" rotWithShape="0">
              <a:srgbClr val="000000"/>
            </a:outerShdw>
          </a:effectLst>
        </p:spPr>
      </p:pic>
      <p:pic>
        <p:nvPicPr>
          <p:cNvPr id="11" name="10 Imagen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1212" y="933058"/>
            <a:ext cx="1362075" cy="945829"/>
          </a:xfrm>
          <a:prstGeom prst="rect">
            <a:avLst/>
          </a:prstGeom>
        </p:spPr>
      </p:pic>
      <p:sp>
        <p:nvSpPr>
          <p:cNvPr id="14" name="13 CuadroTexto"/>
          <p:cNvSpPr txBox="1"/>
          <p:nvPr/>
        </p:nvSpPr>
        <p:spPr>
          <a:xfrm>
            <a:off x="429816" y="2286669"/>
            <a:ext cx="560294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5400" b="1" dirty="0">
                <a:solidFill>
                  <a:schemeClr val="accent2"/>
                </a:solidFill>
              </a:rPr>
              <a:t>Unidad 1              </a:t>
            </a:r>
            <a:r>
              <a:rPr lang="es-ES_tradnl" sz="5400" dirty="0">
                <a:solidFill>
                  <a:schemeClr val="accent2"/>
                </a:solidFill>
              </a:rPr>
              <a:t>LA INICIATIVA EMPRENDEDORA</a:t>
            </a:r>
            <a:endParaRPr lang="es-ES" sz="54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79056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4326" y="-3340"/>
            <a:ext cx="5937834" cy="696036"/>
          </a:xfrm>
        </p:spPr>
        <p:txBody>
          <a:bodyPr>
            <a:normAutofit/>
          </a:bodyPr>
          <a:lstStyle/>
          <a:p>
            <a:pPr algn="l"/>
            <a:r>
              <a:rPr lang="es-ES_tradnl" b="1" dirty="0"/>
              <a:t>CONTENIDOS</a:t>
            </a:r>
            <a:endParaRPr lang="es-ES" b="1" dirty="0"/>
          </a:p>
        </p:txBody>
      </p:sp>
      <p:sp>
        <p:nvSpPr>
          <p:cNvPr id="5" name="4 Rectángulo">
            <a:hlinkClick r:id="rId2" action="ppaction://hlinksldjump" tooltip="click punto 1"/>
          </p:cNvPr>
          <p:cNvSpPr/>
          <p:nvPr/>
        </p:nvSpPr>
        <p:spPr>
          <a:xfrm>
            <a:off x="681172" y="1406691"/>
            <a:ext cx="6927676" cy="34532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lvl="0" indent="-514350">
              <a:spcBef>
                <a:spcPct val="20000"/>
              </a:spcBef>
              <a:buFont typeface="Arial" pitchFamily="34" charset="0"/>
              <a:buAutoNum type="arabicPeriod"/>
            </a:pPr>
            <a:r>
              <a:rPr lang="es-ES_tradnl" sz="2800" b="1" dirty="0">
                <a:solidFill>
                  <a:prstClr val="black"/>
                </a:solidFill>
              </a:rPr>
              <a:t>El trabajador por cuenta propia /ajena</a:t>
            </a:r>
          </a:p>
          <a:p>
            <a:pPr marL="514350" lvl="0" indent="-514350">
              <a:spcBef>
                <a:spcPct val="20000"/>
              </a:spcBef>
              <a:buFont typeface="Arial" pitchFamily="34" charset="0"/>
              <a:buAutoNum type="arabicPeriod"/>
            </a:pPr>
            <a:r>
              <a:rPr lang="es-ES_tradnl" sz="2800" b="1" dirty="0">
                <a:solidFill>
                  <a:prstClr val="black"/>
                </a:solidFill>
              </a:rPr>
              <a:t>Requisitos y teorías del empresario</a:t>
            </a:r>
          </a:p>
          <a:p>
            <a:pPr marL="514350" lvl="0" indent="-514350">
              <a:spcBef>
                <a:spcPct val="20000"/>
              </a:spcBef>
              <a:buFont typeface="Arial" pitchFamily="34" charset="0"/>
              <a:buAutoNum type="arabicPeriod"/>
            </a:pPr>
            <a:r>
              <a:rPr lang="es-ES_tradnl" sz="2800" b="1" dirty="0">
                <a:solidFill>
                  <a:prstClr val="black"/>
                </a:solidFill>
              </a:rPr>
              <a:t>El espíritu emprendedor</a:t>
            </a:r>
          </a:p>
          <a:p>
            <a:pPr marL="514350" lvl="0" indent="-514350">
              <a:spcBef>
                <a:spcPct val="20000"/>
              </a:spcBef>
              <a:buFont typeface="Arial" pitchFamily="34" charset="0"/>
              <a:buAutoNum type="arabicPeriod"/>
            </a:pPr>
            <a:r>
              <a:rPr lang="es-ES_tradnl" sz="2800" b="1" dirty="0">
                <a:solidFill>
                  <a:prstClr val="black"/>
                </a:solidFill>
              </a:rPr>
              <a:t>Características personales de los emprendedores</a:t>
            </a:r>
          </a:p>
          <a:p>
            <a:pPr marL="514350" lvl="0" indent="-514350">
              <a:spcBef>
                <a:spcPct val="20000"/>
              </a:spcBef>
              <a:buFont typeface="Arial" pitchFamily="34" charset="0"/>
              <a:buAutoNum type="arabicPeriod"/>
            </a:pPr>
            <a:r>
              <a:rPr lang="es-ES_tradnl" sz="2800" b="1" dirty="0">
                <a:solidFill>
                  <a:prstClr val="black"/>
                </a:solidFill>
              </a:rPr>
              <a:t>La idea de negocio y su generación</a:t>
            </a:r>
          </a:p>
        </p:txBody>
      </p:sp>
    </p:spTree>
    <p:extLst>
      <p:ext uri="{BB962C8B-B14F-4D97-AF65-F5344CB8AC3E}">
        <p14:creationId xmlns:p14="http://schemas.microsoft.com/office/powerpoint/2010/main" val="7893457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14 Image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890" y="1421986"/>
            <a:ext cx="1685887" cy="789891"/>
          </a:xfrm>
          <a:prstGeom prst="rect">
            <a:avLst/>
          </a:prstGeom>
          <a:effectLst>
            <a:outerShdw blurRad="50800" dist="50800" dir="5400000" algn="ctr" rotWithShape="0">
              <a:srgbClr val="000000"/>
            </a:outerShdw>
          </a:effectLst>
        </p:spPr>
      </p:pic>
      <p:sp>
        <p:nvSpPr>
          <p:cNvPr id="3" name="2 Flecha derecha"/>
          <p:cNvSpPr/>
          <p:nvPr/>
        </p:nvSpPr>
        <p:spPr>
          <a:xfrm>
            <a:off x="2164220" y="1904138"/>
            <a:ext cx="504056" cy="21602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4" name="3 CuadroTexto"/>
          <p:cNvSpPr txBox="1"/>
          <p:nvPr/>
        </p:nvSpPr>
        <p:spPr>
          <a:xfrm>
            <a:off x="2859196" y="1822251"/>
            <a:ext cx="936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b="1" dirty="0"/>
              <a:t>Aporta</a:t>
            </a:r>
            <a:endParaRPr lang="es-ES" b="1" dirty="0"/>
          </a:p>
        </p:txBody>
      </p:sp>
      <p:sp>
        <p:nvSpPr>
          <p:cNvPr id="19" name="18 CuadroTexto"/>
          <p:cNvSpPr txBox="1"/>
          <p:nvPr/>
        </p:nvSpPr>
        <p:spPr>
          <a:xfrm>
            <a:off x="4888571" y="1904138"/>
            <a:ext cx="39135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b="1" dirty="0"/>
              <a:t>Conocimiento</a:t>
            </a:r>
            <a:r>
              <a:rPr lang="es-ES_tradnl" dirty="0"/>
              <a:t> sobre funcionamiento interno de una </a:t>
            </a:r>
            <a:r>
              <a:rPr lang="es-ES_tradnl" b="1" dirty="0"/>
              <a:t>empresa </a:t>
            </a:r>
          </a:p>
        </p:txBody>
      </p:sp>
      <p:sp>
        <p:nvSpPr>
          <p:cNvPr id="23" name="22 Flecha derecha"/>
          <p:cNvSpPr/>
          <p:nvPr/>
        </p:nvSpPr>
        <p:spPr>
          <a:xfrm>
            <a:off x="4039353" y="1919199"/>
            <a:ext cx="504056" cy="21602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4" name="23 CuadroTexto"/>
          <p:cNvSpPr txBox="1"/>
          <p:nvPr/>
        </p:nvSpPr>
        <p:spPr>
          <a:xfrm>
            <a:off x="2859196" y="2741712"/>
            <a:ext cx="1868652" cy="369332"/>
          </a:xfrm>
          <a:prstGeom prst="rect">
            <a:avLst/>
          </a:prstGeom>
          <a:noFill/>
          <a:ln>
            <a:solidFill>
              <a:schemeClr val="accent1">
                <a:shade val="95000"/>
                <a:satMod val="10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ES_tradnl" b="1" dirty="0"/>
              <a:t>TRABAJADOR</a:t>
            </a:r>
            <a:endParaRPr lang="es-ES" b="1" dirty="0"/>
          </a:p>
        </p:txBody>
      </p:sp>
      <p:sp>
        <p:nvSpPr>
          <p:cNvPr id="25" name="24 CuadroTexto"/>
          <p:cNvSpPr txBox="1"/>
          <p:nvPr/>
        </p:nvSpPr>
        <p:spPr>
          <a:xfrm>
            <a:off x="284890" y="3345329"/>
            <a:ext cx="424847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b="1" dirty="0"/>
              <a:t>	</a:t>
            </a:r>
            <a:r>
              <a:rPr lang="es-ES_tradnl" b="1" u="sng" dirty="0"/>
              <a:t>Cuenta Ajena</a:t>
            </a:r>
          </a:p>
          <a:p>
            <a:endParaRPr lang="es-ES_tradnl" dirty="0"/>
          </a:p>
          <a:p>
            <a:pPr marL="285750" indent="-285750">
              <a:buFont typeface="Wingdings" pitchFamily="2" charset="2"/>
              <a:buChar char="§"/>
            </a:pPr>
            <a:r>
              <a:rPr lang="es-ES_tradnl" dirty="0"/>
              <a:t>Depender de un jefe</a:t>
            </a:r>
          </a:p>
          <a:p>
            <a:pPr marL="285750" indent="-285750">
              <a:buFont typeface="Wingdings" pitchFamily="2" charset="2"/>
              <a:buChar char="§"/>
            </a:pPr>
            <a:r>
              <a:rPr lang="es-ES_tradnl" dirty="0"/>
              <a:t>Responsabilidad limitada </a:t>
            </a:r>
          </a:p>
          <a:p>
            <a:pPr marL="285750" indent="-285750">
              <a:buFont typeface="Wingdings" pitchFamily="2" charset="2"/>
              <a:buChar char="§"/>
            </a:pPr>
            <a:r>
              <a:rPr lang="es-ES_tradnl" dirty="0"/>
              <a:t>Salario fijo, independiente de beneficios</a:t>
            </a:r>
          </a:p>
          <a:p>
            <a:pPr marL="285750" indent="-285750">
              <a:buFont typeface="Wingdings" pitchFamily="2" charset="2"/>
              <a:buChar char="§"/>
            </a:pPr>
            <a:r>
              <a:rPr lang="es-ES_tradnl" dirty="0"/>
              <a:t>Cumplir un horario de trabajo</a:t>
            </a:r>
          </a:p>
          <a:p>
            <a:pPr marL="285750" indent="-285750">
              <a:buFont typeface="Wingdings" pitchFamily="2" charset="2"/>
              <a:buChar char="§"/>
            </a:pPr>
            <a:r>
              <a:rPr lang="es-ES_tradnl" dirty="0"/>
              <a:t>Dependencia del clima laboral</a:t>
            </a:r>
            <a:endParaRPr lang="es-ES" dirty="0"/>
          </a:p>
        </p:txBody>
      </p:sp>
      <p:sp>
        <p:nvSpPr>
          <p:cNvPr id="26" name="25 CuadroTexto"/>
          <p:cNvSpPr txBox="1"/>
          <p:nvPr/>
        </p:nvSpPr>
        <p:spPr>
          <a:xfrm>
            <a:off x="4860031" y="3345329"/>
            <a:ext cx="394212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b="1" dirty="0"/>
              <a:t>	</a:t>
            </a:r>
            <a:r>
              <a:rPr lang="es-ES_tradnl" b="1" u="sng" dirty="0"/>
              <a:t>Cuenta Propia</a:t>
            </a:r>
          </a:p>
          <a:p>
            <a:endParaRPr lang="es-ES_tradnl" dirty="0"/>
          </a:p>
          <a:p>
            <a:pPr marL="285750" indent="-285750">
              <a:buFont typeface="Wingdings" pitchFamily="2" charset="2"/>
              <a:buChar char="§"/>
            </a:pPr>
            <a:r>
              <a:rPr lang="es-ES_tradnl" dirty="0"/>
              <a:t>Ser nuestro propio jefe</a:t>
            </a:r>
          </a:p>
          <a:p>
            <a:pPr marL="285750" indent="-285750">
              <a:buFont typeface="Wingdings" pitchFamily="2" charset="2"/>
              <a:buChar char="§"/>
            </a:pPr>
            <a:r>
              <a:rPr lang="es-ES_tradnl" dirty="0"/>
              <a:t>Responsabilidades</a:t>
            </a:r>
          </a:p>
          <a:p>
            <a:pPr marL="285750" indent="-285750">
              <a:buFont typeface="Wingdings" pitchFamily="2" charset="2"/>
              <a:buChar char="§"/>
            </a:pPr>
            <a:r>
              <a:rPr lang="es-ES_tradnl" dirty="0"/>
              <a:t>Beneficios o pérdidas (asume riesgo)</a:t>
            </a:r>
          </a:p>
          <a:p>
            <a:pPr marL="285750" indent="-285750">
              <a:buFont typeface="Wingdings" pitchFamily="2" charset="2"/>
              <a:buChar char="§"/>
            </a:pPr>
            <a:r>
              <a:rPr lang="es-ES_tradnl" dirty="0"/>
              <a:t>Tarea fuera de horario del negocio</a:t>
            </a:r>
          </a:p>
          <a:p>
            <a:pPr marL="285750" indent="-285750">
              <a:buFont typeface="Wingdings" pitchFamily="2" charset="2"/>
              <a:buChar char="§"/>
            </a:pPr>
            <a:r>
              <a:rPr lang="es-ES_tradnl" dirty="0"/>
              <a:t>Satisfacción personal y profesional </a:t>
            </a:r>
          </a:p>
          <a:p>
            <a:pPr marL="285750" indent="-285750">
              <a:buFont typeface="Wingdings" pitchFamily="2" charset="2"/>
              <a:buChar char="§"/>
            </a:pPr>
            <a:r>
              <a:rPr lang="es-ES_tradnl" dirty="0"/>
              <a:t>Reto empresarial</a:t>
            </a:r>
            <a:endParaRPr lang="es-ES" dirty="0"/>
          </a:p>
        </p:txBody>
      </p:sp>
      <p:sp>
        <p:nvSpPr>
          <p:cNvPr id="14" name="13 Flecha derecha"/>
          <p:cNvSpPr/>
          <p:nvPr/>
        </p:nvSpPr>
        <p:spPr>
          <a:xfrm>
            <a:off x="2164220" y="1388409"/>
            <a:ext cx="504056" cy="21602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7" name="16 CuadroTexto"/>
          <p:cNvSpPr txBox="1"/>
          <p:nvPr/>
        </p:nvSpPr>
        <p:spPr>
          <a:xfrm>
            <a:off x="2747628" y="1311755"/>
            <a:ext cx="1288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b="1" dirty="0"/>
              <a:t>Fomentar</a:t>
            </a:r>
            <a:endParaRPr lang="es-ES" b="1" dirty="0"/>
          </a:p>
        </p:txBody>
      </p:sp>
      <p:sp>
        <p:nvSpPr>
          <p:cNvPr id="18" name="17 Flecha derecha"/>
          <p:cNvSpPr/>
          <p:nvPr/>
        </p:nvSpPr>
        <p:spPr>
          <a:xfrm>
            <a:off x="4036361" y="1388409"/>
            <a:ext cx="504056" cy="21602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" name="4 Rectángulo"/>
          <p:cNvSpPr/>
          <p:nvPr/>
        </p:nvSpPr>
        <p:spPr>
          <a:xfrm>
            <a:off x="4860032" y="1272868"/>
            <a:ext cx="345638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s-ES_tradnl" b="1" dirty="0">
                <a:solidFill>
                  <a:prstClr val="black"/>
                </a:solidFill>
              </a:rPr>
              <a:t>El espíritu emprendedor </a:t>
            </a:r>
            <a:r>
              <a:rPr lang="es-ES_tradnl" dirty="0">
                <a:solidFill>
                  <a:prstClr val="black"/>
                </a:solidFill>
              </a:rPr>
              <a:t>para crear una empresa</a:t>
            </a:r>
            <a:endParaRPr lang="es-ES_tradnl" b="1" dirty="0">
              <a:solidFill>
                <a:prstClr val="black"/>
              </a:solidFill>
            </a:endParaRPr>
          </a:p>
        </p:txBody>
      </p:sp>
      <p:sp>
        <p:nvSpPr>
          <p:cNvPr id="20" name="1 Título"/>
          <p:cNvSpPr txBox="1">
            <a:spLocks/>
          </p:cNvSpPr>
          <p:nvPr/>
        </p:nvSpPr>
        <p:spPr>
          <a:xfrm>
            <a:off x="173589" y="1683"/>
            <a:ext cx="8229600" cy="6910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14350" indent="-514350" algn="l">
              <a:buAutoNum type="arabicPeriod"/>
            </a:pPr>
            <a:r>
              <a:rPr lang="es-ES_tradnl" b="1" dirty="0"/>
              <a:t>El trabajador por cuenta propia /ajena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A6C078E-AF15-7550-A3BA-FE2074C5A1F2}"/>
              </a:ext>
            </a:extLst>
          </p:cNvPr>
          <p:cNvSpPr txBox="1"/>
          <p:nvPr/>
        </p:nvSpPr>
        <p:spPr>
          <a:xfrm>
            <a:off x="284890" y="908720"/>
            <a:ext cx="3440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dirty="0"/>
              <a:t>¿Qué me aporta el módulo de EIE?</a:t>
            </a:r>
          </a:p>
        </p:txBody>
      </p:sp>
    </p:spTree>
    <p:extLst>
      <p:ext uri="{BB962C8B-B14F-4D97-AF65-F5344CB8AC3E}">
        <p14:creationId xmlns:p14="http://schemas.microsoft.com/office/powerpoint/2010/main" val="1263665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6 Rectángulo redondeado"/>
          <p:cNvSpPr/>
          <p:nvPr/>
        </p:nvSpPr>
        <p:spPr>
          <a:xfrm>
            <a:off x="506320" y="1677631"/>
            <a:ext cx="1378496" cy="576064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b="1" dirty="0">
                <a:solidFill>
                  <a:schemeClr val="tx1"/>
                </a:solidFill>
              </a:rPr>
              <a:t>1. Riesgo</a:t>
            </a:r>
            <a:endParaRPr lang="es-ES" b="1" dirty="0">
              <a:solidFill>
                <a:schemeClr val="tx1"/>
              </a:solidFill>
            </a:endParaRPr>
          </a:p>
        </p:txBody>
      </p:sp>
      <p:sp>
        <p:nvSpPr>
          <p:cNvPr id="18" name="17 Rectángulo redondeado"/>
          <p:cNvSpPr/>
          <p:nvPr/>
        </p:nvSpPr>
        <p:spPr>
          <a:xfrm>
            <a:off x="503086" y="3184408"/>
            <a:ext cx="1378496" cy="576064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b="1" dirty="0">
                <a:solidFill>
                  <a:schemeClr val="tx1"/>
                </a:solidFill>
              </a:rPr>
              <a:t>2. Capital y tecnología</a:t>
            </a:r>
            <a:endParaRPr lang="es-ES" b="1" dirty="0">
              <a:solidFill>
                <a:schemeClr val="tx1"/>
              </a:solidFill>
            </a:endParaRPr>
          </a:p>
        </p:txBody>
      </p:sp>
      <p:sp>
        <p:nvSpPr>
          <p:cNvPr id="20" name="19 Rectángulo redondeado"/>
          <p:cNvSpPr/>
          <p:nvPr/>
        </p:nvSpPr>
        <p:spPr>
          <a:xfrm>
            <a:off x="515912" y="4443483"/>
            <a:ext cx="1378496" cy="576064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b="1" dirty="0">
                <a:solidFill>
                  <a:schemeClr val="tx1"/>
                </a:solidFill>
              </a:rPr>
              <a:t>3. Habilidades</a:t>
            </a:r>
            <a:endParaRPr lang="es-ES" b="1" dirty="0">
              <a:solidFill>
                <a:schemeClr val="tx1"/>
              </a:solidFill>
            </a:endParaRPr>
          </a:p>
        </p:txBody>
      </p:sp>
      <p:sp>
        <p:nvSpPr>
          <p:cNvPr id="27" name="26 CuadroTexto"/>
          <p:cNvSpPr txBox="1"/>
          <p:nvPr/>
        </p:nvSpPr>
        <p:spPr>
          <a:xfrm>
            <a:off x="2219698" y="1520602"/>
            <a:ext cx="561662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dirty="0"/>
              <a:t>Ser persona que acepte el riesgo</a:t>
            </a:r>
          </a:p>
          <a:p>
            <a:r>
              <a:rPr lang="es-ES_tradnl" dirty="0"/>
              <a:t>Contexto familiar y círculo de amistades pueden influir en aceptación o no del riesgo</a:t>
            </a:r>
          </a:p>
          <a:p>
            <a:r>
              <a:rPr lang="es-ES_tradnl" dirty="0"/>
              <a:t>Ejemplo: empresa </a:t>
            </a:r>
            <a:r>
              <a:rPr lang="es-ES_tradnl" dirty="0">
                <a:hlinkClick r:id="rId2"/>
              </a:rPr>
              <a:t>Blanco</a:t>
            </a:r>
            <a:r>
              <a:rPr lang="es-ES_tradnl" dirty="0"/>
              <a:t> (asunción de riesgo y extinción de la empresa)</a:t>
            </a:r>
          </a:p>
        </p:txBody>
      </p:sp>
      <p:sp>
        <p:nvSpPr>
          <p:cNvPr id="30" name="29 CuadroTexto"/>
          <p:cNvSpPr txBox="1"/>
          <p:nvPr/>
        </p:nvSpPr>
        <p:spPr>
          <a:xfrm>
            <a:off x="2219698" y="3149274"/>
            <a:ext cx="47046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dirty="0"/>
              <a:t>Capital inicial (al menos un 50% o un avalista)</a:t>
            </a:r>
          </a:p>
          <a:p>
            <a:r>
              <a:rPr lang="es-ES_tradnl" dirty="0"/>
              <a:t>Acceso a la tecnología</a:t>
            </a:r>
            <a:endParaRPr lang="es-ES" dirty="0"/>
          </a:p>
        </p:txBody>
      </p:sp>
      <p:sp>
        <p:nvSpPr>
          <p:cNvPr id="32" name="31 CuadroTexto"/>
          <p:cNvSpPr txBox="1"/>
          <p:nvPr/>
        </p:nvSpPr>
        <p:spPr>
          <a:xfrm>
            <a:off x="2002315" y="4418224"/>
            <a:ext cx="603172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arenR"/>
            </a:pPr>
            <a:r>
              <a:rPr lang="es-ES_tradnl" dirty="0"/>
              <a:t>Conocer el negocio (</a:t>
            </a:r>
            <a:r>
              <a:rPr lang="es-ES_tradnl" dirty="0" err="1"/>
              <a:t>ej</a:t>
            </a:r>
            <a:r>
              <a:rPr lang="es-ES_tradnl" dirty="0"/>
              <a:t>: peluquera que trabaja 3 años en una peluquería y luego abre la suya propia) </a:t>
            </a:r>
          </a:p>
          <a:p>
            <a:pPr marL="342900" indent="-342900">
              <a:buFontTx/>
              <a:buAutoNum type="arabicParenR"/>
            </a:pPr>
            <a:r>
              <a:rPr lang="es-ES_tradnl" dirty="0"/>
              <a:t>2) Conocimientos de administración y gestión</a:t>
            </a:r>
          </a:p>
          <a:p>
            <a:pPr marL="342900" indent="-342900">
              <a:buFontTx/>
              <a:buAutoNum type="arabicParenR"/>
            </a:pPr>
            <a:r>
              <a:rPr lang="es-ES_tradnl" dirty="0"/>
              <a:t>3) Habilidades personales y sociales que permitan ser capaz de crear un proyecto e ilusionar (escucha activa, empatía, asertividad, </a:t>
            </a:r>
            <a:r>
              <a:rPr lang="es-ES_tradnl" dirty="0" err="1"/>
              <a:t>etc</a:t>
            </a:r>
            <a:r>
              <a:rPr lang="es-ES_tradnl" dirty="0"/>
              <a:t>).</a:t>
            </a:r>
            <a:endParaRPr lang="es-ES" dirty="0"/>
          </a:p>
        </p:txBody>
      </p:sp>
      <p:sp>
        <p:nvSpPr>
          <p:cNvPr id="14" name="13 CuadroTexto"/>
          <p:cNvSpPr txBox="1"/>
          <p:nvPr/>
        </p:nvSpPr>
        <p:spPr>
          <a:xfrm>
            <a:off x="515912" y="1164089"/>
            <a:ext cx="81452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b="1" dirty="0"/>
              <a:t>Hay 3 requisitos que debe cumplir una persona para convertirse en empresario/a:</a:t>
            </a:r>
            <a:endParaRPr lang="es-ES" b="1" dirty="0"/>
          </a:p>
        </p:txBody>
      </p:sp>
      <p:sp>
        <p:nvSpPr>
          <p:cNvPr id="43" name="1 Título"/>
          <p:cNvSpPr txBox="1">
            <a:spLocks/>
          </p:cNvSpPr>
          <p:nvPr/>
        </p:nvSpPr>
        <p:spPr>
          <a:xfrm>
            <a:off x="148256" y="42626"/>
            <a:ext cx="8229600" cy="5780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_tradnl" b="1" dirty="0"/>
              <a:t>2. Requisitos y teorías del empresario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03988F4-EBAD-6DD7-7099-5B392B3F66C6}"/>
              </a:ext>
            </a:extLst>
          </p:cNvPr>
          <p:cNvSpPr txBox="1"/>
          <p:nvPr/>
        </p:nvSpPr>
        <p:spPr>
          <a:xfrm>
            <a:off x="151040" y="751543"/>
            <a:ext cx="3877408" cy="36933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es-ES_tradnl" b="1" dirty="0"/>
              <a:t>A) Requisitos básicos del empresario/a</a:t>
            </a:r>
          </a:p>
        </p:txBody>
      </p:sp>
    </p:spTree>
    <p:extLst>
      <p:ext uri="{BB962C8B-B14F-4D97-AF65-F5344CB8AC3E}">
        <p14:creationId xmlns:p14="http://schemas.microsoft.com/office/powerpoint/2010/main" val="9557550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17 Rectángulo redondeado"/>
          <p:cNvSpPr/>
          <p:nvPr/>
        </p:nvSpPr>
        <p:spPr>
          <a:xfrm>
            <a:off x="490789" y="2278803"/>
            <a:ext cx="3585059" cy="576064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b="1" dirty="0"/>
              <a:t>Modelo clásico</a:t>
            </a:r>
          </a:p>
          <a:p>
            <a:pPr algn="ctr"/>
            <a:r>
              <a:rPr lang="es-ES" b="1" dirty="0"/>
              <a:t>Confort-aprendizaje-pánico</a:t>
            </a:r>
          </a:p>
        </p:txBody>
      </p:sp>
      <p:sp>
        <p:nvSpPr>
          <p:cNvPr id="28" name="27 Flecha derecha"/>
          <p:cNvSpPr/>
          <p:nvPr/>
        </p:nvSpPr>
        <p:spPr>
          <a:xfrm>
            <a:off x="4266585" y="2264894"/>
            <a:ext cx="504056" cy="191794"/>
          </a:xfrm>
          <a:prstGeom prst="rightArrow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0" name="29 CuadroTexto"/>
          <p:cNvSpPr txBox="1"/>
          <p:nvPr/>
        </p:nvSpPr>
        <p:spPr>
          <a:xfrm>
            <a:off x="545494" y="2819431"/>
            <a:ext cx="34563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dirty="0"/>
              <a:t>Cierta ansiedad, pero no excesiva</a:t>
            </a:r>
            <a:endParaRPr lang="es-ES" dirty="0"/>
          </a:p>
        </p:txBody>
      </p:sp>
      <p:sp>
        <p:nvSpPr>
          <p:cNvPr id="33" name="32 CuadroTexto">
            <a:hlinkClick r:id="rId2" action="ppaction://hlinksldjump"/>
          </p:cNvPr>
          <p:cNvSpPr txBox="1"/>
          <p:nvPr/>
        </p:nvSpPr>
        <p:spPr>
          <a:xfrm>
            <a:off x="3215680" y="6165304"/>
            <a:ext cx="13176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b="1" dirty="0">
                <a:solidFill>
                  <a:schemeClr val="tx2"/>
                </a:solidFill>
              </a:rPr>
              <a:t>Contenidos</a:t>
            </a:r>
            <a:endParaRPr lang="es-ES" b="1" dirty="0">
              <a:solidFill>
                <a:schemeClr val="tx2"/>
              </a:solidFill>
            </a:endParaRPr>
          </a:p>
        </p:txBody>
      </p:sp>
      <p:pic>
        <p:nvPicPr>
          <p:cNvPr id="44" name="43 Imagen"/>
          <p:cNvPicPr>
            <a:picLocks noChangeAspect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666529">
            <a:off x="3000944" y="6277629"/>
            <a:ext cx="287793" cy="361618"/>
          </a:xfrm>
          <a:prstGeom prst="rect">
            <a:avLst/>
          </a:prstGeom>
        </p:spPr>
      </p:pic>
      <p:sp>
        <p:nvSpPr>
          <p:cNvPr id="2" name="2 CuadroTexto">
            <a:extLst>
              <a:ext uri="{FF2B5EF4-FFF2-40B4-BE49-F238E27FC236}">
                <a16:creationId xmlns:a16="http://schemas.microsoft.com/office/drawing/2014/main" id="{AFB8F463-ED30-4E73-A87A-0F96B021C06B}"/>
              </a:ext>
            </a:extLst>
          </p:cNvPr>
          <p:cNvSpPr txBox="1"/>
          <p:nvPr/>
        </p:nvSpPr>
        <p:spPr>
          <a:xfrm>
            <a:off x="414323" y="969218"/>
            <a:ext cx="2008405" cy="36933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ES_tradnl" b="1" dirty="0">
                <a:solidFill>
                  <a:schemeClr val="tx1"/>
                </a:solidFill>
              </a:rPr>
              <a:t>B) Zona de confort</a:t>
            </a:r>
            <a:endParaRPr lang="es-ES" b="1" dirty="0">
              <a:solidFill>
                <a:schemeClr val="tx1"/>
              </a:solidFill>
            </a:endParaRPr>
          </a:p>
        </p:txBody>
      </p:sp>
      <p:sp>
        <p:nvSpPr>
          <p:cNvPr id="3" name="21 CuadroTexto">
            <a:extLst>
              <a:ext uri="{FF2B5EF4-FFF2-40B4-BE49-F238E27FC236}">
                <a16:creationId xmlns:a16="http://schemas.microsoft.com/office/drawing/2014/main" id="{7F3FB32E-A9D2-4CED-9A35-B83F53C39AD6}"/>
              </a:ext>
            </a:extLst>
          </p:cNvPr>
          <p:cNvSpPr txBox="1"/>
          <p:nvPr/>
        </p:nvSpPr>
        <p:spPr>
          <a:xfrm>
            <a:off x="2422728" y="591394"/>
            <a:ext cx="657301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1600" dirty="0"/>
              <a:t>Zona psicológica segura cuando te mueves en un entorno que dominas, allí todo resulta conocido y no arriesgas. Cuando salimos de ésta nos encontramos una </a:t>
            </a:r>
            <a:r>
              <a:rPr lang="es-ES" sz="1600" b="1" dirty="0"/>
              <a:t>zona de aprendizaje </a:t>
            </a:r>
            <a:r>
              <a:rPr lang="es-ES" sz="1600" dirty="0"/>
              <a:t>en la que amplías la visión del mundo, donde puedes observar y experimentar, y por tanto aprender.</a:t>
            </a:r>
          </a:p>
        </p:txBody>
      </p:sp>
      <p:sp>
        <p:nvSpPr>
          <p:cNvPr id="11" name="17 Rectángulo redondeado">
            <a:extLst>
              <a:ext uri="{FF2B5EF4-FFF2-40B4-BE49-F238E27FC236}">
                <a16:creationId xmlns:a16="http://schemas.microsoft.com/office/drawing/2014/main" id="{E1C3B93E-8B3C-4CC4-9C6A-2679F7A6FB67}"/>
              </a:ext>
            </a:extLst>
          </p:cNvPr>
          <p:cNvSpPr/>
          <p:nvPr/>
        </p:nvSpPr>
        <p:spPr>
          <a:xfrm>
            <a:off x="482885" y="3397263"/>
            <a:ext cx="3585059" cy="576064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b="1" dirty="0"/>
              <a:t>Modelo optimista</a:t>
            </a:r>
          </a:p>
          <a:p>
            <a:pPr algn="ctr"/>
            <a:r>
              <a:rPr lang="es-ES" b="1" dirty="0"/>
              <a:t>Confort-aprendizaje-mágica</a:t>
            </a:r>
          </a:p>
        </p:txBody>
      </p:sp>
      <p:sp>
        <p:nvSpPr>
          <p:cNvPr id="12" name="27 Flecha derecha">
            <a:extLst>
              <a:ext uri="{FF2B5EF4-FFF2-40B4-BE49-F238E27FC236}">
                <a16:creationId xmlns:a16="http://schemas.microsoft.com/office/drawing/2014/main" id="{722ADB85-C395-4D68-A9C8-F9DC1BF2FE08}"/>
              </a:ext>
            </a:extLst>
          </p:cNvPr>
          <p:cNvSpPr/>
          <p:nvPr/>
        </p:nvSpPr>
        <p:spPr>
          <a:xfrm>
            <a:off x="4266585" y="3580533"/>
            <a:ext cx="504056" cy="191794"/>
          </a:xfrm>
          <a:prstGeom prst="rightArrow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3" name="29 CuadroTexto">
            <a:extLst>
              <a:ext uri="{FF2B5EF4-FFF2-40B4-BE49-F238E27FC236}">
                <a16:creationId xmlns:a16="http://schemas.microsoft.com/office/drawing/2014/main" id="{FEDD191D-41B7-4808-888C-982C694D9D6B}"/>
              </a:ext>
            </a:extLst>
          </p:cNvPr>
          <p:cNvSpPr txBox="1"/>
          <p:nvPr/>
        </p:nvSpPr>
        <p:spPr>
          <a:xfrm>
            <a:off x="545494" y="4015647"/>
            <a:ext cx="34563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dirty="0"/>
              <a:t>Pueden ocurrir cosas maravillosas</a:t>
            </a:r>
            <a:endParaRPr lang="es-ES" dirty="0"/>
          </a:p>
        </p:txBody>
      </p:sp>
      <p:sp>
        <p:nvSpPr>
          <p:cNvPr id="15" name="17 Rectángulo redondeado">
            <a:extLst>
              <a:ext uri="{FF2B5EF4-FFF2-40B4-BE49-F238E27FC236}">
                <a16:creationId xmlns:a16="http://schemas.microsoft.com/office/drawing/2014/main" id="{EB647C22-F27D-4055-858A-D5334AB333E2}"/>
              </a:ext>
            </a:extLst>
          </p:cNvPr>
          <p:cNvSpPr/>
          <p:nvPr/>
        </p:nvSpPr>
        <p:spPr>
          <a:xfrm>
            <a:off x="482885" y="4562439"/>
            <a:ext cx="3585059" cy="732614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b="1" dirty="0"/>
              <a:t>Modelo intermedio</a:t>
            </a:r>
          </a:p>
          <a:p>
            <a:pPr algn="ctr"/>
            <a:r>
              <a:rPr lang="es-ES" b="1" dirty="0"/>
              <a:t>Confort-miedo-aprendizaje-crecimiento</a:t>
            </a:r>
          </a:p>
        </p:txBody>
      </p:sp>
      <p:sp>
        <p:nvSpPr>
          <p:cNvPr id="16" name="27 Flecha derecha">
            <a:extLst>
              <a:ext uri="{FF2B5EF4-FFF2-40B4-BE49-F238E27FC236}">
                <a16:creationId xmlns:a16="http://schemas.microsoft.com/office/drawing/2014/main" id="{091E60C9-ADE4-48A8-936B-F7D412FA01AE}"/>
              </a:ext>
            </a:extLst>
          </p:cNvPr>
          <p:cNvSpPr/>
          <p:nvPr/>
        </p:nvSpPr>
        <p:spPr>
          <a:xfrm>
            <a:off x="4266585" y="4832849"/>
            <a:ext cx="504056" cy="191794"/>
          </a:xfrm>
          <a:prstGeom prst="rightArrow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7" name="29 CuadroTexto">
            <a:extLst>
              <a:ext uri="{FF2B5EF4-FFF2-40B4-BE49-F238E27FC236}">
                <a16:creationId xmlns:a16="http://schemas.microsoft.com/office/drawing/2014/main" id="{E7ECC9F6-06AA-4A88-B346-F920370D78A6}"/>
              </a:ext>
            </a:extLst>
          </p:cNvPr>
          <p:cNvSpPr txBox="1"/>
          <p:nvPr/>
        </p:nvSpPr>
        <p:spPr>
          <a:xfrm>
            <a:off x="537296" y="5342721"/>
            <a:ext cx="34563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dirty="0"/>
              <a:t>Salir del confort supone una zona de dudas que debes gestionar para crecer</a:t>
            </a:r>
            <a:endParaRPr lang="es-ES" dirty="0"/>
          </a:p>
        </p:txBody>
      </p:sp>
      <p:pic>
        <p:nvPicPr>
          <p:cNvPr id="60" name="Imagen 59" descr="Imagen que contiene cd&#10;&#10;Descripción generada automáticamente">
            <a:extLst>
              <a:ext uri="{FF2B5EF4-FFF2-40B4-BE49-F238E27FC236}">
                <a16:creationId xmlns:a16="http://schemas.microsoft.com/office/drawing/2014/main" id="{8815F047-6823-42D9-82FC-B9284921E20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8006" y="1440147"/>
            <a:ext cx="1800200" cy="1841288"/>
          </a:xfrm>
          <a:prstGeom prst="rect">
            <a:avLst/>
          </a:prstGeom>
        </p:spPr>
      </p:pic>
      <p:pic>
        <p:nvPicPr>
          <p:cNvPr id="62" name="Imagen 61" descr="Imagen que contiene fruta&#10;&#10;Descripción generada automáticamente">
            <a:extLst>
              <a:ext uri="{FF2B5EF4-FFF2-40B4-BE49-F238E27FC236}">
                <a16:creationId xmlns:a16="http://schemas.microsoft.com/office/drawing/2014/main" id="{A6DD9C7B-63AB-4868-AA6D-B1093F1EDF9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9601" y="2784689"/>
            <a:ext cx="1931196" cy="1975275"/>
          </a:xfrm>
          <a:prstGeom prst="rect">
            <a:avLst/>
          </a:prstGeom>
        </p:spPr>
      </p:pic>
      <p:pic>
        <p:nvPicPr>
          <p:cNvPr id="64" name="Imagen 63" descr="Imagen que contiene fruta, cd&#10;&#10;Descripción generada automáticamente">
            <a:extLst>
              <a:ext uri="{FF2B5EF4-FFF2-40B4-BE49-F238E27FC236}">
                <a16:creationId xmlns:a16="http://schemas.microsoft.com/office/drawing/2014/main" id="{6DEEC4BF-5D25-4183-A25F-BD7C37F73EB6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0322" y="4018573"/>
            <a:ext cx="2402346" cy="2015269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22C367A8-C8F5-C991-FE0F-D242B68F71FF}"/>
              </a:ext>
            </a:extLst>
          </p:cNvPr>
          <p:cNvSpPr txBox="1"/>
          <p:nvPr/>
        </p:nvSpPr>
        <p:spPr>
          <a:xfrm>
            <a:off x="482885" y="1839908"/>
            <a:ext cx="21278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b="1" dirty="0"/>
              <a:t>3 teorías o modelos: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939AFD40-D319-B347-DB1C-16737196442D}"/>
              </a:ext>
            </a:extLst>
          </p:cNvPr>
          <p:cNvSpPr txBox="1"/>
          <p:nvPr/>
        </p:nvSpPr>
        <p:spPr>
          <a:xfrm>
            <a:off x="3316009" y="6228593"/>
            <a:ext cx="4335739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s-ES_tradnl" b="1" dirty="0">
                <a:solidFill>
                  <a:srgbClr val="FF0000"/>
                </a:solidFill>
              </a:rPr>
              <a:t>Vídeo: </a:t>
            </a:r>
            <a:r>
              <a:rPr lang="es-ES_tradnl" b="1" dirty="0">
                <a:solidFill>
                  <a:srgbClr val="FF0000"/>
                </a:solidFill>
                <a:hlinkClick r:id="rId7"/>
              </a:rPr>
              <a:t>Tu zona mágica, ¿te atreves a soñar?</a:t>
            </a:r>
            <a:endParaRPr lang="es-ES_tradnl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68183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17 Rectángulo redondeado"/>
          <p:cNvSpPr/>
          <p:nvPr/>
        </p:nvSpPr>
        <p:spPr>
          <a:xfrm>
            <a:off x="768191" y="1540126"/>
            <a:ext cx="3585059" cy="576064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b="1" dirty="0"/>
              <a:t>Modelo clásico</a:t>
            </a:r>
          </a:p>
          <a:p>
            <a:pPr algn="ctr"/>
            <a:r>
              <a:rPr lang="es-ES" b="1" dirty="0"/>
              <a:t>Confort-aprendizaje-pánico</a:t>
            </a:r>
          </a:p>
        </p:txBody>
      </p:sp>
      <p:sp>
        <p:nvSpPr>
          <p:cNvPr id="30" name="29 CuadroTexto"/>
          <p:cNvSpPr txBox="1"/>
          <p:nvPr/>
        </p:nvSpPr>
        <p:spPr>
          <a:xfrm>
            <a:off x="758019" y="2235913"/>
            <a:ext cx="3456384" cy="3385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_tradnl" sz="1800" dirty="0"/>
              <a:t>Las personas rendían más si se encontraban en un </a:t>
            </a:r>
            <a:r>
              <a:rPr lang="es-ES_tradnl" sz="1800" b="1" dirty="0"/>
              <a:t>estado de comodidad relativa</a:t>
            </a:r>
            <a:r>
              <a:rPr lang="es-ES_tradnl" sz="1800" dirty="0"/>
              <a:t>, donde exista un </a:t>
            </a:r>
            <a:r>
              <a:rPr lang="es-ES_tradnl" sz="1800" b="1" dirty="0"/>
              <a:t>cierto grado de ansiedad </a:t>
            </a:r>
            <a:r>
              <a:rPr lang="es-ES_tradnl" sz="1800" dirty="0"/>
              <a:t>pero no excesiva.</a:t>
            </a:r>
          </a:p>
          <a:p>
            <a:pPr algn="just"/>
            <a:endParaRPr lang="es-ES_tradnl" sz="16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_tradnl" sz="1800" dirty="0"/>
              <a:t>Es preciso </a:t>
            </a:r>
            <a:r>
              <a:rPr lang="es-ES_tradnl" sz="1800" b="1" dirty="0"/>
              <a:t>salir de la zona de confort </a:t>
            </a:r>
            <a:r>
              <a:rPr lang="es-ES_tradnl" sz="1800" dirty="0"/>
              <a:t>pero no hay que lanzarse sin paracaídas: salir de la zona de confort pero con pequeños pasos</a:t>
            </a:r>
            <a:endParaRPr lang="es-ES" sz="1800" dirty="0"/>
          </a:p>
          <a:p>
            <a:pPr algn="ctr"/>
            <a:endParaRPr lang="es-ES" dirty="0"/>
          </a:p>
        </p:txBody>
      </p:sp>
      <p:pic>
        <p:nvPicPr>
          <p:cNvPr id="60" name="Imagen 59" descr="Imagen que contiene cd&#10;&#10;Descripción generada automáticamente">
            <a:extLst>
              <a:ext uri="{FF2B5EF4-FFF2-40B4-BE49-F238E27FC236}">
                <a16:creationId xmlns:a16="http://schemas.microsoft.com/office/drawing/2014/main" id="{8815F047-6823-42D9-82FC-B9284921E20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2939" y="1736229"/>
            <a:ext cx="3309993" cy="3385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69157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17 Rectángulo redondeado">
            <a:extLst>
              <a:ext uri="{FF2B5EF4-FFF2-40B4-BE49-F238E27FC236}">
                <a16:creationId xmlns:a16="http://schemas.microsoft.com/office/drawing/2014/main" id="{E1C3B93E-8B3C-4CC4-9C6A-2679F7A6FB67}"/>
              </a:ext>
            </a:extLst>
          </p:cNvPr>
          <p:cNvSpPr/>
          <p:nvPr/>
        </p:nvSpPr>
        <p:spPr>
          <a:xfrm>
            <a:off x="611560" y="1513952"/>
            <a:ext cx="3585059" cy="576064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b="1" dirty="0"/>
              <a:t>Modelo optimista</a:t>
            </a:r>
          </a:p>
          <a:p>
            <a:pPr algn="ctr"/>
            <a:r>
              <a:rPr lang="es-ES" b="1" dirty="0"/>
              <a:t>Confort-aprendizaje-mágica</a:t>
            </a:r>
          </a:p>
        </p:txBody>
      </p:sp>
      <p:sp>
        <p:nvSpPr>
          <p:cNvPr id="13" name="29 CuadroTexto">
            <a:extLst>
              <a:ext uri="{FF2B5EF4-FFF2-40B4-BE49-F238E27FC236}">
                <a16:creationId xmlns:a16="http://schemas.microsoft.com/office/drawing/2014/main" id="{FEDD191D-41B7-4808-888C-982C694D9D6B}"/>
              </a:ext>
            </a:extLst>
          </p:cNvPr>
          <p:cNvSpPr txBox="1"/>
          <p:nvPr/>
        </p:nvSpPr>
        <p:spPr>
          <a:xfrm>
            <a:off x="291047" y="2397219"/>
            <a:ext cx="4335739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_tradnl" sz="1800" dirty="0"/>
              <a:t>No existe una zona de pánico más allá de la zona de aprendizaje, sino que nos encontramos una </a:t>
            </a:r>
            <a:r>
              <a:rPr lang="es-ES_tradnl" sz="1800" b="1" dirty="0"/>
              <a:t>zona mágica </a:t>
            </a:r>
            <a:r>
              <a:rPr lang="es-ES_tradnl" sz="1800" dirty="0"/>
              <a:t>donde pueden ocurrir cosas maravillosas.</a:t>
            </a:r>
          </a:p>
          <a:p>
            <a:pPr algn="just"/>
            <a:endParaRPr lang="es-ES_tradnl" sz="16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_tradnl" sz="1800" dirty="0"/>
              <a:t>Es preciso </a:t>
            </a:r>
            <a:r>
              <a:rPr lang="es-ES_tradnl" sz="1800" b="1" dirty="0"/>
              <a:t>superar los miedos </a:t>
            </a:r>
            <a:r>
              <a:rPr lang="es-ES_tradnl" sz="1800" dirty="0"/>
              <a:t>(a fallar, al ridículo, a la vergüenza,…).</a:t>
            </a:r>
          </a:p>
          <a:p>
            <a:pPr algn="just"/>
            <a:endParaRPr lang="es-ES_tradnl" sz="16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_tradnl" sz="1800" dirty="0"/>
              <a:t>Debes tener </a:t>
            </a:r>
            <a:r>
              <a:rPr lang="es-ES_tradnl" sz="1800" b="1" dirty="0"/>
              <a:t>un objetivo </a:t>
            </a:r>
            <a:r>
              <a:rPr lang="es-ES_tradnl" sz="1800" dirty="0"/>
              <a:t>y tener claro del porqué y para qué persigues el sueño.</a:t>
            </a:r>
            <a:endParaRPr lang="es-ES" sz="1800" dirty="0"/>
          </a:p>
        </p:txBody>
      </p:sp>
      <p:pic>
        <p:nvPicPr>
          <p:cNvPr id="62" name="Imagen 61" descr="Imagen que contiene fruta&#10;&#10;Descripción generada automáticamente">
            <a:extLst>
              <a:ext uri="{FF2B5EF4-FFF2-40B4-BE49-F238E27FC236}">
                <a16:creationId xmlns:a16="http://schemas.microsoft.com/office/drawing/2014/main" id="{A6DD9C7B-63AB-4868-AA6D-B1093F1EDF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0705" y="2090016"/>
            <a:ext cx="3296855" cy="3372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9944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17 Rectángulo redondeado">
            <a:extLst>
              <a:ext uri="{FF2B5EF4-FFF2-40B4-BE49-F238E27FC236}">
                <a16:creationId xmlns:a16="http://schemas.microsoft.com/office/drawing/2014/main" id="{EB647C22-F27D-4055-858A-D5334AB333E2}"/>
              </a:ext>
            </a:extLst>
          </p:cNvPr>
          <p:cNvSpPr/>
          <p:nvPr/>
        </p:nvSpPr>
        <p:spPr>
          <a:xfrm>
            <a:off x="515912" y="1700808"/>
            <a:ext cx="3585059" cy="732614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b="1" dirty="0"/>
              <a:t>Modelo intermedio</a:t>
            </a:r>
          </a:p>
          <a:p>
            <a:pPr algn="ctr"/>
            <a:r>
              <a:rPr lang="es-ES" b="1" dirty="0"/>
              <a:t>Confort-miedo-aprendizaje-crecimiento</a:t>
            </a:r>
          </a:p>
        </p:txBody>
      </p:sp>
      <p:sp>
        <p:nvSpPr>
          <p:cNvPr id="17" name="29 CuadroTexto">
            <a:extLst>
              <a:ext uri="{FF2B5EF4-FFF2-40B4-BE49-F238E27FC236}">
                <a16:creationId xmlns:a16="http://schemas.microsoft.com/office/drawing/2014/main" id="{E7ECC9F6-06AA-4A88-B346-F920370D78A6}"/>
              </a:ext>
            </a:extLst>
          </p:cNvPr>
          <p:cNvSpPr txBox="1"/>
          <p:nvPr/>
        </p:nvSpPr>
        <p:spPr>
          <a:xfrm>
            <a:off x="438963" y="2708920"/>
            <a:ext cx="4335738" cy="2831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_tradnl" sz="1800" dirty="0"/>
              <a:t>Modelo más reciente, que no dice que la </a:t>
            </a:r>
            <a:r>
              <a:rPr lang="es-ES_tradnl" sz="1800" b="1" dirty="0"/>
              <a:t>zona de miedo </a:t>
            </a:r>
            <a:r>
              <a:rPr lang="es-ES_tradnl" sz="1800" dirty="0"/>
              <a:t>debe seguir existiendo, pero la sitúa inmediatamente después de la zona de confort.</a:t>
            </a:r>
          </a:p>
          <a:p>
            <a:pPr algn="just"/>
            <a:endParaRPr lang="es-ES_tradnl" sz="16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_tradnl" sz="1800" dirty="0"/>
              <a:t>Para salir de la </a:t>
            </a:r>
            <a:r>
              <a:rPr lang="es-ES_tradnl" sz="1800" b="1" dirty="0"/>
              <a:t>zona de confort </a:t>
            </a:r>
            <a:r>
              <a:rPr lang="es-ES_tradnl" sz="1800" dirty="0"/>
              <a:t>debes pasar antes por una </a:t>
            </a:r>
            <a:r>
              <a:rPr lang="es-ES_tradnl" sz="1800" b="1" dirty="0"/>
              <a:t>zona de miedos </a:t>
            </a:r>
            <a:r>
              <a:rPr lang="es-ES_tradnl" sz="1800" dirty="0"/>
              <a:t>y dudas que deberás gestionar, y entonces, estarás en disposición de aprender.</a:t>
            </a:r>
            <a:endParaRPr lang="es-ES" sz="1800" dirty="0"/>
          </a:p>
          <a:p>
            <a:pPr algn="ctr"/>
            <a:endParaRPr lang="es-ES" dirty="0"/>
          </a:p>
        </p:txBody>
      </p:sp>
      <p:pic>
        <p:nvPicPr>
          <p:cNvPr id="64" name="Imagen 63" descr="Imagen que contiene fruta, cd&#10;&#10;Descripción generada automáticamente">
            <a:extLst>
              <a:ext uri="{FF2B5EF4-FFF2-40B4-BE49-F238E27FC236}">
                <a16:creationId xmlns:a16="http://schemas.microsoft.com/office/drawing/2014/main" id="{6DEEC4BF-5D25-4183-A25F-BD7C37F73EB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2040" y="2399105"/>
            <a:ext cx="3700773" cy="3104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56660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6 Rectángulo redondeado"/>
          <p:cNvSpPr/>
          <p:nvPr/>
        </p:nvSpPr>
        <p:spPr>
          <a:xfrm>
            <a:off x="139777" y="1453416"/>
            <a:ext cx="2773342" cy="536346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600" b="1" dirty="0">
                <a:solidFill>
                  <a:schemeClr val="tx1"/>
                </a:solidFill>
              </a:rPr>
              <a:t>Tª del  empresario-riesgo </a:t>
            </a:r>
          </a:p>
          <a:p>
            <a:pPr algn="ctr"/>
            <a:r>
              <a:rPr lang="es-ES_tradnl" sz="1600" b="1" dirty="0">
                <a:solidFill>
                  <a:schemeClr val="tx1"/>
                </a:solidFill>
              </a:rPr>
              <a:t>(</a:t>
            </a:r>
            <a:r>
              <a:rPr lang="es-ES_tradnl" sz="1600" b="1" dirty="0" err="1">
                <a:solidFill>
                  <a:schemeClr val="tx1"/>
                </a:solidFill>
              </a:rPr>
              <a:t>Knight</a:t>
            </a:r>
            <a:r>
              <a:rPr lang="es-ES_tradnl" sz="1600" b="1" dirty="0">
                <a:solidFill>
                  <a:schemeClr val="tx1"/>
                </a:solidFill>
              </a:rPr>
              <a:t> - 1921)</a:t>
            </a:r>
            <a:endParaRPr lang="es-ES" sz="1600" b="1" dirty="0">
              <a:solidFill>
                <a:schemeClr val="tx1"/>
              </a:solidFill>
            </a:endParaRPr>
          </a:p>
        </p:txBody>
      </p:sp>
      <p:sp>
        <p:nvSpPr>
          <p:cNvPr id="18" name="17 Rectángulo redondeado"/>
          <p:cNvSpPr/>
          <p:nvPr/>
        </p:nvSpPr>
        <p:spPr>
          <a:xfrm>
            <a:off x="141499" y="2250339"/>
            <a:ext cx="2732579" cy="777705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600" b="1" dirty="0">
                <a:solidFill>
                  <a:sysClr val="windowText" lastClr="000000"/>
                </a:solidFill>
              </a:rPr>
              <a:t>Tª del empresario innovador</a:t>
            </a:r>
          </a:p>
          <a:p>
            <a:pPr algn="ctr"/>
            <a:r>
              <a:rPr lang="es-ES_tradnl" sz="1600" b="1" dirty="0">
                <a:solidFill>
                  <a:sysClr val="windowText" lastClr="000000"/>
                </a:solidFill>
              </a:rPr>
              <a:t> (</a:t>
            </a:r>
            <a:r>
              <a:rPr lang="es-ES_tradnl" sz="1600" b="1" dirty="0" err="1">
                <a:solidFill>
                  <a:sysClr val="windowText" lastClr="000000"/>
                </a:solidFill>
              </a:rPr>
              <a:t>Shumpeter</a:t>
            </a:r>
            <a:r>
              <a:rPr lang="es-ES_tradnl" sz="1600" b="1" dirty="0">
                <a:solidFill>
                  <a:sysClr val="windowText" lastClr="000000"/>
                </a:solidFill>
              </a:rPr>
              <a:t> - 1944)</a:t>
            </a:r>
            <a:endParaRPr lang="es-ES" sz="1600" b="1" dirty="0">
              <a:solidFill>
                <a:sysClr val="windowText" lastClr="000000"/>
              </a:solidFill>
            </a:endParaRPr>
          </a:p>
        </p:txBody>
      </p:sp>
      <p:sp>
        <p:nvSpPr>
          <p:cNvPr id="9" name="8 Flecha derecha"/>
          <p:cNvSpPr/>
          <p:nvPr/>
        </p:nvSpPr>
        <p:spPr>
          <a:xfrm>
            <a:off x="3088017" y="1590741"/>
            <a:ext cx="504056" cy="191794"/>
          </a:xfrm>
          <a:prstGeom prst="rightArrow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0" name="9 CuadroTexto"/>
          <p:cNvSpPr txBox="1"/>
          <p:nvPr/>
        </p:nvSpPr>
        <p:spPr>
          <a:xfrm>
            <a:off x="3715524" y="1195696"/>
            <a:ext cx="488892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dirty="0"/>
              <a:t>El empresario pone el dinero y asume el </a:t>
            </a:r>
            <a:r>
              <a:rPr lang="es-ES_tradnl" b="1" dirty="0"/>
              <a:t>riesgo </a:t>
            </a:r>
            <a:r>
              <a:rPr lang="es-ES_tradnl" dirty="0"/>
              <a:t>económico. Si acierta gana; sino perderá el capital aportado.</a:t>
            </a:r>
            <a:endParaRPr lang="es-ES" dirty="0"/>
          </a:p>
        </p:txBody>
      </p:sp>
      <p:sp>
        <p:nvSpPr>
          <p:cNvPr id="28" name="27 Flecha derecha"/>
          <p:cNvSpPr/>
          <p:nvPr/>
        </p:nvSpPr>
        <p:spPr>
          <a:xfrm>
            <a:off x="3088017" y="2416068"/>
            <a:ext cx="504056" cy="191794"/>
          </a:xfrm>
          <a:prstGeom prst="rightArrow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0" name="29 CuadroTexto"/>
          <p:cNvSpPr txBox="1"/>
          <p:nvPr/>
        </p:nvSpPr>
        <p:spPr>
          <a:xfrm>
            <a:off x="3736200" y="2458632"/>
            <a:ext cx="4767872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dirty="0"/>
              <a:t>3 etapas cambio tecnológico: </a:t>
            </a:r>
          </a:p>
          <a:p>
            <a:r>
              <a:rPr lang="es-ES_tradnl" dirty="0"/>
              <a:t>invención </a:t>
            </a:r>
            <a:r>
              <a:rPr lang="es-ES_tradnl" dirty="0">
                <a:sym typeface="Wingdings" pitchFamily="2" charset="2"/>
              </a:rPr>
              <a:t> innovación  imitación</a:t>
            </a:r>
          </a:p>
          <a:p>
            <a:pPr marL="538163"/>
            <a:r>
              <a:rPr lang="es-ES_tradnl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Invención </a:t>
            </a:r>
            <a:r>
              <a:rPr lang="es-ES_tradnl" sz="1800" dirty="0">
                <a:sym typeface="Wingdings" pitchFamily="2" charset="2"/>
              </a:rPr>
              <a:t> se lleva a cabo en los laboratorios</a:t>
            </a:r>
          </a:p>
          <a:p>
            <a:pPr marL="538163"/>
            <a:r>
              <a:rPr lang="es-ES_tradnl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Innovación </a:t>
            </a:r>
            <a:r>
              <a:rPr lang="es-ES_tradnl" sz="1800" dirty="0">
                <a:sym typeface="Wingdings" pitchFamily="2" charset="2"/>
              </a:rPr>
              <a:t> llevar a la práctica los inventos y las ideas</a:t>
            </a:r>
          </a:p>
          <a:p>
            <a:pPr marL="538163"/>
            <a:r>
              <a:rPr lang="es-ES_tradnl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Imitación</a:t>
            </a:r>
            <a:r>
              <a:rPr lang="es-ES_tradnl" sz="1800" dirty="0">
                <a:sym typeface="Wingdings" pitchFamily="2" charset="2"/>
              </a:rPr>
              <a:t>  cuando la innovación la llevan a cabo muchas empresas</a:t>
            </a:r>
            <a:endParaRPr lang="es-ES" sz="1800" dirty="0"/>
          </a:p>
          <a:p>
            <a:r>
              <a:rPr lang="es-ES_tradnl" sz="1800" dirty="0"/>
              <a:t>El empresario </a:t>
            </a:r>
            <a:r>
              <a:rPr lang="es-ES_tradnl" sz="1800" b="1" dirty="0"/>
              <a:t>innovador</a:t>
            </a:r>
            <a:r>
              <a:rPr lang="es-ES_tradnl" sz="1800" dirty="0"/>
              <a:t> va obtener unos beneficios extraordinarios al no tener competencia, pero corre el riesgo también de que la innovación no sea aceptada y fracase.</a:t>
            </a:r>
            <a:endParaRPr lang="es-ES" sz="1800" dirty="0"/>
          </a:p>
          <a:p>
            <a:endParaRPr lang="es-ES" dirty="0"/>
          </a:p>
        </p:txBody>
      </p:sp>
      <p:sp>
        <p:nvSpPr>
          <p:cNvPr id="32" name="31 CuadroTexto"/>
          <p:cNvSpPr txBox="1"/>
          <p:nvPr/>
        </p:nvSpPr>
        <p:spPr>
          <a:xfrm>
            <a:off x="3746739" y="2142633"/>
            <a:ext cx="47366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dirty="0"/>
              <a:t>Los verdaderos empresarios son los </a:t>
            </a:r>
            <a:r>
              <a:rPr lang="es-ES_tradnl" b="1" dirty="0"/>
              <a:t>innovadores</a:t>
            </a:r>
            <a:endParaRPr lang="es-ES" b="1" dirty="0"/>
          </a:p>
        </p:txBody>
      </p:sp>
      <p:sp>
        <p:nvSpPr>
          <p:cNvPr id="33" name="32 CuadroTexto"/>
          <p:cNvSpPr txBox="1"/>
          <p:nvPr/>
        </p:nvSpPr>
        <p:spPr>
          <a:xfrm>
            <a:off x="207697" y="845325"/>
            <a:ext cx="1227108" cy="36933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ES_tradnl" b="1" dirty="0"/>
              <a:t>C) Teorías:</a:t>
            </a:r>
            <a:endParaRPr lang="es-ES" b="1" dirty="0"/>
          </a:p>
        </p:txBody>
      </p:sp>
    </p:spTree>
    <p:extLst>
      <p:ext uri="{BB962C8B-B14F-4D97-AF65-F5344CB8AC3E}">
        <p14:creationId xmlns:p14="http://schemas.microsoft.com/office/powerpoint/2010/main" val="10497834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19 Rectángulo redondeado"/>
          <p:cNvSpPr/>
          <p:nvPr/>
        </p:nvSpPr>
        <p:spPr>
          <a:xfrm>
            <a:off x="237986" y="1023760"/>
            <a:ext cx="2732579" cy="621964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600" b="1" dirty="0">
                <a:solidFill>
                  <a:schemeClr val="tx1"/>
                </a:solidFill>
              </a:rPr>
              <a:t>Tª de la tecnoestructura </a:t>
            </a:r>
          </a:p>
          <a:p>
            <a:pPr algn="ctr"/>
            <a:r>
              <a:rPr lang="es-ES_tradnl" sz="1600" b="1" dirty="0">
                <a:solidFill>
                  <a:schemeClr val="tx1"/>
                </a:solidFill>
              </a:rPr>
              <a:t>(</a:t>
            </a:r>
            <a:r>
              <a:rPr lang="es-ES_tradnl" sz="1600" b="1" dirty="0" err="1">
                <a:solidFill>
                  <a:schemeClr val="tx1"/>
                </a:solidFill>
              </a:rPr>
              <a:t>Galbraith</a:t>
            </a:r>
            <a:r>
              <a:rPr lang="es-ES_tradnl" sz="1600" b="1" dirty="0">
                <a:solidFill>
                  <a:schemeClr val="tx1"/>
                </a:solidFill>
              </a:rPr>
              <a:t>  - 1967)</a:t>
            </a:r>
            <a:endParaRPr lang="es-ES" sz="1600" b="1" dirty="0">
              <a:solidFill>
                <a:schemeClr val="tx1"/>
              </a:solidFill>
            </a:endParaRPr>
          </a:p>
        </p:txBody>
      </p:sp>
      <p:sp>
        <p:nvSpPr>
          <p:cNvPr id="27" name="26 CuadroTexto"/>
          <p:cNvSpPr txBox="1"/>
          <p:nvPr/>
        </p:nvSpPr>
        <p:spPr>
          <a:xfrm>
            <a:off x="3559602" y="1565028"/>
            <a:ext cx="51769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dirty="0"/>
              <a:t>En las pequeñas empresas el propietario = directivo </a:t>
            </a:r>
            <a:endParaRPr lang="es-ES" dirty="0"/>
          </a:p>
        </p:txBody>
      </p:sp>
      <p:sp>
        <p:nvSpPr>
          <p:cNvPr id="35" name="34 Flecha derecha"/>
          <p:cNvSpPr/>
          <p:nvPr/>
        </p:nvSpPr>
        <p:spPr>
          <a:xfrm>
            <a:off x="3019837" y="1023760"/>
            <a:ext cx="504056" cy="191794"/>
          </a:xfrm>
          <a:prstGeom prst="rightArrow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7" name="36 CuadroTexto"/>
          <p:cNvSpPr txBox="1"/>
          <p:nvPr/>
        </p:nvSpPr>
        <p:spPr>
          <a:xfrm>
            <a:off x="3559602" y="943458"/>
            <a:ext cx="5145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dirty="0"/>
              <a:t>Los empresarios son los directivos toman que toman </a:t>
            </a:r>
            <a:r>
              <a:rPr lang="es-ES_tradnl" b="1" dirty="0"/>
              <a:t>decisiones</a:t>
            </a:r>
            <a:r>
              <a:rPr lang="es-ES_tradnl" dirty="0"/>
              <a:t> sobre cómo dirigir la empresa</a:t>
            </a:r>
            <a:endParaRPr lang="es-ES" dirty="0"/>
          </a:p>
        </p:txBody>
      </p:sp>
      <p:sp>
        <p:nvSpPr>
          <p:cNvPr id="38" name="37 CuadroTexto"/>
          <p:cNvSpPr txBox="1"/>
          <p:nvPr/>
        </p:nvSpPr>
        <p:spPr>
          <a:xfrm>
            <a:off x="3746908" y="4246532"/>
            <a:ext cx="5286455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dirty="0"/>
              <a:t>Condiciones sociales y culturales</a:t>
            </a:r>
          </a:p>
          <a:p>
            <a:pPr marL="285750" indent="-285750">
              <a:buFont typeface="Courier New" pitchFamily="49" charset="0"/>
              <a:buChar char="o"/>
            </a:pPr>
            <a:r>
              <a:rPr lang="es-ES_tradnl" sz="1600" i="1" dirty="0"/>
              <a:t>Tª de la incubadora: </a:t>
            </a:r>
            <a:r>
              <a:rPr lang="es-ES_tradnl" sz="1600" dirty="0"/>
              <a:t>surgen muchos empresarios porque trabajaron en una empresa de la que aprendieron</a:t>
            </a:r>
          </a:p>
          <a:p>
            <a:pPr marL="285750" indent="-285750">
              <a:buFont typeface="Courier New" pitchFamily="49" charset="0"/>
              <a:buChar char="o"/>
            </a:pPr>
            <a:r>
              <a:rPr lang="es-ES_tradnl" sz="1600" i="1" dirty="0"/>
              <a:t>Tª de la marginación social: </a:t>
            </a:r>
            <a:r>
              <a:rPr lang="es-ES_tradnl" sz="1600" dirty="0"/>
              <a:t>surgen por enfrentarse a la pérdida de empleo y la dificultad de encontrar trabajo</a:t>
            </a:r>
            <a:endParaRPr lang="es-ES" sz="1600" dirty="0"/>
          </a:p>
        </p:txBody>
      </p:sp>
      <p:sp>
        <p:nvSpPr>
          <p:cNvPr id="39" name="38 Flecha derecha"/>
          <p:cNvSpPr/>
          <p:nvPr/>
        </p:nvSpPr>
        <p:spPr>
          <a:xfrm>
            <a:off x="3095423" y="2648269"/>
            <a:ext cx="504056" cy="191794"/>
          </a:xfrm>
          <a:prstGeom prst="rightArrow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4" name="33 Rectángulo redondeado"/>
          <p:cNvSpPr/>
          <p:nvPr/>
        </p:nvSpPr>
        <p:spPr>
          <a:xfrm>
            <a:off x="285535" y="2620812"/>
            <a:ext cx="2734302" cy="496276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600" b="1" dirty="0">
                <a:solidFill>
                  <a:sysClr val="windowText" lastClr="000000"/>
                </a:solidFill>
              </a:rPr>
              <a:t>Tª de la oportunidad</a:t>
            </a:r>
          </a:p>
          <a:p>
            <a:pPr algn="ctr"/>
            <a:r>
              <a:rPr lang="es-ES_tradnl" sz="1600" b="1" dirty="0">
                <a:solidFill>
                  <a:sysClr val="windowText" lastClr="000000"/>
                </a:solidFill>
              </a:rPr>
              <a:t>(</a:t>
            </a:r>
            <a:r>
              <a:rPr lang="es-ES_tradnl" sz="1600" b="1" dirty="0" err="1">
                <a:solidFill>
                  <a:sysClr val="windowText" lastClr="000000"/>
                </a:solidFill>
              </a:rPr>
              <a:t>kirzner</a:t>
            </a:r>
            <a:r>
              <a:rPr lang="es-ES_tradnl" sz="1600" b="1" dirty="0">
                <a:solidFill>
                  <a:sysClr val="windowText" lastClr="000000"/>
                </a:solidFill>
              </a:rPr>
              <a:t> - 1973)</a:t>
            </a:r>
            <a:endParaRPr lang="es-ES" sz="1600" b="1" dirty="0">
              <a:solidFill>
                <a:sysClr val="windowText" lastClr="000000"/>
              </a:solidFill>
            </a:endParaRPr>
          </a:p>
        </p:txBody>
      </p:sp>
      <p:sp>
        <p:nvSpPr>
          <p:cNvPr id="41" name="40 Rectángulo redondeado"/>
          <p:cNvSpPr/>
          <p:nvPr/>
        </p:nvSpPr>
        <p:spPr>
          <a:xfrm>
            <a:off x="203067" y="4331372"/>
            <a:ext cx="2802419" cy="482770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600" b="1" dirty="0">
                <a:solidFill>
                  <a:sysClr val="windowText" lastClr="000000"/>
                </a:solidFill>
              </a:rPr>
              <a:t>Tªs socioculturales</a:t>
            </a:r>
            <a:endParaRPr lang="es-ES" sz="1600" b="1" dirty="0">
              <a:solidFill>
                <a:sysClr val="windowText" lastClr="000000"/>
              </a:solidFill>
            </a:endParaRPr>
          </a:p>
        </p:txBody>
      </p:sp>
      <p:sp>
        <p:nvSpPr>
          <p:cNvPr id="42" name="41 CuadroTexto"/>
          <p:cNvSpPr txBox="1"/>
          <p:nvPr/>
        </p:nvSpPr>
        <p:spPr>
          <a:xfrm>
            <a:off x="3714493" y="2555930"/>
            <a:ext cx="48355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dirty="0"/>
              <a:t>El empresario es el que sabe ver una </a:t>
            </a:r>
            <a:r>
              <a:rPr lang="es-ES_tradnl" b="1" dirty="0"/>
              <a:t>oportunidad</a:t>
            </a:r>
            <a:r>
              <a:rPr lang="es-ES_tradnl" dirty="0"/>
              <a:t> de negocio en el mercado. </a:t>
            </a:r>
            <a:r>
              <a:rPr lang="es-ES_tradnl" sz="1800" dirty="0"/>
              <a:t>Estos empresarios son muy arriesgados, cambiando de negocio a otro en corto plazo.</a:t>
            </a:r>
            <a:endParaRPr lang="es-ES" sz="1800" dirty="0"/>
          </a:p>
        </p:txBody>
      </p:sp>
      <p:sp>
        <p:nvSpPr>
          <p:cNvPr id="43" name="42 Flecha derecha"/>
          <p:cNvSpPr/>
          <p:nvPr/>
        </p:nvSpPr>
        <p:spPr>
          <a:xfrm>
            <a:off x="3095423" y="4446439"/>
            <a:ext cx="504056" cy="191794"/>
          </a:xfrm>
          <a:prstGeom prst="rightArrow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E78909B0-A921-AC30-8164-0EB292599EF0}"/>
              </a:ext>
            </a:extLst>
          </p:cNvPr>
          <p:cNvSpPr txBox="1"/>
          <p:nvPr/>
        </p:nvSpPr>
        <p:spPr>
          <a:xfrm>
            <a:off x="323528" y="5589240"/>
            <a:ext cx="29103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b="1" dirty="0">
                <a:solidFill>
                  <a:srgbClr val="FF0000"/>
                </a:solidFill>
              </a:rPr>
              <a:t>Vídeo: </a:t>
            </a:r>
            <a:r>
              <a:rPr lang="es-ES_tradnl" b="1" dirty="0">
                <a:solidFill>
                  <a:srgbClr val="FF0000"/>
                </a:solidFill>
                <a:hlinkClick r:id="rId2"/>
              </a:rPr>
              <a:t>como nació Facebook</a:t>
            </a:r>
            <a:endParaRPr lang="es-ES_tradnl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51575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66584" y="827420"/>
            <a:ext cx="6212085" cy="36933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s-ES" b="1" dirty="0"/>
              <a:t>D) El emprendedor en cifras- Valores, percepciones y aptitudes 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04" t="28172" r="17511" b="28081"/>
          <a:stretch/>
        </p:blipFill>
        <p:spPr bwMode="auto">
          <a:xfrm>
            <a:off x="1260585" y="1196752"/>
            <a:ext cx="6455391" cy="320016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3 CuadroTexto"/>
          <p:cNvSpPr txBox="1"/>
          <p:nvPr/>
        </p:nvSpPr>
        <p:spPr>
          <a:xfrm>
            <a:off x="611560" y="4396919"/>
            <a:ext cx="8280920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s-ES" sz="1600" dirty="0"/>
              <a:t>Entorno a un 35-60% de la población conoce a otros emprendedores que pueden servir de ejemplo.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s-ES" sz="1600" dirty="0"/>
              <a:t>Entorno a un 40-60% de la población tiene miedo a emprender.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s-ES" sz="1600" dirty="0"/>
              <a:t>Entorno a un 45-100% de la población se ve capacitada para emprender. </a:t>
            </a:r>
          </a:p>
          <a:p>
            <a:r>
              <a:rPr lang="es-ES" sz="1600" dirty="0"/>
              <a:t>La actividad emprendedora en España crece menos que la de sus países de referencia. A pesar del crecimiento de las tasas de emprendimiento potencial y reciente (TEA), en 2023 España se sitúa a la cola de sus países de referencia.</a:t>
            </a:r>
          </a:p>
          <a:p>
            <a:pPr marL="285750" indent="-285750">
              <a:buFont typeface="Arial" pitchFamily="34" charset="0"/>
              <a:buChar char="•"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9697912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37 CuadroTexto"/>
          <p:cNvSpPr txBox="1"/>
          <p:nvPr/>
        </p:nvSpPr>
        <p:spPr>
          <a:xfrm>
            <a:off x="659472" y="810108"/>
            <a:ext cx="8147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i="1" dirty="0"/>
              <a:t>Capacidad innovadora de probar cosas nuevas o hacerlas de una manera diferente</a:t>
            </a:r>
            <a:endParaRPr lang="es-ES" i="1" dirty="0"/>
          </a:p>
        </p:txBody>
      </p:sp>
      <p:sp>
        <p:nvSpPr>
          <p:cNvPr id="22" name="1 Título"/>
          <p:cNvSpPr txBox="1">
            <a:spLocks/>
          </p:cNvSpPr>
          <p:nvPr/>
        </p:nvSpPr>
        <p:spPr>
          <a:xfrm>
            <a:off x="0" y="22086"/>
            <a:ext cx="6012160" cy="5780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_tradnl" b="1" dirty="0"/>
              <a:t>3. El espíritu emprendedor</a:t>
            </a:r>
          </a:p>
        </p:txBody>
      </p:sp>
      <p:graphicFrame>
        <p:nvGraphicFramePr>
          <p:cNvPr id="2" name="1 Diagrama"/>
          <p:cNvGraphicFramePr/>
          <p:nvPr>
            <p:extLst>
              <p:ext uri="{D42A27DB-BD31-4B8C-83A1-F6EECF244321}">
                <p14:modId xmlns:p14="http://schemas.microsoft.com/office/powerpoint/2010/main" val="2657591513"/>
              </p:ext>
            </p:extLst>
          </p:nvPr>
        </p:nvGraphicFramePr>
        <p:xfrm>
          <a:off x="323528" y="1624578"/>
          <a:ext cx="8278575" cy="37282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589753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CuadroTexto"/>
          <p:cNvSpPr txBox="1"/>
          <p:nvPr/>
        </p:nvSpPr>
        <p:spPr>
          <a:xfrm>
            <a:off x="406832" y="1165566"/>
            <a:ext cx="1738536" cy="369332"/>
          </a:xfrm>
          <a:prstGeom prst="rect">
            <a:avLst/>
          </a:prstGeom>
          <a:solidFill>
            <a:srgbClr val="92D050"/>
          </a:solidFill>
          <a:ln>
            <a:solidFill>
              <a:srgbClr val="00B050"/>
            </a:solidFill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s-ES_tradnl" b="1" dirty="0"/>
              <a:t>EMPRENDEDOR</a:t>
            </a:r>
            <a:endParaRPr lang="es-ES" b="1" dirty="0"/>
          </a:p>
        </p:txBody>
      </p:sp>
      <p:sp>
        <p:nvSpPr>
          <p:cNvPr id="45" name="44 CuadroTexto"/>
          <p:cNvSpPr txBox="1"/>
          <p:nvPr/>
        </p:nvSpPr>
        <p:spPr>
          <a:xfrm>
            <a:off x="2331452" y="1047859"/>
            <a:ext cx="6628018" cy="35779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à"/>
            </a:pPr>
            <a:r>
              <a:rPr lang="es-ES_tradnl" i="1" dirty="0"/>
              <a:t>Persona con capacidad de convertir una idea en proyecto real generando innovación en el entorno y obteniendo beneficios económicos y sociales. </a:t>
            </a:r>
          </a:p>
          <a:p>
            <a:pPr marL="285750" indent="-285750">
              <a:buFont typeface="Wingdings" pitchFamily="2" charset="2"/>
              <a:buChar char="à"/>
            </a:pPr>
            <a:r>
              <a:rPr lang="es-ES_tradnl" i="1" dirty="0"/>
              <a:t>No hace falta crear empresa puede ser una organización social (ONG)</a:t>
            </a:r>
          </a:p>
          <a:p>
            <a:pPr marL="285750" indent="-285750">
              <a:buFont typeface="Wingdings" pitchFamily="2" charset="2"/>
              <a:buChar char="à"/>
            </a:pPr>
            <a:r>
              <a:rPr lang="es-ES_tradnl" i="1" dirty="0"/>
              <a:t>Tipos de emprendedor: </a:t>
            </a:r>
          </a:p>
          <a:p>
            <a:pPr marL="742950" lvl="1" indent="-285750">
              <a:buFont typeface="Wingdings" pitchFamily="2" charset="2"/>
              <a:buChar char="q"/>
            </a:pPr>
            <a:r>
              <a:rPr lang="es-ES_tradnl" i="1" u="sng" dirty="0"/>
              <a:t>Emprendedor empresario</a:t>
            </a:r>
            <a:r>
              <a:rPr lang="es-ES_tradnl" i="1" dirty="0"/>
              <a:t>: </a:t>
            </a:r>
            <a:r>
              <a:rPr lang="es-ES_tradnl" i="1" dirty="0">
                <a:sym typeface="Wingdings" pitchFamily="2" charset="2"/>
              </a:rPr>
              <a:t>crea la empresa desde el inicio y asume el riesgo de la innovación que conlleva</a:t>
            </a:r>
          </a:p>
          <a:p>
            <a:endParaRPr lang="es-ES_tradnl" sz="1050" i="1" dirty="0">
              <a:sym typeface="Wingdings" pitchFamily="2" charset="2"/>
            </a:endParaRPr>
          </a:p>
          <a:p>
            <a:pPr marL="742950" lvl="1" indent="-285750">
              <a:buFont typeface="Wingdings" pitchFamily="2" charset="2"/>
              <a:buChar char="q"/>
            </a:pPr>
            <a:r>
              <a:rPr lang="es-ES_tradnl" i="1" u="sng" dirty="0"/>
              <a:t>Emprendedor corporativo o intraemprendedor</a:t>
            </a:r>
            <a:r>
              <a:rPr lang="es-ES_tradnl" i="1" dirty="0"/>
              <a:t>: </a:t>
            </a:r>
            <a:r>
              <a:rPr lang="es-ES_tradnl" i="1" dirty="0">
                <a:sym typeface="Wingdings" pitchFamily="2" charset="2"/>
              </a:rPr>
              <a:t>trabaja en una organización, pero dispone de autonomía suficiente para plantear nuevos proyectos y desarrollarlos como si fueran suyos.</a:t>
            </a:r>
            <a:endParaRPr lang="es-ES" i="1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A991CE73-01C9-62CB-8E7D-0380B4914138}"/>
              </a:ext>
            </a:extLst>
          </p:cNvPr>
          <p:cNvSpPr txBox="1"/>
          <p:nvPr/>
        </p:nvSpPr>
        <p:spPr>
          <a:xfrm>
            <a:off x="406832" y="4831768"/>
            <a:ext cx="459326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_tradnl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Vídeo</a:t>
            </a:r>
            <a:r>
              <a:rPr lang="es-ES_tradnl" sz="1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 </a:t>
            </a:r>
            <a:r>
              <a:rPr lang="es-ES_tradnl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linkClick r:id="rId2"/>
              </a:rPr>
              <a:t>El error empresarial más grande del siglo. Caso Netflix 2020</a:t>
            </a:r>
            <a:endParaRPr lang="es-ES_tradnl" sz="1800" b="1" dirty="0">
              <a:solidFill>
                <a:srgbClr val="C00000"/>
              </a:solidFill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8F75C776-D849-321E-35AF-7222617D4D57}"/>
              </a:ext>
            </a:extLst>
          </p:cNvPr>
          <p:cNvSpPr txBox="1"/>
          <p:nvPr/>
        </p:nvSpPr>
        <p:spPr>
          <a:xfrm>
            <a:off x="574242" y="5507768"/>
            <a:ext cx="65373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b="1" dirty="0">
                <a:solidFill>
                  <a:srgbClr val="0070C0"/>
                </a:solidFill>
              </a:rPr>
              <a:t>Actividad 01.02. </a:t>
            </a:r>
            <a:r>
              <a:rPr lang="es-ES_tradnl" b="1" dirty="0"/>
              <a:t>Responde las siguientes cuestiones sobre el vídeo  </a:t>
            </a:r>
          </a:p>
        </p:txBody>
      </p:sp>
    </p:spTree>
    <p:extLst>
      <p:ext uri="{BB962C8B-B14F-4D97-AF65-F5344CB8AC3E}">
        <p14:creationId xmlns:p14="http://schemas.microsoft.com/office/powerpoint/2010/main" val="5577844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Marcador de contenido 5" descr="Recorte de pantalla">
            <a:extLst>
              <a:ext uri="{FF2B5EF4-FFF2-40B4-BE49-F238E27FC236}">
                <a16:creationId xmlns:a16="http://schemas.microsoft.com/office/drawing/2014/main" id="{AD4CF900-E804-C0B1-F434-0E709CD5CB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364" y="1581447"/>
            <a:ext cx="4938594" cy="3215705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4B48D6EB-118A-2E0B-AD56-5887B389A240}"/>
              </a:ext>
            </a:extLst>
          </p:cNvPr>
          <p:cNvSpPr txBox="1"/>
          <p:nvPr/>
        </p:nvSpPr>
        <p:spPr>
          <a:xfrm>
            <a:off x="683568" y="4797152"/>
            <a:ext cx="388843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dirty="0">
                <a:hlinkClick r:id="rId3"/>
              </a:rPr>
              <a:t>”Como ganar mucho dinero revendiendo productos de otras tiendas en Amazon”</a:t>
            </a:r>
            <a:endParaRPr lang="es-ES_tradnl" dirty="0"/>
          </a:p>
        </p:txBody>
      </p:sp>
      <p:pic>
        <p:nvPicPr>
          <p:cNvPr id="8" name="Imagen 7" descr="Recorte de pantalla">
            <a:extLst>
              <a:ext uri="{FF2B5EF4-FFF2-40B4-BE49-F238E27FC236}">
                <a16:creationId xmlns:a16="http://schemas.microsoft.com/office/drawing/2014/main" id="{DF1D5AC4-6B6F-541B-3A79-8606E9DE02D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4128" y="1643548"/>
            <a:ext cx="2792325" cy="3108367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02510400-8587-DCE3-5D8A-7ECF6CAF2974}"/>
              </a:ext>
            </a:extLst>
          </p:cNvPr>
          <p:cNvSpPr txBox="1"/>
          <p:nvPr/>
        </p:nvSpPr>
        <p:spPr>
          <a:xfrm>
            <a:off x="5724128" y="4970024"/>
            <a:ext cx="32875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dirty="0">
                <a:hlinkClick r:id="rId5"/>
              </a:rPr>
              <a:t>“Top 10 errores emprendedores”</a:t>
            </a:r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36337049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1 Título"/>
          <p:cNvSpPr txBox="1">
            <a:spLocks/>
          </p:cNvSpPr>
          <p:nvPr/>
        </p:nvSpPr>
        <p:spPr>
          <a:xfrm>
            <a:off x="148256" y="42626"/>
            <a:ext cx="8563696" cy="57806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_tradnl" sz="3000" b="1" dirty="0"/>
              <a:t>4. Características personales de los emprendedores</a:t>
            </a:r>
          </a:p>
        </p:txBody>
      </p:sp>
      <p:graphicFrame>
        <p:nvGraphicFramePr>
          <p:cNvPr id="2" name="1 Diagrama"/>
          <p:cNvGraphicFramePr/>
          <p:nvPr>
            <p:extLst>
              <p:ext uri="{D42A27DB-BD31-4B8C-83A1-F6EECF244321}">
                <p14:modId xmlns:p14="http://schemas.microsoft.com/office/powerpoint/2010/main" val="1319286687"/>
              </p:ext>
            </p:extLst>
          </p:nvPr>
        </p:nvGraphicFramePr>
        <p:xfrm>
          <a:off x="459652" y="980728"/>
          <a:ext cx="8252299" cy="4896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757498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CuadroTexto"/>
          <p:cNvSpPr txBox="1"/>
          <p:nvPr/>
        </p:nvSpPr>
        <p:spPr>
          <a:xfrm>
            <a:off x="251520" y="649842"/>
            <a:ext cx="8712967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+mj-lt"/>
              <a:buAutoNum type="arabicPeriod"/>
            </a:pPr>
            <a:r>
              <a:rPr lang="es-ES" b="1" dirty="0"/>
              <a:t>Creatividad y tendencia a la innovación: </a:t>
            </a:r>
            <a:r>
              <a:rPr lang="es-ES" dirty="0"/>
              <a:t>el emprendedor es un </a:t>
            </a:r>
            <a:r>
              <a:rPr lang="es-ES" b="1" dirty="0">
                <a:solidFill>
                  <a:srgbClr val="0070C0"/>
                </a:solidFill>
              </a:rPr>
              <a:t>innovador</a:t>
            </a:r>
            <a:r>
              <a:rPr lang="es-ES" dirty="0"/>
              <a:t>, pero además es necesario hacer algo nuevo o hacerlo mejor. Por lo tanto que la creatividad es una característica básica del emprendedor.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s-ES" b="1" dirty="0"/>
              <a:t>Asunción del riesgo:</a:t>
            </a:r>
            <a:r>
              <a:rPr lang="es-ES" dirty="0"/>
              <a:t> emprender implica </a:t>
            </a:r>
            <a:r>
              <a:rPr lang="es-ES" b="1" dirty="0">
                <a:solidFill>
                  <a:srgbClr val="0070C0"/>
                </a:solidFill>
              </a:rPr>
              <a:t>asumir el riesgo a fracasar</a:t>
            </a:r>
            <a:r>
              <a:rPr lang="es-ES" dirty="0"/>
              <a:t>, es por ello que deben calcularse y hacerse los correspondientes estudios. 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s-ES" b="1" dirty="0"/>
              <a:t>Persistencia:</a:t>
            </a:r>
            <a:r>
              <a:rPr lang="es-ES" dirty="0"/>
              <a:t> el emprendedor sabe que los inicios son duros y hay que </a:t>
            </a:r>
            <a:r>
              <a:rPr lang="es-ES" b="1" dirty="0">
                <a:solidFill>
                  <a:srgbClr val="0070C0"/>
                </a:solidFill>
              </a:rPr>
              <a:t>persistir,  saber esperar y no desanimarse</a:t>
            </a:r>
            <a:r>
              <a:rPr lang="es-ES" dirty="0"/>
              <a:t> ante el primer fracaso.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s-ES" b="1" dirty="0"/>
              <a:t>Autoconfianza pero con autocrítica: </a:t>
            </a:r>
            <a:r>
              <a:rPr lang="es-ES" dirty="0"/>
              <a:t>el emprendedor se marca sus propios objetivos con realismo pero con </a:t>
            </a:r>
            <a:r>
              <a:rPr lang="es-ES" b="1" dirty="0">
                <a:solidFill>
                  <a:srgbClr val="0070C0"/>
                </a:solidFill>
              </a:rPr>
              <a:t>confianza</a:t>
            </a:r>
            <a:r>
              <a:rPr lang="es-ES" dirty="0"/>
              <a:t> en alcanzarlos y con capacidad de </a:t>
            </a:r>
            <a:r>
              <a:rPr lang="es-ES" b="1" dirty="0">
                <a:solidFill>
                  <a:srgbClr val="0070C0"/>
                </a:solidFill>
              </a:rPr>
              <a:t>autocrítica</a:t>
            </a:r>
            <a:r>
              <a:rPr lang="es-ES" dirty="0"/>
              <a:t> que le permita aprender de sus errores.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s-ES" b="1" dirty="0"/>
              <a:t>Capacidad de organización: </a:t>
            </a:r>
            <a:r>
              <a:rPr lang="es-ES" dirty="0"/>
              <a:t>el emprendedor debe ser una persona </a:t>
            </a:r>
            <a:r>
              <a:rPr lang="es-ES" b="1" dirty="0">
                <a:solidFill>
                  <a:srgbClr val="0070C0"/>
                </a:solidFill>
              </a:rPr>
              <a:t>organizada</a:t>
            </a:r>
            <a:r>
              <a:rPr lang="es-ES" dirty="0"/>
              <a:t> a la que no le desborde llevar varios aspectos de le empresa a la misma vez, además debe organizar diferentes recursos.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s-ES" b="1" dirty="0"/>
              <a:t>Capacidad de trabajo:</a:t>
            </a:r>
            <a:r>
              <a:rPr lang="es-ES" dirty="0"/>
              <a:t> el emprendedor debe </a:t>
            </a:r>
            <a:r>
              <a:rPr lang="es-ES" b="1" dirty="0">
                <a:solidFill>
                  <a:srgbClr val="0070C0"/>
                </a:solidFill>
              </a:rPr>
              <a:t>trabajar durante muchas horas</a:t>
            </a:r>
            <a:r>
              <a:rPr lang="es-ES" dirty="0"/>
              <a:t>, pues su trabajo depende de las exigencias del proyecto que emprende.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s-ES" b="1" dirty="0"/>
              <a:t>Habilidades sociales: </a:t>
            </a:r>
            <a:r>
              <a:rPr lang="es-ES" dirty="0"/>
              <a:t>debido a que tiene que comunicarse constantemente con proveedores y clientes, debe tener </a:t>
            </a:r>
            <a:r>
              <a:rPr lang="es-ES" b="1" dirty="0">
                <a:solidFill>
                  <a:srgbClr val="0070C0"/>
                </a:solidFill>
              </a:rPr>
              <a:t>habilidades de comunicación</a:t>
            </a:r>
            <a:r>
              <a:rPr lang="es-ES" dirty="0"/>
              <a:t>, escucha activa y asertividad para interactuar de forma correcta.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s-ES" b="1" dirty="0"/>
              <a:t>Honradez: </a:t>
            </a:r>
            <a:r>
              <a:rPr lang="es-ES" dirty="0"/>
              <a:t>para tener éxito en el largo plazo, es necesario tener </a:t>
            </a:r>
            <a:r>
              <a:rPr lang="es-ES" b="1" dirty="0">
                <a:solidFill>
                  <a:srgbClr val="0070C0"/>
                </a:solidFill>
              </a:rPr>
              <a:t>sentido ético</a:t>
            </a:r>
            <a:r>
              <a:rPr lang="es-ES" dirty="0"/>
              <a:t>. Proceder de forma no ética puede suponer beneficios en el c/p pero descrédito en el l/p.</a:t>
            </a:r>
          </a:p>
        </p:txBody>
      </p:sp>
    </p:spTree>
    <p:extLst>
      <p:ext uri="{BB962C8B-B14F-4D97-AF65-F5344CB8AC3E}">
        <p14:creationId xmlns:p14="http://schemas.microsoft.com/office/powerpoint/2010/main" val="30415685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37 CuadroTexto"/>
          <p:cNvSpPr txBox="1"/>
          <p:nvPr/>
        </p:nvSpPr>
        <p:spPr>
          <a:xfrm>
            <a:off x="333905" y="803751"/>
            <a:ext cx="81472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dirty="0"/>
              <a:t>Todo proyecto emprendedor comienza con una idea de negocio. La </a:t>
            </a:r>
            <a:r>
              <a:rPr lang="es-ES_tradnl" b="1" dirty="0"/>
              <a:t>idea</a:t>
            </a:r>
            <a:r>
              <a:rPr lang="es-ES_tradnl" dirty="0"/>
              <a:t> es la visión que tiene el emprendedor de su proyecto empresarial. Tiene que tener 4 aspectos:</a:t>
            </a:r>
            <a:endParaRPr lang="es-ES" dirty="0"/>
          </a:p>
        </p:txBody>
      </p:sp>
      <p:sp>
        <p:nvSpPr>
          <p:cNvPr id="40" name="39 CuadroTexto"/>
          <p:cNvSpPr txBox="1"/>
          <p:nvPr/>
        </p:nvSpPr>
        <p:spPr>
          <a:xfrm>
            <a:off x="148256" y="1523398"/>
            <a:ext cx="1183384" cy="369332"/>
          </a:xfrm>
          <a:prstGeom prst="rect">
            <a:avLst/>
          </a:prstGeom>
          <a:noFill/>
          <a:ln w="25400"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S_tradnl" b="1" dirty="0"/>
              <a:t>4 aspectos</a:t>
            </a:r>
            <a:endParaRPr lang="es-ES" b="1" dirty="0"/>
          </a:p>
        </p:txBody>
      </p:sp>
      <p:sp>
        <p:nvSpPr>
          <p:cNvPr id="4" name="3 CuadroTexto"/>
          <p:cNvSpPr txBox="1"/>
          <p:nvPr/>
        </p:nvSpPr>
        <p:spPr>
          <a:xfrm>
            <a:off x="166732" y="2495644"/>
            <a:ext cx="4257352" cy="369332"/>
          </a:xfrm>
          <a:prstGeom prst="rect">
            <a:avLst/>
          </a:prstGeom>
          <a:solidFill>
            <a:srgbClr val="92D050"/>
          </a:solidFill>
          <a:ln>
            <a:solidFill>
              <a:srgbClr val="00B050"/>
            </a:solidFill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s-ES_tradnl" b="1" dirty="0"/>
              <a:t>A) Fuentes de Ideas de Negocio</a:t>
            </a:r>
            <a:endParaRPr lang="es-ES" b="1" dirty="0"/>
          </a:p>
        </p:txBody>
      </p:sp>
      <p:sp>
        <p:nvSpPr>
          <p:cNvPr id="15" name="14 Rectángulo"/>
          <p:cNvSpPr/>
          <p:nvPr/>
        </p:nvSpPr>
        <p:spPr>
          <a:xfrm>
            <a:off x="7348292" y="1489764"/>
            <a:ext cx="1411409" cy="107721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2"/>
            </a:solidFill>
          </a:ln>
        </p:spPr>
        <p:txBody>
          <a:bodyPr wrap="square">
            <a:spAutoFit/>
          </a:bodyPr>
          <a:lstStyle/>
          <a:p>
            <a:r>
              <a:rPr lang="es-ES_tradnl" b="1" dirty="0"/>
              <a:t>Qué objetivos </a:t>
            </a:r>
            <a:r>
              <a:rPr lang="es-ES_tradnl" sz="1400" b="1" dirty="0"/>
              <a:t>(qué quiere alcanzar en c/p)</a:t>
            </a:r>
            <a:endParaRPr lang="es-ES" b="1" dirty="0"/>
          </a:p>
        </p:txBody>
      </p:sp>
      <p:sp>
        <p:nvSpPr>
          <p:cNvPr id="17" name="16 Rectángulo"/>
          <p:cNvSpPr/>
          <p:nvPr/>
        </p:nvSpPr>
        <p:spPr>
          <a:xfrm>
            <a:off x="4710262" y="1485715"/>
            <a:ext cx="2282547" cy="92333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2"/>
            </a:solidFill>
          </a:ln>
        </p:spPr>
        <p:txBody>
          <a:bodyPr wrap="square">
            <a:spAutoFit/>
          </a:bodyPr>
          <a:lstStyle/>
          <a:p>
            <a:pPr lvl="0" algn="ctr"/>
            <a:r>
              <a:rPr lang="es-ES_tradnl" b="1" dirty="0">
                <a:solidFill>
                  <a:prstClr val="black"/>
                </a:solidFill>
              </a:rPr>
              <a:t>Propuesta de valor.</a:t>
            </a:r>
          </a:p>
          <a:p>
            <a:pPr lvl="0" algn="ctr"/>
            <a:r>
              <a:rPr lang="es-ES_tradnl" b="1" dirty="0">
                <a:solidFill>
                  <a:prstClr val="black"/>
                </a:solidFill>
              </a:rPr>
              <a:t>El por qué se venderá </a:t>
            </a:r>
            <a:r>
              <a:rPr lang="es-ES_tradnl" sz="1600" b="1" dirty="0">
                <a:solidFill>
                  <a:prstClr val="black"/>
                </a:solidFill>
              </a:rPr>
              <a:t>(factor diferenciador)</a:t>
            </a:r>
            <a:endParaRPr lang="es-ES" b="1" dirty="0">
              <a:solidFill>
                <a:prstClr val="black"/>
              </a:solidFill>
            </a:endParaRPr>
          </a:p>
        </p:txBody>
      </p:sp>
      <p:sp>
        <p:nvSpPr>
          <p:cNvPr id="21" name="20 Rectángulo"/>
          <p:cNvSpPr/>
          <p:nvPr/>
        </p:nvSpPr>
        <p:spPr>
          <a:xfrm>
            <a:off x="1503110" y="1507691"/>
            <a:ext cx="1293868" cy="800219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2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s-ES_tradnl" b="1" dirty="0"/>
              <a:t>Actividad </a:t>
            </a:r>
            <a:r>
              <a:rPr lang="es-ES_tradnl" sz="1400" b="1" dirty="0"/>
              <a:t>(qué producto, sector…)</a:t>
            </a:r>
            <a:endParaRPr lang="es-ES" b="1" dirty="0"/>
          </a:p>
        </p:txBody>
      </p:sp>
      <p:sp>
        <p:nvSpPr>
          <p:cNvPr id="2" name="1 CuadroTexto"/>
          <p:cNvSpPr txBox="1"/>
          <p:nvPr/>
        </p:nvSpPr>
        <p:spPr>
          <a:xfrm>
            <a:off x="2879068" y="1503195"/>
            <a:ext cx="2144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b="1" dirty="0"/>
              <a:t>+</a:t>
            </a:r>
            <a:endParaRPr lang="es-ES" b="1" dirty="0"/>
          </a:p>
        </p:txBody>
      </p:sp>
      <p:sp>
        <p:nvSpPr>
          <p:cNvPr id="23" name="22 CuadroTexto"/>
          <p:cNvSpPr txBox="1"/>
          <p:nvPr/>
        </p:nvSpPr>
        <p:spPr>
          <a:xfrm>
            <a:off x="7061591" y="1523398"/>
            <a:ext cx="2144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b="1" dirty="0"/>
              <a:t>+</a:t>
            </a:r>
            <a:endParaRPr lang="es-ES" b="1" dirty="0"/>
          </a:p>
        </p:txBody>
      </p:sp>
      <p:sp>
        <p:nvSpPr>
          <p:cNvPr id="31" name="1 Título"/>
          <p:cNvSpPr txBox="1">
            <a:spLocks/>
          </p:cNvSpPr>
          <p:nvPr/>
        </p:nvSpPr>
        <p:spPr>
          <a:xfrm>
            <a:off x="148256" y="42626"/>
            <a:ext cx="8229600" cy="5780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_tradnl" b="1" dirty="0"/>
              <a:t>5. La idea de negocio</a:t>
            </a:r>
          </a:p>
        </p:txBody>
      </p:sp>
      <p:sp>
        <p:nvSpPr>
          <p:cNvPr id="26" name="20 Rectángulo">
            <a:extLst>
              <a:ext uri="{FF2B5EF4-FFF2-40B4-BE49-F238E27FC236}">
                <a16:creationId xmlns:a16="http://schemas.microsoft.com/office/drawing/2014/main" id="{692EEB93-7918-4FA2-8169-FB5C6D93D841}"/>
              </a:ext>
            </a:extLst>
          </p:cNvPr>
          <p:cNvSpPr/>
          <p:nvPr/>
        </p:nvSpPr>
        <p:spPr>
          <a:xfrm>
            <a:off x="3130216" y="1503195"/>
            <a:ext cx="1293868" cy="92333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2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s-ES_tradnl" b="1" dirty="0"/>
              <a:t>A quiénes </a:t>
            </a:r>
            <a:r>
              <a:rPr lang="es-ES_tradnl" sz="1200" b="1" dirty="0"/>
              <a:t>(quién compra y qué necesidad cubre)</a:t>
            </a:r>
            <a:endParaRPr lang="es-ES" b="1" dirty="0"/>
          </a:p>
        </p:txBody>
      </p:sp>
      <p:sp>
        <p:nvSpPr>
          <p:cNvPr id="28" name="1 CuadroTexto">
            <a:extLst>
              <a:ext uri="{FF2B5EF4-FFF2-40B4-BE49-F238E27FC236}">
                <a16:creationId xmlns:a16="http://schemas.microsoft.com/office/drawing/2014/main" id="{0B39BEF4-D03C-4DB2-B8FE-8ED67169ADFA}"/>
              </a:ext>
            </a:extLst>
          </p:cNvPr>
          <p:cNvSpPr txBox="1"/>
          <p:nvPr/>
        </p:nvSpPr>
        <p:spPr>
          <a:xfrm>
            <a:off x="4448836" y="1496276"/>
            <a:ext cx="2144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b="1" dirty="0"/>
              <a:t>+</a:t>
            </a:r>
            <a:endParaRPr lang="es-ES" b="1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5758F57C-3912-B38D-8D94-F51D4F455EEB}"/>
              </a:ext>
            </a:extLst>
          </p:cNvPr>
          <p:cNvSpPr txBox="1"/>
          <p:nvPr/>
        </p:nvSpPr>
        <p:spPr>
          <a:xfrm>
            <a:off x="145028" y="2947511"/>
            <a:ext cx="9073941" cy="3628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_tradnl" sz="1600" dirty="0"/>
              <a:t>Características personales:</a:t>
            </a:r>
          </a:p>
          <a:p>
            <a:pPr marL="742950" lvl="1" indent="-285750">
              <a:buFont typeface="Wingdings" pitchFamily="2" charset="2"/>
              <a:buChar char="§"/>
            </a:pPr>
            <a:r>
              <a:rPr lang="es-ES_tradnl" sz="1600" dirty="0"/>
              <a:t>Experiencia profesional en otra empresa (haber trabajado en otra empresa, poseer un título…)</a:t>
            </a:r>
          </a:p>
          <a:p>
            <a:pPr marL="742950" lvl="1" indent="-285750">
              <a:buFont typeface="Wingdings" pitchFamily="2" charset="2"/>
              <a:buChar char="§"/>
            </a:pPr>
            <a:r>
              <a:rPr lang="es-ES_tradnl" sz="1600" dirty="0"/>
              <a:t>Aficiones personales (deporte, hobby, cualquier actividad en el tiempo libre…)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_tradnl" sz="1600" dirty="0"/>
              <a:t>La observación del entorno económico:</a:t>
            </a:r>
          </a:p>
          <a:p>
            <a:pPr marL="742950" lvl="1" indent="-285750">
              <a:buFont typeface="Wingdings" pitchFamily="2" charset="2"/>
              <a:buChar char="§"/>
            </a:pPr>
            <a:r>
              <a:rPr lang="es-ES_tradnl" sz="1600" dirty="0"/>
              <a:t>Carencia de mercado: servicios mal prestados o bien no hay ninguna empresa que ofrezca el servicio en la zona.</a:t>
            </a:r>
          </a:p>
          <a:p>
            <a:pPr marL="742950" lvl="1" indent="-285750">
              <a:buFont typeface="Wingdings" pitchFamily="2" charset="2"/>
              <a:buChar char="§"/>
            </a:pPr>
            <a:r>
              <a:rPr lang="es-ES_tradnl" sz="1600" dirty="0"/>
              <a:t>Estudio otros mercados: algunos emprendedores se dedican a observar que funciona en otros mercados e importarlo. </a:t>
            </a:r>
            <a:r>
              <a:rPr lang="es-ES_tradnl" sz="1600" dirty="0" err="1"/>
              <a:t>Ej</a:t>
            </a:r>
            <a:r>
              <a:rPr lang="es-ES_tradnl" sz="1600" dirty="0"/>
              <a:t>: lavanderías </a:t>
            </a:r>
          </a:p>
          <a:p>
            <a:pPr marL="742950" lvl="1" indent="-285750">
              <a:buFont typeface="Wingdings" pitchFamily="2" charset="2"/>
              <a:buChar char="§"/>
            </a:pPr>
            <a:r>
              <a:rPr lang="es-ES_tradnl" sz="1600" dirty="0"/>
              <a:t>Tendencias: observar nuevas tendencias o pautas de consumo.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_tradnl" sz="1600" dirty="0"/>
              <a:t>La innovación del producto:</a:t>
            </a:r>
          </a:p>
          <a:p>
            <a:pPr marL="742950" lvl="1" indent="-285750">
              <a:buFont typeface="Wingdings" pitchFamily="2" charset="2"/>
              <a:buChar char="§"/>
            </a:pPr>
            <a:r>
              <a:rPr lang="es-ES_tradnl" sz="1600" dirty="0"/>
              <a:t>Nuevo producto: un invento nuevo y lo lleva al mercado.</a:t>
            </a:r>
          </a:p>
          <a:p>
            <a:pPr marL="742950" lvl="1" indent="-285750">
              <a:buFont typeface="Wingdings" pitchFamily="2" charset="2"/>
              <a:buChar char="§"/>
            </a:pPr>
            <a:r>
              <a:rPr lang="es-ES_tradnl" sz="1600" dirty="0"/>
              <a:t>Ofrecer producto de forma distinta: cambiar alguna característica (coches híbridos y eléctricos), darle un nuevo uso (</a:t>
            </a:r>
            <a:r>
              <a:rPr lang="es-ES_tradnl" sz="1600" dirty="0" err="1"/>
              <a:t>ej</a:t>
            </a:r>
            <a:r>
              <a:rPr lang="es-ES_tradnl" sz="1600" dirty="0"/>
              <a:t>: aspirina), vender a otros clientes (Chocolates Valor y su campaña “placer adulto”)...</a:t>
            </a:r>
            <a:endParaRPr lang="es-ES" sz="1600" dirty="0"/>
          </a:p>
        </p:txBody>
      </p:sp>
      <p:sp>
        <p:nvSpPr>
          <p:cNvPr id="5" name="CuadroTexto 4"/>
          <p:cNvSpPr txBox="1"/>
          <p:nvPr/>
        </p:nvSpPr>
        <p:spPr>
          <a:xfrm>
            <a:off x="70059" y="1951444"/>
            <a:ext cx="13642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b="1" dirty="0">
                <a:solidFill>
                  <a:srgbClr val="FF0000"/>
                </a:solidFill>
              </a:rPr>
              <a:t>Vídeo: </a:t>
            </a:r>
            <a:r>
              <a:rPr lang="es-ES" sz="1200" b="1" dirty="0">
                <a:hlinkClick r:id="rId2"/>
              </a:rPr>
              <a:t>“zapatillas en 3D”</a:t>
            </a:r>
            <a:endParaRPr lang="es-ES" sz="1200" b="1" dirty="0"/>
          </a:p>
        </p:txBody>
      </p:sp>
    </p:spTree>
    <p:extLst>
      <p:ext uri="{BB962C8B-B14F-4D97-AF65-F5344CB8AC3E}">
        <p14:creationId xmlns:p14="http://schemas.microsoft.com/office/powerpoint/2010/main" val="18654434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23 CuadroTexto"/>
          <p:cNvSpPr txBox="1"/>
          <p:nvPr/>
        </p:nvSpPr>
        <p:spPr>
          <a:xfrm>
            <a:off x="323089" y="1171196"/>
            <a:ext cx="3749270" cy="369332"/>
          </a:xfrm>
          <a:prstGeom prst="rect">
            <a:avLst/>
          </a:prstGeom>
          <a:solidFill>
            <a:srgbClr val="92D050"/>
          </a:solidFill>
          <a:ln>
            <a:solidFill>
              <a:srgbClr val="00B050"/>
            </a:solidFill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s-ES_tradnl" b="1" dirty="0"/>
              <a:t>B) Propuesta de valor de la idea</a:t>
            </a:r>
            <a:endParaRPr lang="es-ES" b="1" dirty="0"/>
          </a:p>
        </p:txBody>
      </p:sp>
      <p:sp>
        <p:nvSpPr>
          <p:cNvPr id="25" name="24 CuadroTexto"/>
          <p:cNvSpPr txBox="1"/>
          <p:nvPr/>
        </p:nvSpPr>
        <p:spPr>
          <a:xfrm>
            <a:off x="323528" y="1664473"/>
            <a:ext cx="8424936" cy="36625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_tradnl" dirty="0"/>
              <a:t>Los expertos en creación de empresas coinciden en que lo  importante no es el producto sino la </a:t>
            </a:r>
            <a:r>
              <a:rPr lang="es-ES_tradnl" b="1" dirty="0"/>
              <a:t>propuesta de valor </a:t>
            </a:r>
            <a:r>
              <a:rPr lang="es-ES_tradnl" dirty="0"/>
              <a:t>que hay detrás. </a:t>
            </a:r>
          </a:p>
          <a:p>
            <a:pPr algn="just"/>
            <a:r>
              <a:rPr lang="es-ES_tradnl" dirty="0"/>
              <a:t>Preguntas que pueden ayudar a pensar en cuál es la </a:t>
            </a:r>
            <a:r>
              <a:rPr lang="es-ES_tradnl" b="1" dirty="0"/>
              <a:t>propuesta de valor:</a:t>
            </a:r>
            <a:endParaRPr lang="es-ES" dirty="0"/>
          </a:p>
          <a:p>
            <a:pPr algn="just">
              <a:lnSpc>
                <a:spcPct val="150000"/>
              </a:lnSpc>
            </a:pPr>
            <a:r>
              <a:rPr lang="es-ES_tradnl" i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¿Por qué se va a vender?</a:t>
            </a:r>
          </a:p>
          <a:p>
            <a:pPr algn="just">
              <a:lnSpc>
                <a:spcPct val="150000"/>
              </a:lnSpc>
            </a:pPr>
            <a:r>
              <a:rPr lang="es-ES" i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¿Qué les ofreces a los clientes para que lo compren?</a:t>
            </a:r>
          </a:p>
          <a:p>
            <a:pPr algn="just">
              <a:lnSpc>
                <a:spcPct val="150000"/>
              </a:lnSpc>
            </a:pPr>
            <a:r>
              <a:rPr lang="es-ES" i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¿Qué tiene el producto para que sea distinto de la competencia?</a:t>
            </a:r>
          </a:p>
          <a:p>
            <a:pPr algn="just">
              <a:lnSpc>
                <a:spcPct val="150000"/>
              </a:lnSpc>
            </a:pPr>
            <a:r>
              <a:rPr lang="es-ES" i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¿Qué necesidades está cubriendo de los clientes para que quieran comprarlo?</a:t>
            </a:r>
          </a:p>
          <a:p>
            <a:pPr algn="just">
              <a:lnSpc>
                <a:spcPct val="150000"/>
              </a:lnSpc>
            </a:pPr>
            <a:r>
              <a:rPr lang="es-ES" i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¿Qué beneficios aporta a los clientes la compra de tu producto?</a:t>
            </a:r>
          </a:p>
          <a:p>
            <a:pPr algn="just">
              <a:lnSpc>
                <a:spcPct val="150000"/>
              </a:lnSpc>
            </a:pPr>
            <a:r>
              <a:rPr lang="es-ES" i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¿Es de mayor calidad, mejor precio, qué es lo que te hace diferente?</a:t>
            </a:r>
          </a:p>
          <a:p>
            <a:pPr algn="ctr"/>
            <a:endParaRPr lang="es-ES" sz="1600" i="1" dirty="0"/>
          </a:p>
        </p:txBody>
      </p:sp>
    </p:spTree>
    <p:extLst>
      <p:ext uri="{BB962C8B-B14F-4D97-AF65-F5344CB8AC3E}">
        <p14:creationId xmlns:p14="http://schemas.microsoft.com/office/powerpoint/2010/main" val="6371830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24 CuadroTexto"/>
          <p:cNvSpPr txBox="1"/>
          <p:nvPr/>
        </p:nvSpPr>
        <p:spPr>
          <a:xfrm>
            <a:off x="320895" y="1605185"/>
            <a:ext cx="842493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_tradnl" b="1" u="sng" dirty="0">
                <a:solidFill>
                  <a:srgbClr val="0070C0"/>
                </a:solidFill>
              </a:rPr>
              <a:t>Actividad 01.04. </a:t>
            </a:r>
            <a:r>
              <a:rPr lang="es-ES" b="1" dirty="0"/>
              <a:t>Piensa una idea de negocio para crear una empresa que se base en alguna de las siguientes fuentes:</a:t>
            </a:r>
          </a:p>
          <a:p>
            <a:pPr marL="514350" indent="-514350" algn="just">
              <a:buAutoNum type="alphaLcParenR"/>
            </a:pPr>
            <a:r>
              <a:rPr lang="es-ES" dirty="0"/>
              <a:t>Si fuera una empresa que se basase en tu experiencia profesional o académica.</a:t>
            </a:r>
          </a:p>
          <a:p>
            <a:pPr marL="514350" indent="-514350" algn="just">
              <a:buAutoNum type="alphaLcParenR"/>
            </a:pPr>
            <a:r>
              <a:rPr lang="es-ES" dirty="0"/>
              <a:t>Si se basase en tus aficiones</a:t>
            </a:r>
          </a:p>
          <a:p>
            <a:pPr marL="514350" indent="-514350" algn="just">
              <a:buAutoNum type="alphaLcParenR"/>
            </a:pPr>
            <a:r>
              <a:rPr lang="es-ES" dirty="0"/>
              <a:t>Una idea basada en una carencia que hayas visto en el mercado</a:t>
            </a:r>
          </a:p>
          <a:p>
            <a:pPr marL="514350" indent="-514350" algn="just">
              <a:buAutoNum type="alphaLcParenR"/>
            </a:pPr>
            <a:r>
              <a:rPr lang="es-ES" dirty="0"/>
              <a:t>Una idea de un negocio que funcione en otros lugares y aquí no</a:t>
            </a:r>
          </a:p>
          <a:p>
            <a:pPr marL="514350" indent="-514350" algn="just">
              <a:buAutoNum type="alphaLcParenR"/>
            </a:pPr>
            <a:r>
              <a:rPr lang="es-ES" dirty="0"/>
              <a:t>Un nuevo producto que inventarías</a:t>
            </a:r>
          </a:p>
          <a:p>
            <a:pPr marL="514350" indent="-514350" algn="just">
              <a:buAutoNum type="alphaLcParenR"/>
            </a:pPr>
            <a:r>
              <a:rPr lang="es-ES" dirty="0"/>
              <a:t>Una idea donde cambiarias alguna característica o le darías un nuevo uso</a:t>
            </a:r>
          </a:p>
          <a:p>
            <a:pPr marL="514350" indent="-514350" algn="just">
              <a:buAutoNum type="alphaLcParenR"/>
            </a:pPr>
            <a:r>
              <a:rPr lang="es-ES" dirty="0"/>
              <a:t>Una idea donde venderías un producto que ya existe a otros clientes</a:t>
            </a:r>
          </a:p>
          <a:p>
            <a:pPr algn="just"/>
            <a:endParaRPr lang="es-ES" b="1" dirty="0"/>
          </a:p>
          <a:p>
            <a:pPr algn="just"/>
            <a:r>
              <a:rPr lang="es-ES" b="1" dirty="0"/>
              <a:t>Para ello, harás un </a:t>
            </a:r>
            <a:r>
              <a:rPr lang="es-ES" b="1" dirty="0">
                <a:hlinkClick r:id="rId2"/>
              </a:rPr>
              <a:t>modelo </a:t>
            </a:r>
            <a:r>
              <a:rPr lang="es-ES" b="1" dirty="0" err="1">
                <a:hlinkClick r:id="rId2"/>
              </a:rPr>
              <a:t>Canvas</a:t>
            </a:r>
            <a:r>
              <a:rPr lang="es-ES" b="1" dirty="0"/>
              <a:t> </a:t>
            </a:r>
            <a:r>
              <a:rPr lang="es-ES" b="1" u="sng" dirty="0">
                <a:solidFill>
                  <a:srgbClr val="0070C0"/>
                </a:solidFill>
              </a:rPr>
              <a:t>(actividad 01.05) </a:t>
            </a:r>
          </a:p>
          <a:p>
            <a:pPr algn="just"/>
            <a:r>
              <a:rPr lang="es-ES" b="1" dirty="0"/>
              <a:t>Ejemplo: McDonald’s</a:t>
            </a:r>
          </a:p>
        </p:txBody>
      </p:sp>
    </p:spTree>
    <p:extLst>
      <p:ext uri="{BB962C8B-B14F-4D97-AF65-F5344CB8AC3E}">
        <p14:creationId xmlns:p14="http://schemas.microsoft.com/office/powerpoint/2010/main" val="13135651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19 CuadroTexto">
            <a:hlinkClick r:id="rId2" action="ppaction://hlinksldjump"/>
          </p:cNvPr>
          <p:cNvSpPr txBox="1"/>
          <p:nvPr/>
        </p:nvSpPr>
        <p:spPr>
          <a:xfrm>
            <a:off x="3215680" y="6165304"/>
            <a:ext cx="13176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b="1" dirty="0">
                <a:solidFill>
                  <a:schemeClr val="tx2"/>
                </a:solidFill>
              </a:rPr>
              <a:t>Contenidos</a:t>
            </a:r>
            <a:endParaRPr lang="es-ES" b="1" dirty="0">
              <a:solidFill>
                <a:schemeClr val="tx2"/>
              </a:solidFill>
            </a:endParaRPr>
          </a:p>
        </p:txBody>
      </p:sp>
      <p:sp>
        <p:nvSpPr>
          <p:cNvPr id="29" name="28 Flecha izquierda">
            <a:hlinkClick r:id="rId3" action="ppaction://hlinksldjump"/>
          </p:cNvPr>
          <p:cNvSpPr/>
          <p:nvPr/>
        </p:nvSpPr>
        <p:spPr>
          <a:xfrm>
            <a:off x="70059" y="6246854"/>
            <a:ext cx="913893" cy="345414"/>
          </a:xfrm>
          <a:prstGeom prst="leftArrow">
            <a:avLst/>
          </a:prstGeom>
          <a:noFill/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200" b="1" dirty="0">
                <a:solidFill>
                  <a:schemeClr val="bg1"/>
                </a:solidFill>
              </a:rPr>
              <a:t>anterior</a:t>
            </a:r>
            <a:endParaRPr lang="es-ES" sz="1200" b="1" dirty="0">
              <a:solidFill>
                <a:schemeClr val="bg1"/>
              </a:solidFill>
            </a:endParaRPr>
          </a:p>
        </p:txBody>
      </p:sp>
      <p:sp>
        <p:nvSpPr>
          <p:cNvPr id="30" name="29 Flecha derecha"/>
          <p:cNvSpPr/>
          <p:nvPr/>
        </p:nvSpPr>
        <p:spPr>
          <a:xfrm>
            <a:off x="7513949" y="6324607"/>
            <a:ext cx="864096" cy="267661"/>
          </a:xfrm>
          <a:prstGeom prst="rightArrow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b="1" dirty="0">
                <a:solidFill>
                  <a:schemeClr val="tx2"/>
                </a:solidFill>
              </a:rPr>
              <a:t>siguiente</a:t>
            </a:r>
            <a:endParaRPr lang="es-ES" sz="1100" b="1" dirty="0">
              <a:solidFill>
                <a:schemeClr val="tx2"/>
              </a:solidFill>
            </a:endParaRPr>
          </a:p>
        </p:txBody>
      </p:sp>
      <p:pic>
        <p:nvPicPr>
          <p:cNvPr id="27" name="26 Imagen"/>
          <p:cNvPicPr>
            <a:picLocks noChangeAspect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666529">
            <a:off x="3000944" y="6277629"/>
            <a:ext cx="287793" cy="361618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548" y="629818"/>
            <a:ext cx="7718892" cy="6068997"/>
          </a:xfrm>
          <a:prstGeom prst="rect">
            <a:avLst/>
          </a:prstGeom>
          <a:ln w="1905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959114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476300-2733-EEFB-C25D-8F44EBB5D0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20" y="25747"/>
            <a:ext cx="8229600" cy="706090"/>
          </a:xfrm>
        </p:spPr>
        <p:txBody>
          <a:bodyPr>
            <a:normAutofit/>
          </a:bodyPr>
          <a:lstStyle/>
          <a:p>
            <a:pPr algn="just"/>
            <a:r>
              <a:rPr lang="es-ES_tradnl" b="1" dirty="0"/>
              <a:t>6. Generando la idea de negocio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49764F7-3084-8C6F-EFF6-093323F272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1781111"/>
            <a:ext cx="8639643" cy="4569372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s-ES" sz="1400" b="1" dirty="0"/>
              <a:t>1º </a:t>
            </a:r>
            <a:r>
              <a:rPr lang="es-ES" sz="1400" dirty="0"/>
              <a:t>- Piensa en </a:t>
            </a:r>
            <a:r>
              <a:rPr lang="es-ES" sz="1400" b="1" dirty="0"/>
              <a:t>varias ideas de negocio </a:t>
            </a:r>
            <a:r>
              <a:rPr lang="es-ES" sz="1400" dirty="0"/>
              <a:t>y explica de cada actividad/producto:</a:t>
            </a:r>
          </a:p>
          <a:p>
            <a:pPr marL="0" indent="0" algn="just">
              <a:lnSpc>
                <a:spcPct val="120000"/>
              </a:lnSpc>
              <a:buNone/>
            </a:pPr>
            <a:r>
              <a:rPr lang="es-ES" sz="1400" b="1" dirty="0"/>
              <a:t>           </a:t>
            </a:r>
            <a:r>
              <a:rPr lang="es-ES" sz="1400" dirty="0"/>
              <a:t>- Que se va a vender</a:t>
            </a:r>
          </a:p>
          <a:p>
            <a:pPr marL="0" indent="0" algn="just">
              <a:lnSpc>
                <a:spcPct val="120000"/>
              </a:lnSpc>
              <a:buNone/>
            </a:pPr>
            <a:r>
              <a:rPr lang="es-ES" sz="1400" dirty="0"/>
              <a:t>           - A quien va dirigido</a:t>
            </a:r>
          </a:p>
          <a:p>
            <a:pPr marL="0" indent="0" algn="just">
              <a:lnSpc>
                <a:spcPct val="120000"/>
              </a:lnSpc>
              <a:buNone/>
            </a:pPr>
            <a:r>
              <a:rPr lang="es-ES" sz="1400" dirty="0"/>
              <a:t>           - Que necesidad cubre</a:t>
            </a:r>
          </a:p>
          <a:p>
            <a:pPr marL="0" indent="0" algn="just">
              <a:lnSpc>
                <a:spcPct val="120000"/>
              </a:lnSpc>
              <a:buNone/>
            </a:pPr>
            <a:r>
              <a:rPr lang="es-ES" sz="1400" dirty="0"/>
              <a:t>           - La propuesta de valor</a:t>
            </a:r>
          </a:p>
          <a:p>
            <a:pPr marL="0" indent="0" algn="just">
              <a:lnSpc>
                <a:spcPct val="120000"/>
              </a:lnSpc>
              <a:buNone/>
            </a:pPr>
            <a:r>
              <a:rPr lang="es-ES" sz="1400" dirty="0"/>
              <a:t>           - Un objetivo a 1 año que pretendes conseguir</a:t>
            </a:r>
          </a:p>
          <a:p>
            <a:pPr marL="0" indent="0" algn="just">
              <a:buNone/>
            </a:pPr>
            <a:r>
              <a:rPr lang="es-ES" sz="1400" b="1" dirty="0"/>
              <a:t>2º</a:t>
            </a:r>
            <a:r>
              <a:rPr lang="es-ES" sz="1400" dirty="0"/>
              <a:t> - </a:t>
            </a:r>
            <a:r>
              <a:rPr lang="es-ES" sz="1400" b="1" dirty="0"/>
              <a:t>Valora</a:t>
            </a:r>
            <a:r>
              <a:rPr lang="es-ES" sz="1400" dirty="0"/>
              <a:t> de cada una de las ideas los </a:t>
            </a:r>
            <a:r>
              <a:rPr lang="es-ES" sz="1400" b="1" dirty="0"/>
              <a:t>siguientes aspectos:</a:t>
            </a:r>
          </a:p>
          <a:p>
            <a:pPr marL="857250" lvl="1" indent="-457200" algn="just">
              <a:buAutoNum type="alphaLcParenR"/>
            </a:pPr>
            <a:r>
              <a:rPr lang="es-ES" sz="1400" dirty="0"/>
              <a:t>El interés personal o ilusión en el proyecto</a:t>
            </a:r>
          </a:p>
          <a:p>
            <a:pPr marL="857250" lvl="1" indent="-457200" algn="just">
              <a:buAutoNum type="alphaLcParenR"/>
            </a:pPr>
            <a:r>
              <a:rPr lang="es-ES" sz="1400" dirty="0"/>
              <a:t>El problema que resuelve</a:t>
            </a:r>
          </a:p>
          <a:p>
            <a:pPr marL="857250" lvl="1" indent="-457200" algn="just">
              <a:buAutoNum type="alphaLcParenR"/>
            </a:pPr>
            <a:r>
              <a:rPr lang="es-ES" sz="1400" dirty="0"/>
              <a:t>¿Existen suficientes clientes que pagarían por esta idea?¿Como cuantos?</a:t>
            </a:r>
          </a:p>
          <a:p>
            <a:pPr marL="857250" lvl="1" indent="-457200" algn="just">
              <a:buAutoNum type="alphaLcParenR"/>
            </a:pPr>
            <a:r>
              <a:rPr lang="es-ES" sz="1400" dirty="0"/>
              <a:t>¿Por qué te comprarían a ti y no a otro tu propuesta de valor? ¿Qué les ofreces que sea diferente?</a:t>
            </a:r>
          </a:p>
          <a:p>
            <a:pPr marL="857250" lvl="1" indent="-457200" algn="just">
              <a:buAutoNum type="alphaLcParenR"/>
            </a:pPr>
            <a:r>
              <a:rPr lang="es-ES" sz="1400" dirty="0"/>
              <a:t>¿Con que recursos humanos dispones para llevar esa idea?¿Solo o necesitarías al alguien más?</a:t>
            </a:r>
          </a:p>
          <a:p>
            <a:pPr marL="857250" lvl="1" indent="-457200" algn="just">
              <a:buAutoNum type="alphaLcParenR"/>
            </a:pPr>
            <a:r>
              <a:rPr lang="es-ES" sz="1400" dirty="0"/>
              <a:t>¿Con que recursos económicos dispones ahora para llevar a la idea a cabo?¿Puedes pedir ayuda o financiación?</a:t>
            </a:r>
          </a:p>
          <a:p>
            <a:pPr marL="400050" lvl="1" indent="0" algn="just">
              <a:buNone/>
            </a:pPr>
            <a:r>
              <a:rPr lang="es-ES" sz="1400" b="1" dirty="0"/>
              <a:t>Una vez hayas analizado todos estos aspectos realiza una valoración global de la idea de negocio para decantarte por una.</a:t>
            </a:r>
          </a:p>
        </p:txBody>
      </p:sp>
      <p:pic>
        <p:nvPicPr>
          <p:cNvPr id="6" name="FRTjiy3tbgc">
            <a:extLst>
              <a:ext uri="{FF2B5EF4-FFF2-40B4-BE49-F238E27FC236}">
                <a16:creationId xmlns:a16="http://schemas.microsoft.com/office/drawing/2014/main" id="{E2D08BBD-5854-0299-1FBE-624722C1BC10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6205740" y="744488"/>
            <a:ext cx="2674640" cy="1504485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5F5181D0-E708-3835-AC02-12DBCC2BC7E7}"/>
              </a:ext>
            </a:extLst>
          </p:cNvPr>
          <p:cNvSpPr txBox="1"/>
          <p:nvPr/>
        </p:nvSpPr>
        <p:spPr>
          <a:xfrm>
            <a:off x="1619672" y="1045816"/>
            <a:ext cx="36929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b="1" dirty="0">
                <a:solidFill>
                  <a:srgbClr val="FF0000"/>
                </a:solidFill>
              </a:rPr>
              <a:t>Vídeo: </a:t>
            </a:r>
            <a:r>
              <a:rPr lang="es-ES_tradnl" b="1" dirty="0">
                <a:solidFill>
                  <a:srgbClr val="FF0000"/>
                </a:solidFill>
                <a:hlinkClick r:id="rId4"/>
              </a:rPr>
              <a:t>¿Qué es una idea de negocio?</a:t>
            </a:r>
            <a:endParaRPr lang="es-ES_tradnl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43567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Tema de 2022">
  <a:themeElements>
    <a:clrScheme name="Office 2013 - Tema de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Tema de 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Tema de 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1266</TotalTime>
  <Words>1996</Words>
  <Application>Microsoft Macintosh PowerPoint</Application>
  <PresentationFormat>Presentación en pantalla (4:3)</PresentationFormat>
  <Paragraphs>205</Paragraphs>
  <Slides>21</Slides>
  <Notes>1</Notes>
  <HiddenSlides>0</HiddenSlides>
  <MMClips>1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21</vt:i4>
      </vt:variant>
    </vt:vector>
  </HeadingPairs>
  <TitlesOfParts>
    <vt:vector size="27" baseType="lpstr">
      <vt:lpstr>Arial</vt:lpstr>
      <vt:lpstr>Calibri</vt:lpstr>
      <vt:lpstr>Calibri Light</vt:lpstr>
      <vt:lpstr>Courier New</vt:lpstr>
      <vt:lpstr>Wingdings</vt:lpstr>
      <vt:lpstr>Office 2013 - Tema de 2022</vt:lpstr>
      <vt:lpstr>Presentación de PowerPoint</vt:lpstr>
      <vt:lpstr>CONTENIDOS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6. Generando la idea de negocio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TONI</dc:creator>
  <cp:lastModifiedBy>Ana Suárez Pérez</cp:lastModifiedBy>
  <cp:revision>162</cp:revision>
  <dcterms:created xsi:type="dcterms:W3CDTF">2013-09-12T06:29:10Z</dcterms:created>
  <dcterms:modified xsi:type="dcterms:W3CDTF">2025-09-22T11:32:02Z</dcterms:modified>
</cp:coreProperties>
</file>